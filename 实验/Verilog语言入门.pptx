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57"/>
  </p:handoutMasterIdLst>
  <p:sldIdLst>
    <p:sldId id="1727" r:id="rId3"/>
    <p:sldId id="1337" r:id="rId4"/>
    <p:sldId id="1338" r:id="rId6"/>
    <p:sldId id="1195" r:id="rId7"/>
    <p:sldId id="1197" r:id="rId8"/>
    <p:sldId id="1198" r:id="rId9"/>
    <p:sldId id="1339" r:id="rId10"/>
    <p:sldId id="1200" r:id="rId11"/>
    <p:sldId id="1201" r:id="rId12"/>
    <p:sldId id="1202" r:id="rId13"/>
    <p:sldId id="1203" r:id="rId14"/>
    <p:sldId id="1204" r:id="rId15"/>
    <p:sldId id="1900" r:id="rId16"/>
    <p:sldId id="1206" r:id="rId17"/>
    <p:sldId id="1208" r:id="rId18"/>
    <p:sldId id="1209" r:id="rId19"/>
    <p:sldId id="1351" r:id="rId20"/>
    <p:sldId id="1350" r:id="rId21"/>
    <p:sldId id="1210" r:id="rId22"/>
    <p:sldId id="1364" r:id="rId23"/>
    <p:sldId id="1365" r:id="rId24"/>
    <p:sldId id="1211" r:id="rId25"/>
    <p:sldId id="1340" r:id="rId26"/>
    <p:sldId id="1213" r:id="rId27"/>
    <p:sldId id="1215" r:id="rId28"/>
    <p:sldId id="1216" r:id="rId29"/>
    <p:sldId id="1217" r:id="rId30"/>
    <p:sldId id="1218" r:id="rId31"/>
    <p:sldId id="1219" r:id="rId32"/>
    <p:sldId id="1406" r:id="rId33"/>
    <p:sldId id="1220" r:id="rId34"/>
    <p:sldId id="1221" r:id="rId35"/>
    <p:sldId id="1222" r:id="rId36"/>
    <p:sldId id="1223" r:id="rId37"/>
    <p:sldId id="1407" r:id="rId38"/>
    <p:sldId id="1224" r:id="rId39"/>
    <p:sldId id="1225" r:id="rId40"/>
    <p:sldId id="1226" r:id="rId41"/>
    <p:sldId id="1227" r:id="rId42"/>
    <p:sldId id="1228" r:id="rId43"/>
    <p:sldId id="1341" r:id="rId44"/>
    <p:sldId id="1230" r:id="rId45"/>
    <p:sldId id="1231" r:id="rId46"/>
    <p:sldId id="1232" r:id="rId47"/>
    <p:sldId id="1233" r:id="rId48"/>
    <p:sldId id="1234" r:id="rId49"/>
    <p:sldId id="1899" r:id="rId50"/>
    <p:sldId id="1235" r:id="rId51"/>
    <p:sldId id="1236" r:id="rId52"/>
    <p:sldId id="1237" r:id="rId53"/>
    <p:sldId id="1238" r:id="rId54"/>
    <p:sldId id="1239" r:id="rId55"/>
    <p:sldId id="1240" r:id="rId56"/>
    <p:sldId id="1241" r:id="rId57"/>
    <p:sldId id="1242" r:id="rId58"/>
    <p:sldId id="1378" r:id="rId59"/>
    <p:sldId id="1243" r:id="rId60"/>
    <p:sldId id="1342" r:id="rId61"/>
    <p:sldId id="1245" r:id="rId62"/>
    <p:sldId id="1343" r:id="rId63"/>
    <p:sldId id="1247" r:id="rId64"/>
    <p:sldId id="1248" r:id="rId65"/>
    <p:sldId id="1249" r:id="rId66"/>
    <p:sldId id="1250" r:id="rId67"/>
    <p:sldId id="1251" r:id="rId68"/>
    <p:sldId id="1252" r:id="rId69"/>
    <p:sldId id="1253" r:id="rId70"/>
    <p:sldId id="1254" r:id="rId71"/>
    <p:sldId id="1728" r:id="rId72"/>
    <p:sldId id="1729" r:id="rId73"/>
    <p:sldId id="1730" r:id="rId74"/>
    <p:sldId id="1344" r:id="rId75"/>
    <p:sldId id="1259" r:id="rId76"/>
    <p:sldId id="1260" r:id="rId77"/>
    <p:sldId id="1261" r:id="rId78"/>
    <p:sldId id="1352" r:id="rId79"/>
    <p:sldId id="1409" r:id="rId80"/>
    <p:sldId id="1262" r:id="rId81"/>
    <p:sldId id="1263" r:id="rId82"/>
    <p:sldId id="1264" r:id="rId83"/>
    <p:sldId id="1265" r:id="rId84"/>
    <p:sldId id="1353" r:id="rId85"/>
    <p:sldId id="1389" r:id="rId86"/>
    <p:sldId id="1266" r:id="rId87"/>
    <p:sldId id="1267" r:id="rId88"/>
    <p:sldId id="1345" r:id="rId89"/>
    <p:sldId id="1269" r:id="rId90"/>
    <p:sldId id="1270" r:id="rId91"/>
    <p:sldId id="1271" r:id="rId92"/>
    <p:sldId id="1272" r:id="rId93"/>
    <p:sldId id="1273" r:id="rId94"/>
    <p:sldId id="1274" r:id="rId95"/>
    <p:sldId id="1275" r:id="rId96"/>
    <p:sldId id="1277" r:id="rId97"/>
    <p:sldId id="1390" r:id="rId98"/>
    <p:sldId id="1278" r:id="rId99"/>
    <p:sldId id="1380" r:id="rId100"/>
    <p:sldId id="1346" r:id="rId101"/>
    <p:sldId id="1282" r:id="rId102"/>
    <p:sldId id="1283" r:id="rId103"/>
    <p:sldId id="1284" r:id="rId104"/>
    <p:sldId id="1285" r:id="rId105"/>
    <p:sldId id="1286" r:id="rId106"/>
    <p:sldId id="1287" r:id="rId107"/>
    <p:sldId id="1374" r:id="rId108"/>
    <p:sldId id="1375" r:id="rId109"/>
    <p:sldId id="1381" r:id="rId110"/>
    <p:sldId id="1355" r:id="rId111"/>
    <p:sldId id="1288" r:id="rId112"/>
    <p:sldId id="1290" r:id="rId113"/>
    <p:sldId id="1382" r:id="rId114"/>
    <p:sldId id="1292" r:id="rId115"/>
    <p:sldId id="1383" r:id="rId116"/>
    <p:sldId id="1384" r:id="rId117"/>
    <p:sldId id="1385" r:id="rId118"/>
    <p:sldId id="1293" r:id="rId119"/>
    <p:sldId id="1294" r:id="rId120"/>
    <p:sldId id="1295" r:id="rId121"/>
    <p:sldId id="1296" r:id="rId122"/>
    <p:sldId id="1297" r:id="rId123"/>
    <p:sldId id="1298" r:id="rId124"/>
    <p:sldId id="1299" r:id="rId125"/>
    <p:sldId id="1300" r:id="rId126"/>
    <p:sldId id="1301" r:id="rId127"/>
    <p:sldId id="1347" r:id="rId128"/>
    <p:sldId id="1303" r:id="rId129"/>
    <p:sldId id="1304" r:id="rId130"/>
    <p:sldId id="1305" r:id="rId131"/>
    <p:sldId id="1306" r:id="rId132"/>
    <p:sldId id="1307" r:id="rId133"/>
    <p:sldId id="1386" r:id="rId134"/>
    <p:sldId id="1308" r:id="rId135"/>
    <p:sldId id="1310" r:id="rId136"/>
    <p:sldId id="1311" r:id="rId137"/>
    <p:sldId id="1312" r:id="rId138"/>
    <p:sldId id="1313" r:id="rId139"/>
    <p:sldId id="1356" r:id="rId140"/>
    <p:sldId id="1348" r:id="rId141"/>
    <p:sldId id="1315" r:id="rId142"/>
    <p:sldId id="1357" r:id="rId143"/>
    <p:sldId id="1362" r:id="rId144"/>
    <p:sldId id="1358" r:id="rId145"/>
    <p:sldId id="1359" r:id="rId146"/>
    <p:sldId id="1349" r:id="rId147"/>
    <p:sldId id="1317" r:id="rId148"/>
    <p:sldId id="1391" r:id="rId149"/>
    <p:sldId id="1318" r:id="rId150"/>
    <p:sldId id="1363" r:id="rId151"/>
    <p:sldId id="1319" r:id="rId152"/>
    <p:sldId id="1360" r:id="rId153"/>
    <p:sldId id="1320" r:id="rId154"/>
    <p:sldId id="1361" r:id="rId155"/>
    <p:sldId id="1392" r:id="rId15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38" userDrawn="1">
          <p15:clr>
            <a:srgbClr val="A4A3A4"/>
          </p15:clr>
        </p15:guide>
        <p15:guide id="2" pos="2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CC3300"/>
    <a:srgbClr val="FF3399"/>
    <a:srgbClr val="FF66CC"/>
    <a:srgbClr val="FFCCCC"/>
    <a:srgbClr val="FF9966"/>
    <a:srgbClr val="FF0066"/>
    <a:srgbClr val="FFCC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53"/>
    <p:restoredTop sz="91595"/>
  </p:normalViewPr>
  <p:slideViewPr>
    <p:cSldViewPr snapToGrid="0" showGuides="1">
      <p:cViewPr varScale="1">
        <p:scale>
          <a:sx n="91" d="100"/>
          <a:sy n="91" d="100"/>
        </p:scale>
        <p:origin x="84" y="552"/>
      </p:cViewPr>
      <p:guideLst>
        <p:guide orient="horz" pos="2038"/>
        <p:guide pos="283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239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0" Type="http://schemas.openxmlformats.org/officeDocument/2006/relationships/tableStyles" Target="tableStyles.xml"/><Relationship Id="rId16" Type="http://schemas.openxmlformats.org/officeDocument/2006/relationships/slide" Target="slides/slide13.xml"/><Relationship Id="rId159" Type="http://schemas.openxmlformats.org/officeDocument/2006/relationships/viewProps" Target="viewProps.xml"/><Relationship Id="rId158" Type="http://schemas.openxmlformats.org/officeDocument/2006/relationships/presProps" Target="presProps.xml"/><Relationship Id="rId157" Type="http://schemas.openxmlformats.org/officeDocument/2006/relationships/handoutMaster" Target="handoutMasters/handoutMaster1.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6973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73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b="0">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73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73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noProof="1">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62A5803-4A4E-42F3-A8CC-C1A0DA958544}"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b="0">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31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4341"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b="0">
                <a:solidFill>
                  <a:schemeClr val="tx1"/>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7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noProof="1">
                <a:solidFill>
                  <a:schemeClr val="tx1"/>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534E38-C230-46C0-BC7B-323AF221C480}"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TextEdit="1"/>
          </p:cNvSpPr>
          <p:nvPr>
            <p:ph type="sldImg"/>
          </p:nvPr>
        </p:nvSpPr>
        <p:spPr/>
      </p:sp>
      <p:sp>
        <p:nvSpPr>
          <p:cNvPr id="17411" name="Rectangle 3"/>
          <p:cNvSpPr>
            <a:spLocks noGrp="1"/>
          </p:cNvSpPr>
          <p:nvPr>
            <p:ph type="body"/>
          </p:nvPr>
        </p:nvSpPr>
        <p:spPr/>
        <p:txBody>
          <a:bodyPr wrap="square" lIns="91440" tIns="45720" rIns="91440" bIns="45720" anchor="t" anchorCtr="0"/>
          <a:p>
            <a:pPr lvl="0" algn="just" eaLnBrk="1" hangingPunct="1"/>
            <a:r>
              <a:rPr lang="zh-CN" altLang="en-US" dirty="0"/>
              <a:t>参见</a:t>
            </a:r>
            <a:r>
              <a:rPr lang="en-US" altLang="zh-CN" dirty="0"/>
              <a:t>《</a:t>
            </a:r>
            <a:r>
              <a:rPr lang="zh-CN" altLang="en-US" dirty="0"/>
              <a:t>数字系统设计与</a:t>
            </a:r>
            <a:r>
              <a:rPr lang="en-US" altLang="zh-CN" dirty="0"/>
              <a:t>Verilog HDL》</a:t>
            </a:r>
            <a:r>
              <a:rPr lang="zh-CN" altLang="en-US" dirty="0"/>
              <a:t>第</a:t>
            </a:r>
            <a:r>
              <a:rPr lang="en-US" altLang="zh-CN" dirty="0"/>
              <a:t>6</a:t>
            </a:r>
            <a:r>
              <a:rPr lang="zh-CN" altLang="en-US" dirty="0"/>
              <a:t>章“</a:t>
            </a:r>
            <a:r>
              <a:rPr lang="en-US" altLang="zh-CN" dirty="0"/>
              <a:t>Verilog HDL”</a:t>
            </a:r>
            <a:r>
              <a:rPr lang="zh-CN" altLang="en-US" dirty="0"/>
              <a:t>（</a:t>
            </a:r>
            <a:r>
              <a:rPr lang="en-US" altLang="zh-CN" dirty="0"/>
              <a:t>P146~181</a:t>
            </a:r>
            <a:r>
              <a:rPr lang="zh-CN" altLang="en-US" dirty="0"/>
              <a:t>）</a:t>
            </a:r>
            <a:endParaRPr lang="zh-CN" altLang="en-US" dirty="0"/>
          </a:p>
          <a:p>
            <a:pPr lvl="0"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TextEdit="1"/>
          </p:cNvSpPr>
          <p:nvPr>
            <p:ph type="sldImg"/>
          </p:nvPr>
        </p:nvSpPr>
        <p:spPr>
          <a:solidFill>
            <a:srgbClr val="FFFFFF">
              <a:alpha val="100000"/>
            </a:srgbClr>
          </a:solidFill>
        </p:spPr>
      </p:sp>
      <p:sp>
        <p:nvSpPr>
          <p:cNvPr id="2048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数字系统设计与</a:t>
            </a:r>
            <a:r>
              <a:rPr lang="en-US" altLang="zh-CN" sz="1000" dirty="0">
                <a:latin typeface="宋体" panose="02010600030101010101" pitchFamily="2" charset="-122"/>
              </a:rPr>
              <a:t>Verilog HDL 》P146</a:t>
            </a:r>
            <a:endParaRPr lang="en-US" altLang="zh-CN" sz="1000" dirty="0">
              <a:latin typeface="宋体" panose="02010600030101010101" pitchFamily="2" charset="-122"/>
            </a:endParaRPr>
          </a:p>
          <a:p>
            <a:pPr lvl="0" eaLnBrk="1" hangingPunct="1"/>
            <a:r>
              <a:rPr lang="en-US" altLang="zh-CN" dirty="0">
                <a:latin typeface="宋体" panose="02010600030101010101" pitchFamily="2" charset="-122"/>
              </a:rPr>
              <a:t>Verilog HDL</a:t>
            </a:r>
            <a:r>
              <a:rPr lang="zh-CN" altLang="en-US" dirty="0">
                <a:latin typeface="宋体" panose="02010600030101010101" pitchFamily="2" charset="-122"/>
              </a:rPr>
              <a:t>模型可以是实际电路的不同级别的抽象。</a:t>
            </a:r>
            <a:endParaRPr lang="zh-CN" altLang="en-US" dirty="0">
              <a:latin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TextEdit="1"/>
          </p:cNvSpPr>
          <p:nvPr>
            <p:ph type="sldImg"/>
          </p:nvPr>
        </p:nvSpPr>
        <p:spPr>
          <a:solidFill>
            <a:srgbClr val="FFFFFF">
              <a:alpha val="100000"/>
            </a:srgbClr>
          </a:solidFill>
        </p:spPr>
      </p:sp>
      <p:sp>
        <p:nvSpPr>
          <p:cNvPr id="2253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800" dirty="0">
                <a:latin typeface="Tahoma" panose="020B0604030504040204" pitchFamily="34" charset="0"/>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800" dirty="0">
                <a:latin typeface="Tahoma" panose="020B0604030504040204" pitchFamily="34" charset="0"/>
              </a:rPr>
              <a:t> P178</a:t>
            </a:r>
            <a:endParaRPr lang="en-US" altLang="zh-CN" sz="1800" dirty="0">
              <a:latin typeface="Tahoma" panose="020B0604030504040204" pitchFamily="34" charset="0"/>
            </a:endParaRPr>
          </a:p>
          <a:p>
            <a:pPr lvl="0" eaLnBrk="1" hangingPunct="1"/>
            <a:r>
              <a:rPr lang="en-US" altLang="zh-CN" sz="1400" dirty="0">
                <a:solidFill>
                  <a:srgbClr val="009900"/>
                </a:solidFill>
                <a:latin typeface="华文新魏" panose="02010800040101010101" pitchFamily="2" charset="-122"/>
                <a:ea typeface="华文新魏" panose="02010800040101010101" pitchFamily="2" charset="-122"/>
              </a:rPr>
              <a:t>Verilog HDL</a:t>
            </a:r>
            <a:r>
              <a:rPr lang="zh-CN" altLang="en-US" sz="1400" dirty="0">
                <a:solidFill>
                  <a:srgbClr val="009900"/>
                </a:solidFill>
                <a:latin typeface="华文新魏" panose="02010800040101010101" pitchFamily="2" charset="-122"/>
                <a:ea typeface="华文新魏" panose="02010800040101010101" pitchFamily="2" charset="-122"/>
              </a:rPr>
              <a:t>是一种能够在多个级别（或层次）对数字电路和数字系统进行描述的高级语言</a:t>
            </a:r>
            <a:endParaRPr lang="zh-CN" altLang="en-US" sz="1400" dirty="0">
              <a:solidFill>
                <a:srgbClr val="009900"/>
              </a:solidFill>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TextEdit="1"/>
          </p:cNvSpPr>
          <p:nvPr>
            <p:ph type="sldImg"/>
          </p:nvPr>
        </p:nvSpPr>
        <p:spPr>
          <a:solidFill>
            <a:srgbClr val="FFFFFF">
              <a:alpha val="100000"/>
            </a:srgbClr>
          </a:solidFill>
        </p:spPr>
      </p:sp>
      <p:sp>
        <p:nvSpPr>
          <p:cNvPr id="2457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800" dirty="0">
                <a:latin typeface="Tahoma" panose="020B0604030504040204" pitchFamily="34" charset="0"/>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800" dirty="0">
                <a:latin typeface="Tahoma" panose="020B0604030504040204" pitchFamily="34" charset="0"/>
              </a:rPr>
              <a:t> P146</a:t>
            </a:r>
            <a:endParaRPr lang="en-US" altLang="zh-CN" sz="1800" dirty="0">
              <a:latin typeface="Tahoma" panose="020B0604030504040204" pitchFamily="34" charset="0"/>
            </a:endParaRPr>
          </a:p>
          <a:p>
            <a:pPr lvl="0" eaLnBrk="1" hangingPunct="1"/>
            <a:r>
              <a:rPr lang="en-US" altLang="zh-CN" sz="1800" dirty="0"/>
              <a:t>       </a:t>
            </a:r>
            <a:r>
              <a:rPr lang="zh-CN" altLang="en-US" sz="1800" dirty="0"/>
              <a:t>基本逻辑门、开关级结构模型均内置于语言中，可直接调用：例如与门</a:t>
            </a:r>
            <a:r>
              <a:rPr lang="en-US" altLang="zh-CN" sz="1800" dirty="0"/>
              <a:t>and</a:t>
            </a:r>
            <a:r>
              <a:rPr lang="zh-CN" altLang="en-US" sz="1800" dirty="0"/>
              <a:t>、或门</a:t>
            </a:r>
            <a:r>
              <a:rPr lang="en-US" altLang="zh-CN" sz="1800" dirty="0"/>
              <a:t>or</a:t>
            </a:r>
            <a:r>
              <a:rPr lang="zh-CN" altLang="en-US" sz="1800" dirty="0"/>
              <a:t>、三态门</a:t>
            </a:r>
            <a:r>
              <a:rPr lang="en-US" altLang="zh-CN" sz="1800" dirty="0"/>
              <a:t>bufif1(</a:t>
            </a:r>
            <a:r>
              <a:rPr lang="zh-CN" altLang="en-US" sz="1800" dirty="0"/>
              <a:t>或</a:t>
            </a:r>
            <a:r>
              <a:rPr lang="en-US" altLang="zh-CN" sz="1800" dirty="0"/>
              <a:t>bufif0)</a:t>
            </a:r>
            <a:r>
              <a:rPr lang="zh-CN" altLang="en-US" sz="1800" dirty="0"/>
              <a:t>和与非门</a:t>
            </a:r>
            <a:r>
              <a:rPr lang="en-US" altLang="zh-CN" sz="1800" dirty="0"/>
              <a:t>nand</a:t>
            </a:r>
            <a:r>
              <a:rPr lang="zh-CN" altLang="en-US" sz="1800" dirty="0"/>
              <a:t>均可以采用门元件例化的方法直接调用</a:t>
            </a:r>
            <a:r>
              <a:rPr lang="en-US" altLang="zh-CN" sz="1800" b="1" dirty="0">
                <a:ea typeface="黑体" panose="02010609060101010101" pitchFamily="49" charset="-122"/>
              </a:rPr>
              <a:t>Verilog HDL</a:t>
            </a:r>
            <a:r>
              <a:rPr lang="zh-CN" altLang="en-US" sz="1800" b="1" dirty="0">
                <a:ea typeface="黑体" panose="02010609060101010101" pitchFamily="49" charset="-122"/>
              </a:rPr>
              <a:t>语言库中的相应门元件</a:t>
            </a:r>
            <a:r>
              <a:rPr lang="zh-CN" altLang="en-US" sz="1800" dirty="0"/>
              <a:t>（见</a:t>
            </a:r>
            <a:r>
              <a:rPr lang="en-US" altLang="zh-CN" sz="1800" dirty="0"/>
              <a:t>《</a:t>
            </a:r>
            <a:r>
              <a:rPr lang="zh-CN" altLang="en-US" sz="1800" dirty="0"/>
              <a:t>数字系统设计与</a:t>
            </a:r>
            <a:r>
              <a:rPr lang="en-US" altLang="zh-CN" sz="1800" dirty="0"/>
              <a:t>Verilog HDL》P178</a:t>
            </a:r>
            <a:r>
              <a:rPr lang="zh-CN" altLang="en-US" sz="1800" dirty="0"/>
              <a:t>），而不必由用户自己编写。</a:t>
            </a:r>
            <a:endParaRPr lang="zh-CN" altLang="en-US" sz="1800" dirty="0"/>
          </a:p>
          <a:p>
            <a:pPr lvl="0" algn="just" eaLnBrk="1" hangingPunct="1"/>
            <a:r>
              <a:rPr lang="zh-CN" altLang="en-US" sz="1300" dirty="0">
                <a:latin typeface="华文新魏" panose="02010800040101010101" pitchFamily="2" charset="-122"/>
                <a:ea typeface="华文新魏" panose="02010800040101010101" pitchFamily="2" charset="-122"/>
              </a:rPr>
              <a:t>       易学易用，功能强： </a:t>
            </a:r>
            <a:r>
              <a:rPr lang="en-US" altLang="zh-CN" sz="1000" dirty="0">
                <a:solidFill>
                  <a:srgbClr val="000000"/>
                </a:solidFill>
                <a:latin typeface="宋体" panose="02010600030101010101" pitchFamily="2" charset="-122"/>
              </a:rPr>
              <a:t>Verilog HDL</a:t>
            </a:r>
            <a:r>
              <a:rPr lang="zh-CN" altLang="en-US" sz="1000" dirty="0">
                <a:solidFill>
                  <a:srgbClr val="000000"/>
                </a:solidFill>
              </a:rPr>
              <a:t>简单易学，只要有</a:t>
            </a:r>
            <a:r>
              <a:rPr lang="en-US" altLang="zh-CN" sz="1000" dirty="0">
                <a:solidFill>
                  <a:srgbClr val="000000"/>
                </a:solidFill>
                <a:latin typeface="宋体" panose="02010600030101010101" pitchFamily="2" charset="-122"/>
              </a:rPr>
              <a:t>C</a:t>
            </a:r>
            <a:r>
              <a:rPr lang="zh-CN" altLang="en-US" sz="1000" dirty="0">
                <a:solidFill>
                  <a:srgbClr val="000000"/>
                </a:solidFill>
              </a:rPr>
              <a:t>语言的编程基础，两、三个月即可熟练掌握。</a:t>
            </a:r>
            <a:endParaRPr lang="zh-CN" altLang="en-US" sz="1000" dirty="0">
              <a:latin typeface="宋体" panose="02010600030101010101" pitchFamily="2" charset="-122"/>
            </a:endParaRPr>
          </a:p>
          <a:p>
            <a:pPr lvl="0" eaLnBrk="1" hangingPunct="1"/>
            <a:endParaRPr lang="zh-CN" altLang="en-US" sz="1800" dirty="0"/>
          </a:p>
          <a:p>
            <a:pPr lvl="0" eaLnBrk="1" hangingPunct="1"/>
            <a:endParaRPr lang="en-US" altLang="zh-CN" sz="1800" dirty="0">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TextEdit="1"/>
          </p:cNvSpPr>
          <p:nvPr>
            <p:ph type="sldImg"/>
          </p:nvPr>
        </p:nvSpPr>
        <p:spPr>
          <a:solidFill>
            <a:srgbClr val="FFFFFF">
              <a:alpha val="100000"/>
            </a:srgbClr>
          </a:solidFill>
        </p:spPr>
      </p:sp>
      <p:sp>
        <p:nvSpPr>
          <p:cNvPr id="276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800" dirty="0">
                <a:latin typeface="Tahoma" panose="020B0604030504040204" pitchFamily="34" charset="0"/>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800" dirty="0">
                <a:latin typeface="Tahoma" panose="020B0604030504040204" pitchFamily="34" charset="0"/>
              </a:rPr>
              <a:t> P147</a:t>
            </a:r>
            <a:endParaRPr lang="en-US" altLang="zh-CN" sz="1800" dirty="0">
              <a:latin typeface="Tahoma" panose="020B0604030504040204" pitchFamily="34" charset="0"/>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TextEdit="1"/>
          </p:cNvSpPr>
          <p:nvPr>
            <p:ph type="sldImg"/>
          </p:nvPr>
        </p:nvSpPr>
        <p:spPr>
          <a:solidFill>
            <a:srgbClr val="FFFFFF">
              <a:alpha val="100000"/>
            </a:srgbClr>
          </a:solidFill>
        </p:spPr>
      </p:sp>
      <p:sp>
        <p:nvSpPr>
          <p:cNvPr id="2969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800" dirty="0">
                <a:latin typeface="Tahoma" panose="020B0604030504040204" pitchFamily="34" charset="0"/>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800" dirty="0">
                <a:latin typeface="Tahoma" panose="020B0604030504040204" pitchFamily="34" charset="0"/>
              </a:rPr>
              <a:t> P147</a:t>
            </a:r>
            <a:endParaRPr lang="en-US" altLang="zh-CN" sz="1800" dirty="0">
              <a:latin typeface="Tahoma" panose="020B0604030504040204" pitchFamily="34" charset="0"/>
            </a:endParaRPr>
          </a:p>
          <a:p>
            <a:pPr lvl="0" eaLnBrk="1" hangingPunct="1"/>
            <a:r>
              <a:rPr lang="zh-CN" altLang="en-US" sz="1800" dirty="0">
                <a:latin typeface="Tahoma" panose="020B0604030504040204" pitchFamily="34" charset="0"/>
              </a:rPr>
              <a:t>位于</a:t>
            </a:r>
            <a:r>
              <a:rPr lang="en-US" altLang="zh-CN" sz="1800" dirty="0">
                <a:latin typeface="Tahoma" panose="020B0604030504040204" pitchFamily="34" charset="0"/>
              </a:rPr>
              <a:t>counter8</a:t>
            </a:r>
            <a:r>
              <a:rPr lang="zh-CN" altLang="en-US" sz="1800" dirty="0">
                <a:latin typeface="Tahoma" panose="020B0604030504040204" pitchFamily="34" charset="0"/>
              </a:rPr>
              <a:t>文件夹，参见</a:t>
            </a:r>
            <a:r>
              <a:rPr lang="en-US" altLang="zh-CN" sz="1800" dirty="0">
                <a:latin typeface="Tahoma" panose="020B0604030504040204" pitchFamily="34" charset="0"/>
              </a:rPr>
              <a:t>counter8.vwf</a:t>
            </a:r>
            <a:endParaRPr lang="en-US" altLang="zh-CN" sz="1800" dirty="0">
              <a:latin typeface="Tahoma" panose="020B0604030504040204" pitchFamily="34" charset="0"/>
            </a:endParaRPr>
          </a:p>
          <a:p>
            <a:pPr lvl="0" eaLnBrk="1" hangingPunct="1"/>
            <a:r>
              <a:rPr lang="zh-CN" altLang="en-US" sz="2000" dirty="0">
                <a:latin typeface="Tahoma" panose="020B0604030504040204" pitchFamily="34" charset="0"/>
              </a:rPr>
              <a:t>缩减运算：对单个操作数进行缩减运算后，运算结果缩减到</a:t>
            </a:r>
            <a:r>
              <a:rPr lang="en-US" altLang="zh-CN" sz="2000" dirty="0">
                <a:latin typeface="Tahoma" panose="020B0604030504040204" pitchFamily="34" charset="0"/>
              </a:rPr>
              <a:t>1</a:t>
            </a:r>
            <a:r>
              <a:rPr lang="zh-CN" altLang="en-US" sz="2000" dirty="0">
                <a:latin typeface="Tahoma" panose="020B0604030504040204" pitchFamily="34" charset="0"/>
              </a:rPr>
              <a:t>位。</a:t>
            </a:r>
            <a:endParaRPr lang="zh-CN" altLang="en-US" sz="2000" dirty="0">
              <a:latin typeface="Tahoma" panose="020B0604030504040204" pitchFamily="34" charset="0"/>
            </a:endParaRPr>
          </a:p>
          <a:p>
            <a:pPr lvl="0" eaLnBrk="1" hangingPunct="1"/>
            <a:r>
              <a:rPr lang="zh-CN" altLang="en-US" sz="2000" dirty="0">
                <a:latin typeface="Tahoma" panose="020B0604030504040204" pitchFamily="34" charset="0"/>
              </a:rPr>
              <a:t>位运算：对两个操作数的相应位进行运算，操作数为几位，则运算结果也为几位。</a:t>
            </a:r>
            <a:endParaRPr lang="zh-CN" altLang="en-US" sz="1800" dirty="0">
              <a:latin typeface="Tahoma" panose="020B0604030504040204" pitchFamily="34" charset="0"/>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TextEdit="1"/>
          </p:cNvSpPr>
          <p:nvPr>
            <p:ph type="sldImg"/>
          </p:nvPr>
        </p:nvSpPr>
        <p:spPr>
          <a:solidFill>
            <a:srgbClr val="FFFFFF">
              <a:alpha val="100000"/>
            </a:srgbClr>
          </a:solidFill>
        </p:spPr>
      </p:sp>
      <p:sp>
        <p:nvSpPr>
          <p:cNvPr id="3174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复杂数字逻辑系统的</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zh-CN" altLang="en-US" sz="2200" dirty="0">
                <a:solidFill>
                  <a:srgbClr val="CC0066"/>
                </a:solidFill>
                <a:latin typeface="方正姚体" panose="02010601030101010101" pitchFamily="2" charset="-122"/>
                <a:ea typeface="方正姚体" panose="02010601030101010101" pitchFamily="2" charset="-122"/>
              </a:rPr>
              <a:t>设计技术和方法</a:t>
            </a:r>
            <a:r>
              <a:rPr lang="en-US" altLang="zh-CN" sz="2200" dirty="0">
                <a:solidFill>
                  <a:srgbClr val="CC0066"/>
                </a:solidFill>
                <a:latin typeface="方正姚体" panose="02010601030101010101" pitchFamily="2" charset="-122"/>
                <a:ea typeface="方正姚体" panose="02010601030101010101" pitchFamily="2" charset="-122"/>
              </a:rPr>
              <a:t>》P19</a:t>
            </a:r>
            <a:endParaRPr lang="en-US" altLang="zh-CN" sz="2200" dirty="0">
              <a:solidFill>
                <a:srgbClr val="CC0066"/>
              </a:solidFill>
              <a:latin typeface="方正姚体" panose="02010601030101010101" pitchFamily="2" charset="-122"/>
              <a:ea typeface="方正姚体" panose="02010601030101010101" pitchFamily="2" charset="-122"/>
            </a:endParaRPr>
          </a:p>
          <a:p>
            <a:pPr lvl="0" eaLnBrk="1" hangingPunct="1"/>
            <a:r>
              <a:rPr lang="zh-CN" altLang="en-US" sz="2200" dirty="0">
                <a:solidFill>
                  <a:srgbClr val="CC0066"/>
                </a:solidFill>
              </a:rPr>
              <a:t>条件运算符为三目运算符，对</a:t>
            </a:r>
            <a:r>
              <a:rPr lang="en-US" altLang="zh-CN" sz="2200" dirty="0">
                <a:solidFill>
                  <a:srgbClr val="CC0066"/>
                </a:solidFill>
              </a:rPr>
              <a:t>3</a:t>
            </a:r>
            <a:r>
              <a:rPr lang="zh-CN" altLang="en-US" sz="2200" dirty="0">
                <a:solidFill>
                  <a:srgbClr val="CC0066"/>
                </a:solidFill>
              </a:rPr>
              <a:t>个操作数进行运算，格式为：</a:t>
            </a:r>
            <a:endParaRPr lang="zh-CN" altLang="en-US" sz="2200" dirty="0">
              <a:solidFill>
                <a:srgbClr val="CC0066"/>
              </a:solidFill>
            </a:endParaRPr>
          </a:p>
          <a:p>
            <a:pPr lvl="0" eaLnBrk="1" hangingPunct="1"/>
            <a:r>
              <a:rPr lang="zh-CN" altLang="en-US" sz="2200" dirty="0">
                <a:solidFill>
                  <a:srgbClr val="CC0066"/>
                </a:solidFill>
              </a:rPr>
              <a:t>信号</a:t>
            </a:r>
            <a:r>
              <a:rPr lang="en-US" altLang="zh-CN" sz="2200" dirty="0">
                <a:solidFill>
                  <a:srgbClr val="CC0066"/>
                </a:solidFill>
              </a:rPr>
              <a:t>=</a:t>
            </a:r>
            <a:r>
              <a:rPr lang="zh-CN" altLang="en-US" sz="2200" dirty="0">
                <a:solidFill>
                  <a:srgbClr val="CC0066"/>
                </a:solidFill>
              </a:rPr>
              <a:t>条件？表达式</a:t>
            </a:r>
            <a:r>
              <a:rPr lang="en-US" altLang="zh-CN" sz="2200" dirty="0">
                <a:solidFill>
                  <a:srgbClr val="CC0066"/>
                </a:solidFill>
              </a:rPr>
              <a:t>1:</a:t>
            </a:r>
            <a:r>
              <a:rPr lang="zh-CN" altLang="en-US" sz="2200" dirty="0">
                <a:solidFill>
                  <a:srgbClr val="CC0066"/>
                </a:solidFill>
              </a:rPr>
              <a:t>表达式</a:t>
            </a:r>
            <a:r>
              <a:rPr lang="en-US" altLang="zh-CN" sz="2200" dirty="0">
                <a:solidFill>
                  <a:srgbClr val="CC0066"/>
                </a:solidFill>
              </a:rPr>
              <a:t>2</a:t>
            </a:r>
            <a:r>
              <a:rPr lang="zh-CN" altLang="en-US" sz="2200" dirty="0">
                <a:solidFill>
                  <a:srgbClr val="CC0066"/>
                </a:solidFill>
              </a:rPr>
              <a:t>；</a:t>
            </a:r>
            <a:endParaRPr lang="zh-CN" altLang="en-US" sz="2200" dirty="0">
              <a:solidFill>
                <a:srgbClr val="CC0066"/>
              </a:solidFill>
            </a:endParaRPr>
          </a:p>
          <a:p>
            <a:pPr lvl="0" eaLnBrk="1" hangingPunct="1"/>
            <a:r>
              <a:rPr lang="zh-CN" altLang="en-US" sz="2200" dirty="0">
                <a:solidFill>
                  <a:srgbClr val="CC0066"/>
                </a:solidFill>
                <a:latin typeface="宋体" panose="02010600030101010101" pitchFamily="2" charset="-122"/>
              </a:rPr>
              <a:t>当条件成立时，信号取表达式</a:t>
            </a:r>
            <a:r>
              <a:rPr lang="en-US" altLang="zh-CN" sz="2200" dirty="0">
                <a:solidFill>
                  <a:srgbClr val="CC0066"/>
                </a:solidFill>
              </a:rPr>
              <a:t>1</a:t>
            </a:r>
            <a:r>
              <a:rPr lang="zh-CN" altLang="en-US" sz="2200" dirty="0">
                <a:solidFill>
                  <a:srgbClr val="CC0066"/>
                </a:solidFill>
                <a:latin typeface="宋体" panose="02010600030101010101" pitchFamily="2" charset="-122"/>
              </a:rPr>
              <a:t>的值，反之取表达式</a:t>
            </a:r>
            <a:r>
              <a:rPr lang="en-US" altLang="zh-CN" sz="2200" dirty="0">
                <a:solidFill>
                  <a:srgbClr val="CC0066"/>
                </a:solidFill>
              </a:rPr>
              <a:t>2</a:t>
            </a:r>
            <a:r>
              <a:rPr lang="zh-CN" altLang="en-US" sz="2200" dirty="0">
                <a:solidFill>
                  <a:srgbClr val="CC0066"/>
                </a:solidFill>
                <a:latin typeface="宋体" panose="02010600030101010101" pitchFamily="2" charset="-122"/>
              </a:rPr>
              <a:t>的值。</a:t>
            </a:r>
            <a:r>
              <a:rPr lang="zh-CN" altLang="en-US" sz="2200" dirty="0">
                <a:solidFill>
                  <a:srgbClr val="CC0066"/>
                </a:solidFill>
              </a:rPr>
              <a:t> </a:t>
            </a:r>
            <a:endParaRPr lang="zh-CN" altLang="en-US" sz="2200" dirty="0">
              <a:solidFill>
                <a:srgbClr val="CC0066"/>
              </a:solidFill>
              <a:latin typeface="方正姚体" panose="02010601030101010101" pitchFamily="2" charset="-122"/>
            </a:endParaRPr>
          </a:p>
          <a:p>
            <a:pPr lvl="0" eaLnBrk="1" hangingPunct="1"/>
            <a:endParaRPr lang="en-US" altLang="zh-CN" sz="2200" dirty="0">
              <a:solidFill>
                <a:srgbClr val="CC0066"/>
              </a:solidFill>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TextEdit="1"/>
          </p:cNvSpPr>
          <p:nvPr>
            <p:ph type="sldImg"/>
          </p:nvPr>
        </p:nvSpPr>
        <p:spPr>
          <a:solidFill>
            <a:srgbClr val="FFFFFF">
              <a:alpha val="100000"/>
            </a:srgbClr>
          </a:solidFill>
        </p:spPr>
      </p:sp>
      <p:sp>
        <p:nvSpPr>
          <p:cNvPr id="3379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复杂数字逻辑系统的</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zh-CN" altLang="en-US" sz="2200" dirty="0">
                <a:solidFill>
                  <a:srgbClr val="CC0066"/>
                </a:solidFill>
                <a:latin typeface="方正姚体" panose="02010601030101010101" pitchFamily="2" charset="-122"/>
                <a:ea typeface="方正姚体" panose="02010601030101010101" pitchFamily="2" charset="-122"/>
              </a:rPr>
              <a:t>设计技术和方法</a:t>
            </a:r>
            <a:r>
              <a:rPr lang="en-US" altLang="zh-CN" sz="2200" dirty="0">
                <a:solidFill>
                  <a:srgbClr val="CC0066"/>
                </a:solidFill>
                <a:latin typeface="方正姚体" panose="02010601030101010101" pitchFamily="2" charset="-122"/>
                <a:ea typeface="方正姚体" panose="02010601030101010101" pitchFamily="2" charset="-122"/>
              </a:rPr>
              <a:t>》P19</a:t>
            </a:r>
            <a:endParaRPr lang="en-US" altLang="zh-CN" sz="2200" dirty="0">
              <a:solidFill>
                <a:srgbClr val="CC0066"/>
              </a:solidFill>
              <a:latin typeface="方正姚体" panose="02010601030101010101" pitchFamily="2" charset="-122"/>
              <a:ea typeface="方正姚体" panose="02010601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TextEdit="1"/>
          </p:cNvSpPr>
          <p:nvPr>
            <p:ph type="sldImg"/>
          </p:nvPr>
        </p:nvSpPr>
        <p:spPr>
          <a:solidFill>
            <a:srgbClr val="FFFFFF">
              <a:alpha val="100000"/>
            </a:srgbClr>
          </a:solidFill>
        </p:spPr>
      </p:sp>
      <p:sp>
        <p:nvSpPr>
          <p:cNvPr id="3584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复杂数字逻辑系统的</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zh-CN" altLang="en-US" sz="2200" dirty="0">
                <a:solidFill>
                  <a:srgbClr val="CC0066"/>
                </a:solidFill>
                <a:latin typeface="方正姚体" panose="02010601030101010101" pitchFamily="2" charset="-122"/>
                <a:ea typeface="方正姚体" panose="02010601030101010101" pitchFamily="2" charset="-122"/>
              </a:rPr>
              <a:t>设计技术和方法</a:t>
            </a:r>
            <a:r>
              <a:rPr lang="en-US" altLang="zh-CN" sz="2200" dirty="0">
                <a:solidFill>
                  <a:srgbClr val="CC0066"/>
                </a:solidFill>
                <a:latin typeface="方正姚体" panose="02010601030101010101" pitchFamily="2" charset="-122"/>
                <a:ea typeface="方正姚体" panose="02010601030101010101" pitchFamily="2" charset="-122"/>
              </a:rPr>
              <a:t>》P20</a:t>
            </a:r>
            <a:endParaRPr lang="en-US" altLang="zh-CN" sz="2200" dirty="0">
              <a:solidFill>
                <a:srgbClr val="CC0066"/>
              </a:solidFill>
              <a:latin typeface="方正姚体" panose="02010601030101010101" pitchFamily="2" charset="-122"/>
              <a:ea typeface="方正姚体" panose="02010601030101010101" pitchFamily="2" charset="-122"/>
            </a:endParaRPr>
          </a:p>
          <a:p>
            <a:pPr lvl="0" eaLnBrk="1" hangingPunct="1"/>
            <a:r>
              <a:rPr lang="zh-CN" altLang="en-US" sz="2200" dirty="0">
                <a:solidFill>
                  <a:srgbClr val="CC0066"/>
                </a:solidFill>
              </a:rPr>
              <a:t>一般将顶层模块放在程序的最前面！</a:t>
            </a:r>
            <a:endParaRPr lang="zh-CN" altLang="en-US" sz="2200" dirty="0">
              <a:solidFill>
                <a:srgbClr val="CC0066"/>
              </a:solidFill>
              <a:latin typeface="方正姚体" panose="02010601030101010101" pitchFamily="2" charset="-122"/>
            </a:endParaRPr>
          </a:p>
          <a:p>
            <a:pPr lvl="0" eaLnBrk="1" hangingPunct="1"/>
            <a:endParaRPr lang="zh-CN" altLang="en-US" sz="2200" dirty="0">
              <a:solidFill>
                <a:srgbClr val="CC0066"/>
              </a:solidFill>
              <a:latin typeface="方正姚体" panose="02010601030101010101" pitchFamily="2" charset="-122"/>
              <a:ea typeface="方正姚体" panose="02010601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TextEdit="1"/>
          </p:cNvSpPr>
          <p:nvPr>
            <p:ph type="sldImg"/>
          </p:nvPr>
        </p:nvSpPr>
        <p:spPr>
          <a:solidFill>
            <a:srgbClr val="FFFFFF">
              <a:alpha val="100000"/>
            </a:srgbClr>
          </a:solidFill>
        </p:spPr>
      </p:sp>
      <p:sp>
        <p:nvSpPr>
          <p:cNvPr id="3789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b="1" dirty="0">
                <a:ea typeface="黑体" panose="02010609060101010101" pitchFamily="49" charset="-122"/>
              </a:rPr>
              <a:t>      </a:t>
            </a:r>
            <a:r>
              <a:rPr lang="zh-CN" altLang="en-US" b="1" dirty="0">
                <a:ea typeface="黑体" panose="02010609060101010101" pitchFamily="49" charset="-122"/>
              </a:rPr>
              <a:t>模块是可以进行层次嵌套的</a:t>
            </a:r>
            <a:r>
              <a:rPr lang="en-US" altLang="zh-CN" dirty="0"/>
              <a:t>——</a:t>
            </a:r>
            <a:r>
              <a:rPr lang="zh-CN" altLang="en-US" dirty="0"/>
              <a:t>将大型数字电路或数字系统设计分割成不同的小模块来实现特定的功能，最后通过顶层模块调用子模块来实现整体功能。可以层层调用子模块。</a:t>
            </a:r>
            <a:r>
              <a:rPr lang="zh-CN" altLang="en-US" dirty="0">
                <a:latin typeface="宋体" panose="02010600030101010101" pitchFamily="2" charset="-122"/>
              </a:rPr>
              <a:t>参见</a:t>
            </a:r>
            <a:r>
              <a:rPr lang="en-US" altLang="zh-CN" dirty="0">
                <a:latin typeface="宋体" panose="02010600030101010101" pitchFamily="2" charset="-122"/>
              </a:rPr>
              <a:t>《</a:t>
            </a:r>
            <a:r>
              <a:rPr lang="zh-CN" altLang="en-US" dirty="0">
                <a:latin typeface="宋体" panose="02010600030101010101" pitchFamily="2" charset="-122"/>
              </a:rPr>
              <a:t>数字系统设计与</a:t>
            </a:r>
            <a:r>
              <a:rPr lang="en-US" altLang="zh-CN" dirty="0"/>
              <a:t>Verilog HDL</a:t>
            </a:r>
            <a:r>
              <a:rPr lang="en-US" altLang="zh-CN" dirty="0">
                <a:latin typeface="宋体" panose="02010600030101010101" pitchFamily="2" charset="-122"/>
              </a:rPr>
              <a:t>》</a:t>
            </a:r>
            <a:r>
              <a:rPr lang="en-US" altLang="zh-CN" dirty="0"/>
              <a:t>P233 PCM</a:t>
            </a:r>
            <a:r>
              <a:rPr lang="zh-CN" altLang="en-US" dirty="0">
                <a:latin typeface="宋体" panose="02010600030101010101" pitchFamily="2" charset="-122"/>
              </a:rPr>
              <a:t>采编器。</a:t>
            </a:r>
            <a:r>
              <a:rPr lang="zh-CN" altLang="en-US" dirty="0"/>
              <a:t> </a:t>
            </a:r>
            <a:endParaRPr lang="zh-CN" altLang="en-US" dirty="0"/>
          </a:p>
          <a:p>
            <a:pPr lvl="0" eaLnBrk="1" hangingPunct="1"/>
            <a:r>
              <a:rPr lang="zh-CN" altLang="en-US" b="1" dirty="0">
                <a:latin typeface="方正姚体" panose="02010601030101010101" pitchFamily="2" charset="-122"/>
                <a:ea typeface="方正姚体" panose="02010601030101010101" pitchFamily="2" charset="-122"/>
              </a:rPr>
              <a:t>       端口定义</a:t>
            </a:r>
            <a:r>
              <a:rPr lang="en-US" altLang="zh-CN" dirty="0">
                <a:ea typeface="方正姚体" panose="02010601030101010101" pitchFamily="2" charset="-122"/>
              </a:rPr>
              <a:t>——</a:t>
            </a:r>
            <a:r>
              <a:rPr lang="zh-CN" altLang="en-US" dirty="0">
                <a:latin typeface="方正姚体" panose="02010601030101010101" pitchFamily="2" charset="-122"/>
                <a:ea typeface="方正姚体" panose="02010601030101010101" pitchFamily="2" charset="-122"/>
              </a:rPr>
              <a:t>声明模块的输入和输出端口。</a:t>
            </a:r>
            <a:endParaRPr lang="zh-CN" altLang="en-US" dirty="0">
              <a:latin typeface="方正姚体" panose="02010601030101010101" pitchFamily="2" charset="-122"/>
              <a:ea typeface="方正姚体" panose="02010601030101010101" pitchFamily="2" charset="-122"/>
            </a:endParaRPr>
          </a:p>
          <a:p>
            <a:pPr lvl="0" eaLnBrk="1" hangingPunct="1"/>
            <a:endParaRPr lang="en-US" altLang="zh-CN"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TextEdit="1"/>
          </p:cNvSpPr>
          <p:nvPr>
            <p:ph type="sldImg"/>
          </p:nvPr>
        </p:nvSpPr>
        <p:spPr>
          <a:solidFill>
            <a:srgbClr val="FFFFFF">
              <a:alpha val="100000"/>
            </a:srgbClr>
          </a:solidFill>
        </p:spPr>
      </p:sp>
      <p:sp>
        <p:nvSpPr>
          <p:cNvPr id="3993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TextEdit="1"/>
          </p:cNvSpPr>
          <p:nvPr>
            <p:ph type="sldImg"/>
          </p:nvPr>
        </p:nvSpPr>
        <p:spPr>
          <a:solidFill>
            <a:srgbClr val="FFFFFF">
              <a:alpha val="100000"/>
            </a:srgbClr>
          </a:solidFill>
        </p:spPr>
      </p:sp>
      <p:sp>
        <p:nvSpPr>
          <p:cNvPr id="4198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800" dirty="0">
                <a:latin typeface="Tahoma" panose="020B0604030504040204" pitchFamily="34" charset="0"/>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800" dirty="0">
                <a:latin typeface="Tahoma" panose="020B0604030504040204" pitchFamily="34" charset="0"/>
              </a:rPr>
              <a:t> P149</a:t>
            </a:r>
            <a:r>
              <a:rPr lang="zh-CN" altLang="en-US" sz="1800" dirty="0">
                <a:latin typeface="Tahoma" panose="020B0604030504040204" pitchFamily="34" charset="0"/>
              </a:rPr>
              <a:t>，或</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复杂数字逻辑系统的</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zh-CN" altLang="en-US" sz="2200" dirty="0">
                <a:solidFill>
                  <a:srgbClr val="CC0066"/>
                </a:solidFill>
                <a:latin typeface="方正姚体" panose="02010601030101010101" pitchFamily="2" charset="-122"/>
                <a:ea typeface="方正姚体" panose="02010601030101010101" pitchFamily="2" charset="-122"/>
              </a:rPr>
              <a:t>设计技术和方法</a:t>
            </a:r>
            <a:r>
              <a:rPr lang="en-US" altLang="zh-CN" sz="2200" dirty="0">
                <a:solidFill>
                  <a:srgbClr val="CC0066"/>
                </a:solidFill>
                <a:latin typeface="方正姚体" panose="02010601030101010101" pitchFamily="2" charset="-122"/>
                <a:ea typeface="方正姚体" panose="02010601030101010101" pitchFamily="2" charset="-122"/>
              </a:rPr>
              <a:t>》P21</a:t>
            </a:r>
            <a:endParaRPr lang="en-US" altLang="zh-CN" sz="2200" dirty="0">
              <a:solidFill>
                <a:srgbClr val="CC0066"/>
              </a:solidFill>
              <a:latin typeface="方正姚体" panose="02010601030101010101" pitchFamily="2" charset="-122"/>
              <a:ea typeface="方正姚体" panose="02010601030101010101" pitchFamily="2" charset="-122"/>
            </a:endParaRPr>
          </a:p>
          <a:p>
            <a:pPr lvl="0" eaLnBrk="1" hangingPunct="1"/>
            <a:r>
              <a:rPr lang="zh-CN" altLang="zh-CN" sz="2000" b="1" dirty="0">
                <a:solidFill>
                  <a:schemeClr val="tx2"/>
                </a:solidFill>
                <a:latin typeface="华文新魏" panose="02010800040101010101" pitchFamily="2" charset="-122"/>
                <a:ea typeface="华文新魏" panose="02010800040101010101" pitchFamily="2" charset="-122"/>
              </a:rPr>
              <a:t>元件例化方法与图形输入方式下调入库元件一样。</a:t>
            </a:r>
            <a:endParaRPr lang="zh-CN" altLang="en-US" sz="2000" b="1" dirty="0">
              <a:solidFill>
                <a:schemeClr val="tx2"/>
              </a:solidFill>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TextEdit="1"/>
          </p:cNvSpPr>
          <p:nvPr>
            <p:ph type="sldImg"/>
          </p:nvPr>
        </p:nvSpPr>
        <p:spPr>
          <a:solidFill>
            <a:srgbClr val="FFFFFF">
              <a:alpha val="100000"/>
            </a:srgbClr>
          </a:solidFill>
        </p:spPr>
      </p:sp>
      <p:sp>
        <p:nvSpPr>
          <p:cNvPr id="4403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solidFill>
                  <a:srgbClr val="FF3399"/>
                </a:solidFill>
                <a:latin typeface="宋体" panose="02010600030101010101" pitchFamily="2" charset="-122"/>
              </a:rPr>
              <a:t>参见例</a:t>
            </a:r>
            <a:r>
              <a:rPr lang="en-US" altLang="zh-CN" dirty="0">
                <a:solidFill>
                  <a:srgbClr val="FF3399"/>
                </a:solidFill>
                <a:latin typeface="宋体" panose="02010600030101010101" pitchFamily="2" charset="-122"/>
              </a:rPr>
              <a:t>2.2</a:t>
            </a:r>
            <a:endParaRPr lang="en-US" altLang="zh-CN" dirty="0">
              <a:solidFill>
                <a:srgbClr val="FF3399"/>
              </a:solidFill>
              <a:latin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1026"/>
          <p:cNvSpPr>
            <a:spLocks noTextEdit="1"/>
          </p:cNvSpPr>
          <p:nvPr>
            <p:ph type="sldImg"/>
          </p:nvPr>
        </p:nvSpPr>
        <p:spPr>
          <a:solidFill>
            <a:srgbClr val="FFFFFF">
              <a:alpha val="100000"/>
            </a:srgbClr>
          </a:solidFill>
        </p:spPr>
      </p:sp>
      <p:sp>
        <p:nvSpPr>
          <p:cNvPr id="4608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zh-CN" sz="1400" dirty="0">
                <a:solidFill>
                  <a:schemeClr val="tx2"/>
                </a:solidFill>
                <a:latin typeface="华文新魏" panose="02010800040101010101" pitchFamily="2" charset="-122"/>
                <a:ea typeface="华文新魏" panose="0201080004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zh-CN" altLang="zh-CN" sz="1400" dirty="0">
                <a:solidFill>
                  <a:schemeClr val="tx2"/>
                </a:solidFill>
                <a:latin typeface="华文新魏" panose="02010800040101010101" pitchFamily="2" charset="-122"/>
                <a:ea typeface="华文新魏" panose="02010800040101010101" pitchFamily="2" charset="-122"/>
              </a:rPr>
              <a:t> </a:t>
            </a:r>
            <a:r>
              <a:rPr lang="en-US" altLang="zh-CN" sz="1400" dirty="0">
                <a:solidFill>
                  <a:schemeClr val="tx2"/>
                </a:solidFill>
                <a:latin typeface="华文新魏" panose="02010800040101010101" pitchFamily="2" charset="-122"/>
                <a:ea typeface="华文新魏" panose="02010800040101010101" pitchFamily="2" charset="-122"/>
              </a:rPr>
              <a:t>P150</a:t>
            </a:r>
            <a:endParaRPr lang="en-US" altLang="zh-CN" sz="1400" dirty="0">
              <a:solidFill>
                <a:schemeClr val="tx2"/>
              </a:solidFill>
              <a:latin typeface="华文新魏" panose="02010800040101010101" pitchFamily="2" charset="-122"/>
              <a:ea typeface="华文新魏" panose="02010800040101010101" pitchFamily="2" charset="-122"/>
            </a:endParaRPr>
          </a:p>
          <a:p>
            <a:pPr lvl="0" eaLnBrk="1" hangingPunct="1"/>
            <a:r>
              <a:rPr lang="en-US" altLang="zh-CN" sz="1400" dirty="0">
                <a:solidFill>
                  <a:srgbClr val="990000"/>
                </a:solidFill>
                <a:latin typeface="华文新魏" panose="02010800040101010101" pitchFamily="2" charset="-122"/>
                <a:ea typeface="华文新魏" panose="02010800040101010101" pitchFamily="2" charset="-122"/>
              </a:rPr>
              <a:t>      </a:t>
            </a:r>
            <a:r>
              <a:rPr lang="zh-CN" altLang="zh-CN" sz="1400" dirty="0">
                <a:solidFill>
                  <a:srgbClr val="990000"/>
                </a:solidFill>
                <a:latin typeface="华文新魏" panose="02010800040101010101" pitchFamily="2" charset="-122"/>
                <a:ea typeface="华文新魏" panose="02010800040101010101" pitchFamily="2" charset="-122"/>
              </a:rPr>
              <a:t>仅考虑用于逻辑综合的部分，不考虑用于逻辑模拟（仿真）的部分。用于逻辑仿真的</a:t>
            </a:r>
            <a:r>
              <a:rPr lang="zh-CN" altLang="en-US" dirty="0">
                <a:solidFill>
                  <a:srgbClr val="FF3399"/>
                </a:solidFill>
                <a:latin typeface="华文彩云" panose="02010800040101010101" pitchFamily="2" charset="-122"/>
                <a:ea typeface="华文彩云" panose="02010800040101010101" pitchFamily="2" charset="-122"/>
              </a:rPr>
              <a:t>测试文件模板参见</a:t>
            </a:r>
            <a:r>
              <a:rPr lang="zh-CN" altLang="en-US" dirty="0">
                <a:solidFill>
                  <a:srgbClr val="FF3399"/>
                </a:solidFill>
                <a:ea typeface="华文彩云" panose="02010800040101010101" pitchFamily="2" charset="-122"/>
              </a:rPr>
              <a:t>“</a:t>
            </a:r>
            <a:r>
              <a:rPr lang="en-US" altLang="zh-CN" dirty="0">
                <a:latin typeface="华文楷体" panose="02010600040101010101" pitchFamily="2" charset="-122"/>
              </a:rPr>
              <a:t>10 </a:t>
            </a:r>
            <a:r>
              <a:rPr lang="zh-CN" altLang="en-US" dirty="0">
                <a:latin typeface="华文楷体" panose="02010600040101010101" pitchFamily="2" charset="-122"/>
              </a:rPr>
              <a:t>仿真工具</a:t>
            </a:r>
            <a:r>
              <a:rPr lang="en-US" altLang="zh-CN" dirty="0">
                <a:latin typeface="华文楷体" panose="02010600040101010101" pitchFamily="2" charset="-122"/>
              </a:rPr>
              <a:t>ModelSim</a:t>
            </a:r>
            <a:r>
              <a:rPr lang="en-US" altLang="zh-CN" dirty="0"/>
              <a:t>”</a:t>
            </a:r>
            <a:r>
              <a:rPr lang="zh-CN" altLang="en-US" dirty="0">
                <a:solidFill>
                  <a:srgbClr val="FF3399"/>
                </a:solidFill>
                <a:latin typeface="华文彩云" panose="02010800040101010101" pitchFamily="2" charset="-122"/>
                <a:ea typeface="华文彩云" panose="02010800040101010101" pitchFamily="2" charset="-122"/>
              </a:rPr>
              <a:t>测试文件模板。</a:t>
            </a:r>
            <a:endParaRPr lang="zh-CN" altLang="en-US" dirty="0">
              <a:solidFill>
                <a:srgbClr val="FF3399"/>
              </a:solidFill>
              <a:latin typeface="华文彩云" panose="02010800040101010101" pitchFamily="2" charset="-122"/>
              <a:ea typeface="华文彩云" panose="0201080004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1026"/>
          <p:cNvSpPr>
            <a:spLocks noTextEdit="1"/>
          </p:cNvSpPr>
          <p:nvPr>
            <p:ph type="sldImg"/>
          </p:nvPr>
        </p:nvSpPr>
        <p:spPr>
          <a:solidFill>
            <a:srgbClr val="FFFFFF">
              <a:alpha val="100000"/>
            </a:srgbClr>
          </a:solidFill>
        </p:spPr>
      </p:sp>
      <p:sp>
        <p:nvSpPr>
          <p:cNvPr id="48131"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1400" dirty="0">
              <a:solidFill>
                <a:schemeClr val="tx2"/>
              </a:solidFill>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TextEdit="1"/>
          </p:cNvSpPr>
          <p:nvPr>
            <p:ph type="sldImg"/>
          </p:nvPr>
        </p:nvSpPr>
        <p:spPr>
          <a:solidFill>
            <a:srgbClr val="FFFFFF">
              <a:alpha val="100000"/>
            </a:srgbClr>
          </a:solidFill>
        </p:spPr>
      </p:sp>
      <p:sp>
        <p:nvSpPr>
          <p:cNvPr id="5017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复杂数字逻辑系统的</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zh-CN" altLang="en-US" sz="2200" dirty="0">
                <a:solidFill>
                  <a:srgbClr val="CC0066"/>
                </a:solidFill>
                <a:latin typeface="方正姚体" panose="02010601030101010101" pitchFamily="2" charset="-122"/>
                <a:ea typeface="方正姚体" panose="02010601030101010101" pitchFamily="2" charset="-122"/>
              </a:rPr>
              <a:t>设计技术和方法</a:t>
            </a:r>
            <a:r>
              <a:rPr lang="en-US" altLang="zh-CN" sz="2200" dirty="0">
                <a:solidFill>
                  <a:srgbClr val="CC0066"/>
                </a:solidFill>
                <a:latin typeface="方正姚体" panose="02010601030101010101" pitchFamily="2" charset="-122"/>
                <a:ea typeface="方正姚体" panose="02010601030101010101" pitchFamily="2" charset="-122"/>
              </a:rPr>
              <a:t>》P33</a:t>
            </a:r>
            <a:endParaRPr lang="en-US" altLang="zh-CN" sz="2200" dirty="0">
              <a:solidFill>
                <a:srgbClr val="CC0066"/>
              </a:solidFill>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1026"/>
          <p:cNvSpPr>
            <a:spLocks noTextEdit="1"/>
          </p:cNvSpPr>
          <p:nvPr>
            <p:ph type="sldImg"/>
          </p:nvPr>
        </p:nvSpPr>
        <p:spPr>
          <a:solidFill>
            <a:srgbClr val="FFFFFF">
              <a:alpha val="100000"/>
            </a:srgbClr>
          </a:solidFill>
        </p:spPr>
      </p:sp>
      <p:sp>
        <p:nvSpPr>
          <p:cNvPr id="52227"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zh-CN" altLang="en-US" sz="1000" dirty="0"/>
              <a:t>“</a:t>
            </a:r>
            <a:r>
              <a:rPr lang="en-US" altLang="zh-CN" sz="1000" dirty="0">
                <a:latin typeface="宋体" panose="02010600030101010101" pitchFamily="2" charset="-122"/>
              </a:rPr>
              <a:t>verilog Golden Reference Guide.pdf</a:t>
            </a:r>
            <a:r>
              <a:rPr lang="en-US" altLang="zh-CN" sz="1000" dirty="0"/>
              <a:t>”</a:t>
            </a:r>
            <a:r>
              <a:rPr lang="en-US" altLang="zh-CN" sz="1000" dirty="0">
                <a:latin typeface="宋体" panose="02010600030101010101" pitchFamily="2" charset="-122"/>
              </a:rPr>
              <a:t>P83</a:t>
            </a:r>
            <a:endParaRPr lang="en-US" altLang="zh-CN" sz="1000" dirty="0">
              <a:latin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TextEdit="1"/>
          </p:cNvSpPr>
          <p:nvPr>
            <p:ph type="sldImg"/>
          </p:nvPr>
        </p:nvSpPr>
        <p:spPr>
          <a:solidFill>
            <a:srgbClr val="FFFFFF">
              <a:alpha val="100000"/>
            </a:srgbClr>
          </a:solidFill>
        </p:spPr>
      </p:sp>
      <p:sp>
        <p:nvSpPr>
          <p:cNvPr id="5427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TextEdit="1"/>
          </p:cNvSpPr>
          <p:nvPr>
            <p:ph type="sldImg"/>
          </p:nvPr>
        </p:nvSpPr>
        <p:spPr>
          <a:solidFill>
            <a:srgbClr val="FFFFFF">
              <a:alpha val="100000"/>
            </a:srgbClr>
          </a:solidFill>
        </p:spPr>
      </p:sp>
      <p:sp>
        <p:nvSpPr>
          <p:cNvPr id="563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从算法设计到硬线逻辑的实现</a:t>
            </a:r>
            <a:r>
              <a:rPr lang="en-US" altLang="zh-CN" sz="2200" dirty="0">
                <a:solidFill>
                  <a:srgbClr val="CC0066"/>
                </a:solidFill>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实验练习与</a:t>
            </a:r>
            <a:r>
              <a:rPr lang="zh-CN" altLang="zh-CN" sz="1300" dirty="0">
                <a:latin typeface="华文新魏" panose="02010800040101010101" pitchFamily="2" charset="-122"/>
                <a:ea typeface="华文新魏" panose="02010800040101010101" pitchFamily="2" charset="-122"/>
              </a:rPr>
              <a:t>Verilog</a:t>
            </a:r>
            <a:r>
              <a:rPr lang="en-US" altLang="zh-CN" sz="2200" dirty="0">
                <a:solidFill>
                  <a:srgbClr val="CC0066"/>
                </a:solidFill>
                <a:latin typeface="方正姚体" panose="02010601030101010101" pitchFamily="2" charset="-122"/>
                <a:ea typeface="方正姚体" panose="02010601030101010101" pitchFamily="2" charset="-122"/>
              </a:rPr>
              <a:t> </a:t>
            </a:r>
            <a:r>
              <a:rPr lang="zh-CN" altLang="en-US" sz="2200" dirty="0">
                <a:solidFill>
                  <a:srgbClr val="CC0066"/>
                </a:solidFill>
                <a:latin typeface="方正姚体" panose="02010601030101010101" pitchFamily="2" charset="-122"/>
                <a:ea typeface="方正姚体" panose="02010601030101010101" pitchFamily="2" charset="-122"/>
              </a:rPr>
              <a:t>语法手册</a:t>
            </a:r>
            <a:r>
              <a:rPr lang="en-US" altLang="zh-CN" sz="2200" dirty="0">
                <a:solidFill>
                  <a:srgbClr val="CC0066"/>
                </a:solidFill>
                <a:latin typeface="方正姚体" panose="02010601030101010101" pitchFamily="2" charset="-122"/>
                <a:ea typeface="方正姚体" panose="02010601030101010101" pitchFamily="2" charset="-122"/>
              </a:rPr>
              <a:t>》P97</a:t>
            </a:r>
            <a:endParaRPr lang="en-US" altLang="zh-CN" sz="2200" dirty="0">
              <a:solidFill>
                <a:srgbClr val="CC0066"/>
              </a:solidFill>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TextEdit="1"/>
          </p:cNvSpPr>
          <p:nvPr>
            <p:ph type="sldImg"/>
          </p:nvPr>
        </p:nvSpPr>
        <p:spPr>
          <a:solidFill>
            <a:srgbClr val="FFFFFF">
              <a:alpha val="100000"/>
            </a:srgbClr>
          </a:solidFill>
        </p:spPr>
      </p:sp>
      <p:sp>
        <p:nvSpPr>
          <p:cNvPr id="5939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en-US" altLang="zh-CN" sz="1000" dirty="0">
                <a:latin typeface="宋体" panose="02010600030101010101" pitchFamily="2" charset="-122"/>
              </a:rPr>
              <a:t>Verilog HDL</a:t>
            </a:r>
            <a:r>
              <a:rPr lang="zh-CN" altLang="en-US" sz="1000" dirty="0"/>
              <a:t>中数据有常量和变量之分，分别属于以上这</a:t>
            </a:r>
            <a:r>
              <a:rPr lang="en-US" altLang="zh-CN" sz="1000" dirty="0">
                <a:latin typeface="宋体" panose="02010600030101010101" pitchFamily="2" charset="-122"/>
              </a:rPr>
              <a:t>19</a:t>
            </a:r>
            <a:r>
              <a:rPr lang="zh-CN" altLang="en-US" sz="1000" dirty="0"/>
              <a:t>种数据类型。</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TextEdit="1"/>
          </p:cNvSpPr>
          <p:nvPr>
            <p:ph type="sldImg"/>
          </p:nvPr>
        </p:nvSpPr>
        <p:spPr>
          <a:solidFill>
            <a:srgbClr val="FFFFFF">
              <a:alpha val="100000"/>
            </a:srgbClr>
          </a:solidFill>
        </p:spPr>
      </p:sp>
      <p:sp>
        <p:nvSpPr>
          <p:cNvPr id="6144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TextEdit="1"/>
          </p:cNvSpPr>
          <p:nvPr>
            <p:ph type="sldImg"/>
          </p:nvPr>
        </p:nvSpPr>
        <p:spPr>
          <a:solidFill>
            <a:srgbClr val="FFFFFF">
              <a:alpha val="100000"/>
            </a:srgbClr>
          </a:solidFill>
        </p:spPr>
      </p:sp>
      <p:sp>
        <p:nvSpPr>
          <p:cNvPr id="6349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TextEdit="1"/>
          </p:cNvSpPr>
          <p:nvPr>
            <p:ph type="sldImg"/>
          </p:nvPr>
        </p:nvSpPr>
        <p:spPr>
          <a:solidFill>
            <a:srgbClr val="FFFFFF">
              <a:alpha val="100000"/>
            </a:srgbClr>
          </a:solidFill>
        </p:spPr>
      </p:sp>
      <p:sp>
        <p:nvSpPr>
          <p:cNvPr id="6553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负数表示</a:t>
            </a:r>
            <a:r>
              <a:rPr lang="zh-CN" altLang="en-US" sz="1000" dirty="0"/>
              <a:t>实际为该负数的补码：其数符位为</a:t>
            </a:r>
            <a:r>
              <a:rPr lang="en-US" altLang="zh-CN" sz="1000" dirty="0">
                <a:latin typeface="宋体" panose="02010600030101010101" pitchFamily="2" charset="-122"/>
              </a:rPr>
              <a:t>1</a:t>
            </a:r>
            <a:r>
              <a:rPr lang="zh-CN" altLang="en-US" sz="1000" dirty="0"/>
              <a:t>，数值位的绝对值按位取反，最右位加</a:t>
            </a:r>
            <a:r>
              <a:rPr lang="en-US" altLang="zh-CN" sz="1000" dirty="0">
                <a:latin typeface="宋体" panose="02010600030101010101" pitchFamily="2" charset="-122"/>
              </a:rPr>
              <a:t>1</a:t>
            </a:r>
            <a:r>
              <a:rPr lang="zh-CN" altLang="en-US" sz="1000" dirty="0"/>
              <a:t>。</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TextEdit="1"/>
          </p:cNvSpPr>
          <p:nvPr>
            <p:ph type="sldImg"/>
          </p:nvPr>
        </p:nvSpPr>
        <p:spPr>
          <a:solidFill>
            <a:srgbClr val="FFFFFF">
              <a:alpha val="100000"/>
            </a:srgbClr>
          </a:solidFill>
        </p:spPr>
      </p:sp>
      <p:sp>
        <p:nvSpPr>
          <p:cNvPr id="6758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solidFill>
                  <a:srgbClr val="FF0066"/>
                </a:solidFill>
                <a:latin typeface="华文新魏" panose="02010800040101010101" pitchFamily="2" charset="-122"/>
                <a:ea typeface="华文新魏" panose="02010800040101010101" pitchFamily="2" charset="-122"/>
              </a:rPr>
              <a:t>符号</a:t>
            </a:r>
            <a:r>
              <a:rPr lang="zh-CN" altLang="en-US" dirty="0">
                <a:latin typeface="华文新魏" panose="02010800040101010101" pitchFamily="2" charset="-122"/>
                <a:ea typeface="华文新魏" panose="02010800040101010101" pitchFamily="2" charset="-122"/>
              </a:rPr>
              <a:t>常量：标识符形式的常量</a:t>
            </a:r>
            <a:endParaRPr lang="zh-CN" altLang="en-US" dirty="0">
              <a:latin typeface="华文新魏" panose="02010800040101010101" pitchFamily="2" charset="-122"/>
              <a:ea typeface="华文新魏" panose="02010800040101010101" pitchFamily="2" charset="-122"/>
            </a:endParaRPr>
          </a:p>
          <a:p>
            <a:pPr lvl="0" eaLnBrk="1" hangingPunct="1"/>
            <a:r>
              <a:rPr lang="en-US" altLang="zh-CN" dirty="0">
                <a:latin typeface="华文新魏" panose="02010800040101010101" pitchFamily="2" charset="-122"/>
              </a:rPr>
              <a:t>parameter datawidth =8,addrwidth = datawidth*2</a:t>
            </a:r>
            <a:r>
              <a:rPr lang="zh-CN" altLang="en-US" dirty="0">
                <a:latin typeface="宋体" panose="02010600030101010101" pitchFamily="2" charset="-122"/>
              </a:rPr>
              <a:t>；</a:t>
            </a:r>
            <a:r>
              <a:rPr lang="zh-CN" altLang="en-US" dirty="0">
                <a:latin typeface="华文新魏" panose="02010800040101010101" pitchFamily="2" charset="-122"/>
              </a:rPr>
              <a:t> </a:t>
            </a:r>
            <a:r>
              <a:rPr lang="en-US" altLang="zh-CN" dirty="0">
                <a:latin typeface="华文新魏" panose="02010800040101010101" pitchFamily="2" charset="-122"/>
              </a:rPr>
              <a:t>//</a:t>
            </a:r>
            <a:r>
              <a:rPr lang="zh-CN" altLang="en-US" dirty="0">
                <a:latin typeface="宋体" panose="02010600030101010101" pitchFamily="2" charset="-122"/>
              </a:rPr>
              <a:t>合法格式</a:t>
            </a:r>
            <a:endParaRPr lang="zh-CN" altLang="en-US" dirty="0">
              <a:latin typeface="宋体" panose="02010600030101010101" pitchFamily="2" charset="-122"/>
            </a:endParaRPr>
          </a:p>
          <a:p>
            <a:pPr lvl="0" eaLnBrk="1" hangingPunct="1"/>
            <a:r>
              <a:rPr lang="zh-CN" altLang="en-US" sz="2200" dirty="0">
                <a:solidFill>
                  <a:srgbClr val="CC0066"/>
                </a:solidFill>
              </a:rPr>
              <a:t>为什么要使用</a:t>
            </a:r>
            <a:r>
              <a:rPr lang="en-US" altLang="zh-CN" sz="1400" dirty="0">
                <a:solidFill>
                  <a:srgbClr val="009900"/>
                </a:solidFill>
                <a:latin typeface="宋体" panose="02010600030101010101" pitchFamily="2" charset="-122"/>
              </a:rPr>
              <a:t>parameter</a:t>
            </a:r>
            <a:r>
              <a:rPr lang="zh-CN" altLang="en-US" sz="1400" dirty="0">
                <a:solidFill>
                  <a:srgbClr val="009900"/>
                </a:solidFill>
                <a:latin typeface="宋体" panose="02010600030101010101" pitchFamily="2" charset="-122"/>
              </a:rPr>
              <a:t>常量？</a:t>
            </a:r>
            <a:r>
              <a:rPr lang="en-US" altLang="zh-CN" sz="1400" dirty="0">
                <a:solidFill>
                  <a:srgbClr val="009900"/>
                </a:solidFill>
              </a:rPr>
              <a:t>——</a:t>
            </a:r>
            <a:r>
              <a:rPr lang="zh-CN" altLang="en-US" sz="2200" dirty="0">
                <a:solidFill>
                  <a:srgbClr val="CC0066"/>
                </a:solidFill>
              </a:rPr>
              <a:t>这样便于</a:t>
            </a:r>
            <a:r>
              <a:rPr lang="zh-CN" altLang="en-US" sz="2200" dirty="0">
                <a:solidFill>
                  <a:srgbClr val="CC0066"/>
                </a:solidFill>
                <a:latin typeface="宋体" panose="02010600030101010101" pitchFamily="2" charset="-122"/>
              </a:rPr>
              <a:t>多处数字的一次性</a:t>
            </a:r>
            <a:r>
              <a:rPr lang="zh-CN" altLang="en-US" sz="2200" dirty="0">
                <a:solidFill>
                  <a:srgbClr val="CC0066"/>
                </a:solidFill>
              </a:rPr>
              <a:t>修改和书写的简洁、有意义。</a:t>
            </a:r>
            <a:endParaRPr lang="zh-CN" altLang="en-US" sz="2200" dirty="0">
              <a:solidFill>
                <a:srgbClr val="CC0066"/>
              </a:solidFill>
            </a:endParaRPr>
          </a:p>
          <a:p>
            <a:pPr lvl="0" eaLnBrk="1" hangingPunct="1"/>
            <a:r>
              <a:rPr lang="zh-CN" altLang="en-US" dirty="0">
                <a:latin typeface="华文新魏" panose="02010800040101010101" pitchFamily="2" charset="-122"/>
                <a:ea typeface="华文新魏" panose="02010800040101010101" pitchFamily="2" charset="-122"/>
              </a:rPr>
              <a:t> </a:t>
            </a:r>
            <a:endParaRPr lang="zh-CN" altLang="en-US" dirty="0">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TextEdit="1"/>
          </p:cNvSpPr>
          <p:nvPr>
            <p:ph type="sldImg"/>
          </p:nvPr>
        </p:nvSpPr>
        <p:spPr>
          <a:solidFill>
            <a:srgbClr val="FFFFFF">
              <a:alpha val="100000"/>
            </a:srgbClr>
          </a:solidFill>
        </p:spPr>
      </p:sp>
      <p:sp>
        <p:nvSpPr>
          <p:cNvPr id="6963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TextEdit="1"/>
          </p:cNvSpPr>
          <p:nvPr>
            <p:ph type="sldImg"/>
          </p:nvPr>
        </p:nvSpPr>
        <p:spPr>
          <a:solidFill>
            <a:srgbClr val="FFFFFF">
              <a:alpha val="100000"/>
            </a:srgbClr>
          </a:solidFill>
        </p:spPr>
      </p:sp>
      <p:sp>
        <p:nvSpPr>
          <p:cNvPr id="7168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TextEdit="1"/>
          </p:cNvSpPr>
          <p:nvPr>
            <p:ph type="sldImg"/>
          </p:nvPr>
        </p:nvSpPr>
        <p:spPr>
          <a:solidFill>
            <a:srgbClr val="FFFFFF">
              <a:alpha val="100000"/>
            </a:srgbClr>
          </a:solidFill>
        </p:spPr>
      </p:sp>
      <p:sp>
        <p:nvSpPr>
          <p:cNvPr id="7373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2200" b="1" dirty="0">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TextEdit="1"/>
          </p:cNvSpPr>
          <p:nvPr>
            <p:ph type="sldImg"/>
          </p:nvPr>
        </p:nvSpPr>
        <p:spPr>
          <a:solidFill>
            <a:srgbClr val="FFFFFF">
              <a:alpha val="100000"/>
            </a:srgbClr>
          </a:solidFill>
        </p:spPr>
      </p:sp>
      <p:sp>
        <p:nvSpPr>
          <p:cNvPr id="7577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000" dirty="0">
                <a:latin typeface="宋体" panose="02010600030101010101" pitchFamily="2" charset="-122"/>
              </a:rPr>
              <a:t>nets</a:t>
            </a:r>
            <a:r>
              <a:rPr lang="zh-CN" altLang="en-US" sz="1000" dirty="0">
                <a:latin typeface="宋体" panose="02010600030101010101" pitchFamily="2" charset="-122"/>
              </a:rPr>
              <a:t>型</a:t>
            </a:r>
            <a:r>
              <a:rPr lang="zh-CN" altLang="en-US" sz="1000" dirty="0"/>
              <a:t>变量不能储存值！即不能存储输入</a:t>
            </a:r>
            <a:endParaRPr lang="zh-CN" altLang="en-US" sz="1000" dirty="0"/>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TextEdit="1"/>
          </p:cNvSpPr>
          <p:nvPr>
            <p:ph type="sldImg"/>
          </p:nvPr>
        </p:nvSpPr>
        <p:spPr>
          <a:solidFill>
            <a:srgbClr val="FFFFFF">
              <a:alpha val="100000"/>
            </a:srgbClr>
          </a:solidFill>
        </p:spPr>
      </p:sp>
      <p:sp>
        <p:nvSpPr>
          <p:cNvPr id="7782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300" b="1" dirty="0">
                <a:latin typeface="方正姚体" panose="02010601030101010101" pitchFamily="2" charset="-122"/>
                <a:ea typeface="方正姚体" panose="02010601030101010101" pitchFamily="2" charset="-122"/>
              </a:rPr>
              <a:t>     </a:t>
            </a:r>
            <a:r>
              <a:rPr lang="zh-CN" altLang="en-US" sz="1300" dirty="0">
                <a:latin typeface="方正姚体" panose="02010601030101010101" pitchFamily="2" charset="-122"/>
                <a:ea typeface="方正姚体" panose="02010601030101010101" pitchFamily="2" charset="-122"/>
              </a:rPr>
              <a:t>模块中的输入</a:t>
            </a:r>
            <a:r>
              <a:rPr lang="en-US" altLang="zh-CN" sz="1300" dirty="0">
                <a:latin typeface="方正姚体" panose="02010601030101010101" pitchFamily="2" charset="-122"/>
                <a:ea typeface="方正姚体" panose="02010601030101010101" pitchFamily="2" charset="-122"/>
              </a:rPr>
              <a:t>/</a:t>
            </a:r>
            <a:r>
              <a:rPr lang="zh-CN" altLang="en-US" sz="1300" dirty="0">
                <a:latin typeface="方正姚体" panose="02010601030101010101" pitchFamily="2" charset="-122"/>
                <a:ea typeface="方正姚体" panose="02010601030101010101" pitchFamily="2" charset="-122"/>
              </a:rPr>
              <a:t>输出信号类型</a:t>
            </a:r>
            <a:r>
              <a:rPr lang="zh-CN" altLang="en-US" sz="1300" dirty="0">
                <a:solidFill>
                  <a:srgbClr val="FF66CC"/>
                </a:solidFill>
                <a:latin typeface="方正姚体" panose="02010601030101010101" pitchFamily="2" charset="-122"/>
                <a:ea typeface="方正姚体" panose="02010601030101010101" pitchFamily="2" charset="-122"/>
              </a:rPr>
              <a:t>缺省</a:t>
            </a:r>
            <a:r>
              <a:rPr lang="zh-CN" altLang="en-US" sz="1300" dirty="0">
                <a:latin typeface="方正姚体" panose="02010601030101010101" pitchFamily="2" charset="-122"/>
                <a:ea typeface="方正姚体" panose="02010601030101010101" pitchFamily="2" charset="-122"/>
              </a:rPr>
              <a:t>为</a:t>
            </a:r>
            <a:r>
              <a:rPr lang="en-US" altLang="zh-CN" sz="1300" dirty="0">
                <a:solidFill>
                  <a:srgbClr val="FF66CC"/>
                </a:solidFill>
                <a:latin typeface="方正姚体" panose="02010601030101010101" pitchFamily="2" charset="-122"/>
                <a:ea typeface="方正姚体" panose="02010601030101010101" pitchFamily="2" charset="-122"/>
              </a:rPr>
              <a:t>wire</a:t>
            </a:r>
            <a:r>
              <a:rPr lang="zh-CN" altLang="en-US" sz="1300" dirty="0">
                <a:latin typeface="方正姚体" panose="02010601030101010101" pitchFamily="2" charset="-122"/>
                <a:ea typeface="方正姚体" panose="02010601030101010101" pitchFamily="2" charset="-122"/>
              </a:rPr>
              <a:t>型</a:t>
            </a:r>
            <a:r>
              <a:rPr lang="en-US" altLang="zh-CN" sz="1300" dirty="0">
                <a:ea typeface="方正姚体" panose="02010601030101010101" pitchFamily="2" charset="-122"/>
              </a:rPr>
              <a:t>——</a:t>
            </a:r>
            <a:r>
              <a:rPr lang="zh-CN" altLang="en-US" sz="1300" dirty="0">
                <a:latin typeface="方正姚体" panose="02010601030101010101" pitchFamily="2" charset="-122"/>
                <a:ea typeface="方正姚体" panose="02010601030101010101" pitchFamily="2" charset="-122"/>
              </a:rPr>
              <a:t>当对输入</a:t>
            </a:r>
            <a:r>
              <a:rPr lang="en-US" altLang="zh-CN" sz="1300" dirty="0">
                <a:latin typeface="方正姚体" panose="02010601030101010101" pitchFamily="2" charset="-122"/>
                <a:ea typeface="方正姚体" panose="02010601030101010101" pitchFamily="2" charset="-122"/>
              </a:rPr>
              <a:t>/</a:t>
            </a:r>
            <a:r>
              <a:rPr lang="zh-CN" altLang="en-US" sz="1300" dirty="0">
                <a:latin typeface="方正姚体" panose="02010601030101010101" pitchFamily="2" charset="-122"/>
                <a:ea typeface="方正姚体" panose="02010601030101010101" pitchFamily="2" charset="-122"/>
              </a:rPr>
              <a:t>输出信号不加以信号类型声明时，则输入</a:t>
            </a:r>
            <a:r>
              <a:rPr lang="en-US" altLang="zh-CN" sz="1300" dirty="0">
                <a:latin typeface="方正姚体" panose="02010601030101010101" pitchFamily="2" charset="-122"/>
                <a:ea typeface="方正姚体" panose="02010601030101010101" pitchFamily="2" charset="-122"/>
              </a:rPr>
              <a:t>/</a:t>
            </a:r>
            <a:r>
              <a:rPr lang="zh-CN" altLang="en-US" sz="1300" dirty="0">
                <a:latin typeface="方正姚体" panose="02010601030101010101" pitchFamily="2" charset="-122"/>
                <a:ea typeface="方正姚体" panose="02010601030101010101" pitchFamily="2" charset="-122"/>
              </a:rPr>
              <a:t>输出信号为</a:t>
            </a:r>
            <a:r>
              <a:rPr lang="en-US" altLang="zh-CN" sz="1300" dirty="0">
                <a:solidFill>
                  <a:srgbClr val="FF66CC"/>
                </a:solidFill>
                <a:latin typeface="方正姚体" panose="02010601030101010101" pitchFamily="2" charset="-122"/>
                <a:ea typeface="方正姚体" panose="02010601030101010101" pitchFamily="2" charset="-122"/>
              </a:rPr>
              <a:t>wire</a:t>
            </a:r>
            <a:r>
              <a:rPr lang="zh-CN" altLang="en-US" sz="1300" dirty="0">
                <a:latin typeface="方正姚体" panose="02010601030101010101" pitchFamily="2" charset="-122"/>
                <a:ea typeface="方正姚体" panose="02010601030101010101" pitchFamily="2" charset="-122"/>
              </a:rPr>
              <a:t>型。</a:t>
            </a:r>
            <a:endParaRPr lang="zh-CN" altLang="en-US" sz="1000" dirty="0">
              <a:latin typeface="宋体" panose="02010600030101010101" pitchFamily="2" charset="-122"/>
            </a:endParaRPr>
          </a:p>
          <a:p>
            <a:pPr lvl="0" eaLnBrk="1" hangingPunct="1"/>
            <a:r>
              <a:rPr lang="en-US" altLang="zh-CN" sz="1000" dirty="0">
                <a:latin typeface="宋体" panose="02010600030101010101" pitchFamily="2" charset="-122"/>
              </a:rPr>
              <a:t>wire</a:t>
            </a:r>
            <a:r>
              <a:rPr lang="zh-CN" altLang="en-US" sz="1000" dirty="0"/>
              <a:t>型向量举例：</a:t>
            </a:r>
            <a:endParaRPr lang="zh-CN" altLang="en-US" sz="1000" dirty="0">
              <a:latin typeface="宋体" panose="02010600030101010101" pitchFamily="2" charset="-122"/>
            </a:endParaRPr>
          </a:p>
          <a:p>
            <a:pPr lvl="0" eaLnBrk="1" hangingPunct="1"/>
            <a:r>
              <a:rPr lang="zh-CN" altLang="en-US" sz="1000" dirty="0">
                <a:latin typeface="宋体" panose="02010600030101010101" pitchFamily="2" charset="-122"/>
              </a:rPr>
              <a:t>    </a:t>
            </a:r>
            <a:r>
              <a:rPr lang="en-US" altLang="zh-CN" sz="1000" dirty="0">
                <a:latin typeface="宋体" panose="02010600030101010101" pitchFamily="2" charset="-122"/>
              </a:rPr>
              <a:t>wire[7:0]  in,out;</a:t>
            </a:r>
            <a:endParaRPr lang="en-US" altLang="zh-CN" sz="1000" dirty="0">
              <a:latin typeface="宋体" panose="02010600030101010101" pitchFamily="2" charset="-122"/>
            </a:endParaRPr>
          </a:p>
          <a:p>
            <a:pPr lvl="0" eaLnBrk="1" hangingPunct="1"/>
            <a:r>
              <a:rPr lang="en-US" altLang="zh-CN" sz="1000" dirty="0">
                <a:latin typeface="宋体" panose="02010600030101010101" pitchFamily="2" charset="-122"/>
              </a:rPr>
              <a:t>    assign out=in;  //</a:t>
            </a:r>
            <a:r>
              <a:rPr lang="zh-CN" altLang="en-US" sz="1000" dirty="0"/>
              <a:t>将等号右边的值赋给等号左边的变量。</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TextEdit="1"/>
          </p:cNvSpPr>
          <p:nvPr>
            <p:ph type="sldImg"/>
          </p:nvPr>
        </p:nvSpPr>
        <p:spPr>
          <a:solidFill>
            <a:srgbClr val="FFFFFF">
              <a:alpha val="100000"/>
            </a:srgbClr>
          </a:solidFill>
        </p:spPr>
      </p:sp>
      <p:sp>
        <p:nvSpPr>
          <p:cNvPr id="7987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ea typeface="黑体" panose="02010609060101010101" pitchFamily="49" charset="-122"/>
              </a:rPr>
              <a:t>备注</a:t>
            </a:r>
            <a:r>
              <a:rPr lang="zh-CN" altLang="en-US" sz="1000" dirty="0"/>
              <a:t>：</a:t>
            </a:r>
            <a:r>
              <a:rPr lang="en-US" altLang="zh-CN" sz="1000" dirty="0"/>
              <a:t>intege</a:t>
            </a:r>
            <a:r>
              <a:rPr lang="zh-CN" altLang="en-US" sz="1000" dirty="0">
                <a:latin typeface="宋体" panose="02010600030101010101" pitchFamily="2" charset="-122"/>
              </a:rPr>
              <a:t>型、</a:t>
            </a:r>
            <a:r>
              <a:rPr lang="en-US" altLang="zh-CN" sz="1000" dirty="0"/>
              <a:t>real</a:t>
            </a:r>
            <a:r>
              <a:rPr lang="zh-CN" altLang="en-US" sz="1000" dirty="0">
                <a:latin typeface="宋体" panose="02010600030101010101" pitchFamily="2" charset="-122"/>
              </a:rPr>
              <a:t>型和</a:t>
            </a:r>
            <a:r>
              <a:rPr lang="en-US" altLang="zh-CN" sz="1000" dirty="0"/>
              <a:t>time</a:t>
            </a:r>
            <a:r>
              <a:rPr lang="zh-CN" altLang="en-US" sz="1000" dirty="0">
                <a:latin typeface="宋体" panose="02010600030101010101" pitchFamily="2" charset="-122"/>
              </a:rPr>
              <a:t>型变量为纯数学的抽象描述，不对应任何具体的硬件电路。 </a:t>
            </a:r>
            <a:endParaRPr lang="zh-CN" altLang="en-US" sz="1000" dirty="0"/>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TextEdit="1"/>
          </p:cNvSpPr>
          <p:nvPr>
            <p:ph type="sldImg"/>
          </p:nvPr>
        </p:nvSpPr>
        <p:spPr>
          <a:solidFill>
            <a:srgbClr val="FFFFFF">
              <a:alpha val="100000"/>
            </a:srgbClr>
          </a:solidFill>
        </p:spPr>
      </p:sp>
      <p:sp>
        <p:nvSpPr>
          <p:cNvPr id="819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ea typeface="黑体" panose="02010609060101010101" pitchFamily="49" charset="-122"/>
              </a:rPr>
              <a:t>备注</a:t>
            </a:r>
            <a:r>
              <a:rPr lang="zh-CN" altLang="en-US" sz="1000" dirty="0"/>
              <a:t>：过程赋值语句包括非阻塞赋值语句</a:t>
            </a:r>
            <a:r>
              <a:rPr lang="en-US" altLang="zh-CN" sz="1000" dirty="0"/>
              <a:t>b&lt;=a;</a:t>
            </a:r>
            <a:r>
              <a:rPr lang="zh-CN" altLang="en-US" sz="1000" dirty="0"/>
              <a:t>和阻塞赋值语句</a:t>
            </a:r>
            <a:r>
              <a:rPr lang="en-US" altLang="zh-CN" sz="1000" dirty="0"/>
              <a:t>b=a;</a:t>
            </a:r>
            <a:endParaRPr lang="en-US" altLang="zh-CN" sz="1000" dirty="0"/>
          </a:p>
          <a:p>
            <a:pPr lvl="0" eaLnBrk="1" hangingPunct="1"/>
            <a:r>
              <a:rPr lang="en-US" altLang="zh-CN" sz="1000" dirty="0"/>
              <a:t>          </a:t>
            </a:r>
            <a:endParaRPr lang="en-US" altLang="zh-CN" sz="1000" dirty="0">
              <a:latin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TextEdit="1"/>
          </p:cNvSpPr>
          <p:nvPr>
            <p:ph type="sldImg"/>
          </p:nvPr>
        </p:nvSpPr>
        <p:spPr>
          <a:solidFill>
            <a:srgbClr val="FFFFFF">
              <a:alpha val="100000"/>
            </a:srgbClr>
          </a:solidFill>
        </p:spPr>
      </p:sp>
      <p:sp>
        <p:nvSpPr>
          <p:cNvPr id="839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TextEdit="1"/>
          </p:cNvSpPr>
          <p:nvPr>
            <p:ph type="sldImg"/>
          </p:nvPr>
        </p:nvSpPr>
        <p:spPr>
          <a:solidFill>
            <a:srgbClr val="FFFFFF">
              <a:alpha val="100000"/>
            </a:srgbClr>
          </a:solidFill>
        </p:spPr>
      </p:sp>
      <p:sp>
        <p:nvSpPr>
          <p:cNvPr id="860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en-US" altLang="zh-CN" sz="1000" dirty="0">
                <a:latin typeface="宋体" panose="02010600030101010101" pitchFamily="2" charset="-122"/>
              </a:rPr>
              <a:t> </a:t>
            </a:r>
            <a:r>
              <a:rPr lang="zh-CN" altLang="en-US" sz="1000" dirty="0">
                <a:ea typeface="黑体" panose="02010609060101010101" pitchFamily="49" charset="-122"/>
              </a:rPr>
              <a:t>备注</a:t>
            </a:r>
            <a:r>
              <a:rPr lang="zh-CN" altLang="en-US" sz="1000" dirty="0"/>
              <a:t>：这里</a:t>
            </a:r>
            <a:r>
              <a:rPr lang="en-US" altLang="zh-CN" sz="1000" dirty="0">
                <a:latin typeface="宋体" panose="02010600030101010101" pitchFamily="2" charset="-122"/>
              </a:rPr>
              <a:t>reg</a:t>
            </a:r>
            <a:r>
              <a:rPr lang="zh-CN" altLang="en-US" sz="1000" dirty="0"/>
              <a:t>型变量</a:t>
            </a:r>
            <a:r>
              <a:rPr lang="en-US" altLang="zh-CN" sz="1000" dirty="0">
                <a:latin typeface="宋体" panose="02010600030101010101" pitchFamily="2" charset="-122"/>
              </a:rPr>
              <a:t>out1</a:t>
            </a:r>
            <a:r>
              <a:rPr lang="zh-CN" altLang="en-US" sz="1000" dirty="0">
                <a:latin typeface="宋体" panose="02010600030101010101" pitchFamily="2" charset="-122"/>
              </a:rPr>
              <a:t>一定是放在过程块语句中，而且必须通过过程赋值语句赋值！ </a:t>
            </a:r>
            <a:r>
              <a:rPr lang="en-US" altLang="zh-CN" sz="1000" dirty="0">
                <a:latin typeface="宋体" panose="02010600030101010101" pitchFamily="2" charset="-122"/>
              </a:rPr>
              <a:t>out1</a:t>
            </a:r>
            <a:r>
              <a:rPr lang="zh-CN" altLang="en-US" sz="1000" dirty="0"/>
              <a:t>代表了一个组合逻辑信号，它是对输入</a:t>
            </a:r>
            <a:r>
              <a:rPr lang="en-US" altLang="zh-CN" sz="1000" dirty="0">
                <a:latin typeface="宋体" panose="02010600030101010101" pitchFamily="2" charset="-122"/>
              </a:rPr>
              <a:t>b</a:t>
            </a:r>
            <a:r>
              <a:rPr lang="zh-CN" altLang="en-US" sz="1000" dirty="0"/>
              <a:t>取反。</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TextEdit="1"/>
          </p:cNvSpPr>
          <p:nvPr>
            <p:ph type="sldImg"/>
          </p:nvPr>
        </p:nvSpPr>
        <p:spPr>
          <a:solidFill>
            <a:srgbClr val="FFFFFF">
              <a:alpha val="100000"/>
            </a:srgbClr>
          </a:solidFill>
        </p:spPr>
      </p:sp>
      <p:sp>
        <p:nvSpPr>
          <p:cNvPr id="880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ea typeface="黑体" panose="02010609060101010101" pitchFamily="49" charset="-122"/>
              </a:rPr>
              <a:t>备注</a:t>
            </a:r>
            <a:r>
              <a:rPr lang="zh-CN" altLang="en-US" sz="1000" dirty="0"/>
              <a:t>：这里</a:t>
            </a:r>
            <a:r>
              <a:rPr lang="en-US" altLang="zh-CN" sz="1000" dirty="0">
                <a:latin typeface="宋体" panose="02010600030101010101" pitchFamily="2" charset="-122"/>
              </a:rPr>
              <a:t>reg</a:t>
            </a:r>
            <a:r>
              <a:rPr lang="zh-CN" altLang="en-US" sz="1000" dirty="0"/>
              <a:t>型变量</a:t>
            </a:r>
            <a:r>
              <a:rPr lang="en-US" altLang="zh-CN" sz="1000" dirty="0">
                <a:latin typeface="宋体" panose="02010600030101010101" pitchFamily="2" charset="-122"/>
              </a:rPr>
              <a:t>out1</a:t>
            </a:r>
            <a:r>
              <a:rPr lang="zh-CN" altLang="en-US" sz="1000" dirty="0"/>
              <a:t>代表了一个</a:t>
            </a:r>
            <a:r>
              <a:rPr lang="zh-CN" altLang="en-US" sz="1000" dirty="0">
                <a:ea typeface="黑体" panose="02010609060101010101" pitchFamily="49" charset="-122"/>
              </a:rPr>
              <a:t>触发器</a:t>
            </a:r>
            <a:r>
              <a:rPr lang="zh-CN" altLang="en-US" sz="1000" dirty="0"/>
              <a:t>，当时钟</a:t>
            </a:r>
            <a:r>
              <a:rPr lang="en-US" altLang="zh-CN" sz="1000" dirty="0"/>
              <a:t>clk</a:t>
            </a:r>
            <a:r>
              <a:rPr lang="zh-CN" altLang="en-US" sz="1000" dirty="0"/>
              <a:t>的上升沿到来时，它等于输入</a:t>
            </a:r>
            <a:r>
              <a:rPr lang="en-US" altLang="zh-CN" sz="1000" dirty="0"/>
              <a:t>d</a:t>
            </a:r>
            <a:r>
              <a:rPr lang="zh-CN" altLang="en-US" sz="1000" dirty="0"/>
              <a:t>的值。</a:t>
            </a:r>
            <a:endParaRPr lang="zh-CN" altLang="en-US" sz="1000" dirty="0"/>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TextEdit="1"/>
          </p:cNvSpPr>
          <p:nvPr>
            <p:ph type="sldImg"/>
          </p:nvPr>
        </p:nvSpPr>
        <p:spPr>
          <a:solidFill>
            <a:srgbClr val="FFFFFF">
              <a:alpha val="100000"/>
            </a:srgbClr>
          </a:solidFill>
        </p:spPr>
      </p:sp>
      <p:sp>
        <p:nvSpPr>
          <p:cNvPr id="901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TextEdit="1"/>
          </p:cNvSpPr>
          <p:nvPr>
            <p:ph type="sldImg"/>
          </p:nvPr>
        </p:nvSpPr>
        <p:spPr>
          <a:solidFill>
            <a:srgbClr val="FFFFFF">
              <a:alpha val="100000"/>
            </a:srgbClr>
          </a:solidFill>
        </p:spPr>
      </p:sp>
      <p:sp>
        <p:nvSpPr>
          <p:cNvPr id="9216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zh-CN" altLang="en-US" sz="1000" dirty="0"/>
              <a:t>参见</a:t>
            </a:r>
            <a:r>
              <a:rPr lang="en-US" altLang="zh-CN" sz="1000" dirty="0"/>
              <a:t>《</a:t>
            </a:r>
            <a:r>
              <a:rPr lang="zh-CN" altLang="en-US" sz="1000" dirty="0"/>
              <a:t>从算法设计到硬线逻辑的实现</a:t>
            </a:r>
            <a:r>
              <a:rPr lang="en-US" altLang="zh-CN" sz="1000" dirty="0"/>
              <a:t>——</a:t>
            </a:r>
            <a:r>
              <a:rPr lang="zh-CN" altLang="en-US" sz="1000" dirty="0"/>
              <a:t>复杂数字逻辑系统的</a:t>
            </a:r>
            <a:r>
              <a:rPr lang="en-US" altLang="zh-CN" sz="1000" dirty="0">
                <a:latin typeface="宋体" panose="02010600030101010101" pitchFamily="2" charset="-122"/>
              </a:rPr>
              <a:t>Verilog HDL</a:t>
            </a:r>
            <a:r>
              <a:rPr lang="zh-CN" altLang="en-US" sz="1000" dirty="0"/>
              <a:t>设计技术和方法</a:t>
            </a:r>
            <a:r>
              <a:rPr lang="en-US" altLang="zh-CN" sz="1000" dirty="0"/>
              <a:t>》</a:t>
            </a:r>
            <a:r>
              <a:rPr lang="en-US" altLang="zh-CN" sz="1000" dirty="0">
                <a:latin typeface="宋体" panose="02010600030101010101" pitchFamily="2" charset="-122"/>
              </a:rPr>
              <a:t>P27</a:t>
            </a:r>
            <a:endParaRPr lang="en-US" altLang="zh-CN"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1026"/>
          <p:cNvSpPr>
            <a:spLocks noTextEdit="1"/>
          </p:cNvSpPr>
          <p:nvPr>
            <p:ph type="sldImg"/>
          </p:nvPr>
        </p:nvSpPr>
        <p:spPr/>
      </p:sp>
      <p:sp>
        <p:nvSpPr>
          <p:cNvPr id="94211" name="Rectangle 1027"/>
          <p:cNvSpPr>
            <a:spLocks noGrp="1"/>
          </p:cNvSpPr>
          <p:nvPr>
            <p:ph type="body"/>
          </p:nvPr>
        </p:nvSpPr>
        <p:spPr/>
        <p:txBody>
          <a:bodyPr wrap="square" lIns="91440" tIns="45720" rIns="91440" bIns="45720" anchor="t" anchorCtr="0"/>
          <a:p>
            <a:pPr lvl="0" eaLnBrk="1" hangingPunct="1"/>
            <a:r>
              <a:rPr lang="zh-CN" altLang="en-US" dirty="0">
                <a:latin typeface="宋体" panose="02010600030101010101" pitchFamily="2" charset="-122"/>
              </a:rPr>
              <a:t>见</a:t>
            </a:r>
            <a:r>
              <a:rPr lang="en-US" altLang="zh-CN" dirty="0">
                <a:latin typeface="宋体" panose="02010600030101010101" pitchFamily="2" charset="-122"/>
              </a:rPr>
              <a:t>《</a:t>
            </a:r>
            <a:r>
              <a:rPr lang="zh-CN" altLang="en-US" dirty="0">
                <a:latin typeface="宋体" panose="02010600030101010101" pitchFamily="2" charset="-122"/>
              </a:rPr>
              <a:t>数字系统设计与</a:t>
            </a:r>
            <a:r>
              <a:rPr lang="en-US" altLang="zh-CN" dirty="0"/>
              <a:t>Verilog HDL</a:t>
            </a:r>
            <a:r>
              <a:rPr lang="en-US" altLang="zh-CN" dirty="0">
                <a:latin typeface="宋体" panose="02010600030101010101" pitchFamily="2" charset="-122"/>
              </a:rPr>
              <a:t>》</a:t>
            </a:r>
            <a:r>
              <a:rPr lang="en-US" altLang="zh-CN" dirty="0"/>
              <a:t>P154~157 </a:t>
            </a:r>
            <a:endParaRPr lang="en-US"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TextEdit="1"/>
          </p:cNvSpPr>
          <p:nvPr>
            <p:ph type="sldImg"/>
          </p:nvPr>
        </p:nvSpPr>
        <p:spPr>
          <a:solidFill>
            <a:srgbClr val="FFFFFF">
              <a:alpha val="100000"/>
            </a:srgbClr>
          </a:solidFill>
        </p:spPr>
      </p:sp>
      <p:sp>
        <p:nvSpPr>
          <p:cNvPr id="962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zh-CN" altLang="en-US" sz="1000" dirty="0"/>
              <a:t>“</a:t>
            </a:r>
            <a:r>
              <a:rPr lang="en-US" altLang="zh-CN" sz="1000" dirty="0">
                <a:latin typeface="宋体" panose="02010600030101010101" pitchFamily="2" charset="-122"/>
              </a:rPr>
              <a:t>Quartus</a:t>
            </a:r>
            <a:r>
              <a:rPr lang="en-US" altLang="zh-CN" sz="1000" baseline="30000" dirty="0">
                <a:latin typeface="宋体" panose="02010600030101010101" pitchFamily="2" charset="-122"/>
              </a:rPr>
              <a:t> </a:t>
            </a:r>
            <a:r>
              <a:rPr lang="en-US" altLang="zh-CN" sz="1000" dirty="0">
                <a:latin typeface="宋体" panose="02010600030101010101" pitchFamily="2" charset="-122"/>
              </a:rPr>
              <a:t>II</a:t>
            </a:r>
            <a:r>
              <a:rPr lang="zh-CN" altLang="en-US" sz="1000" dirty="0">
                <a:latin typeface="宋体" panose="02010600030101010101" pitchFamily="2" charset="-122"/>
              </a:rPr>
              <a:t>所支持的运算符 </a:t>
            </a:r>
            <a:r>
              <a:rPr lang="en-US" altLang="zh-CN" sz="1000" dirty="0">
                <a:latin typeface="宋体" panose="02010600030101010101" pitchFamily="2" charset="-122"/>
              </a:rPr>
              <a:t>.doc</a:t>
            </a:r>
            <a:r>
              <a:rPr lang="en-US" altLang="zh-CN" sz="1000" dirty="0"/>
              <a:t>”</a:t>
            </a:r>
            <a:endParaRPr lang="en-US" altLang="zh-CN" sz="1000" dirty="0">
              <a:latin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TextEdit="1"/>
          </p:cNvSpPr>
          <p:nvPr>
            <p:ph type="sldImg"/>
          </p:nvPr>
        </p:nvSpPr>
        <p:spPr>
          <a:solidFill>
            <a:srgbClr val="FFFFFF">
              <a:alpha val="100000"/>
            </a:srgbClr>
          </a:solidFill>
        </p:spPr>
      </p:sp>
      <p:sp>
        <p:nvSpPr>
          <p:cNvPr id="983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b="1" dirty="0">
                <a:latin typeface="宋体" panose="02010600030101010101" pitchFamily="2" charset="-122"/>
              </a:rPr>
              <a:t>备注</a:t>
            </a:r>
            <a:r>
              <a:rPr lang="zh-CN" altLang="en-US" sz="1000" dirty="0">
                <a:latin typeface="宋体" panose="02010600030101010101" pitchFamily="2" charset="-122"/>
              </a:rPr>
              <a:t>：注意</a:t>
            </a:r>
            <a:r>
              <a:rPr lang="en-US" altLang="zh-CN" sz="2000" dirty="0">
                <a:latin typeface="华文新魏" panose="02010800040101010101" pitchFamily="2" charset="-122"/>
                <a:ea typeface="华文新魏" panose="02010800040101010101" pitchFamily="2" charset="-122"/>
              </a:rPr>
              <a:t>Quartus II</a:t>
            </a:r>
            <a:r>
              <a:rPr lang="zh-CN" altLang="en-US" sz="2000" dirty="0">
                <a:latin typeface="华文新魏" panose="02010800040101010101" pitchFamily="2" charset="-122"/>
                <a:ea typeface="华文新魏" panose="02010800040101010101" pitchFamily="2" charset="-122"/>
              </a:rPr>
              <a:t>支持</a:t>
            </a:r>
            <a:r>
              <a:rPr lang="zh-CN" altLang="en-US" sz="2000" dirty="0">
                <a:ea typeface="华文新魏" panose="02010800040101010101" pitchFamily="2" charset="-122"/>
              </a:rPr>
              <a:t>“</a:t>
            </a:r>
            <a:r>
              <a:rPr lang="en-US" altLang="zh-CN" sz="2000" dirty="0">
                <a:solidFill>
                  <a:srgbClr val="CC0000"/>
                </a:solidFill>
                <a:latin typeface="华文新魏" panose="02010800040101010101" pitchFamily="2" charset="-122"/>
                <a:ea typeface="华文新魏" panose="02010800040101010101" pitchFamily="2" charset="-122"/>
              </a:rPr>
              <a:t>/</a:t>
            </a:r>
            <a:r>
              <a:rPr lang="en-US" altLang="zh-CN" sz="2000" dirty="0">
                <a:ea typeface="华文新魏" panose="02010800040101010101" pitchFamily="2" charset="-122"/>
              </a:rPr>
              <a:t>”</a:t>
            </a:r>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和</a:t>
            </a:r>
            <a:r>
              <a:rPr lang="zh-CN" altLang="en-US" sz="2000" dirty="0">
                <a:ea typeface="华文新魏" panose="02010800040101010101" pitchFamily="2" charset="-122"/>
              </a:rPr>
              <a:t>“</a:t>
            </a:r>
            <a:r>
              <a:rPr lang="en-US" altLang="zh-CN" sz="2000" dirty="0">
                <a:solidFill>
                  <a:srgbClr val="CC0000"/>
                </a:solidFill>
                <a:latin typeface="华文新魏" panose="02010800040101010101" pitchFamily="2" charset="-122"/>
                <a:ea typeface="华文新魏" panose="02010800040101010101" pitchFamily="2" charset="-122"/>
              </a:rPr>
              <a:t>%</a:t>
            </a:r>
            <a:r>
              <a:rPr lang="en-US" altLang="zh-CN" sz="2000" dirty="0">
                <a:ea typeface="华文新魏" panose="02010800040101010101" pitchFamily="2" charset="-122"/>
              </a:rPr>
              <a:t>”</a:t>
            </a:r>
            <a:r>
              <a:rPr lang="zh-CN" altLang="en-US" sz="2000" dirty="0">
                <a:latin typeface="华文新魏" panose="02010800040101010101" pitchFamily="2" charset="-122"/>
                <a:ea typeface="华文新魏" panose="02010800040101010101" pitchFamily="2" charset="-122"/>
              </a:rPr>
              <a:t>运算！参见</a:t>
            </a:r>
            <a:r>
              <a:rPr lang="en-US" altLang="zh-CN" sz="2000" dirty="0">
                <a:latin typeface="华文新魏" panose="02010800040101010101" pitchFamily="2" charset="-122"/>
                <a:ea typeface="华文新魏" panose="02010800040101010101" pitchFamily="2" charset="-122"/>
              </a:rPr>
              <a:t>E:\AMJ\2003_2005Year\course\EDA\2005Year\2005_VerilogHDL_example\arithmetic</a:t>
            </a:r>
            <a:r>
              <a:rPr lang="zh-CN" altLang="en-US" sz="2000" dirty="0">
                <a:latin typeface="华文新魏" panose="02010800040101010101" pitchFamily="2" charset="-122"/>
                <a:ea typeface="华文新魏" panose="02010800040101010101" pitchFamily="2" charset="-122"/>
              </a:rPr>
              <a:t>中的</a:t>
            </a:r>
            <a:r>
              <a:rPr lang="en-US" altLang="zh-CN" sz="2000" dirty="0">
                <a:latin typeface="华文新魏" panose="02010800040101010101" pitchFamily="2" charset="-122"/>
                <a:ea typeface="华文新魏" panose="02010800040101010101" pitchFamily="2" charset="-122"/>
              </a:rPr>
              <a:t>arithmetic.v</a:t>
            </a:r>
            <a:r>
              <a:rPr lang="zh-CN" altLang="en-US" sz="2000" dirty="0">
                <a:latin typeface="华文新魏" panose="02010800040101010101" pitchFamily="2" charset="-122"/>
                <a:ea typeface="华文新魏" panose="02010800040101010101" pitchFamily="2" charset="-122"/>
              </a:rPr>
              <a:t>和</a:t>
            </a:r>
            <a:r>
              <a:rPr lang="en-US" altLang="zh-CN" sz="2000" dirty="0">
                <a:latin typeface="华文新魏" panose="02010800040101010101" pitchFamily="2" charset="-122"/>
                <a:ea typeface="华文新魏" panose="02010800040101010101" pitchFamily="2" charset="-122"/>
              </a:rPr>
              <a:t>arithmetic.vwf</a:t>
            </a:r>
            <a:endParaRPr lang="en-US" altLang="zh-CN" sz="2000" dirty="0">
              <a:latin typeface="华文新魏" panose="02010800040101010101" pitchFamily="2" charset="-122"/>
              <a:ea typeface="华文新魏" panose="02010800040101010101" pitchFamily="2" charset="-122"/>
            </a:endParaRPr>
          </a:p>
          <a:p>
            <a:pPr lvl="0" eaLnBrk="1" hangingPunct="1"/>
            <a:r>
              <a:rPr lang="en-US" altLang="zh-CN" sz="2000" b="1" dirty="0"/>
              <a:t>          </a:t>
            </a:r>
            <a:r>
              <a:rPr lang="zh-CN" altLang="en-US" sz="2000" b="1" dirty="0"/>
              <a:t>求模</a:t>
            </a:r>
            <a:r>
              <a:rPr lang="zh-CN" altLang="en-US" sz="2000" dirty="0"/>
              <a:t>即是求一个数被另一个数相除后所得的余数。</a:t>
            </a:r>
            <a:endParaRPr lang="zh-CN" altLang="en-US" sz="2000" dirty="0"/>
          </a:p>
          <a:p>
            <a:pPr lvl="0" eaLnBrk="1" hangingPunct="1"/>
            <a:endParaRPr lang="zh-CN" altLang="en-US" sz="2000" dirty="0">
              <a:latin typeface="华文新魏" panose="02010800040101010101" pitchFamily="2" charset="-122"/>
              <a:ea typeface="华文新魏" panose="02010800040101010101" pitchFamily="2" charset="-122"/>
            </a:endParaRPr>
          </a:p>
          <a:p>
            <a:pPr lvl="0" eaLnBrk="1" hangingPunct="1"/>
            <a:endParaRPr lang="en-US" altLang="zh-CN" sz="2000" b="1" dirty="0">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TextEdit="1"/>
          </p:cNvSpPr>
          <p:nvPr>
            <p:ph type="sldImg"/>
          </p:nvPr>
        </p:nvSpPr>
        <p:spPr>
          <a:solidFill>
            <a:srgbClr val="FFFFFF">
              <a:alpha val="100000"/>
            </a:srgbClr>
          </a:solidFill>
        </p:spPr>
      </p:sp>
      <p:sp>
        <p:nvSpPr>
          <p:cNvPr id="1003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TextEdit="1"/>
          </p:cNvSpPr>
          <p:nvPr>
            <p:ph type="sldImg"/>
          </p:nvPr>
        </p:nvSpPr>
        <p:spPr>
          <a:solidFill>
            <a:srgbClr val="FFFFFF">
              <a:alpha val="100000"/>
            </a:srgbClr>
          </a:solidFill>
        </p:spPr>
      </p:sp>
      <p:sp>
        <p:nvSpPr>
          <p:cNvPr id="10240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TextEdit="1"/>
          </p:cNvSpPr>
          <p:nvPr>
            <p:ph type="sldImg"/>
          </p:nvPr>
        </p:nvSpPr>
        <p:spPr>
          <a:solidFill>
            <a:srgbClr val="FFFFFF">
              <a:alpha val="100000"/>
            </a:srgbClr>
          </a:solidFill>
        </p:spPr>
      </p:sp>
      <p:sp>
        <p:nvSpPr>
          <p:cNvPr id="1044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2"/>
          <p:cNvSpPr>
            <a:spLocks noTextEdit="1"/>
          </p:cNvSpPr>
          <p:nvPr>
            <p:ph type="sldImg"/>
          </p:nvPr>
        </p:nvSpPr>
        <p:spPr>
          <a:solidFill>
            <a:srgbClr val="FFFFFF">
              <a:alpha val="100000"/>
            </a:srgbClr>
          </a:solidFill>
        </p:spPr>
      </p:sp>
      <p:sp>
        <p:nvSpPr>
          <p:cNvPr id="10649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dirty="0">
                <a:latin typeface="宋体" panose="02010600030101010101" pitchFamily="2" charset="-122"/>
              </a:rPr>
              <a:t>&amp;&amp;</a:t>
            </a:r>
            <a:r>
              <a:rPr lang="zh-CN" altLang="en-US" dirty="0">
                <a:latin typeface="宋体" panose="02010600030101010101" pitchFamily="2" charset="-122"/>
              </a:rPr>
              <a:t>进行逻辑与运算，其结果为</a:t>
            </a:r>
            <a:r>
              <a:rPr lang="en-US" altLang="zh-CN" dirty="0">
                <a:latin typeface="宋体" panose="02010600030101010101" pitchFamily="2" charset="-122"/>
              </a:rPr>
              <a:t>1</a:t>
            </a:r>
            <a:r>
              <a:rPr lang="zh-CN" altLang="en-US" dirty="0">
                <a:latin typeface="宋体" panose="02010600030101010101" pitchFamily="2" charset="-122"/>
              </a:rPr>
              <a:t>位布尔值（逻辑</a:t>
            </a:r>
            <a:r>
              <a:rPr lang="en-US" altLang="zh-CN" dirty="0">
                <a:latin typeface="宋体" panose="02010600030101010101" pitchFamily="2" charset="-122"/>
              </a:rPr>
              <a:t>1</a:t>
            </a:r>
            <a:r>
              <a:rPr lang="zh-CN" altLang="en-US" dirty="0">
                <a:latin typeface="宋体" panose="02010600030101010101" pitchFamily="2" charset="-122"/>
              </a:rPr>
              <a:t>，逻辑</a:t>
            </a:r>
            <a:r>
              <a:rPr lang="en-US" altLang="zh-CN" dirty="0">
                <a:latin typeface="宋体" panose="02010600030101010101" pitchFamily="2" charset="-122"/>
              </a:rPr>
              <a:t>0</a:t>
            </a:r>
            <a:r>
              <a:rPr lang="zh-CN" altLang="en-US" dirty="0">
                <a:latin typeface="宋体" panose="02010600030101010101" pitchFamily="2" charset="-122"/>
              </a:rPr>
              <a:t>或不定值）；</a:t>
            </a:r>
            <a:endParaRPr lang="zh-CN" altLang="en-US" dirty="0">
              <a:latin typeface="宋体" panose="02010600030101010101" pitchFamily="2" charset="-122"/>
            </a:endParaRPr>
          </a:p>
          <a:p>
            <a:pPr lvl="0" eaLnBrk="1" hangingPunct="1"/>
            <a:r>
              <a:rPr lang="en-US" altLang="zh-CN" dirty="0">
                <a:latin typeface="宋体" panose="02010600030101010101" pitchFamily="2" charset="-122"/>
              </a:rPr>
              <a:t>&amp;</a:t>
            </a:r>
            <a:r>
              <a:rPr lang="zh-CN" altLang="en-US" dirty="0">
                <a:latin typeface="宋体" panose="02010600030101010101" pitchFamily="2" charset="-122"/>
              </a:rPr>
              <a:t>进行按位与运算，其结果与操作数位数相同。</a:t>
            </a:r>
            <a:endParaRPr lang="zh-CN" altLang="en-US" dirty="0">
              <a:latin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TextEdit="1"/>
          </p:cNvSpPr>
          <p:nvPr>
            <p:ph type="sldImg"/>
          </p:nvPr>
        </p:nvSpPr>
        <p:spPr>
          <a:solidFill>
            <a:srgbClr val="FFFFFF">
              <a:alpha val="100000"/>
            </a:srgbClr>
          </a:solidFill>
        </p:spPr>
      </p:sp>
      <p:sp>
        <p:nvSpPr>
          <p:cNvPr id="10854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dirty="0">
                <a:latin typeface="宋体" panose="02010600030101010101" pitchFamily="2" charset="-122"/>
              </a:rPr>
              <a:t>&amp;&amp;</a:t>
            </a:r>
            <a:r>
              <a:rPr lang="zh-CN" altLang="en-US" dirty="0">
                <a:latin typeface="宋体" panose="02010600030101010101" pitchFamily="2" charset="-122"/>
              </a:rPr>
              <a:t>进行逻辑与运算，其结果为</a:t>
            </a:r>
            <a:r>
              <a:rPr lang="en-US" altLang="zh-CN" dirty="0">
                <a:latin typeface="宋体" panose="02010600030101010101" pitchFamily="2" charset="-122"/>
              </a:rPr>
              <a:t>1</a:t>
            </a:r>
            <a:r>
              <a:rPr lang="zh-CN" altLang="en-US" dirty="0">
                <a:latin typeface="宋体" panose="02010600030101010101" pitchFamily="2" charset="-122"/>
              </a:rPr>
              <a:t>位布尔值（逻辑</a:t>
            </a:r>
            <a:r>
              <a:rPr lang="en-US" altLang="zh-CN" dirty="0">
                <a:latin typeface="宋体" panose="02010600030101010101" pitchFamily="2" charset="-122"/>
              </a:rPr>
              <a:t>1</a:t>
            </a:r>
            <a:r>
              <a:rPr lang="zh-CN" altLang="en-US" dirty="0">
                <a:latin typeface="宋体" panose="02010600030101010101" pitchFamily="2" charset="-122"/>
              </a:rPr>
              <a:t>，逻辑</a:t>
            </a:r>
            <a:r>
              <a:rPr lang="en-US" altLang="zh-CN" dirty="0">
                <a:latin typeface="宋体" panose="02010600030101010101" pitchFamily="2" charset="-122"/>
              </a:rPr>
              <a:t>0</a:t>
            </a:r>
            <a:r>
              <a:rPr lang="zh-CN" altLang="en-US" dirty="0">
                <a:latin typeface="宋体" panose="02010600030101010101" pitchFamily="2" charset="-122"/>
              </a:rPr>
              <a:t>或不定值）；</a:t>
            </a:r>
            <a:endParaRPr lang="zh-CN" altLang="en-US" dirty="0">
              <a:latin typeface="宋体" panose="02010600030101010101" pitchFamily="2" charset="-122"/>
            </a:endParaRPr>
          </a:p>
          <a:p>
            <a:pPr lvl="0" eaLnBrk="1" hangingPunct="1"/>
            <a:r>
              <a:rPr lang="en-US" altLang="zh-CN" dirty="0">
                <a:latin typeface="宋体" panose="02010600030101010101" pitchFamily="2" charset="-122"/>
              </a:rPr>
              <a:t>&amp;</a:t>
            </a:r>
            <a:r>
              <a:rPr lang="zh-CN" altLang="en-US" dirty="0">
                <a:latin typeface="宋体" panose="02010600030101010101" pitchFamily="2" charset="-122"/>
              </a:rPr>
              <a:t>进行按位与运算，其结果与操作数位数相同。</a:t>
            </a:r>
            <a:endParaRPr lang="zh-CN" altLang="en-US" dirty="0">
              <a:latin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2"/>
          <p:cNvSpPr>
            <a:spLocks noTextEdit="1"/>
          </p:cNvSpPr>
          <p:nvPr>
            <p:ph type="sldImg"/>
          </p:nvPr>
        </p:nvSpPr>
        <p:spPr>
          <a:solidFill>
            <a:srgbClr val="FFFFFF">
              <a:alpha val="100000"/>
            </a:srgbClr>
          </a:solidFill>
        </p:spPr>
      </p:sp>
      <p:sp>
        <p:nvSpPr>
          <p:cNvPr id="11059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TextEdit="1"/>
          </p:cNvSpPr>
          <p:nvPr>
            <p:ph type="sldImg"/>
          </p:nvPr>
        </p:nvSpPr>
        <p:spPr>
          <a:solidFill>
            <a:srgbClr val="FFFFFF">
              <a:alpha val="100000"/>
            </a:srgbClr>
          </a:solidFill>
        </p:spPr>
      </p:sp>
      <p:sp>
        <p:nvSpPr>
          <p:cNvPr id="11264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b="1" dirty="0">
                <a:ea typeface="黑体" panose="02010609060101010101" pitchFamily="49" charset="-122"/>
              </a:rPr>
              <a:t>备注</a:t>
            </a:r>
            <a:r>
              <a:rPr lang="zh-CN" altLang="en-US" sz="1000" dirty="0"/>
              <a:t>：逻辑运算符、关系运算符和等式运算符的运算结果都是为</a:t>
            </a:r>
            <a:r>
              <a:rPr lang="en-US" altLang="zh-CN" sz="1000" dirty="0">
                <a:latin typeface="宋体" panose="02010600030101010101" pitchFamily="2" charset="-122"/>
              </a:rPr>
              <a:t>1</a:t>
            </a:r>
            <a:r>
              <a:rPr lang="zh-CN" altLang="en-US" sz="1000" dirty="0"/>
              <a:t>位的逻辑值</a:t>
            </a:r>
            <a:r>
              <a:rPr lang="en-US" altLang="zh-CN" sz="1000" dirty="0">
                <a:latin typeface="宋体" panose="02010600030101010101" pitchFamily="2" charset="-122"/>
              </a:rPr>
              <a:t>1</a:t>
            </a:r>
            <a:r>
              <a:rPr lang="zh-CN" altLang="en-US" sz="1000" dirty="0"/>
              <a:t>或</a:t>
            </a:r>
            <a:r>
              <a:rPr lang="en-US" altLang="zh-CN" sz="1000" dirty="0">
                <a:latin typeface="宋体" panose="02010600030101010101" pitchFamily="2" charset="-122"/>
              </a:rPr>
              <a:t>0</a:t>
            </a:r>
            <a:r>
              <a:rPr lang="zh-CN" altLang="en-US" sz="1000" dirty="0"/>
              <a:t>或</a:t>
            </a:r>
            <a:r>
              <a:rPr lang="en-US" altLang="zh-CN" sz="1000" dirty="0">
                <a:latin typeface="宋体" panose="02010600030101010101" pitchFamily="2" charset="-122"/>
              </a:rPr>
              <a:t>x</a:t>
            </a:r>
            <a:r>
              <a:rPr lang="zh-CN" altLang="en-US" sz="1000" dirty="0"/>
              <a:t>。</a:t>
            </a:r>
            <a:endParaRPr lang="zh-CN" altLang="en-US" sz="1000" dirty="0">
              <a:latin typeface="宋体" panose="02010600030101010101" pitchFamily="2" charset="-122"/>
            </a:endParaRPr>
          </a:p>
          <a:p>
            <a:pPr lvl="0" algn="just" eaLnBrk="1" hangingPunct="1"/>
            <a:r>
              <a:rPr lang="zh-CN" altLang="en-US" sz="1000" b="1" dirty="0">
                <a:ea typeface="黑体" panose="02010609060101010101" pitchFamily="49" charset="-122"/>
              </a:rPr>
              <a:t> </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TextEdit="1"/>
          </p:cNvSpPr>
          <p:nvPr>
            <p:ph type="sldImg"/>
          </p:nvPr>
        </p:nvSpPr>
        <p:spPr>
          <a:solidFill>
            <a:srgbClr val="FFFFFF">
              <a:alpha val="100000"/>
            </a:srgbClr>
          </a:solidFill>
        </p:spPr>
      </p:sp>
      <p:sp>
        <p:nvSpPr>
          <p:cNvPr id="11469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TextEdit="1"/>
          </p:cNvSpPr>
          <p:nvPr>
            <p:ph type="sldImg"/>
          </p:nvPr>
        </p:nvSpPr>
        <p:spPr>
          <a:solidFill>
            <a:srgbClr val="FFFFFF">
              <a:alpha val="100000"/>
            </a:srgbClr>
          </a:solidFill>
        </p:spPr>
      </p:sp>
      <p:sp>
        <p:nvSpPr>
          <p:cNvPr id="11673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zh-CN" altLang="en-US" sz="1000" dirty="0">
                <a:ea typeface="黑体" panose="02010609060101010101" pitchFamily="49" charset="-122"/>
              </a:rPr>
              <a:t>缩减</a:t>
            </a:r>
            <a:r>
              <a:rPr lang="zh-CN" altLang="en-US" sz="1000" dirty="0"/>
              <a:t>运算符对单个操作数进行缩减运算后，运算结果缩减到一位</a:t>
            </a:r>
            <a:r>
              <a:rPr lang="zh-CN" altLang="en-US" sz="1000" dirty="0">
                <a:latin typeface="宋体" panose="02010600030101010101" pitchFamily="2" charset="-122"/>
              </a:rPr>
              <a:t> </a:t>
            </a:r>
            <a:r>
              <a:rPr lang="zh-CN" altLang="en-US" sz="1000" dirty="0"/>
              <a:t>。</a:t>
            </a:r>
            <a:endParaRPr lang="zh-CN" altLang="en-US" sz="1000" dirty="0">
              <a:latin typeface="宋体" panose="02010600030101010101" pitchFamily="2" charset="-122"/>
            </a:endParaRPr>
          </a:p>
          <a:p>
            <a:pPr lvl="0" eaLnBrk="1" hangingPunct="1"/>
            <a:r>
              <a:rPr lang="zh-CN" altLang="en-US" sz="1000" dirty="0">
                <a:ea typeface="黑体" panose="02010609060101010101" pitchFamily="49" charset="-122"/>
              </a:rPr>
              <a:t>位</a:t>
            </a:r>
            <a:r>
              <a:rPr lang="zh-CN" altLang="en-US" sz="1000" dirty="0"/>
              <a:t>运算符是对两个操作数的相应位进行与、或、同或、异或运算，或对单个操作数按位取反，操作数为几位，则运算结果也为几位。</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a:spLocks noTextEdit="1"/>
          </p:cNvSpPr>
          <p:nvPr>
            <p:ph type="sldImg"/>
          </p:nvPr>
        </p:nvSpPr>
        <p:spPr>
          <a:solidFill>
            <a:srgbClr val="FFFFFF">
              <a:alpha val="100000"/>
            </a:srgbClr>
          </a:solidFill>
        </p:spPr>
      </p:sp>
      <p:sp>
        <p:nvSpPr>
          <p:cNvPr id="11878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TextEdit="1"/>
          </p:cNvSpPr>
          <p:nvPr>
            <p:ph type="sldImg"/>
          </p:nvPr>
        </p:nvSpPr>
        <p:spPr>
          <a:solidFill>
            <a:srgbClr val="FFFFFF">
              <a:alpha val="100000"/>
            </a:srgbClr>
          </a:solidFill>
        </p:spPr>
      </p:sp>
      <p:sp>
        <p:nvSpPr>
          <p:cNvPr id="12083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适于描述数据选择器。</a:t>
            </a:r>
            <a:endParaRPr lang="zh-CN" altLang="en-US" sz="1000" dirty="0">
              <a:latin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TextEdit="1"/>
          </p:cNvSpPr>
          <p:nvPr>
            <p:ph type="sldImg"/>
          </p:nvPr>
        </p:nvSpPr>
        <p:spPr>
          <a:solidFill>
            <a:srgbClr val="FFFFFF">
              <a:alpha val="100000"/>
            </a:srgbClr>
          </a:solidFill>
        </p:spPr>
      </p:sp>
      <p:sp>
        <p:nvSpPr>
          <p:cNvPr id="12288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1026"/>
          <p:cNvSpPr>
            <a:spLocks noTextEdit="1"/>
          </p:cNvSpPr>
          <p:nvPr>
            <p:ph type="sldImg"/>
          </p:nvPr>
        </p:nvSpPr>
        <p:spPr>
          <a:solidFill>
            <a:srgbClr val="FFFFFF">
              <a:alpha val="100000"/>
            </a:srgbClr>
          </a:solidFill>
        </p:spPr>
      </p:sp>
      <p:sp>
        <p:nvSpPr>
          <p:cNvPr id="124931"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en-US" altLang="zh-CN" sz="1000" dirty="0">
                <a:latin typeface="宋体" panose="02010600030101010101" pitchFamily="2" charset="-122"/>
              </a:rPr>
              <a:t>{1,0} = 64</a:t>
            </a:r>
            <a:r>
              <a:rPr lang="en-US" altLang="zh-CN" sz="1000" dirty="0"/>
              <a:t>’</a:t>
            </a:r>
            <a:r>
              <a:rPr lang="en-US" altLang="zh-CN" sz="1000" dirty="0">
                <a:latin typeface="宋体" panose="02010600030101010101" pitchFamily="2" charset="-122"/>
              </a:rPr>
              <a:t>h00000001_00000000</a:t>
            </a:r>
            <a:r>
              <a:rPr lang="zh-CN" altLang="en-US" sz="1000" dirty="0"/>
              <a:t>，注意不等于</a:t>
            </a:r>
            <a:r>
              <a:rPr lang="en-US" altLang="zh-CN" sz="1000" dirty="0">
                <a:latin typeface="宋体" panose="02010600030101010101" pitchFamily="2" charset="-122"/>
              </a:rPr>
              <a:t>2</a:t>
            </a:r>
            <a:r>
              <a:rPr lang="en-US" altLang="zh-CN" sz="1000" dirty="0"/>
              <a:t>‘</a:t>
            </a:r>
            <a:r>
              <a:rPr lang="en-US" altLang="zh-CN" sz="1000" dirty="0">
                <a:latin typeface="宋体" panose="02010600030101010101" pitchFamily="2" charset="-122"/>
              </a:rPr>
              <a:t>b10</a:t>
            </a:r>
            <a:endParaRPr lang="en-US" altLang="zh-CN" sz="1000" dirty="0">
              <a:latin typeface="宋体" panose="02010600030101010101" pitchFamily="2" charset="-122"/>
            </a:endParaRPr>
          </a:p>
          <a:p>
            <a:pPr lvl="0" eaLnBrk="1" hangingPunct="1"/>
            <a:r>
              <a:rPr lang="en-US" altLang="zh-CN" sz="1000" dirty="0">
                <a:latin typeface="宋体" panose="02010600030101010101" pitchFamily="2" charset="-122"/>
              </a:rPr>
              <a:t>    </a:t>
            </a:r>
            <a:r>
              <a:rPr lang="zh-CN" altLang="en-US" sz="1000" dirty="0">
                <a:latin typeface="宋体" panose="02010600030101010101" pitchFamily="2" charset="-122"/>
              </a:rPr>
              <a:t>若要表示</a:t>
            </a:r>
            <a:r>
              <a:rPr lang="en-US" altLang="zh-CN" sz="1000" dirty="0">
                <a:latin typeface="宋体" panose="02010600030101010101" pitchFamily="2" charset="-122"/>
              </a:rPr>
              <a:t>2</a:t>
            </a:r>
            <a:r>
              <a:rPr lang="en-US" altLang="zh-CN" sz="1000" dirty="0"/>
              <a:t>‘</a:t>
            </a:r>
            <a:r>
              <a:rPr lang="en-US" altLang="zh-CN" sz="1000" dirty="0">
                <a:latin typeface="宋体" panose="02010600030101010101" pitchFamily="2" charset="-122"/>
              </a:rPr>
              <a:t>b10</a:t>
            </a:r>
            <a:r>
              <a:rPr lang="zh-CN" altLang="en-US" sz="1000" dirty="0">
                <a:latin typeface="宋体" panose="02010600030101010101" pitchFamily="2" charset="-122"/>
              </a:rPr>
              <a:t>，则必须写为</a:t>
            </a:r>
            <a:r>
              <a:rPr lang="en-US" altLang="zh-CN" sz="1000" dirty="0">
                <a:latin typeface="宋体" panose="02010600030101010101" pitchFamily="2" charset="-122"/>
              </a:rPr>
              <a:t>{1</a:t>
            </a:r>
            <a:r>
              <a:rPr lang="en-US" altLang="zh-CN" sz="1000" dirty="0"/>
              <a:t>’</a:t>
            </a:r>
            <a:r>
              <a:rPr lang="en-US" altLang="zh-CN" sz="1000" dirty="0">
                <a:latin typeface="宋体" panose="02010600030101010101" pitchFamily="2" charset="-122"/>
              </a:rPr>
              <a:t>b1, 1</a:t>
            </a:r>
            <a:r>
              <a:rPr lang="en-US" altLang="zh-CN" sz="1000" dirty="0"/>
              <a:t>’</a:t>
            </a:r>
            <a:r>
              <a:rPr lang="en-US" altLang="zh-CN" sz="1000" dirty="0">
                <a:latin typeface="宋体" panose="02010600030101010101" pitchFamily="2" charset="-122"/>
              </a:rPr>
              <a:t>b0}</a:t>
            </a:r>
            <a:r>
              <a:rPr lang="zh-CN" altLang="en-US" sz="1000" dirty="0">
                <a:latin typeface="宋体" panose="02010600030101010101" pitchFamily="2" charset="-122"/>
              </a:rPr>
              <a:t>。 </a:t>
            </a:r>
            <a:endParaRPr lang="zh-CN" altLang="en-US" sz="1000" dirty="0">
              <a:latin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TextEdit="1"/>
          </p:cNvSpPr>
          <p:nvPr>
            <p:ph type="sldImg"/>
          </p:nvPr>
        </p:nvSpPr>
        <p:spPr>
          <a:solidFill>
            <a:srgbClr val="FFFFFF">
              <a:alpha val="100000"/>
            </a:srgbClr>
          </a:solidFill>
        </p:spPr>
      </p:sp>
      <p:sp>
        <p:nvSpPr>
          <p:cNvPr id="12697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TextEdit="1"/>
          </p:cNvSpPr>
          <p:nvPr>
            <p:ph type="sldImg"/>
          </p:nvPr>
        </p:nvSpPr>
        <p:spPr>
          <a:solidFill>
            <a:srgbClr val="FFFFFF">
              <a:alpha val="100000"/>
            </a:srgbClr>
          </a:solidFill>
        </p:spPr>
      </p:sp>
      <p:sp>
        <p:nvSpPr>
          <p:cNvPr id="1300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10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TextEdit="1"/>
          </p:cNvSpPr>
          <p:nvPr>
            <p:ph type="sldImg"/>
          </p:nvPr>
        </p:nvSpPr>
        <p:spPr>
          <a:solidFill>
            <a:srgbClr val="FFFFFF">
              <a:alpha val="100000"/>
            </a:srgbClr>
          </a:solidFill>
        </p:spPr>
      </p:sp>
      <p:sp>
        <p:nvSpPr>
          <p:cNvPr id="1331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TextEdit="1"/>
          </p:cNvSpPr>
          <p:nvPr>
            <p:ph type="sldImg"/>
          </p:nvPr>
        </p:nvSpPr>
        <p:spPr>
          <a:solidFill>
            <a:srgbClr val="FFFFFF">
              <a:alpha val="100000"/>
            </a:srgbClr>
          </a:solidFill>
        </p:spPr>
      </p:sp>
      <p:sp>
        <p:nvSpPr>
          <p:cNvPr id="1351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zh-CN" altLang="en-US" sz="1000" dirty="0">
                <a:ea typeface="黑体" panose="02010609060101010101" pitchFamily="49" charset="-122"/>
              </a:rPr>
              <a:t>备注</a:t>
            </a:r>
            <a:r>
              <a:rPr lang="zh-CN" altLang="en-US" sz="1000" dirty="0"/>
              <a:t>：若块内有多个赋值语句，则在块结束时同时赋值。</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TextEdit="1"/>
          </p:cNvSpPr>
          <p:nvPr>
            <p:ph type="sldImg"/>
          </p:nvPr>
        </p:nvSpPr>
        <p:spPr>
          <a:solidFill>
            <a:srgbClr val="FFFFFF">
              <a:alpha val="100000"/>
            </a:srgbClr>
          </a:solidFill>
        </p:spPr>
      </p:sp>
      <p:sp>
        <p:nvSpPr>
          <p:cNvPr id="1372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TextEdit="1"/>
          </p:cNvSpPr>
          <p:nvPr>
            <p:ph type="sldImg"/>
          </p:nvPr>
        </p:nvSpPr>
        <p:spPr>
          <a:solidFill>
            <a:srgbClr val="FFFFFF">
              <a:alpha val="100000"/>
            </a:srgbClr>
          </a:solidFill>
        </p:spPr>
      </p:sp>
      <p:sp>
        <p:nvSpPr>
          <p:cNvPr id="1392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t>为避免出错，在同一个块内，不要将输出重新作为输入使用！</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TextEdit="1"/>
          </p:cNvSpPr>
          <p:nvPr>
            <p:ph type="sldImg"/>
          </p:nvPr>
        </p:nvSpPr>
        <p:spPr>
          <a:solidFill>
            <a:srgbClr val="FFFFFF">
              <a:alpha val="100000"/>
            </a:srgbClr>
          </a:solidFill>
        </p:spPr>
      </p:sp>
      <p:sp>
        <p:nvSpPr>
          <p:cNvPr id="1413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TextEdit="1"/>
          </p:cNvSpPr>
          <p:nvPr>
            <p:ph type="sldImg"/>
          </p:nvPr>
        </p:nvSpPr>
        <p:spPr>
          <a:solidFill>
            <a:srgbClr val="FFFFFF">
              <a:alpha val="100000"/>
            </a:srgbClr>
          </a:solidFill>
        </p:spPr>
      </p:sp>
      <p:sp>
        <p:nvSpPr>
          <p:cNvPr id="14336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TextEdit="1"/>
          </p:cNvSpPr>
          <p:nvPr>
            <p:ph type="sldImg"/>
          </p:nvPr>
        </p:nvSpPr>
        <p:spPr>
          <a:solidFill>
            <a:srgbClr val="FFFFFF">
              <a:alpha val="100000"/>
            </a:srgbClr>
          </a:solidFill>
        </p:spPr>
      </p:sp>
      <p:sp>
        <p:nvSpPr>
          <p:cNvPr id="14541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TextEdit="1"/>
          </p:cNvSpPr>
          <p:nvPr>
            <p:ph type="sldImg"/>
          </p:nvPr>
        </p:nvSpPr>
        <p:spPr>
          <a:solidFill>
            <a:srgbClr val="FFFFFF">
              <a:alpha val="100000"/>
            </a:srgbClr>
          </a:solidFill>
        </p:spPr>
      </p:sp>
      <p:sp>
        <p:nvSpPr>
          <p:cNvPr id="1474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》P37</a:t>
            </a:r>
            <a:r>
              <a:rPr lang="zh-CN" altLang="en-US" sz="1000" dirty="0">
                <a:latin typeface="宋体" panose="02010600030101010101" pitchFamily="2" charset="-122"/>
              </a:rPr>
              <a:t>例</a:t>
            </a:r>
            <a:r>
              <a:rPr lang="en-US" altLang="zh-CN" sz="1000" dirty="0">
                <a:latin typeface="宋体" panose="02010600030101010101" pitchFamily="2" charset="-122"/>
              </a:rPr>
              <a:t>3 </a:t>
            </a:r>
            <a:endParaRPr lang="en-US" altLang="zh-CN" sz="1000" dirty="0">
              <a:latin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TextEdit="1"/>
          </p:cNvSpPr>
          <p:nvPr>
            <p:ph type="sldImg"/>
          </p:nvPr>
        </p:nvSpPr>
        <p:spPr>
          <a:solidFill>
            <a:srgbClr val="FFFFFF">
              <a:alpha val="100000"/>
            </a:srgbClr>
          </a:solidFill>
        </p:spPr>
      </p:sp>
      <p:sp>
        <p:nvSpPr>
          <p:cNvPr id="1495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zh-CN" altLang="en-US" sz="1000" dirty="0"/>
              <a:t>“</a:t>
            </a:r>
            <a:r>
              <a:rPr lang="en-US" altLang="zh-CN" sz="1000" b="1" dirty="0">
                <a:latin typeface="宋体" panose="02010600030101010101" pitchFamily="2" charset="-122"/>
              </a:rPr>
              <a:t>Quartus II</a:t>
            </a:r>
            <a:r>
              <a:rPr lang="zh-CN" altLang="en-US" sz="1000" b="1" dirty="0">
                <a:latin typeface="宋体" panose="02010600030101010101" pitchFamily="2" charset="-122"/>
              </a:rPr>
              <a:t>支持的</a:t>
            </a:r>
            <a:r>
              <a:rPr lang="en-US" altLang="zh-CN" sz="1000" b="1" dirty="0">
                <a:latin typeface="宋体" panose="02010600030101010101" pitchFamily="2" charset="-122"/>
              </a:rPr>
              <a:t>Verilog HDL</a:t>
            </a:r>
            <a:r>
              <a:rPr lang="zh-CN" altLang="en-US" sz="1000" b="1" dirty="0">
                <a:latin typeface="宋体" panose="02010600030101010101" pitchFamily="2" charset="-122"/>
              </a:rPr>
              <a:t>行为模型</a:t>
            </a:r>
            <a:r>
              <a:rPr lang="en-US" altLang="zh-CN" sz="1000" b="1" dirty="0">
                <a:latin typeface="宋体" panose="02010600030101010101" pitchFamily="2" charset="-122"/>
              </a:rPr>
              <a:t>.doc</a:t>
            </a:r>
            <a:r>
              <a:rPr lang="en-US" altLang="zh-CN" sz="1000" dirty="0"/>
              <a:t>”</a:t>
            </a:r>
            <a:r>
              <a:rPr lang="en-US" altLang="zh-CN" sz="1000" dirty="0">
                <a:latin typeface="宋体" panose="02010600030101010101" pitchFamily="2" charset="-122"/>
              </a:rPr>
              <a:t> </a:t>
            </a:r>
            <a:r>
              <a:rPr lang="en-US" altLang="zh-CN" sz="1000" dirty="0"/>
              <a:t>——</a:t>
            </a:r>
            <a:r>
              <a:rPr lang="en-US" altLang="zh-CN" sz="2000" b="1" dirty="0">
                <a:latin typeface="华文新魏" panose="02010800040101010101" pitchFamily="2" charset="-122"/>
                <a:ea typeface="华文新魏" panose="02010800040101010101" pitchFamily="2" charset="-122"/>
              </a:rPr>
              <a:t>fork</a:t>
            </a:r>
            <a:r>
              <a:rPr lang="zh-CN" altLang="en-US" sz="2000" b="1" dirty="0">
                <a:latin typeface="华文新魏" panose="02010800040101010101" pitchFamily="2" charset="-122"/>
                <a:ea typeface="华文新魏" panose="02010800040101010101" pitchFamily="2" charset="-122"/>
              </a:rPr>
              <a:t>语句是不可综合的！</a:t>
            </a:r>
            <a:r>
              <a:rPr lang="zh-CN" altLang="en-US" sz="2000" dirty="0">
                <a:latin typeface="华文新魏" panose="02010800040101010101" pitchFamily="2" charset="-122"/>
                <a:ea typeface="华文新魏" panose="02010800040101010101" pitchFamily="2" charset="-122"/>
              </a:rPr>
              <a:t>用在测试文件中，在描述并发形式的行为时很有用。</a:t>
            </a:r>
            <a:endParaRPr lang="zh-CN" altLang="en-US" sz="2000" dirty="0">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TextEdit="1"/>
          </p:cNvSpPr>
          <p:nvPr>
            <p:ph type="sldImg"/>
          </p:nvPr>
        </p:nvSpPr>
        <p:spPr>
          <a:solidFill>
            <a:srgbClr val="FFFFFF">
              <a:alpha val="100000"/>
            </a:srgbClr>
          </a:solidFill>
        </p:spPr>
      </p:sp>
      <p:sp>
        <p:nvSpPr>
          <p:cNvPr id="1515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TextEdit="1"/>
          </p:cNvSpPr>
          <p:nvPr>
            <p:ph type="sldImg"/>
          </p:nvPr>
        </p:nvSpPr>
        <p:spPr>
          <a:solidFill>
            <a:srgbClr val="FFFFFF">
              <a:alpha val="100000"/>
            </a:srgbClr>
          </a:solidFill>
        </p:spPr>
      </p:sp>
      <p:sp>
        <p:nvSpPr>
          <p:cNvPr id="15360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》P38</a:t>
            </a:r>
            <a:r>
              <a:rPr lang="zh-CN" altLang="en-US" sz="1000" dirty="0">
                <a:latin typeface="宋体" panose="02010600030101010101" pitchFamily="2" charset="-122"/>
              </a:rPr>
              <a:t>例</a:t>
            </a:r>
            <a:r>
              <a:rPr lang="en-US" altLang="zh-CN" sz="1000" dirty="0">
                <a:latin typeface="宋体" panose="02010600030101010101" pitchFamily="2" charset="-122"/>
              </a:rPr>
              <a:t>4 </a:t>
            </a:r>
            <a:endParaRPr lang="en-US" altLang="zh-CN" sz="1000" dirty="0">
              <a:latin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TextEdit="1"/>
          </p:cNvSpPr>
          <p:nvPr>
            <p:ph type="sldImg"/>
          </p:nvPr>
        </p:nvSpPr>
        <p:spPr>
          <a:solidFill>
            <a:srgbClr val="FFFFFF">
              <a:alpha val="100000"/>
            </a:srgbClr>
          </a:solidFill>
        </p:spPr>
      </p:sp>
      <p:sp>
        <p:nvSpPr>
          <p:cNvPr id="15667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dirty="0">
                <a:latin typeface="宋体" panose="02010600030101010101" pitchFamily="2" charset="-122"/>
              </a:rPr>
              <a:t> P161</a:t>
            </a:r>
            <a:endParaRPr lang="en-US" altLang="zh-CN" dirty="0">
              <a:latin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TextEdit="1"/>
          </p:cNvSpPr>
          <p:nvPr>
            <p:ph type="sldImg"/>
          </p:nvPr>
        </p:nvSpPr>
        <p:spPr>
          <a:solidFill>
            <a:srgbClr val="FFFFFF">
              <a:alpha val="100000"/>
            </a:srgbClr>
          </a:solidFill>
        </p:spPr>
      </p:sp>
      <p:sp>
        <p:nvSpPr>
          <p:cNvPr id="1587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TextEdit="1"/>
          </p:cNvSpPr>
          <p:nvPr>
            <p:ph type="sldImg"/>
          </p:nvPr>
        </p:nvSpPr>
        <p:spPr>
          <a:solidFill>
            <a:srgbClr val="FFFFFF">
              <a:alpha val="100000"/>
            </a:srgbClr>
          </a:solidFill>
        </p:spPr>
      </p:sp>
      <p:sp>
        <p:nvSpPr>
          <p:cNvPr id="1607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1026"/>
          <p:cNvSpPr>
            <a:spLocks noTextEdit="1"/>
          </p:cNvSpPr>
          <p:nvPr>
            <p:ph type="sldImg"/>
          </p:nvPr>
        </p:nvSpPr>
        <p:spPr>
          <a:solidFill>
            <a:srgbClr val="FFFFFF">
              <a:alpha val="100000"/>
            </a:srgbClr>
          </a:solidFill>
        </p:spPr>
      </p:sp>
      <p:sp>
        <p:nvSpPr>
          <p:cNvPr id="162819"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300"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dirty="0">
                <a:latin typeface="宋体" panose="02010600030101010101" pitchFamily="2" charset="-122"/>
              </a:rPr>
              <a:t> </a:t>
            </a:r>
            <a:r>
              <a:rPr lang="en-US" altLang="zh-CN" sz="1300" dirty="0">
                <a:latin typeface="宋体" panose="02010600030101010101" pitchFamily="2" charset="-122"/>
              </a:rPr>
              <a:t>P161</a:t>
            </a:r>
            <a:r>
              <a:rPr lang="zh-CN" altLang="en-US" sz="1300" dirty="0">
                <a:latin typeface="宋体" panose="02010600030101010101" pitchFamily="2" charset="-122"/>
              </a:rPr>
              <a:t>例</a:t>
            </a:r>
            <a:r>
              <a:rPr lang="en-US" altLang="zh-CN" sz="1300" dirty="0">
                <a:latin typeface="宋体" panose="02010600030101010101" pitchFamily="2" charset="-122"/>
              </a:rPr>
              <a:t>6.6</a:t>
            </a:r>
            <a:r>
              <a:rPr lang="zh-CN" altLang="en-US" sz="1300" dirty="0"/>
              <a:t>，主要应用于计时计数器</a:t>
            </a:r>
            <a:endParaRPr lang="zh-CN" altLang="en-US" sz="1300" dirty="0">
              <a:latin typeface="宋体" panose="02010600030101010101" pitchFamily="2" charset="-122"/>
            </a:endParaRPr>
          </a:p>
          <a:p>
            <a:pPr lvl="0" eaLnBrk="1" hangingPunct="1"/>
            <a:r>
              <a:rPr lang="en-US" altLang="zh-CN" sz="1300" dirty="0">
                <a:latin typeface="宋体" panose="02010600030101010101" pitchFamily="2" charset="-122"/>
              </a:rPr>
              <a:t>counter60.v</a:t>
            </a:r>
            <a:r>
              <a:rPr lang="zh-CN" altLang="en-US" sz="1300" dirty="0"/>
              <a:t>位于</a:t>
            </a:r>
            <a:r>
              <a:rPr lang="en-US" altLang="zh-CN" sz="1300" dirty="0"/>
              <a:t>counter60</a:t>
            </a:r>
            <a:r>
              <a:rPr lang="zh-CN" altLang="en-US" sz="1300" dirty="0"/>
              <a:t>文件夹</a:t>
            </a:r>
            <a:endParaRPr lang="zh-CN" altLang="en-US" sz="1300" dirty="0"/>
          </a:p>
          <a:p>
            <a:pPr lvl="0" eaLnBrk="1" hangingPunct="1"/>
            <a:r>
              <a:rPr lang="zh-CN" altLang="en-US" sz="1300" dirty="0">
                <a:latin typeface="宋体" panose="02010600030101010101" pitchFamily="2" charset="-122"/>
              </a:rPr>
              <a:t>      语句</a:t>
            </a:r>
            <a:r>
              <a:rPr lang="en-US" altLang="zh-CN" sz="1300" dirty="0"/>
              <a:t>assign cout = ((qout == 8'h59)&amp;cin)? 1:0;</a:t>
            </a:r>
            <a:r>
              <a:rPr lang="zh-CN" altLang="en-US" sz="1300" dirty="0">
                <a:latin typeface="宋体" panose="02010600030101010101" pitchFamily="2" charset="-122"/>
              </a:rPr>
              <a:t>表示当</a:t>
            </a:r>
            <a:r>
              <a:rPr lang="en-US" altLang="zh-CN" sz="1300" dirty="0"/>
              <a:t>qout == 8'h59</a:t>
            </a:r>
            <a:r>
              <a:rPr lang="zh-CN" altLang="en-US" sz="1300" dirty="0">
                <a:latin typeface="宋体" panose="02010600030101010101" pitchFamily="2" charset="-122"/>
              </a:rPr>
              <a:t>且</a:t>
            </a:r>
            <a:r>
              <a:rPr lang="en-US" altLang="zh-CN" sz="1300" dirty="0"/>
              <a:t>cin=1</a:t>
            </a:r>
            <a:r>
              <a:rPr lang="zh-CN" altLang="en-US" sz="1300" dirty="0">
                <a:latin typeface="宋体" panose="02010600030101010101" pitchFamily="2" charset="-122"/>
              </a:rPr>
              <a:t>时，</a:t>
            </a:r>
            <a:r>
              <a:rPr lang="en-US" altLang="zh-CN" sz="1300" dirty="0"/>
              <a:t>cout=1</a:t>
            </a:r>
            <a:r>
              <a:rPr lang="zh-CN" altLang="en-US" sz="1300" dirty="0">
                <a:latin typeface="宋体" panose="02010600030101010101" pitchFamily="2" charset="-122"/>
              </a:rPr>
              <a:t>，而不论此时有无时钟到来；否则</a:t>
            </a:r>
            <a:r>
              <a:rPr lang="en-US" altLang="zh-CN" sz="1300" dirty="0"/>
              <a:t>cout=0</a:t>
            </a:r>
            <a:r>
              <a:rPr lang="zh-CN" altLang="en-US" sz="1300" dirty="0">
                <a:latin typeface="宋体" panose="02010600030101010101" pitchFamily="2" charset="-122"/>
              </a:rPr>
              <a:t>。</a:t>
            </a:r>
            <a:r>
              <a:rPr lang="zh-CN" altLang="en-US" sz="1300" dirty="0"/>
              <a:t> </a:t>
            </a:r>
            <a:endParaRPr lang="zh-CN" altLang="en-US" sz="1300" dirty="0"/>
          </a:p>
          <a:p>
            <a:pPr lvl="0" eaLnBrk="1" hangingPunct="1"/>
            <a:endParaRPr lang="en-US" altLang="zh-CN" sz="1300" dirty="0">
              <a:latin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TextEdit="1"/>
          </p:cNvSpPr>
          <p:nvPr>
            <p:ph type="sldImg"/>
          </p:nvPr>
        </p:nvSpPr>
        <p:spPr>
          <a:solidFill>
            <a:srgbClr val="FFFFFF">
              <a:alpha val="100000"/>
            </a:srgbClr>
          </a:solidFill>
        </p:spPr>
      </p:sp>
      <p:sp>
        <p:nvSpPr>
          <p:cNvPr id="1648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endParaRPr lang="zh-CN" altLang="zh-CN" sz="1000" dirty="0">
              <a:latin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TextEdit="1"/>
          </p:cNvSpPr>
          <p:nvPr>
            <p:ph type="sldImg"/>
          </p:nvPr>
        </p:nvSpPr>
        <p:spPr>
          <a:solidFill>
            <a:srgbClr val="FFFFFF">
              <a:alpha val="100000"/>
            </a:srgbClr>
          </a:solidFill>
        </p:spPr>
      </p:sp>
      <p:sp>
        <p:nvSpPr>
          <p:cNvPr id="1669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300" dirty="0">
              <a:latin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TextEdit="1"/>
          </p:cNvSpPr>
          <p:nvPr>
            <p:ph type="sldImg"/>
          </p:nvPr>
        </p:nvSpPr>
        <p:spPr>
          <a:solidFill>
            <a:srgbClr val="FFFFFF">
              <a:alpha val="100000"/>
            </a:srgbClr>
          </a:solidFill>
        </p:spPr>
      </p:sp>
      <p:sp>
        <p:nvSpPr>
          <p:cNvPr id="16896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spcBef>
                <a:spcPct val="20000"/>
              </a:spcBef>
              <a:buClr>
                <a:schemeClr val="tx1"/>
              </a:buClr>
              <a:buSzPct val="80000"/>
              <a:buFont typeface="Wingdings" panose="05000000000000000000" pitchFamily="2" charset="2"/>
              <a:buChar char="•"/>
            </a:pPr>
            <a:r>
              <a:rPr lang="en-US" altLang="zh-CN" sz="2400" b="1" dirty="0">
                <a:solidFill>
                  <a:srgbClr val="800000"/>
                </a:solidFill>
                <a:latin typeface="Tahoma" panose="020B0604030504040204" pitchFamily="34" charset="0"/>
                <a:ea typeface="华文行楷" panose="02010800040101010101" pitchFamily="2" charset="-122"/>
              </a:rPr>
              <a:t>case</a:t>
            </a:r>
            <a:r>
              <a:rPr lang="zh-CN" altLang="en-US" sz="2400" b="1" dirty="0">
                <a:solidFill>
                  <a:srgbClr val="800000"/>
                </a:solidFill>
                <a:latin typeface="Tahoma" panose="020B0604030504040204" pitchFamily="34" charset="0"/>
                <a:ea typeface="华文行楷" panose="02010800040101010101" pitchFamily="2" charset="-122"/>
              </a:rPr>
              <a:t>语句与</a:t>
            </a:r>
            <a:r>
              <a:rPr lang="en-US" altLang="zh-CN" sz="2400" b="1" dirty="0">
                <a:solidFill>
                  <a:srgbClr val="800000"/>
                </a:solidFill>
                <a:latin typeface="Tahoma" panose="020B0604030504040204" pitchFamily="34" charset="0"/>
                <a:ea typeface="华文行楷" panose="02010800040101010101" pitchFamily="2" charset="-122"/>
              </a:rPr>
              <a:t>if-else</a:t>
            </a:r>
            <a:r>
              <a:rPr lang="zh-CN" altLang="en-US" sz="2400" b="1" dirty="0">
                <a:solidFill>
                  <a:srgbClr val="800000"/>
                </a:solidFill>
                <a:latin typeface="Tahoma" panose="020B0604030504040204" pitchFamily="34" charset="0"/>
                <a:ea typeface="华文行楷" panose="02010800040101010101" pitchFamily="2" charset="-122"/>
              </a:rPr>
              <a:t>语句有什么区别呢？</a:t>
            </a:r>
            <a:endParaRPr lang="zh-CN" altLang="en-US" sz="2400" b="1" dirty="0">
              <a:solidFill>
                <a:srgbClr val="800000"/>
              </a:solidFill>
              <a:latin typeface="Tahoma" panose="020B0604030504040204" pitchFamily="34" charset="0"/>
              <a:ea typeface="华文行楷" panose="02010800040101010101" pitchFamily="2" charset="-122"/>
            </a:endParaRPr>
          </a:p>
          <a:p>
            <a:pPr lvl="0" eaLnBrk="1" hangingPunct="1">
              <a:buChar char="•"/>
            </a:pPr>
            <a:r>
              <a:rPr lang="zh-CN" altLang="en-US" sz="2400" b="1" dirty="0">
                <a:solidFill>
                  <a:srgbClr val="800000"/>
                </a:solidFill>
                <a:latin typeface="Tahoma" panose="020B0604030504040204" pitchFamily="34" charset="0"/>
                <a:ea typeface="华文行楷" panose="02010800040101010101" pitchFamily="2" charset="-122"/>
              </a:rPr>
              <a:t>   </a:t>
            </a:r>
            <a:r>
              <a:rPr lang="en-US" altLang="zh-CN" sz="2400" b="1" dirty="0">
                <a:solidFill>
                  <a:srgbClr val="800000"/>
                </a:solidFill>
                <a:latin typeface="Tahoma" panose="020B0604030504040204" pitchFamily="34" charset="0"/>
                <a:ea typeface="华文行楷" panose="02010800040101010101" pitchFamily="2" charset="-122"/>
              </a:rPr>
              <a:t>if-else</a:t>
            </a:r>
            <a:r>
              <a:rPr lang="zh-CN" altLang="en-US" sz="2400" b="1" dirty="0">
                <a:solidFill>
                  <a:srgbClr val="800000"/>
                </a:solidFill>
                <a:latin typeface="Tahoma" panose="020B0604030504040204" pitchFamily="34" charset="0"/>
                <a:ea typeface="华文行楷" panose="02010800040101010101" pitchFamily="2" charset="-122"/>
              </a:rPr>
              <a:t>语句</a:t>
            </a:r>
            <a:r>
              <a:rPr lang="zh-CN" altLang="en-US" sz="2000" dirty="0">
                <a:latin typeface="宋体" panose="02010600030101010101" pitchFamily="2" charset="-122"/>
                <a:ea typeface="华文楷体" panose="02010600040101010101" pitchFamily="2" charset="-122"/>
              </a:rPr>
              <a:t>适于对</a:t>
            </a:r>
            <a:r>
              <a:rPr lang="zh-CN" altLang="en-US" sz="2000" dirty="0">
                <a:solidFill>
                  <a:srgbClr val="FF3399"/>
                </a:solidFill>
                <a:latin typeface="宋体" panose="02010600030101010101" pitchFamily="2" charset="-122"/>
                <a:ea typeface="华文楷体" panose="02010600040101010101" pitchFamily="2" charset="-122"/>
              </a:rPr>
              <a:t>不同的条件</a:t>
            </a:r>
            <a:r>
              <a:rPr lang="zh-CN" altLang="en-US" sz="2000" dirty="0">
                <a:latin typeface="宋体" panose="02010600030101010101" pitchFamily="2" charset="-122"/>
                <a:ea typeface="华文楷体" panose="02010600040101010101" pitchFamily="2" charset="-122"/>
              </a:rPr>
              <a:t>，执行不同的语句；</a:t>
            </a:r>
            <a:r>
              <a:rPr lang="zh-CN" altLang="en-US" sz="1800" dirty="0">
                <a:latin typeface="宋体" panose="02010600030101010101" pitchFamily="2" charset="-122"/>
              </a:rPr>
              <a:t>对于每个判定只有</a:t>
            </a:r>
            <a:r>
              <a:rPr lang="zh-CN" altLang="en-US" sz="1800" b="1" dirty="0">
                <a:solidFill>
                  <a:srgbClr val="FF0066"/>
                </a:solidFill>
                <a:latin typeface="宋体" panose="02010600030101010101" pitchFamily="2" charset="-122"/>
              </a:rPr>
              <a:t>两</a:t>
            </a:r>
            <a:r>
              <a:rPr lang="zh-CN" altLang="en-US" sz="1800" dirty="0">
                <a:latin typeface="宋体" panose="02010600030101010101" pitchFamily="2" charset="-122"/>
              </a:rPr>
              <a:t>个分支。</a:t>
            </a:r>
            <a:endParaRPr lang="zh-CN" altLang="en-US" sz="1800" dirty="0">
              <a:latin typeface="宋体" panose="02010600030101010101" pitchFamily="2" charset="-122"/>
            </a:endParaRPr>
          </a:p>
          <a:p>
            <a:pPr lvl="0" eaLnBrk="1" hangingPunct="1"/>
            <a:r>
              <a:rPr lang="zh-CN" altLang="en-US" sz="2400" b="1" dirty="0">
                <a:solidFill>
                  <a:srgbClr val="800000"/>
                </a:solidFill>
                <a:latin typeface="Tahoma" panose="020B0604030504040204" pitchFamily="34" charset="0"/>
                <a:ea typeface="华文行楷" panose="02010800040101010101" pitchFamily="2" charset="-122"/>
              </a:rPr>
              <a:t>    </a:t>
            </a:r>
            <a:r>
              <a:rPr lang="en-US" altLang="zh-CN" sz="2400" b="1" dirty="0">
                <a:solidFill>
                  <a:srgbClr val="800000"/>
                </a:solidFill>
                <a:latin typeface="Tahoma" panose="020B0604030504040204" pitchFamily="34" charset="0"/>
                <a:ea typeface="华文行楷" panose="02010800040101010101" pitchFamily="2" charset="-122"/>
              </a:rPr>
              <a:t>case</a:t>
            </a:r>
            <a:r>
              <a:rPr lang="zh-CN" altLang="en-US" sz="2400" b="1" dirty="0">
                <a:solidFill>
                  <a:srgbClr val="800000"/>
                </a:solidFill>
                <a:latin typeface="Tahoma" panose="020B0604030504040204" pitchFamily="34" charset="0"/>
                <a:ea typeface="华文行楷" panose="02010800040101010101" pitchFamily="2" charset="-122"/>
              </a:rPr>
              <a:t>语句</a:t>
            </a:r>
            <a:r>
              <a:rPr lang="zh-CN" altLang="en-US" sz="2000" dirty="0">
                <a:latin typeface="华文新魏" panose="02010800040101010101" pitchFamily="2" charset="-122"/>
                <a:ea typeface="华文新魏" panose="02010800040101010101" pitchFamily="2" charset="-122"/>
              </a:rPr>
              <a:t>适于对</a:t>
            </a:r>
            <a:r>
              <a:rPr lang="zh-CN" altLang="en-US" sz="2000" dirty="0">
                <a:solidFill>
                  <a:srgbClr val="FF3399"/>
                </a:solidFill>
                <a:latin typeface="华文新魏" panose="02010800040101010101" pitchFamily="2" charset="-122"/>
                <a:ea typeface="华文新魏" panose="02010800040101010101" pitchFamily="2" charset="-122"/>
              </a:rPr>
              <a:t>同一个</a:t>
            </a:r>
            <a:r>
              <a:rPr lang="zh-CN" altLang="en-US" sz="2000" dirty="0">
                <a:latin typeface="华文新魏" panose="02010800040101010101" pitchFamily="2" charset="-122"/>
                <a:ea typeface="华文新魏" panose="02010800040101010101" pitchFamily="2" charset="-122"/>
              </a:rPr>
              <a:t>控制信号取不同的值时，输出取不同的值！它是</a:t>
            </a:r>
            <a:r>
              <a:rPr lang="zh-CN" altLang="en-US" sz="2000" b="1" dirty="0">
                <a:solidFill>
                  <a:srgbClr val="FF0066"/>
                </a:solidFill>
                <a:latin typeface="宋体" panose="02010600030101010101" pitchFamily="2" charset="-122"/>
              </a:rPr>
              <a:t>多</a:t>
            </a:r>
            <a:r>
              <a:rPr lang="zh-CN" altLang="en-US" sz="2000" dirty="0">
                <a:latin typeface="宋体" panose="02010600030101010101" pitchFamily="2" charset="-122"/>
              </a:rPr>
              <a:t>分支语句。</a:t>
            </a:r>
            <a:endParaRPr lang="zh-CN" altLang="en-US" sz="2000" dirty="0">
              <a:latin typeface="宋体" panose="02010600030101010101" pitchFamily="2" charset="-122"/>
            </a:endParaRPr>
          </a:p>
          <a:p>
            <a:pPr lvl="0" eaLnBrk="1" hangingPunct="1"/>
            <a:r>
              <a:rPr lang="zh-CN" altLang="en-US" sz="2000" dirty="0">
                <a:latin typeface="宋体" panose="02010600030101010101" pitchFamily="2" charset="-122"/>
              </a:rPr>
              <a:t>    当控制信号只有一个时，最好采用</a:t>
            </a:r>
            <a:r>
              <a:rPr lang="en-US" altLang="zh-CN" sz="2000" dirty="0">
                <a:latin typeface="宋体" panose="02010600030101010101" pitchFamily="2" charset="-122"/>
              </a:rPr>
              <a:t>case</a:t>
            </a:r>
            <a:r>
              <a:rPr lang="zh-CN" altLang="en-US" sz="2000" dirty="0">
                <a:latin typeface="宋体" panose="02010600030101010101" pitchFamily="2" charset="-122"/>
              </a:rPr>
              <a:t>语句，比较简洁！</a:t>
            </a:r>
            <a:endParaRPr lang="zh-CN" altLang="en-US" sz="2000" dirty="0">
              <a:latin typeface="华文新魏" panose="02010800040101010101" pitchFamily="2" charset="-122"/>
              <a:ea typeface="华文新魏" panose="02010800040101010101" pitchFamily="2" charset="-122"/>
            </a:endParaRPr>
          </a:p>
          <a:p>
            <a:pPr lvl="0" eaLnBrk="1" hangingPunct="1">
              <a:spcBef>
                <a:spcPct val="0"/>
              </a:spcBef>
            </a:pPr>
            <a:endParaRPr lang="zh-CN" altLang="en-US" sz="1800" dirty="0">
              <a:latin typeface="Tahoma" panose="020B0604030504040204" pitchFamily="34" charset="0"/>
            </a:endParaRPr>
          </a:p>
          <a:p>
            <a:pPr lvl="0" eaLnBrk="1" hangingPunct="1"/>
            <a:endParaRPr lang="en-US" altLang="zh-CN" sz="2000" dirty="0">
              <a:latin typeface="宋体" panose="02010600030101010101" pitchFamily="2" charset="-122"/>
              <a:ea typeface="华文楷体" panose="0201060004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TextEdit="1"/>
          </p:cNvSpPr>
          <p:nvPr>
            <p:ph type="sldImg"/>
          </p:nvPr>
        </p:nvSpPr>
        <p:spPr>
          <a:solidFill>
            <a:srgbClr val="FFFFFF">
              <a:alpha val="100000"/>
            </a:srgbClr>
          </a:solidFill>
        </p:spPr>
      </p:sp>
      <p:sp>
        <p:nvSpPr>
          <p:cNvPr id="17101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TextEdit="1"/>
          </p:cNvSpPr>
          <p:nvPr>
            <p:ph type="sldImg"/>
          </p:nvPr>
        </p:nvSpPr>
        <p:spPr>
          <a:solidFill>
            <a:srgbClr val="FFFFFF">
              <a:alpha val="100000"/>
            </a:srgbClr>
          </a:solidFill>
        </p:spPr>
      </p:sp>
      <p:sp>
        <p:nvSpPr>
          <p:cNvPr id="1730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2400" b="1" dirty="0">
              <a:latin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1026"/>
          <p:cNvSpPr>
            <a:spLocks noTextEdit="1"/>
          </p:cNvSpPr>
          <p:nvPr>
            <p:ph type="sldImg"/>
          </p:nvPr>
        </p:nvSpPr>
        <p:spPr>
          <a:solidFill>
            <a:srgbClr val="FFFFFF">
              <a:alpha val="100000"/>
            </a:srgbClr>
          </a:solidFill>
        </p:spPr>
      </p:sp>
      <p:sp>
        <p:nvSpPr>
          <p:cNvPr id="175107"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400" dirty="0">
                <a:latin typeface="宋体" panose="02010600030101010101" pitchFamily="2" charset="-122"/>
              </a:rPr>
              <a:t>见</a:t>
            </a:r>
            <a:r>
              <a:rPr lang="en-US" altLang="zh-CN" sz="2400" dirty="0">
                <a:latin typeface="宋体" panose="02010600030101010101" pitchFamily="2" charset="-122"/>
              </a:rPr>
              <a:t>《</a:t>
            </a:r>
            <a:r>
              <a:rPr lang="zh-CN" altLang="en-US" sz="2400" dirty="0">
                <a:latin typeface="宋体" panose="02010600030101010101" pitchFamily="2" charset="-122"/>
              </a:rPr>
              <a:t>数字系统设计与</a:t>
            </a:r>
            <a:r>
              <a:rPr lang="en-US" altLang="zh-CN" sz="2400" dirty="0">
                <a:latin typeface="宋体" panose="02010600030101010101" pitchFamily="2" charset="-122"/>
              </a:rPr>
              <a:t>Verilog HDL 》 P163</a:t>
            </a:r>
            <a:r>
              <a:rPr lang="zh-CN" altLang="en-US" sz="2400" dirty="0">
                <a:latin typeface="宋体" panose="02010600030101010101" pitchFamily="2" charset="-122"/>
              </a:rPr>
              <a:t>例</a:t>
            </a:r>
            <a:r>
              <a:rPr lang="en-US" altLang="zh-CN" sz="2400" dirty="0">
                <a:latin typeface="宋体" panose="02010600030101010101" pitchFamily="2" charset="-122"/>
              </a:rPr>
              <a:t>6.8</a:t>
            </a:r>
            <a:endParaRPr lang="en-US" altLang="zh-CN" sz="2400" dirty="0">
              <a:latin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TextEdit="1"/>
          </p:cNvSpPr>
          <p:nvPr>
            <p:ph type="sldImg"/>
          </p:nvPr>
        </p:nvSpPr>
        <p:spPr>
          <a:solidFill>
            <a:srgbClr val="FFFFFF">
              <a:alpha val="100000"/>
            </a:srgbClr>
          </a:solidFill>
        </p:spPr>
      </p:sp>
      <p:sp>
        <p:nvSpPr>
          <p:cNvPr id="1771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2200"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TextEdit="1"/>
          </p:cNvSpPr>
          <p:nvPr>
            <p:ph type="sldImg"/>
          </p:nvPr>
        </p:nvSpPr>
        <p:spPr>
          <a:solidFill>
            <a:srgbClr val="FFFFFF">
              <a:alpha val="100000"/>
            </a:srgbClr>
          </a:solidFill>
        </p:spPr>
      </p:sp>
      <p:sp>
        <p:nvSpPr>
          <p:cNvPr id="17920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》P44 </a:t>
            </a:r>
            <a:endParaRPr lang="en-US" altLang="zh-CN" sz="1000" dirty="0">
              <a:latin typeface="宋体" panose="02010600030101010101" pitchFamily="2" charset="-122"/>
            </a:endParaRPr>
          </a:p>
          <a:p>
            <a:pPr lvl="0" eaLnBrk="1" hangingPunct="1"/>
            <a:r>
              <a:rPr lang="zh-CN" altLang="en-US" sz="1000" dirty="0">
                <a:latin typeface="宋体" panose="02010600030101010101" pitchFamily="2" charset="-122"/>
              </a:rPr>
              <a:t>本来是想实现一个二选一的</a:t>
            </a:r>
            <a:r>
              <a:rPr lang="zh-CN" altLang="en-US" sz="2400" b="1" dirty="0">
                <a:latin typeface="宋体" panose="02010600030101010101" pitchFamily="2" charset="-122"/>
              </a:rPr>
              <a:t>数据选择器</a:t>
            </a:r>
            <a:r>
              <a:rPr lang="zh-CN" altLang="en-US" dirty="0">
                <a:latin typeface="华文新魏" panose="02010800040101010101" pitchFamily="2" charset="-122"/>
                <a:ea typeface="华文新魏" panose="02010800040101010101" pitchFamily="2" charset="-122"/>
              </a:rPr>
              <a:t>，但如果不</a:t>
            </a:r>
            <a:r>
              <a:rPr lang="zh-CN" altLang="zh-CN" dirty="0">
                <a:latin typeface="华文新魏" panose="02010800040101010101" pitchFamily="2" charset="-122"/>
                <a:ea typeface="华文新魏" panose="02010800040101010101" pitchFamily="2" charset="-122"/>
              </a:rPr>
              <a:t>列出</a:t>
            </a:r>
            <a:r>
              <a:rPr lang="zh-CN" altLang="zh-CN" dirty="0">
                <a:solidFill>
                  <a:srgbClr val="FF0066"/>
                </a:solidFill>
                <a:latin typeface="华文新魏" panose="02010800040101010101" pitchFamily="2" charset="-122"/>
                <a:ea typeface="华文新魏" panose="02010800040101010101" pitchFamily="2" charset="-122"/>
              </a:rPr>
              <a:t>所有</a:t>
            </a:r>
            <a:r>
              <a:rPr lang="zh-CN" altLang="zh-CN" dirty="0">
                <a:latin typeface="华文新魏" panose="02010800040101010101" pitchFamily="2" charset="-122"/>
                <a:ea typeface="华文新魏" panose="02010800040101010101" pitchFamily="2" charset="-122"/>
              </a:rPr>
              <a:t>条件分支，则</a:t>
            </a:r>
            <a:r>
              <a:rPr lang="zh-CN" altLang="en-US" sz="2200" dirty="0">
                <a:latin typeface="方正姚体" panose="02010601030101010101" pitchFamily="2" charset="-122"/>
                <a:ea typeface="方正姚体" panose="02010601030101010101" pitchFamily="2" charset="-122"/>
              </a:rPr>
              <a:t>生成了不想要的锁存器。</a:t>
            </a:r>
            <a:endParaRPr lang="zh-CN" altLang="en-US" sz="2200"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TextEdit="1"/>
          </p:cNvSpPr>
          <p:nvPr>
            <p:ph type="sldImg"/>
          </p:nvPr>
        </p:nvSpPr>
        <p:spPr>
          <a:solidFill>
            <a:srgbClr val="FFFFFF">
              <a:alpha val="100000"/>
            </a:srgbClr>
          </a:solidFill>
        </p:spPr>
      </p:sp>
      <p:sp>
        <p:nvSpPr>
          <p:cNvPr id="1812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》P45</a:t>
            </a:r>
            <a:endParaRPr lang="en-US" altLang="zh-CN" sz="1000" dirty="0">
              <a:latin typeface="宋体" panose="02010600030101010101" pitchFamily="2" charset="-122"/>
            </a:endParaRPr>
          </a:p>
          <a:p>
            <a:pPr lvl="0" algn="just" eaLnBrk="1" hangingPunct="1"/>
            <a:r>
              <a:rPr lang="zh-CN" altLang="en-US" sz="1000" dirty="0"/>
              <a:t>本来是想实现一个三选一的数据选择器，但如果不列出所有条件分支，则生成了不想要的锁存器。</a:t>
            </a:r>
            <a:endParaRPr lang="zh-CN" altLang="en-US" sz="1000" dirty="0">
              <a:latin typeface="宋体" panose="02010600030101010101" pitchFamily="2" charset="-122"/>
            </a:endParaRPr>
          </a:p>
          <a:p>
            <a:pPr lvl="0" eaLnBrk="1" hangingPunct="1"/>
            <a:r>
              <a:rPr lang="zh-CN" altLang="en-US" sz="1000" dirty="0">
                <a:latin typeface="宋体" panose="02010600030101010101" pitchFamily="2" charset="-122"/>
              </a:rPr>
              <a:t>当然如果希望</a:t>
            </a:r>
            <a:r>
              <a:rPr lang="en-US" altLang="zh-CN" sz="1000" dirty="0">
                <a:latin typeface="宋体" panose="02010600030101010101" pitchFamily="2" charset="-122"/>
              </a:rPr>
              <a:t>sel[1:0]</a:t>
            </a:r>
            <a:r>
              <a:rPr lang="zh-CN" altLang="en-US" sz="1000" dirty="0">
                <a:latin typeface="宋体" panose="02010600030101010101" pitchFamily="2" charset="-122"/>
              </a:rPr>
              <a:t>不取</a:t>
            </a:r>
            <a:r>
              <a:rPr lang="en-US" altLang="zh-CN" sz="1000" dirty="0">
                <a:latin typeface="宋体" panose="02010600030101010101" pitchFamily="2" charset="-122"/>
              </a:rPr>
              <a:t>00</a:t>
            </a:r>
            <a:r>
              <a:rPr lang="zh-CN" altLang="en-US" sz="1000" dirty="0">
                <a:latin typeface="宋体" panose="02010600030101010101" pitchFamily="2" charset="-122"/>
              </a:rPr>
              <a:t>或</a:t>
            </a:r>
            <a:r>
              <a:rPr lang="en-US" altLang="zh-CN" sz="1000" dirty="0">
                <a:latin typeface="宋体" panose="02010600030101010101" pitchFamily="2" charset="-122"/>
              </a:rPr>
              <a:t>11</a:t>
            </a:r>
            <a:r>
              <a:rPr lang="zh-CN" altLang="en-US" sz="1000" dirty="0">
                <a:latin typeface="宋体" panose="02010600030101010101" pitchFamily="2" charset="-122"/>
              </a:rPr>
              <a:t>时，</a:t>
            </a:r>
            <a:r>
              <a:rPr lang="en-US" altLang="zh-CN" sz="1000" dirty="0">
                <a:latin typeface="宋体" panose="02010600030101010101" pitchFamily="2" charset="-122"/>
              </a:rPr>
              <a:t>q</a:t>
            </a:r>
            <a:r>
              <a:rPr lang="zh-CN" altLang="en-US" sz="1000" dirty="0">
                <a:latin typeface="宋体" panose="02010600030101010101" pitchFamily="2" charset="-122"/>
              </a:rPr>
              <a:t>保持原来的值，则不必给出</a:t>
            </a:r>
            <a:r>
              <a:rPr lang="en-US" altLang="zh-CN" sz="1000" dirty="0">
                <a:latin typeface="宋体" panose="02010600030101010101" pitchFamily="2" charset="-122"/>
              </a:rPr>
              <a:t>default</a:t>
            </a:r>
            <a:r>
              <a:rPr lang="zh-CN" altLang="en-US" sz="1000" dirty="0">
                <a:latin typeface="宋体" panose="02010600030101010101" pitchFamily="2" charset="-122"/>
              </a:rPr>
              <a:t>语句。  </a:t>
            </a:r>
            <a:endParaRPr lang="zh-CN" altLang="en-US" sz="1000" dirty="0">
              <a:latin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TextEdit="1"/>
          </p:cNvSpPr>
          <p:nvPr>
            <p:ph type="sldImg"/>
          </p:nvPr>
        </p:nvSpPr>
        <p:spPr>
          <a:solidFill>
            <a:srgbClr val="FFFFFF">
              <a:alpha val="100000"/>
            </a:srgbClr>
          </a:solidFill>
        </p:spPr>
      </p:sp>
      <p:sp>
        <p:nvSpPr>
          <p:cNvPr id="1843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TextEdit="1"/>
          </p:cNvSpPr>
          <p:nvPr>
            <p:ph type="sldImg"/>
          </p:nvPr>
        </p:nvSpPr>
        <p:spPr>
          <a:solidFill>
            <a:srgbClr val="FFFFFF">
              <a:alpha val="100000"/>
            </a:srgbClr>
          </a:solidFill>
        </p:spPr>
      </p:sp>
      <p:sp>
        <p:nvSpPr>
          <p:cNvPr id="1863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dirty="0">
                <a:ea typeface="华文楷体" panose="02010600040101010101" pitchFamily="2" charset="-122"/>
              </a:rPr>
              <a:t>MAX + PLUS </a:t>
            </a:r>
            <a:r>
              <a:rPr lang="en-US" altLang="zh-CN" dirty="0">
                <a:ea typeface="华文新魏" panose="02010800040101010101" pitchFamily="2" charset="-122"/>
              </a:rPr>
              <a:t>II</a:t>
            </a:r>
            <a:r>
              <a:rPr lang="zh-CN" altLang="en-US" dirty="0"/>
              <a:t>和</a:t>
            </a:r>
            <a:r>
              <a:rPr lang="en-US" altLang="zh-CN" dirty="0">
                <a:latin typeface="宋体" panose="02010600030101010101" pitchFamily="2" charset="-122"/>
              </a:rPr>
              <a:t>Quartus II</a:t>
            </a:r>
            <a:r>
              <a:rPr lang="zh-CN" altLang="en-US" dirty="0">
                <a:latin typeface="宋体" panose="02010600030101010101" pitchFamily="2" charset="-122"/>
              </a:rPr>
              <a:t>都支持</a:t>
            </a:r>
            <a:r>
              <a:rPr lang="en-US" altLang="zh-CN" dirty="0">
                <a:solidFill>
                  <a:srgbClr val="FF0000"/>
                </a:solidFill>
                <a:latin typeface="宋体" panose="02010600030101010101" pitchFamily="2" charset="-122"/>
              </a:rPr>
              <a:t>for</a:t>
            </a:r>
            <a:r>
              <a:rPr lang="zh-CN" altLang="en-US" dirty="0">
                <a:solidFill>
                  <a:srgbClr val="FF0000"/>
                </a:solidFill>
                <a:latin typeface="宋体" panose="02010600030101010101" pitchFamily="2" charset="-122"/>
              </a:rPr>
              <a:t>语句</a:t>
            </a:r>
            <a:r>
              <a:rPr lang="zh-CN" altLang="en-US" dirty="0">
                <a:latin typeface="宋体" panose="02010600030101010101" pitchFamily="2" charset="-122"/>
              </a:rPr>
              <a:t>！</a:t>
            </a:r>
            <a:endParaRPr lang="en-US" altLang="zh-CN" dirty="0">
              <a:latin typeface="宋体" panose="02010600030101010101" pitchFamily="2" charset="-12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TextEdit="1"/>
          </p:cNvSpPr>
          <p:nvPr>
            <p:ph type="sldImg"/>
          </p:nvPr>
        </p:nvSpPr>
        <p:spPr>
          <a:solidFill>
            <a:srgbClr val="FFFFFF">
              <a:alpha val="100000"/>
            </a:srgbClr>
          </a:solidFill>
        </p:spPr>
      </p:sp>
      <p:sp>
        <p:nvSpPr>
          <p:cNvPr id="1884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1" eaLnBrk="1" hangingPunct="1"/>
            <a:r>
              <a:rPr lang="zh-CN" altLang="en-US"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dirty="0">
                <a:latin typeface="宋体" panose="02010600030101010101" pitchFamily="2" charset="-122"/>
              </a:rPr>
              <a:t>P165[</a:t>
            </a:r>
            <a:r>
              <a:rPr lang="zh-CN" altLang="en-US" dirty="0">
                <a:latin typeface="宋体" panose="02010600030101010101" pitchFamily="2" charset="-122"/>
              </a:rPr>
              <a:t>例</a:t>
            </a:r>
            <a:r>
              <a:rPr lang="en-US" altLang="zh-CN" dirty="0">
                <a:latin typeface="宋体" panose="02010600030101010101" pitchFamily="2" charset="-122"/>
              </a:rPr>
              <a:t>6.10])</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位于</a:t>
            </a:r>
            <a:r>
              <a:rPr lang="en-US" altLang="zh-CN" dirty="0">
                <a:latin typeface="宋体" panose="02010600030101010101" pitchFamily="2" charset="-122"/>
              </a:rPr>
              <a:t>voter7</a:t>
            </a:r>
            <a:r>
              <a:rPr lang="zh-CN" altLang="en-US" dirty="0">
                <a:latin typeface="宋体" panose="02010600030101010101" pitchFamily="2" charset="-122"/>
              </a:rPr>
              <a:t>文件夹中</a:t>
            </a:r>
            <a:endParaRPr lang="zh-CN" altLang="en-US" dirty="0">
              <a:latin typeface="宋体" panose="02010600030101010101" pitchFamily="2" charset="-122"/>
            </a:endParaRPr>
          </a:p>
          <a:p>
            <a:pPr lvl="0" algn="just" eaLnBrk="1" hangingPunct="1"/>
            <a:r>
              <a:rPr lang="zh-CN" altLang="en-US" sz="1100" b="1" dirty="0">
                <a:latin typeface="宋体" panose="02010600030101010101" pitchFamily="2" charset="-122"/>
              </a:rPr>
              <a:t>	</a:t>
            </a:r>
            <a:endParaRPr lang="zh-CN" altLang="en-US" sz="1100" b="1"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TextEdit="1"/>
          </p:cNvSpPr>
          <p:nvPr>
            <p:ph type="sldImg"/>
          </p:nvPr>
        </p:nvSpPr>
        <p:spPr>
          <a:solidFill>
            <a:srgbClr val="FFFFFF">
              <a:alpha val="100000"/>
            </a:srgbClr>
          </a:solidFill>
        </p:spPr>
      </p:sp>
      <p:sp>
        <p:nvSpPr>
          <p:cNvPr id="1904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1026"/>
          <p:cNvSpPr>
            <a:spLocks noTextEdit="1"/>
          </p:cNvSpPr>
          <p:nvPr>
            <p:ph type="sldImg"/>
          </p:nvPr>
        </p:nvSpPr>
        <p:spPr>
          <a:solidFill>
            <a:srgbClr val="FFFFFF">
              <a:alpha val="100000"/>
            </a:srgbClr>
          </a:solidFill>
        </p:spPr>
      </p:sp>
      <p:sp>
        <p:nvSpPr>
          <p:cNvPr id="192515"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400" dirty="0">
                <a:latin typeface="宋体" panose="02010600030101010101" pitchFamily="2" charset="-122"/>
              </a:rPr>
              <a:t>用</a:t>
            </a:r>
            <a:r>
              <a:rPr lang="en-US" altLang="zh-CN" sz="2400" dirty="0">
                <a:latin typeface="宋体" panose="02010600030101010101" pitchFamily="2" charset="-122"/>
              </a:rPr>
              <a:t>for</a:t>
            </a:r>
            <a:r>
              <a:rPr lang="zh-CN" altLang="en-US" sz="2400" dirty="0">
                <a:latin typeface="宋体" panose="02010600030101010101" pitchFamily="2" charset="-122"/>
              </a:rPr>
              <a:t>语句实现两个</a:t>
            </a:r>
            <a:r>
              <a:rPr lang="en-US" altLang="zh-CN" sz="2400" dirty="0">
                <a:latin typeface="宋体" panose="02010600030101010101" pitchFamily="2" charset="-122"/>
              </a:rPr>
              <a:t>8</a:t>
            </a:r>
            <a:r>
              <a:rPr lang="zh-CN" altLang="en-US" sz="2400" dirty="0">
                <a:latin typeface="宋体" panose="02010600030101010101" pitchFamily="2" charset="-122"/>
              </a:rPr>
              <a:t>位二进制数乘法（见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2400" dirty="0">
                <a:latin typeface="宋体" panose="02010600030101010101" pitchFamily="2" charset="-122"/>
              </a:rPr>
              <a:t> P165[</a:t>
            </a:r>
            <a:r>
              <a:rPr lang="zh-CN" altLang="en-US" sz="2400" dirty="0">
                <a:latin typeface="宋体" panose="02010600030101010101" pitchFamily="2" charset="-122"/>
              </a:rPr>
              <a:t>例</a:t>
            </a:r>
            <a:r>
              <a:rPr lang="en-US" altLang="zh-CN" sz="2400" dirty="0">
                <a:latin typeface="宋体" panose="02010600030101010101" pitchFamily="2" charset="-122"/>
              </a:rPr>
              <a:t>6.11])</a:t>
            </a:r>
            <a:endParaRPr lang="en-US" altLang="zh-CN" sz="2400" dirty="0">
              <a:latin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TextEdit="1"/>
          </p:cNvSpPr>
          <p:nvPr>
            <p:ph type="sldImg"/>
          </p:nvPr>
        </p:nvSpPr>
        <p:spPr>
          <a:solidFill>
            <a:srgbClr val="FFFFFF">
              <a:alpha val="100000"/>
            </a:srgbClr>
          </a:solidFill>
        </p:spPr>
      </p:sp>
      <p:sp>
        <p:nvSpPr>
          <p:cNvPr id="19456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000" dirty="0">
                <a:latin typeface="宋体" panose="02010600030101010101" pitchFamily="2" charset="-122"/>
              </a:rPr>
              <a:t>mult_for.v</a:t>
            </a:r>
            <a:r>
              <a:rPr lang="zh-CN" altLang="en-US" sz="1000" dirty="0">
                <a:latin typeface="宋体" panose="02010600030101010101" pitchFamily="2" charset="-122"/>
              </a:rPr>
              <a:t>位于</a:t>
            </a:r>
            <a:r>
              <a:rPr lang="en-US" altLang="zh-CN" sz="1000" dirty="0">
                <a:latin typeface="宋体" panose="02010600030101010101" pitchFamily="2" charset="-122"/>
              </a:rPr>
              <a:t>mult_for</a:t>
            </a:r>
            <a:r>
              <a:rPr lang="zh-CN" altLang="en-US" sz="1000" dirty="0">
                <a:latin typeface="宋体" panose="02010600030101010101" pitchFamily="2" charset="-122"/>
              </a:rPr>
              <a:t>文件夹中 </a:t>
            </a:r>
            <a:endParaRPr lang="zh-CN" altLang="en-US" sz="1000" dirty="0">
              <a:latin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TextEdit="1"/>
          </p:cNvSpPr>
          <p:nvPr>
            <p:ph type="sldImg"/>
          </p:nvPr>
        </p:nvSpPr>
        <p:spPr>
          <a:solidFill>
            <a:srgbClr val="FFFFFF">
              <a:alpha val="100000"/>
            </a:srgbClr>
          </a:solidFill>
        </p:spPr>
      </p:sp>
      <p:sp>
        <p:nvSpPr>
          <p:cNvPr id="19661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TextEdit="1"/>
          </p:cNvSpPr>
          <p:nvPr>
            <p:ph type="sldImg"/>
          </p:nvPr>
        </p:nvSpPr>
        <p:spPr>
          <a:solidFill>
            <a:srgbClr val="FFFFFF">
              <a:alpha val="100000"/>
            </a:srgbClr>
          </a:solidFill>
        </p:spPr>
      </p:sp>
      <p:sp>
        <p:nvSpPr>
          <p:cNvPr id="1986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TextEdit="1"/>
          </p:cNvSpPr>
          <p:nvPr>
            <p:ph type="sldImg"/>
          </p:nvPr>
        </p:nvSpPr>
        <p:spPr>
          <a:solidFill>
            <a:srgbClr val="FFFFFF">
              <a:alpha val="100000"/>
            </a:srgbClr>
          </a:solidFill>
        </p:spPr>
      </p:sp>
      <p:sp>
        <p:nvSpPr>
          <p:cNvPr id="2007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TextEdit="1"/>
          </p:cNvSpPr>
          <p:nvPr>
            <p:ph type="sldImg"/>
          </p:nvPr>
        </p:nvSpPr>
        <p:spPr>
          <a:solidFill>
            <a:srgbClr val="FFFFFF">
              <a:alpha val="100000"/>
            </a:srgbClr>
          </a:solidFill>
        </p:spPr>
      </p:sp>
      <p:sp>
        <p:nvSpPr>
          <p:cNvPr id="2027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t>参见</a:t>
            </a:r>
            <a:r>
              <a:rPr lang="en-US" altLang="zh-CN" sz="1000" dirty="0"/>
              <a:t>《</a:t>
            </a:r>
            <a:r>
              <a:rPr lang="zh-CN" altLang="en-US" sz="1000" dirty="0"/>
              <a:t>从算法设计到硬线逻辑的实现</a:t>
            </a:r>
            <a:r>
              <a:rPr lang="en-US" altLang="zh-CN" sz="1000" dirty="0"/>
              <a:t>——</a:t>
            </a:r>
            <a:r>
              <a:rPr lang="zh-CN" altLang="en-US" sz="1000" dirty="0"/>
              <a:t>复杂数字逻辑系统的</a:t>
            </a:r>
            <a:r>
              <a:rPr lang="en-US" altLang="zh-CN" sz="1000" dirty="0">
                <a:latin typeface="宋体" panose="02010600030101010101" pitchFamily="2" charset="-122"/>
              </a:rPr>
              <a:t>Verilog HDL</a:t>
            </a:r>
            <a:r>
              <a:rPr lang="zh-CN" altLang="en-US" sz="1000" dirty="0"/>
              <a:t>设计技术和方法</a:t>
            </a:r>
            <a:r>
              <a:rPr lang="en-US" altLang="zh-CN" sz="1000" dirty="0"/>
              <a:t>》</a:t>
            </a:r>
            <a:r>
              <a:rPr lang="en-US" altLang="zh-CN" sz="1000" dirty="0">
                <a:latin typeface="宋体" panose="02010600030101010101" pitchFamily="2" charset="-122"/>
              </a:rPr>
              <a:t>P46~47</a:t>
            </a:r>
            <a:endParaRPr lang="en-US" altLang="zh-CN" sz="1000" dirty="0">
              <a:latin typeface="宋体" panose="02010600030101010101" pitchFamily="2" charset="-122"/>
            </a:endParaRPr>
          </a:p>
          <a:p>
            <a:pPr lvl="0" algn="just" eaLnBrk="1" hangingPunct="1"/>
            <a:r>
              <a:rPr lang="en-US" altLang="zh-CN" sz="1000" dirty="0">
                <a:latin typeface="宋体" panose="02010600030101010101" pitchFamily="2" charset="-122"/>
              </a:rPr>
              <a:t>count1s_while.v</a:t>
            </a:r>
            <a:r>
              <a:rPr lang="zh-CN" altLang="en-US" sz="1000" dirty="0"/>
              <a:t>位于</a:t>
            </a:r>
            <a:r>
              <a:rPr lang="en-US" altLang="zh-CN" sz="1000" dirty="0">
                <a:latin typeface="宋体" panose="02010600030101010101" pitchFamily="2" charset="-122"/>
              </a:rPr>
              <a:t>count1s_while</a:t>
            </a:r>
            <a:r>
              <a:rPr lang="zh-CN" altLang="en-US" sz="1000" dirty="0"/>
              <a:t>文件夹中。</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1026"/>
          <p:cNvSpPr>
            <a:spLocks noTextEdit="1"/>
          </p:cNvSpPr>
          <p:nvPr>
            <p:ph type="sldImg"/>
          </p:nvPr>
        </p:nvSpPr>
        <p:spPr>
          <a:solidFill>
            <a:srgbClr val="FFFFFF">
              <a:alpha val="100000"/>
            </a:srgbClr>
          </a:solidFill>
        </p:spPr>
      </p:sp>
      <p:sp>
        <p:nvSpPr>
          <p:cNvPr id="20480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a:spcBef>
                <a:spcPct val="0"/>
              </a:spcBef>
            </a:pPr>
            <a:r>
              <a:rPr lang="en-US" altLang="zh-CN" sz="2200" dirty="0">
                <a:latin typeface="宋体" panose="02010600030101010101" pitchFamily="2" charset="-122"/>
              </a:rPr>
              <a:t>count1s_for_good.v</a:t>
            </a:r>
            <a:r>
              <a:rPr lang="zh-CN" altLang="en-US" sz="2200" dirty="0">
                <a:latin typeface="宋体" panose="02010600030101010101" pitchFamily="2" charset="-122"/>
              </a:rPr>
              <a:t>位于</a:t>
            </a:r>
            <a:r>
              <a:rPr lang="en-US" altLang="zh-CN" sz="2200" dirty="0">
                <a:latin typeface="宋体" panose="02010600030101010101" pitchFamily="2" charset="-122"/>
              </a:rPr>
              <a:t>count1s_for</a:t>
            </a:r>
            <a:r>
              <a:rPr lang="zh-CN" altLang="en-US" sz="2200" dirty="0">
                <a:latin typeface="宋体" panose="02010600030101010101" pitchFamily="2" charset="-122"/>
              </a:rPr>
              <a:t>文件夹中。 </a:t>
            </a:r>
            <a:endParaRPr lang="zh-CN" altLang="en-US" sz="2200" dirty="0">
              <a:latin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2"/>
          <p:cNvSpPr>
            <a:spLocks noTextEdit="1"/>
          </p:cNvSpPr>
          <p:nvPr>
            <p:ph type="sldImg"/>
          </p:nvPr>
        </p:nvSpPr>
        <p:spPr>
          <a:solidFill>
            <a:srgbClr val="FFFFFF">
              <a:alpha val="100000"/>
            </a:srgbClr>
          </a:solidFill>
        </p:spPr>
      </p:sp>
      <p:sp>
        <p:nvSpPr>
          <p:cNvPr id="20787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TextEdit="1"/>
          </p:cNvSpPr>
          <p:nvPr>
            <p:ph type="sldImg"/>
          </p:nvPr>
        </p:nvSpPr>
        <p:spPr>
          <a:solidFill>
            <a:srgbClr val="FFFFFF">
              <a:alpha val="100000"/>
            </a:srgbClr>
          </a:solidFill>
        </p:spPr>
      </p:sp>
      <p:sp>
        <p:nvSpPr>
          <p:cNvPr id="20992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TextEdit="1"/>
          </p:cNvSpPr>
          <p:nvPr>
            <p:ph type="sldImg"/>
          </p:nvPr>
        </p:nvSpPr>
        <p:spPr>
          <a:solidFill>
            <a:srgbClr val="FFFFFF">
              <a:alpha val="100000"/>
            </a:srgbClr>
          </a:solidFill>
        </p:spPr>
      </p:sp>
      <p:sp>
        <p:nvSpPr>
          <p:cNvPr id="2119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TextEdit="1"/>
          </p:cNvSpPr>
          <p:nvPr>
            <p:ph type="sldImg"/>
          </p:nvPr>
        </p:nvSpPr>
        <p:spPr>
          <a:solidFill>
            <a:srgbClr val="FFFFFF">
              <a:alpha val="100000"/>
            </a:srgbClr>
          </a:solidFill>
        </p:spPr>
      </p:sp>
      <p:sp>
        <p:nvSpPr>
          <p:cNvPr id="2140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000" dirty="0">
                <a:latin typeface="宋体" panose="02010600030101010101" pitchFamily="2" charset="-122"/>
              </a:rPr>
              <a:t>always_demo .v</a:t>
            </a:r>
            <a:r>
              <a:rPr lang="zh-CN" altLang="en-US" sz="1000" dirty="0">
                <a:latin typeface="宋体" panose="02010600030101010101" pitchFamily="2" charset="-122"/>
              </a:rPr>
              <a:t>位于</a:t>
            </a:r>
            <a:r>
              <a:rPr lang="en-US" altLang="zh-CN" sz="1000" dirty="0">
                <a:latin typeface="宋体" panose="02010600030101010101" pitchFamily="2" charset="-122"/>
              </a:rPr>
              <a:t>always_demo</a:t>
            </a:r>
            <a:r>
              <a:rPr lang="zh-CN" altLang="en-US" sz="1000" dirty="0">
                <a:latin typeface="宋体" panose="02010600030101010101" pitchFamily="2" charset="-122"/>
              </a:rPr>
              <a:t>文件夹</a:t>
            </a:r>
            <a:endParaRPr lang="zh-CN" altLang="en-US" sz="1000" dirty="0">
              <a:latin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TextEdit="1"/>
          </p:cNvSpPr>
          <p:nvPr>
            <p:ph type="sldImg"/>
          </p:nvPr>
        </p:nvSpPr>
        <p:spPr>
          <a:solidFill>
            <a:srgbClr val="FFFFFF">
              <a:alpha val="100000"/>
            </a:srgbClr>
          </a:solidFill>
        </p:spPr>
      </p:sp>
      <p:sp>
        <p:nvSpPr>
          <p:cNvPr id="2160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000" dirty="0">
                <a:latin typeface="宋体" panose="02010600030101010101" pitchFamily="2" charset="-122"/>
              </a:rPr>
              <a:t>assign</a:t>
            </a:r>
            <a:r>
              <a:rPr lang="zh-CN" altLang="en-US" sz="1000" dirty="0">
                <a:latin typeface="宋体" panose="02010600030101010101" pitchFamily="2" charset="-122"/>
              </a:rPr>
              <a:t>语句在</a:t>
            </a:r>
            <a:r>
              <a:rPr lang="en-US" altLang="zh-CN" sz="1000" dirty="0">
                <a:latin typeface="宋体" panose="02010600030101010101" pitchFamily="2" charset="-122"/>
              </a:rPr>
              <a:t>always</a:t>
            </a:r>
            <a:r>
              <a:rPr lang="zh-CN" altLang="en-US" sz="1000" dirty="0">
                <a:latin typeface="宋体" panose="02010600030101010101" pitchFamily="2" charset="-122"/>
              </a:rPr>
              <a:t>块之外；循环语句</a:t>
            </a:r>
            <a:r>
              <a:rPr lang="en-US" altLang="zh-CN" sz="1000" dirty="0">
                <a:latin typeface="宋体" panose="02010600030101010101" pitchFamily="2" charset="-122"/>
              </a:rPr>
              <a:t>forever</a:t>
            </a:r>
            <a:r>
              <a:rPr lang="zh-CN" altLang="en-US" sz="1000" dirty="0">
                <a:latin typeface="宋体" panose="02010600030101010101" pitchFamily="2" charset="-122"/>
              </a:rPr>
              <a:t>语句是在</a:t>
            </a:r>
            <a:r>
              <a:rPr lang="en-US" altLang="zh-CN" sz="1000" dirty="0">
                <a:latin typeface="宋体" panose="02010600030101010101" pitchFamily="2" charset="-122"/>
              </a:rPr>
              <a:t>initial</a:t>
            </a:r>
            <a:r>
              <a:rPr lang="zh-CN" altLang="en-US" sz="1000" dirty="0">
                <a:latin typeface="宋体" panose="02010600030101010101" pitchFamily="2" charset="-122"/>
              </a:rPr>
              <a:t>块中！</a:t>
            </a:r>
            <a:endParaRPr lang="zh-CN" altLang="en-US" sz="1000" dirty="0">
              <a:latin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Rectangle 2"/>
          <p:cNvSpPr>
            <a:spLocks noTextEdit="1"/>
          </p:cNvSpPr>
          <p:nvPr>
            <p:ph type="sldImg"/>
          </p:nvPr>
        </p:nvSpPr>
        <p:spPr>
          <a:solidFill>
            <a:srgbClr val="FFFFFF">
              <a:alpha val="100000"/>
            </a:srgbClr>
          </a:solidFill>
        </p:spPr>
      </p:sp>
      <p:sp>
        <p:nvSpPr>
          <p:cNvPr id="2181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1026"/>
          <p:cNvSpPr>
            <a:spLocks noTextEdit="1"/>
          </p:cNvSpPr>
          <p:nvPr>
            <p:ph type="sldImg"/>
          </p:nvPr>
        </p:nvSpPr>
        <p:spPr>
          <a:solidFill>
            <a:srgbClr val="FFFFFF">
              <a:alpha val="100000"/>
            </a:srgbClr>
          </a:solidFill>
        </p:spPr>
      </p:sp>
      <p:sp>
        <p:nvSpPr>
          <p:cNvPr id="22016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2"/>
          <p:cNvSpPr>
            <a:spLocks noTextEdit="1"/>
          </p:cNvSpPr>
          <p:nvPr>
            <p:ph type="sldImg"/>
          </p:nvPr>
        </p:nvSpPr>
        <p:spPr>
          <a:solidFill>
            <a:srgbClr val="FFFFFF">
              <a:alpha val="100000"/>
            </a:srgbClr>
          </a:solidFill>
        </p:spPr>
      </p:sp>
      <p:sp>
        <p:nvSpPr>
          <p:cNvPr id="22221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2"/>
          <p:cNvSpPr>
            <a:spLocks noTextEdit="1"/>
          </p:cNvSpPr>
          <p:nvPr>
            <p:ph type="sldImg"/>
          </p:nvPr>
        </p:nvSpPr>
        <p:spPr>
          <a:solidFill>
            <a:srgbClr val="FFFFFF">
              <a:alpha val="100000"/>
            </a:srgbClr>
          </a:solidFill>
        </p:spPr>
      </p:sp>
      <p:sp>
        <p:nvSpPr>
          <p:cNvPr id="2242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1000" dirty="0">
                <a:latin typeface="宋体" panose="02010600030101010101" pitchFamily="2" charset="-122"/>
              </a:rPr>
              <a:t>   </a:t>
            </a:r>
            <a:r>
              <a:rPr lang="zh-CN" altLang="en-US" sz="1000" dirty="0">
                <a:latin typeface="宋体" panose="02010600030101010101" pitchFamily="2" charset="-122"/>
              </a:rPr>
              <a:t>（</a:t>
            </a:r>
            <a:r>
              <a:rPr lang="en-US" altLang="zh-CN" sz="1000" dirty="0">
                <a:latin typeface="宋体" panose="02010600030101010101" pitchFamily="2" charset="-122"/>
              </a:rPr>
              <a:t>2</a:t>
            </a:r>
            <a:r>
              <a:rPr lang="zh-CN" altLang="en-US" sz="1000" dirty="0">
                <a:latin typeface="宋体" panose="02010600030101010101" pitchFamily="2" charset="-122"/>
              </a:rPr>
              <a:t>）备注：若</a:t>
            </a:r>
            <a:r>
              <a:rPr lang="zh-CN" altLang="en-US" sz="2400" dirty="0"/>
              <a:t>时钟周期很长而清零信号又是一个窄脉冲信号，如果采用同步清零，则很有可能当清零信号有效时，时钟信号并未到来，那么将不能进行清零。</a:t>
            </a:r>
            <a:endParaRPr lang="zh-CN" altLang="en-US" sz="2400"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2"/>
          <p:cNvSpPr>
            <a:spLocks noTextEdit="1"/>
          </p:cNvSpPr>
          <p:nvPr>
            <p:ph type="sldImg"/>
          </p:nvPr>
        </p:nvSpPr>
        <p:spPr>
          <a:solidFill>
            <a:srgbClr val="FFFFFF">
              <a:alpha val="100000"/>
            </a:srgbClr>
          </a:solidFill>
        </p:spPr>
      </p:sp>
      <p:sp>
        <p:nvSpPr>
          <p:cNvPr id="2263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a:spLocks noTextEdit="1"/>
          </p:cNvSpPr>
          <p:nvPr>
            <p:ph type="sldImg"/>
          </p:nvPr>
        </p:nvSpPr>
        <p:spPr>
          <a:solidFill>
            <a:srgbClr val="FFFFFF">
              <a:alpha val="100000"/>
            </a:srgbClr>
          </a:solidFill>
        </p:spPr>
      </p:sp>
      <p:sp>
        <p:nvSpPr>
          <p:cNvPr id="2283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100"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sz="1100" dirty="0">
                <a:latin typeface="宋体" panose="02010600030101010101" pitchFamily="2" charset="-122"/>
              </a:rPr>
              <a:t>P170</a:t>
            </a:r>
            <a:endParaRPr lang="en-US" altLang="zh-CN" sz="1100" dirty="0">
              <a:latin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2"/>
          <p:cNvSpPr>
            <a:spLocks noTextEdit="1"/>
          </p:cNvSpPr>
          <p:nvPr>
            <p:ph type="sldImg"/>
          </p:nvPr>
        </p:nvSpPr>
        <p:spPr>
          <a:solidFill>
            <a:srgbClr val="FFFFFF">
              <a:alpha val="100000"/>
            </a:srgbClr>
          </a:solidFill>
        </p:spPr>
      </p:sp>
      <p:sp>
        <p:nvSpPr>
          <p:cNvPr id="23040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1026"/>
          <p:cNvSpPr>
            <a:spLocks noTextEdit="1"/>
          </p:cNvSpPr>
          <p:nvPr>
            <p:ph type="sldImg"/>
          </p:nvPr>
        </p:nvSpPr>
        <p:spPr>
          <a:solidFill>
            <a:srgbClr val="FFFFFF">
              <a:alpha val="100000"/>
            </a:srgbClr>
          </a:solidFill>
        </p:spPr>
      </p:sp>
      <p:sp>
        <p:nvSpPr>
          <p:cNvPr id="232451"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TextEdit="1"/>
          </p:cNvSpPr>
          <p:nvPr>
            <p:ph type="sldImg"/>
          </p:nvPr>
        </p:nvSpPr>
        <p:spPr>
          <a:solidFill>
            <a:srgbClr val="FFFFFF">
              <a:alpha val="100000"/>
            </a:srgbClr>
          </a:solidFill>
        </p:spPr>
      </p:sp>
      <p:sp>
        <p:nvSpPr>
          <p:cNvPr id="23449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1026"/>
          <p:cNvSpPr>
            <a:spLocks noTextEdit="1"/>
          </p:cNvSpPr>
          <p:nvPr>
            <p:ph type="sldImg"/>
          </p:nvPr>
        </p:nvSpPr>
        <p:spPr>
          <a:solidFill>
            <a:srgbClr val="FFFFFF">
              <a:alpha val="100000"/>
            </a:srgbClr>
          </a:solidFill>
        </p:spPr>
      </p:sp>
      <p:sp>
        <p:nvSpPr>
          <p:cNvPr id="236547"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r>
              <a:rPr lang="zh-CN" altLang="en-US" sz="1000" dirty="0"/>
              <a:t>参见</a:t>
            </a:r>
            <a:r>
              <a:rPr lang="en-US" altLang="zh-CN" sz="1000" dirty="0"/>
              <a:t>《</a:t>
            </a:r>
            <a:r>
              <a:rPr lang="zh-CN" altLang="en-US" sz="1000" dirty="0"/>
              <a:t>从算法设计到硬线逻辑的实现</a:t>
            </a:r>
            <a:r>
              <a:rPr lang="en-US" altLang="zh-CN" sz="1000" dirty="0"/>
              <a:t>——</a:t>
            </a:r>
            <a:r>
              <a:rPr lang="zh-CN" altLang="en-US" sz="1000" dirty="0"/>
              <a:t>实验练习与</a:t>
            </a:r>
            <a:r>
              <a:rPr lang="en-US" altLang="zh-CN" sz="1000" dirty="0">
                <a:latin typeface="宋体" panose="02010600030101010101" pitchFamily="2" charset="-122"/>
              </a:rPr>
              <a:t>Verilog</a:t>
            </a:r>
            <a:r>
              <a:rPr lang="zh-CN" altLang="en-US" sz="1000" dirty="0"/>
              <a:t>语法手册</a:t>
            </a:r>
            <a:r>
              <a:rPr lang="en-US" altLang="zh-CN" sz="1000" dirty="0"/>
              <a:t>》</a:t>
            </a:r>
            <a:r>
              <a:rPr lang="en-US" altLang="zh-CN" sz="1000" dirty="0">
                <a:latin typeface="宋体" panose="02010600030101010101" pitchFamily="2" charset="-122"/>
              </a:rPr>
              <a:t>P14~15</a:t>
            </a:r>
            <a:endParaRPr lang="en-US" altLang="zh-CN"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1026"/>
          <p:cNvSpPr>
            <a:spLocks noTextEdit="1"/>
          </p:cNvSpPr>
          <p:nvPr>
            <p:ph type="sldImg"/>
          </p:nvPr>
        </p:nvSpPr>
        <p:spPr>
          <a:solidFill>
            <a:srgbClr val="FFFFFF">
              <a:alpha val="100000"/>
            </a:srgbClr>
          </a:solidFill>
        </p:spPr>
      </p:sp>
      <p:sp>
        <p:nvSpPr>
          <p:cNvPr id="238595"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en-US" altLang="zh-CN" sz="2000" b="1" dirty="0">
                <a:ea typeface="仿宋_GB2312" pitchFamily="49" charset="-122"/>
              </a:rPr>
              <a:t>$random</a:t>
            </a:r>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》P61</a:t>
            </a:r>
            <a:endParaRPr lang="en-US" altLang="zh-CN" sz="1000" dirty="0">
              <a:latin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1026"/>
          <p:cNvSpPr>
            <a:spLocks noTextEdit="1"/>
          </p:cNvSpPr>
          <p:nvPr>
            <p:ph type="sldImg"/>
          </p:nvPr>
        </p:nvSpPr>
        <p:spPr>
          <a:solidFill>
            <a:srgbClr val="FFFFFF">
              <a:alpha val="100000"/>
            </a:srgbClr>
          </a:solidFill>
        </p:spPr>
      </p:sp>
      <p:sp>
        <p:nvSpPr>
          <p:cNvPr id="24064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采用</a:t>
            </a:r>
            <a:r>
              <a:rPr lang="en-US" altLang="zh-CN" sz="1000" dirty="0">
                <a:latin typeface="宋体" panose="02010600030101010101" pitchFamily="2" charset="-122"/>
              </a:rPr>
              <a:t>Modelsim</a:t>
            </a:r>
            <a:r>
              <a:rPr lang="zh-CN" altLang="en-US" sz="1000" dirty="0">
                <a:latin typeface="宋体" panose="02010600030101010101" pitchFamily="2" charset="-122"/>
              </a:rPr>
              <a:t>进行仿真！</a:t>
            </a:r>
            <a:endParaRPr lang="zh-CN" altLang="en-US" sz="1000" dirty="0">
              <a:latin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2"/>
          <p:cNvSpPr>
            <a:spLocks noTextEdit="1"/>
          </p:cNvSpPr>
          <p:nvPr>
            <p:ph type="sldImg"/>
          </p:nvPr>
        </p:nvSpPr>
        <p:spPr>
          <a:solidFill>
            <a:srgbClr val="FFFFFF">
              <a:alpha val="100000"/>
            </a:srgbClr>
          </a:solidFill>
        </p:spPr>
      </p:sp>
      <p:sp>
        <p:nvSpPr>
          <p:cNvPr id="24269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TextEdit="1"/>
          </p:cNvSpPr>
          <p:nvPr>
            <p:ph type="sldImg"/>
          </p:nvPr>
        </p:nvSpPr>
        <p:spPr>
          <a:solidFill>
            <a:srgbClr val="FFFFFF">
              <a:alpha val="100000"/>
            </a:srgbClr>
          </a:solidFill>
        </p:spPr>
      </p:sp>
      <p:sp>
        <p:nvSpPr>
          <p:cNvPr id="24473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2"/>
          <p:cNvSpPr>
            <a:spLocks noTextEdit="1"/>
          </p:cNvSpPr>
          <p:nvPr>
            <p:ph type="sldImg"/>
          </p:nvPr>
        </p:nvSpPr>
        <p:spPr>
          <a:solidFill>
            <a:srgbClr val="FFFFFF">
              <a:alpha val="100000"/>
            </a:srgbClr>
          </a:solidFill>
        </p:spPr>
      </p:sp>
      <p:sp>
        <p:nvSpPr>
          <p:cNvPr id="24678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2"/>
          <p:cNvSpPr>
            <a:spLocks noTextEdit="1"/>
          </p:cNvSpPr>
          <p:nvPr>
            <p:ph type="sldImg"/>
          </p:nvPr>
        </p:nvSpPr>
        <p:spPr>
          <a:solidFill>
            <a:srgbClr val="FFFFFF">
              <a:alpha val="100000"/>
            </a:srgbClr>
          </a:solidFill>
        </p:spPr>
      </p:sp>
      <p:sp>
        <p:nvSpPr>
          <p:cNvPr id="24883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lnSpc>
                <a:spcPct val="110000"/>
              </a:lnSpc>
            </a:pPr>
            <a:r>
              <a:rPr lang="zh-CN" altLang="en-US"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dirty="0">
                <a:latin typeface="宋体" panose="02010600030101010101" pitchFamily="2" charset="-122"/>
              </a:rPr>
              <a:t>P172[</a:t>
            </a:r>
            <a:r>
              <a:rPr lang="zh-CN" altLang="en-US" dirty="0">
                <a:latin typeface="宋体" panose="02010600030101010101" pitchFamily="2" charset="-122"/>
              </a:rPr>
              <a:t>例</a:t>
            </a:r>
            <a:r>
              <a:rPr lang="en-US" altLang="zh-CN" dirty="0">
                <a:latin typeface="宋体" panose="02010600030101010101" pitchFamily="2" charset="-122"/>
              </a:rPr>
              <a:t>6.14]</a:t>
            </a:r>
            <a:endParaRPr lang="en-US" altLang="zh-CN" dirty="0">
              <a:latin typeface="宋体" panose="02010600030101010101" pitchFamily="2" charset="-122"/>
            </a:endParaRPr>
          </a:p>
          <a:p>
            <a:pPr lvl="0" algn="just" eaLnBrk="1" hangingPunct="1">
              <a:lnSpc>
                <a:spcPct val="110000"/>
              </a:lnSpc>
            </a:pPr>
            <a:r>
              <a:rPr lang="en-US" altLang="zh-CN" b="1" dirty="0">
                <a:latin typeface="宋体" panose="02010600030101010101" pitchFamily="2" charset="-122"/>
              </a:rPr>
              <a:t>count0s_function.v</a:t>
            </a:r>
            <a:r>
              <a:rPr lang="zh-CN" altLang="en-US" dirty="0"/>
              <a:t>位于</a:t>
            </a:r>
            <a:r>
              <a:rPr lang="en-US" altLang="zh-CN" dirty="0">
                <a:latin typeface="宋体" panose="02010600030101010101" pitchFamily="2" charset="-122"/>
              </a:rPr>
              <a:t>function</a:t>
            </a:r>
            <a:r>
              <a:rPr lang="zh-CN" altLang="en-US" dirty="0"/>
              <a:t>文件夹</a:t>
            </a:r>
            <a:endParaRPr lang="zh-CN" altLang="en-US" dirty="0">
              <a:latin typeface="宋体" panose="02010600030101010101" pitchFamily="2" charset="-122"/>
            </a:endParaRPr>
          </a:p>
          <a:p>
            <a:pPr lvl="0" algn="just" eaLnBrk="1" hangingPunct="1">
              <a:lnSpc>
                <a:spcPct val="110000"/>
              </a:lnSpc>
            </a:pPr>
            <a:r>
              <a:rPr lang="zh-CN" altLang="en-US" dirty="0">
                <a:latin typeface="宋体" panose="02010600030101010101" pitchFamily="2" charset="-122"/>
              </a:rPr>
              <a:t>    采用</a:t>
            </a:r>
            <a:r>
              <a:rPr lang="en-US" altLang="zh-CN" b="1" dirty="0">
                <a:latin typeface="宋体" panose="02010600030101010101" pitchFamily="2" charset="-122"/>
              </a:rPr>
              <a:t>Quartus II</a:t>
            </a:r>
            <a:r>
              <a:rPr lang="zh-CN" altLang="en-US" dirty="0">
                <a:latin typeface="宋体" panose="02010600030101010101" pitchFamily="2" charset="-122"/>
              </a:rPr>
              <a:t>进行仿真！ </a:t>
            </a:r>
            <a:endParaRPr lang="zh-CN" altLang="en-US"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2"/>
          <p:cNvSpPr>
            <a:spLocks noTextEdit="1"/>
          </p:cNvSpPr>
          <p:nvPr>
            <p:ph type="sldImg"/>
          </p:nvPr>
        </p:nvSpPr>
        <p:spPr>
          <a:solidFill>
            <a:srgbClr val="FFFFFF">
              <a:alpha val="100000"/>
            </a:srgbClr>
          </a:solidFill>
        </p:spPr>
      </p:sp>
      <p:sp>
        <p:nvSpPr>
          <p:cNvPr id="25088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2"/>
          <p:cNvSpPr>
            <a:spLocks noTextEdit="1"/>
          </p:cNvSpPr>
          <p:nvPr>
            <p:ph type="sldImg"/>
          </p:nvPr>
        </p:nvSpPr>
        <p:spPr>
          <a:solidFill>
            <a:srgbClr val="FFFFFF">
              <a:alpha val="100000"/>
            </a:srgbClr>
          </a:solidFill>
        </p:spPr>
      </p:sp>
      <p:sp>
        <p:nvSpPr>
          <p:cNvPr id="25293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lnSpc>
                <a:spcPct val="110000"/>
              </a:lnSpc>
            </a:pPr>
            <a:r>
              <a:rPr lang="zh-CN" altLang="en-US"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dirty="0">
                <a:latin typeface="宋体" panose="02010600030101010101" pitchFamily="2" charset="-122"/>
              </a:rPr>
              <a:t>P172[</a:t>
            </a:r>
            <a:r>
              <a:rPr lang="zh-CN" altLang="en-US" dirty="0">
                <a:latin typeface="宋体" panose="02010600030101010101" pitchFamily="2" charset="-122"/>
              </a:rPr>
              <a:t>例</a:t>
            </a:r>
            <a:r>
              <a:rPr lang="en-US" altLang="zh-CN" dirty="0">
                <a:latin typeface="宋体" panose="02010600030101010101" pitchFamily="2" charset="-122"/>
              </a:rPr>
              <a:t>6.15]</a:t>
            </a:r>
            <a:endParaRPr lang="en-US" altLang="zh-CN" dirty="0">
              <a:latin typeface="宋体" panose="02010600030101010101" pitchFamily="2" charset="-122"/>
            </a:endParaRPr>
          </a:p>
          <a:p>
            <a:pPr lvl="0" algn="just" eaLnBrk="1" hangingPunct="1">
              <a:lnSpc>
                <a:spcPct val="110000"/>
              </a:lnSpc>
            </a:pPr>
            <a:r>
              <a:rPr lang="en-US" altLang="zh-CN" dirty="0">
                <a:latin typeface="宋体" panose="02010600030101010101" pitchFamily="2" charset="-122"/>
              </a:rPr>
              <a:t>tryfunct.v</a:t>
            </a:r>
            <a:r>
              <a:rPr lang="zh-CN" altLang="en-US" dirty="0">
                <a:latin typeface="宋体" panose="02010600030101010101" pitchFamily="2" charset="-122"/>
              </a:rPr>
              <a:t>位于</a:t>
            </a:r>
            <a:r>
              <a:rPr lang="en-US" altLang="zh-CN" dirty="0">
                <a:latin typeface="宋体" panose="02010600030101010101" pitchFamily="2" charset="-122"/>
              </a:rPr>
              <a:t>function</a:t>
            </a:r>
            <a:r>
              <a:rPr lang="zh-CN" altLang="en-US" dirty="0">
                <a:latin typeface="宋体" panose="02010600030101010101" pitchFamily="2" charset="-122"/>
              </a:rPr>
              <a:t>文件夹</a:t>
            </a:r>
            <a:endParaRPr lang="zh-CN" altLang="en-US" dirty="0">
              <a:latin typeface="宋体" panose="02010600030101010101" pitchFamily="2" charset="-122"/>
            </a:endParaRPr>
          </a:p>
          <a:p>
            <a:pPr lvl="0" algn="just" eaLnBrk="1" hangingPunct="1">
              <a:lnSpc>
                <a:spcPct val="110000"/>
              </a:lnSpc>
            </a:pPr>
            <a:r>
              <a:rPr lang="en-US" altLang="zh-CN" dirty="0">
                <a:latin typeface="宋体" panose="02010600030101010101" pitchFamily="2" charset="-122"/>
              </a:rPr>
              <a:t>factorial=op?1:0; //</a:t>
            </a:r>
            <a:r>
              <a:rPr lang="zh-CN" altLang="en-US" dirty="0">
                <a:latin typeface="宋体" panose="02010600030101010101" pitchFamily="2" charset="-122"/>
              </a:rPr>
              <a:t>当</a:t>
            </a:r>
            <a:r>
              <a:rPr lang="en-US" altLang="zh-CN" dirty="0">
                <a:latin typeface="宋体" panose="02010600030101010101" pitchFamily="2" charset="-122"/>
              </a:rPr>
              <a:t>op</a:t>
            </a:r>
            <a:r>
              <a:rPr lang="zh-CN" altLang="en-US" dirty="0">
                <a:latin typeface="宋体" panose="02010600030101010101" pitchFamily="2" charset="-122"/>
              </a:rPr>
              <a:t>非零时， </a:t>
            </a:r>
            <a:r>
              <a:rPr lang="en-US" altLang="zh-CN" dirty="0">
                <a:latin typeface="宋体" panose="02010600030101010101" pitchFamily="2" charset="-122"/>
              </a:rPr>
              <a:t>factorial=1</a:t>
            </a:r>
            <a:r>
              <a:rPr lang="zh-CN" altLang="en-US" dirty="0">
                <a:latin typeface="宋体" panose="02010600030101010101" pitchFamily="2" charset="-122"/>
              </a:rPr>
              <a:t>，否则</a:t>
            </a:r>
            <a:r>
              <a:rPr lang="en-US" altLang="zh-CN" dirty="0">
                <a:latin typeface="宋体" panose="02010600030101010101" pitchFamily="2" charset="-122"/>
              </a:rPr>
              <a:t>=0</a:t>
            </a:r>
            <a:r>
              <a:rPr lang="zh-CN" altLang="en-US" dirty="0">
                <a:latin typeface="宋体" panose="02010600030101010101" pitchFamily="2" charset="-122"/>
              </a:rPr>
              <a:t>。</a:t>
            </a:r>
            <a:endParaRPr lang="zh-CN" altLang="en-US"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Rectangle 2"/>
          <p:cNvSpPr>
            <a:spLocks noTextEdit="1"/>
          </p:cNvSpPr>
          <p:nvPr>
            <p:ph type="sldImg"/>
          </p:nvPr>
        </p:nvSpPr>
        <p:spPr>
          <a:solidFill>
            <a:srgbClr val="FFFFFF">
              <a:alpha val="100000"/>
            </a:srgbClr>
          </a:solidFill>
        </p:spPr>
      </p:sp>
      <p:sp>
        <p:nvSpPr>
          <p:cNvPr id="25497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测试文件 </a:t>
            </a:r>
            <a:r>
              <a:rPr lang="en-US" altLang="zh-CN" sz="1000" dirty="0">
                <a:latin typeface="宋体" panose="02010600030101010101" pitchFamily="2" charset="-122"/>
              </a:rPr>
              <a:t>tryfuncttop.v</a:t>
            </a:r>
            <a:r>
              <a:rPr lang="zh-CN" altLang="en-US" sz="1000" dirty="0">
                <a:latin typeface="宋体" panose="02010600030101010101" pitchFamily="2" charset="-122"/>
              </a:rPr>
              <a:t>采用</a:t>
            </a:r>
            <a:r>
              <a:rPr lang="en-US" altLang="zh-CN" sz="1000" b="1" dirty="0">
                <a:latin typeface="宋体" panose="02010600030101010101" pitchFamily="2" charset="-122"/>
              </a:rPr>
              <a:t>Modelsim</a:t>
            </a:r>
            <a:r>
              <a:rPr lang="zh-CN" altLang="en-US" sz="1000" dirty="0">
                <a:latin typeface="宋体" panose="02010600030101010101" pitchFamily="2" charset="-122"/>
              </a:rPr>
              <a:t>进行仿真！</a:t>
            </a:r>
            <a:endParaRPr lang="zh-CN" altLang="en-US" sz="1000" dirty="0">
              <a:latin typeface="宋体" panose="02010600030101010101" pitchFamily="2" charset="-122"/>
            </a:endParaRPr>
          </a:p>
          <a:p>
            <a:pPr lvl="0" eaLnBrk="1" hangingPunct="1"/>
            <a:r>
              <a:rPr lang="zh-CN" altLang="en-US" sz="2200" dirty="0">
                <a:solidFill>
                  <a:srgbClr val="FF0066"/>
                </a:solidFill>
                <a:latin typeface="华文新魏" panose="02010800040101010101" pitchFamily="2" charset="-122"/>
                <a:ea typeface="华文新魏" panose="02010800040101010101" pitchFamily="2" charset="-122"/>
              </a:rPr>
              <a:t>这里模块元件例化采用的是</a:t>
            </a:r>
            <a:r>
              <a:rPr lang="zh-CN" altLang="en-US" sz="2200" b="1" dirty="0">
                <a:solidFill>
                  <a:srgbClr val="FF0066"/>
                </a:solidFill>
                <a:latin typeface="华文新魏" panose="02010800040101010101" pitchFamily="2" charset="-122"/>
                <a:ea typeface="华文新魏" panose="02010800040101010101" pitchFamily="2" charset="-122"/>
              </a:rPr>
              <a:t>信号名对应</a:t>
            </a:r>
            <a:r>
              <a:rPr lang="zh-CN" altLang="en-US" sz="2200" dirty="0">
                <a:solidFill>
                  <a:srgbClr val="FF0066"/>
                </a:solidFill>
                <a:latin typeface="华文新魏" panose="02010800040101010101" pitchFamily="2" charset="-122"/>
                <a:ea typeface="华文新魏" panose="02010800040101010101" pitchFamily="2" charset="-122"/>
              </a:rPr>
              <a:t>的方式，</a:t>
            </a:r>
            <a:r>
              <a:rPr lang="zh-CN" altLang="en-US" sz="2200" dirty="0">
                <a:solidFill>
                  <a:srgbClr val="FF0066"/>
                </a:solidFill>
                <a:ea typeface="华文新魏" panose="02010800040101010101" pitchFamily="2" charset="-122"/>
              </a:rPr>
              <a:t>“</a:t>
            </a:r>
            <a:r>
              <a:rPr lang="en-US" altLang="zh-CN" sz="2200" dirty="0">
                <a:solidFill>
                  <a:srgbClr val="FF0066"/>
                </a:solidFill>
                <a:latin typeface="华文新魏" panose="02010800040101010101" pitchFamily="2" charset="-122"/>
                <a:ea typeface="华文新魏" panose="02010800040101010101" pitchFamily="2" charset="-122"/>
              </a:rPr>
              <a:t>.clk(clk)</a:t>
            </a:r>
            <a:r>
              <a:rPr lang="en-US" altLang="zh-CN" sz="2200" dirty="0">
                <a:solidFill>
                  <a:srgbClr val="FF0066"/>
                </a:solidFill>
                <a:ea typeface="华文新魏" panose="02010800040101010101" pitchFamily="2" charset="-122"/>
              </a:rPr>
              <a:t>”</a:t>
            </a:r>
            <a:r>
              <a:rPr lang="zh-CN" altLang="en-US" sz="2200" dirty="0">
                <a:solidFill>
                  <a:srgbClr val="FF0066"/>
                </a:solidFill>
                <a:latin typeface="华文新魏" panose="02010800040101010101" pitchFamily="2" charset="-122"/>
                <a:ea typeface="华文新魏" panose="02010800040101010101" pitchFamily="2" charset="-122"/>
              </a:rPr>
              <a:t>中前面的</a:t>
            </a:r>
            <a:r>
              <a:rPr lang="en-US" altLang="zh-CN" sz="2200" dirty="0">
                <a:solidFill>
                  <a:srgbClr val="FF0066"/>
                </a:solidFill>
                <a:latin typeface="华文新魏" panose="02010800040101010101" pitchFamily="2" charset="-122"/>
                <a:ea typeface="华文新魏" panose="02010800040101010101" pitchFamily="2" charset="-122"/>
              </a:rPr>
              <a:t>clk</a:t>
            </a:r>
            <a:r>
              <a:rPr lang="zh-CN" altLang="en-US" sz="2200" dirty="0">
                <a:solidFill>
                  <a:srgbClr val="FF0066"/>
                </a:solidFill>
                <a:latin typeface="华文新魏" panose="02010800040101010101" pitchFamily="2" charset="-122"/>
                <a:ea typeface="华文新魏" panose="02010800040101010101" pitchFamily="2" charset="-122"/>
              </a:rPr>
              <a:t>为被调用模块中的端口名，后面的</a:t>
            </a:r>
            <a:r>
              <a:rPr lang="en-US" altLang="zh-CN" sz="2200" dirty="0">
                <a:solidFill>
                  <a:srgbClr val="FF0066"/>
                </a:solidFill>
                <a:latin typeface="华文新魏" panose="02010800040101010101" pitchFamily="2" charset="-122"/>
                <a:ea typeface="华文新魏" panose="02010800040101010101" pitchFamily="2" charset="-122"/>
              </a:rPr>
              <a:t>clk</a:t>
            </a:r>
            <a:r>
              <a:rPr lang="zh-CN" altLang="en-US" sz="2200" dirty="0">
                <a:solidFill>
                  <a:srgbClr val="FF0066"/>
                </a:solidFill>
                <a:latin typeface="华文新魏" panose="02010800040101010101" pitchFamily="2" charset="-122"/>
                <a:ea typeface="华文新魏" panose="02010800040101010101" pitchFamily="2" charset="-122"/>
              </a:rPr>
              <a:t>为被例化模块中的端口名。</a:t>
            </a:r>
            <a:endParaRPr lang="zh-CN" altLang="en-US" sz="2200" dirty="0">
              <a:solidFill>
                <a:srgbClr val="FF0066"/>
              </a:solidFill>
              <a:latin typeface="华文新魏" panose="02010800040101010101" pitchFamily="2" charset="-122"/>
              <a:ea typeface="华文新魏" panose="02010800040101010101" pitchFamily="2" charset="-122"/>
            </a:endParaRPr>
          </a:p>
          <a:p>
            <a:pPr lvl="0" eaLnBrk="1" hangingPunct="1"/>
            <a:r>
              <a:rPr lang="zh-CN" altLang="en-US" sz="2200" dirty="0">
                <a:solidFill>
                  <a:srgbClr val="FF0066"/>
                </a:solidFill>
                <a:latin typeface="华文新魏" panose="02010800040101010101" pitchFamily="2" charset="-122"/>
                <a:ea typeface="华文新魏" panose="02010800040101010101" pitchFamily="2" charset="-122"/>
              </a:rPr>
              <a:t>也可以采用</a:t>
            </a:r>
            <a:r>
              <a:rPr lang="zh-CN" altLang="en-US" sz="2200" b="1" dirty="0">
                <a:solidFill>
                  <a:srgbClr val="FF0066"/>
                </a:solidFill>
                <a:latin typeface="华文新魏" panose="02010800040101010101" pitchFamily="2" charset="-122"/>
                <a:ea typeface="华文新魏" panose="02010800040101010101" pitchFamily="2" charset="-122"/>
              </a:rPr>
              <a:t>位置对应</a:t>
            </a:r>
            <a:r>
              <a:rPr lang="zh-CN" altLang="en-US" sz="2200" dirty="0">
                <a:solidFill>
                  <a:srgbClr val="FF0066"/>
                </a:solidFill>
                <a:latin typeface="华文新魏" panose="02010800040101010101" pitchFamily="2" charset="-122"/>
                <a:ea typeface="华文新魏" panose="02010800040101010101" pitchFamily="2" charset="-122"/>
              </a:rPr>
              <a:t>的方式，即例化元件端口列表中信号的排列顺序应该与元件模块端口列表中信号的排列顺序完全相同！即写为：</a:t>
            </a:r>
            <a:endParaRPr lang="zh-CN" altLang="en-US" sz="2200" dirty="0">
              <a:solidFill>
                <a:srgbClr val="FF0066"/>
              </a:solidFill>
              <a:latin typeface="华文新魏" panose="02010800040101010101" pitchFamily="2" charset="-122"/>
              <a:ea typeface="华文新魏" panose="02010800040101010101" pitchFamily="2" charset="-122"/>
            </a:endParaRPr>
          </a:p>
          <a:p>
            <a:pPr lvl="0" eaLnBrk="1" hangingPunct="1"/>
            <a:r>
              <a:rPr lang="en-US" altLang="zh-CN" sz="2200" dirty="0">
                <a:solidFill>
                  <a:srgbClr val="FF0066"/>
                </a:solidFill>
                <a:latin typeface="华文新魏" panose="02010800040101010101" pitchFamily="2" charset="-122"/>
                <a:ea typeface="华文新魏" panose="02010800040101010101" pitchFamily="2" charset="-122"/>
              </a:rPr>
              <a:t>tryfunct my_tryfunct(result,clk,reset,n);</a:t>
            </a:r>
            <a:endParaRPr lang="en-US" altLang="zh-CN" sz="2200" dirty="0">
              <a:solidFill>
                <a:srgbClr val="FF0066"/>
              </a:solidFill>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2"/>
          <p:cNvSpPr>
            <a:spLocks noTextEdit="1"/>
          </p:cNvSpPr>
          <p:nvPr>
            <p:ph type="sldImg"/>
          </p:nvPr>
        </p:nvSpPr>
        <p:spPr>
          <a:solidFill>
            <a:srgbClr val="FFFFFF">
              <a:alpha val="100000"/>
            </a:srgbClr>
          </a:solidFill>
        </p:spPr>
      </p:sp>
      <p:sp>
        <p:nvSpPr>
          <p:cNvPr id="25702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t>在仿真波形中</a:t>
            </a:r>
            <a:r>
              <a:rPr lang="en-US" altLang="zh-CN" sz="1000" dirty="0">
                <a:latin typeface="宋体" panose="02010600030101010101" pitchFamily="2" charset="-122"/>
              </a:rPr>
              <a:t>n</a:t>
            </a:r>
            <a:r>
              <a:rPr lang="zh-CN" altLang="en-US" sz="1000" dirty="0"/>
              <a:t>和</a:t>
            </a:r>
            <a:r>
              <a:rPr lang="en-US" altLang="zh-CN" sz="1000" dirty="0">
                <a:latin typeface="宋体" panose="02010600030101010101" pitchFamily="2" charset="-122"/>
              </a:rPr>
              <a:t>result</a:t>
            </a:r>
            <a:r>
              <a:rPr lang="zh-CN" altLang="en-US" sz="1000" dirty="0"/>
              <a:t>最好都设为无符号十进制数！</a:t>
            </a:r>
            <a:endParaRPr lang="zh-CN" altLang="en-US" sz="1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4" name="Rectangle 2"/>
          <p:cNvSpPr>
            <a:spLocks noTextEdit="1"/>
          </p:cNvSpPr>
          <p:nvPr>
            <p:ph type="sldImg"/>
          </p:nvPr>
        </p:nvSpPr>
        <p:spPr>
          <a:solidFill>
            <a:srgbClr val="FFFFFF">
              <a:alpha val="100000"/>
            </a:srgbClr>
          </a:solidFill>
        </p:spPr>
      </p:sp>
      <p:sp>
        <p:nvSpPr>
          <p:cNvPr id="25907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spcBef>
                <a:spcPct val="0"/>
              </a:spcBef>
            </a:pPr>
            <a:r>
              <a:rPr lang="zh-CN" altLang="en-US" sz="2000"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dirty="0">
                <a:latin typeface="宋体" panose="02010600030101010101" pitchFamily="2" charset="-122"/>
              </a:rPr>
              <a:t> </a:t>
            </a:r>
            <a:r>
              <a:rPr lang="en-US" altLang="zh-CN" sz="2000" dirty="0">
                <a:latin typeface="宋体" panose="02010600030101010101" pitchFamily="2" charset="-122"/>
              </a:rPr>
              <a:t>P173[</a:t>
            </a:r>
            <a:r>
              <a:rPr lang="zh-CN" altLang="en-US" sz="2000" dirty="0">
                <a:latin typeface="宋体" panose="02010600030101010101" pitchFamily="2" charset="-122"/>
              </a:rPr>
              <a:t>表</a:t>
            </a:r>
            <a:r>
              <a:rPr lang="en-US" altLang="zh-CN" sz="2000" dirty="0">
                <a:latin typeface="宋体" panose="02010600030101010101" pitchFamily="2" charset="-122"/>
              </a:rPr>
              <a:t>6.5]</a:t>
            </a:r>
            <a:endParaRPr lang="en-US" altLang="zh-CN" sz="20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2" name="Rectangle 2"/>
          <p:cNvSpPr>
            <a:spLocks noTextEdit="1"/>
          </p:cNvSpPr>
          <p:nvPr>
            <p:ph type="sldImg"/>
          </p:nvPr>
        </p:nvSpPr>
        <p:spPr/>
      </p:sp>
      <p:sp>
        <p:nvSpPr>
          <p:cNvPr id="261123" name="Rectangle 3"/>
          <p:cNvSpPr>
            <a:spLocks noGrp="1"/>
          </p:cNvSpPr>
          <p:nvPr>
            <p:ph type="body"/>
          </p:nvPr>
        </p:nvSpPr>
        <p:spPr/>
        <p:txBody>
          <a:bodyPr wrap="square" lIns="91440" tIns="45720" rIns="91440" bIns="45720" anchor="t" anchorCtr="0"/>
          <a:p>
            <a:pPr lvl="0" eaLnBrk="1" hangingPunct="1"/>
            <a:r>
              <a:rPr lang="zh-CN" altLang="en-US" sz="2000"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sz="2000" dirty="0">
                <a:latin typeface="宋体" panose="02010600030101010101" pitchFamily="2" charset="-122"/>
              </a:rPr>
              <a:t>P173~175</a:t>
            </a:r>
            <a:endParaRPr lang="en-US" altLang="zh-CN" sz="2000" dirty="0">
              <a:latin typeface="宋体" panose="02010600030101010101" pitchFamily="2" charset="-122"/>
            </a:endParaRPr>
          </a:p>
          <a:p>
            <a:pPr lvl="0" eaLnBrk="1" hangingPunct="1"/>
            <a:r>
              <a:rPr lang="en-US" altLang="zh-CN" sz="2000" dirty="0">
                <a:latin typeface="宋体" panose="02010600030101010101" pitchFamily="2" charset="-122"/>
              </a:rPr>
              <a:t>MAX + PLUS II</a:t>
            </a:r>
            <a:r>
              <a:rPr lang="zh-CN" altLang="en-US" sz="2000" dirty="0">
                <a:latin typeface="宋体" panose="02010600030101010101" pitchFamily="2" charset="-122"/>
              </a:rPr>
              <a:t>和</a:t>
            </a:r>
            <a:r>
              <a:rPr lang="en-US" altLang="zh-CN" sz="2000" dirty="0">
                <a:latin typeface="宋体" panose="02010600030101010101" pitchFamily="2" charset="-122"/>
              </a:rPr>
              <a:t>Quartus Ⅱ</a:t>
            </a:r>
            <a:r>
              <a:rPr lang="zh-CN" altLang="en-US" sz="2000" dirty="0">
                <a:latin typeface="宋体" panose="02010600030101010101" pitchFamily="2" charset="-122"/>
              </a:rPr>
              <a:t>都不支持</a:t>
            </a:r>
            <a:r>
              <a:rPr lang="en-US" altLang="zh-CN" sz="2000" dirty="0">
                <a:latin typeface="宋体" panose="02010600030101010101" pitchFamily="2" charset="-122"/>
              </a:rPr>
              <a:t>‵include</a:t>
            </a:r>
            <a:r>
              <a:rPr lang="zh-CN" altLang="en-US" sz="2000" dirty="0">
                <a:latin typeface="宋体" panose="02010600030101010101" pitchFamily="2" charset="-122"/>
              </a:rPr>
              <a:t>语句和</a:t>
            </a:r>
            <a:r>
              <a:rPr lang="en-US" altLang="zh-CN" sz="2000" dirty="0">
                <a:latin typeface="宋体" panose="02010600030101010101" pitchFamily="2" charset="-122"/>
              </a:rPr>
              <a:t>‵timescale</a:t>
            </a:r>
            <a:r>
              <a:rPr lang="zh-CN" altLang="en-US" sz="2000" dirty="0">
                <a:latin typeface="宋体" panose="02010600030101010101" pitchFamily="2" charset="-122"/>
              </a:rPr>
              <a:t>语句，它们通常用在测试文件中！ </a:t>
            </a:r>
            <a:endParaRPr lang="zh-CN" altLang="en-US" sz="2000" dirty="0">
              <a:latin typeface="宋体" panose="02010600030101010101"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70" name="Rectangle 2"/>
          <p:cNvSpPr>
            <a:spLocks noTextEdit="1"/>
          </p:cNvSpPr>
          <p:nvPr>
            <p:ph type="sldImg"/>
          </p:nvPr>
        </p:nvSpPr>
        <p:spPr>
          <a:solidFill>
            <a:srgbClr val="FFFFFF">
              <a:alpha val="100000"/>
            </a:srgbClr>
          </a:solidFill>
        </p:spPr>
      </p:sp>
      <p:sp>
        <p:nvSpPr>
          <p:cNvPr id="2631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8" name="Rectangle 2"/>
          <p:cNvSpPr>
            <a:spLocks noTextEdit="1"/>
          </p:cNvSpPr>
          <p:nvPr>
            <p:ph type="sldImg"/>
          </p:nvPr>
        </p:nvSpPr>
        <p:spPr>
          <a:solidFill>
            <a:srgbClr val="FFFFFF">
              <a:alpha val="100000"/>
            </a:srgbClr>
          </a:solidFill>
        </p:spPr>
      </p:sp>
      <p:sp>
        <p:nvSpPr>
          <p:cNvPr id="2652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6" name="Rectangle 2"/>
          <p:cNvSpPr>
            <a:spLocks noTextEdit="1"/>
          </p:cNvSpPr>
          <p:nvPr>
            <p:ph type="sldImg"/>
          </p:nvPr>
        </p:nvSpPr>
        <p:spPr>
          <a:solidFill>
            <a:srgbClr val="FFFFFF">
              <a:alpha val="100000"/>
            </a:srgbClr>
          </a:solidFill>
        </p:spPr>
      </p:sp>
      <p:sp>
        <p:nvSpPr>
          <p:cNvPr id="26726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Rectangle 2"/>
          <p:cNvSpPr>
            <a:spLocks noTextEdit="1"/>
          </p:cNvSpPr>
          <p:nvPr>
            <p:ph type="sldImg"/>
          </p:nvPr>
        </p:nvSpPr>
        <p:spPr>
          <a:solidFill>
            <a:srgbClr val="FFFFFF">
              <a:alpha val="100000"/>
            </a:srgbClr>
          </a:solidFill>
        </p:spPr>
      </p:sp>
      <p:sp>
        <p:nvSpPr>
          <p:cNvPr id="2693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Rectangle 2"/>
          <p:cNvSpPr>
            <a:spLocks noTextEdit="1"/>
          </p:cNvSpPr>
          <p:nvPr>
            <p:ph type="sldImg"/>
          </p:nvPr>
        </p:nvSpPr>
        <p:spPr>
          <a:solidFill>
            <a:srgbClr val="FFFFFF">
              <a:alpha val="100000"/>
            </a:srgbClr>
          </a:solidFill>
        </p:spPr>
      </p:sp>
      <p:sp>
        <p:nvSpPr>
          <p:cNvPr id="27136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1000" dirty="0">
              <a:latin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3410" name="Rectangle 1026"/>
          <p:cNvSpPr>
            <a:spLocks noTextEdit="1"/>
          </p:cNvSpPr>
          <p:nvPr>
            <p:ph type="sldImg"/>
          </p:nvPr>
        </p:nvSpPr>
        <p:spPr>
          <a:solidFill>
            <a:srgbClr val="FFFFFF">
              <a:alpha val="100000"/>
            </a:srgbClr>
          </a:solidFill>
        </p:spPr>
      </p:sp>
      <p:sp>
        <p:nvSpPr>
          <p:cNvPr id="273411"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参见</a:t>
            </a:r>
            <a:r>
              <a:rPr lang="en-US" altLang="zh-CN" sz="1000" dirty="0">
                <a:latin typeface="宋体" panose="02010600030101010101" pitchFamily="2" charset="-122"/>
              </a:rPr>
              <a:t>《</a:t>
            </a:r>
            <a:r>
              <a:rPr lang="zh-CN" altLang="en-US" sz="1000" dirty="0">
                <a:latin typeface="宋体" panose="02010600030101010101" pitchFamily="2" charset="-122"/>
              </a:rPr>
              <a:t>从算法设计到硬线逻辑的实现</a:t>
            </a:r>
            <a:r>
              <a:rPr lang="en-US" altLang="zh-CN" sz="1000" dirty="0"/>
              <a:t>——</a:t>
            </a:r>
            <a:r>
              <a:rPr lang="zh-CN" altLang="en-US" sz="1000" dirty="0">
                <a:latin typeface="宋体" panose="02010600030101010101" pitchFamily="2" charset="-122"/>
              </a:rPr>
              <a:t>复杂数字逻辑系统的</a:t>
            </a:r>
            <a:r>
              <a:rPr lang="en-US" altLang="zh-CN" sz="1000" dirty="0">
                <a:latin typeface="宋体" panose="02010600030101010101" pitchFamily="2" charset="-122"/>
              </a:rPr>
              <a:t>Verilog HDL</a:t>
            </a:r>
            <a:r>
              <a:rPr lang="zh-CN" altLang="en-US" sz="1000" dirty="0">
                <a:latin typeface="宋体" panose="02010600030101010101" pitchFamily="2" charset="-122"/>
              </a:rPr>
              <a:t>设计技术和方法</a:t>
            </a:r>
            <a:r>
              <a:rPr lang="en-US" altLang="zh-CN" sz="1000" dirty="0">
                <a:latin typeface="宋体" panose="02010600030101010101" pitchFamily="2" charset="-122"/>
              </a:rPr>
              <a:t>》P65 </a:t>
            </a:r>
            <a:endParaRPr lang="en-US" altLang="zh-CN" sz="1000" dirty="0">
              <a:latin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5458" name="Rectangle 2"/>
          <p:cNvSpPr>
            <a:spLocks noTextEdit="1"/>
          </p:cNvSpPr>
          <p:nvPr>
            <p:ph type="sldImg"/>
          </p:nvPr>
        </p:nvSpPr>
        <p:spPr>
          <a:solidFill>
            <a:srgbClr val="FFFFFF">
              <a:alpha val="100000"/>
            </a:srgbClr>
          </a:solidFill>
        </p:spPr>
      </p:sp>
      <p:sp>
        <p:nvSpPr>
          <p:cNvPr id="2754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lnSpc>
                <a:spcPct val="110000"/>
              </a:lnSpc>
            </a:pPr>
            <a:r>
              <a:rPr lang="zh-CN" altLang="en-US" sz="1300"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1300" dirty="0">
                <a:latin typeface="宋体" panose="02010600030101010101" pitchFamily="2" charset="-122"/>
              </a:rPr>
              <a:t> P174[</a:t>
            </a:r>
            <a:r>
              <a:rPr lang="zh-CN" altLang="en-US" sz="1300" dirty="0">
                <a:latin typeface="宋体" panose="02010600030101010101" pitchFamily="2" charset="-122"/>
              </a:rPr>
              <a:t>例</a:t>
            </a:r>
            <a:r>
              <a:rPr lang="en-US" altLang="zh-CN" sz="1300" dirty="0">
                <a:latin typeface="宋体" panose="02010600030101010101" pitchFamily="2" charset="-122"/>
              </a:rPr>
              <a:t>6.16]</a:t>
            </a:r>
            <a:endParaRPr lang="en-US" altLang="zh-CN" sz="1300" dirty="0">
              <a:latin typeface="宋体" panose="02010600030101010101" pitchFamily="2" charset="-122"/>
            </a:endParaRPr>
          </a:p>
          <a:p>
            <a:pPr lvl="0" algn="just" eaLnBrk="1" hangingPunct="1">
              <a:lnSpc>
                <a:spcPct val="110000"/>
              </a:lnSpc>
            </a:pPr>
            <a:r>
              <a:rPr lang="en-US" altLang="zh-CN" sz="1300" dirty="0">
                <a:latin typeface="宋体" panose="02010600030101010101" pitchFamily="2" charset="-122"/>
              </a:rPr>
              <a:t>adder16.v</a:t>
            </a:r>
            <a:r>
              <a:rPr lang="zh-CN" altLang="en-US" sz="1300" dirty="0">
                <a:latin typeface="宋体" panose="02010600030101010101" pitchFamily="2" charset="-122"/>
              </a:rPr>
              <a:t>位于</a:t>
            </a:r>
            <a:r>
              <a:rPr lang="en-US" altLang="zh-CN" sz="1300" dirty="0">
                <a:latin typeface="宋体" panose="02010600030101010101" pitchFamily="2" charset="-122"/>
              </a:rPr>
              <a:t>adder16</a:t>
            </a:r>
            <a:r>
              <a:rPr lang="zh-CN" altLang="en-US" sz="1300" dirty="0">
                <a:latin typeface="宋体" panose="02010600030101010101" pitchFamily="2" charset="-122"/>
              </a:rPr>
              <a:t>文件夹中，包含了</a:t>
            </a:r>
            <a:r>
              <a:rPr lang="en-US" altLang="zh-CN" sz="1300" dirty="0">
                <a:latin typeface="宋体" panose="02010600030101010101" pitchFamily="2" charset="-122"/>
              </a:rPr>
              <a:t>adder.v</a:t>
            </a:r>
            <a:r>
              <a:rPr lang="zh-CN" altLang="en-US" sz="1300" dirty="0">
                <a:latin typeface="宋体" panose="02010600030101010101" pitchFamily="2" charset="-122"/>
              </a:rPr>
              <a:t>文件。 </a:t>
            </a:r>
            <a:endParaRPr lang="zh-CN" altLang="en-US" sz="1300" dirty="0">
              <a:latin typeface="宋体" panose="0201060003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7506" name="Rectangle 2"/>
          <p:cNvSpPr>
            <a:spLocks noTextEdit="1"/>
          </p:cNvSpPr>
          <p:nvPr>
            <p:ph type="sldImg"/>
          </p:nvPr>
        </p:nvSpPr>
        <p:spPr>
          <a:solidFill>
            <a:srgbClr val="FFFFFF">
              <a:alpha val="100000"/>
            </a:srgbClr>
          </a:solidFill>
        </p:spPr>
      </p:sp>
      <p:sp>
        <p:nvSpPr>
          <p:cNvPr id="2775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9554" name="Rectangle 2"/>
          <p:cNvSpPr>
            <a:spLocks noTextEdit="1"/>
          </p:cNvSpPr>
          <p:nvPr>
            <p:ph type="sldImg"/>
          </p:nvPr>
        </p:nvSpPr>
        <p:spPr>
          <a:solidFill>
            <a:srgbClr val="FFFFFF">
              <a:alpha val="100000"/>
            </a:srgbClr>
          </a:solidFill>
        </p:spPr>
      </p:sp>
      <p:sp>
        <p:nvSpPr>
          <p:cNvPr id="2795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2"/>
          <p:cNvSpPr>
            <a:spLocks noTextEdit="1"/>
          </p:cNvSpPr>
          <p:nvPr>
            <p:ph type="sldImg"/>
          </p:nvPr>
        </p:nvSpPr>
        <p:spPr>
          <a:solidFill>
            <a:srgbClr val="FFFFFF">
              <a:alpha val="100000"/>
            </a:srgbClr>
          </a:solidFill>
        </p:spPr>
      </p:sp>
      <p:sp>
        <p:nvSpPr>
          <p:cNvPr id="28160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通常用在测试文件中</a:t>
            </a:r>
            <a:endParaRPr lang="zh-CN" altLang="en-US" sz="1000" dirty="0">
              <a:latin typeface="宋体" panose="02010600030101010101"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2"/>
          <p:cNvSpPr>
            <a:spLocks noTextEdit="1"/>
          </p:cNvSpPr>
          <p:nvPr>
            <p:ph type="sldImg"/>
          </p:nvPr>
        </p:nvSpPr>
        <p:spPr>
          <a:solidFill>
            <a:srgbClr val="FFFFFF">
              <a:alpha val="100000"/>
            </a:srgbClr>
          </a:solidFill>
        </p:spPr>
      </p:sp>
      <p:sp>
        <p:nvSpPr>
          <p:cNvPr id="2836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en-US" altLang="zh-CN" sz="2200" dirty="0">
              <a:latin typeface="宋体" panose="02010600030101010101" pitchFamily="2" charset="-122"/>
              <a:ea typeface="华文楷体" panose="0201060004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TextEdit="1"/>
          </p:cNvSpPr>
          <p:nvPr>
            <p:ph type="sldImg"/>
          </p:nvPr>
        </p:nvSpPr>
        <p:spPr>
          <a:solidFill>
            <a:srgbClr val="FFFFFF">
              <a:alpha val="100000"/>
            </a:srgbClr>
          </a:solidFill>
        </p:spPr>
      </p:sp>
      <p:sp>
        <p:nvSpPr>
          <p:cNvPr id="28569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200" dirty="0">
                <a:latin typeface="宋体" panose="02010600030101010101" pitchFamily="2" charset="-122"/>
                <a:ea typeface="华文楷体" panose="0201060004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2200" dirty="0">
                <a:latin typeface="宋体" panose="02010600030101010101" pitchFamily="2" charset="-122"/>
                <a:ea typeface="华文楷体" panose="02010600040101010101" pitchFamily="2" charset="-122"/>
              </a:rPr>
              <a:t> P175</a:t>
            </a:r>
            <a:r>
              <a:rPr lang="zh-CN" altLang="en-US" sz="2200" dirty="0">
                <a:latin typeface="宋体" panose="02010600030101010101" pitchFamily="2" charset="-122"/>
                <a:ea typeface="华文楷体" panose="02010600040101010101" pitchFamily="2" charset="-122"/>
              </a:rPr>
              <a:t>例</a:t>
            </a:r>
            <a:r>
              <a:rPr lang="en-US" altLang="zh-CN" sz="2200" dirty="0">
                <a:latin typeface="宋体" panose="02010600030101010101" pitchFamily="2" charset="-122"/>
                <a:ea typeface="华文楷体" panose="02010600040101010101" pitchFamily="2" charset="-122"/>
              </a:rPr>
              <a:t>6.17</a:t>
            </a:r>
            <a:r>
              <a:rPr lang="zh-CN" altLang="en-US" sz="2200" dirty="0">
                <a:latin typeface="宋体" panose="02010600030101010101" pitchFamily="2" charset="-122"/>
                <a:ea typeface="华文楷体" panose="02010600040101010101" pitchFamily="2" charset="-122"/>
              </a:rPr>
              <a:t>。</a:t>
            </a:r>
            <a:endParaRPr lang="zh-CN" altLang="en-US" sz="2200" dirty="0">
              <a:latin typeface="宋体" panose="02010600030101010101" pitchFamily="2" charset="-122"/>
              <a:ea typeface="华文楷体" panose="0201060004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8770" name="Rectangle 2"/>
          <p:cNvSpPr>
            <a:spLocks noTextEdit="1"/>
          </p:cNvSpPr>
          <p:nvPr>
            <p:ph type="sldImg"/>
          </p:nvPr>
        </p:nvSpPr>
        <p:spPr>
          <a:solidFill>
            <a:srgbClr val="FFFFFF">
              <a:alpha val="100000"/>
            </a:srgbClr>
          </a:solidFill>
        </p:spPr>
      </p:sp>
      <p:sp>
        <p:nvSpPr>
          <p:cNvPr id="28877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algn="just" eaLnBrk="1" hangingPunct="1">
              <a:lnSpc>
                <a:spcPct val="110000"/>
              </a:lnSpc>
            </a:pPr>
            <a:r>
              <a:rPr lang="zh-CN" altLang="en-US" sz="1300" dirty="0">
                <a:latin typeface="华文新魏" panose="02010800040101010101" pitchFamily="2" charset="-122"/>
                <a:ea typeface="华文新魏" panose="0201080004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 》</a:t>
            </a:r>
            <a:r>
              <a:rPr lang="en-US" altLang="zh-CN" sz="2200" dirty="0">
                <a:latin typeface="宋体" panose="02010600030101010101" pitchFamily="2" charset="-122"/>
                <a:ea typeface="华文楷体" panose="02010600040101010101" pitchFamily="2" charset="-122"/>
              </a:rPr>
              <a:t>P176 </a:t>
            </a:r>
            <a:r>
              <a:rPr lang="en-US" altLang="zh-CN" sz="1300" dirty="0">
                <a:latin typeface="华文新魏" panose="02010800040101010101" pitchFamily="2" charset="-122"/>
                <a:ea typeface="华文新魏" panose="02010800040101010101" pitchFamily="2" charset="-122"/>
              </a:rPr>
              <a:t>[</a:t>
            </a:r>
            <a:r>
              <a:rPr lang="zh-CN" altLang="en-US" sz="1300" dirty="0">
                <a:latin typeface="华文新魏" panose="02010800040101010101" pitchFamily="2" charset="-122"/>
                <a:ea typeface="华文新魏" panose="02010800040101010101" pitchFamily="2" charset="-122"/>
              </a:rPr>
              <a:t>例</a:t>
            </a:r>
            <a:r>
              <a:rPr lang="en-US" altLang="zh-CN" sz="1300" dirty="0">
                <a:latin typeface="华文新魏" panose="02010800040101010101" pitchFamily="2" charset="-122"/>
                <a:ea typeface="华文新魏" panose="02010800040101010101" pitchFamily="2" charset="-122"/>
              </a:rPr>
              <a:t>6.18]</a:t>
            </a:r>
            <a:r>
              <a:rPr lang="zh-CN" altLang="en-US" sz="1300" dirty="0">
                <a:latin typeface="华文新魏" panose="02010800040101010101" pitchFamily="2" charset="-122"/>
                <a:ea typeface="华文新魏" panose="02010800040101010101" pitchFamily="2" charset="-122"/>
              </a:rPr>
              <a:t>、 </a:t>
            </a:r>
            <a:r>
              <a:rPr lang="en-US" altLang="zh-CN" sz="1300" dirty="0">
                <a:latin typeface="华文新魏" panose="02010800040101010101" pitchFamily="2" charset="-122"/>
                <a:ea typeface="华文新魏" panose="02010800040101010101" pitchFamily="2" charset="-122"/>
              </a:rPr>
              <a:t>[</a:t>
            </a:r>
            <a:r>
              <a:rPr lang="zh-CN" altLang="en-US" sz="1300" dirty="0">
                <a:latin typeface="华文新魏" panose="02010800040101010101" pitchFamily="2" charset="-122"/>
                <a:ea typeface="华文新魏" panose="02010800040101010101" pitchFamily="2" charset="-122"/>
              </a:rPr>
              <a:t>例</a:t>
            </a:r>
            <a:r>
              <a:rPr lang="en-US" altLang="zh-CN" sz="1300" dirty="0">
                <a:latin typeface="华文新魏" panose="02010800040101010101" pitchFamily="2" charset="-122"/>
                <a:ea typeface="华文新魏" panose="02010800040101010101" pitchFamily="2" charset="-122"/>
              </a:rPr>
              <a:t>6.19]</a:t>
            </a:r>
            <a:endParaRPr lang="en-US" altLang="zh-CN" sz="1300" dirty="0">
              <a:latin typeface="华文新魏" panose="02010800040101010101" pitchFamily="2" charset="-122"/>
              <a:ea typeface="华文新魏" panose="0201080004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0818" name="Rectangle 2"/>
          <p:cNvSpPr>
            <a:spLocks noTextEdit="1"/>
          </p:cNvSpPr>
          <p:nvPr>
            <p:ph type="sldImg"/>
          </p:nvPr>
        </p:nvSpPr>
        <p:spPr>
          <a:solidFill>
            <a:srgbClr val="FFFFFF">
              <a:alpha val="100000"/>
            </a:srgbClr>
          </a:solidFill>
        </p:spPr>
      </p:sp>
      <p:sp>
        <p:nvSpPr>
          <p:cNvPr id="29081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二者的区别是在</a:t>
            </a:r>
            <a:r>
              <a:rPr lang="en-US" altLang="zh-CN" sz="1000" dirty="0">
                <a:latin typeface="宋体" panose="02010600030101010101" pitchFamily="2" charset="-122"/>
              </a:rPr>
              <a:t>always</a:t>
            </a:r>
            <a:r>
              <a:rPr lang="zh-CN" altLang="en-US" sz="1000" dirty="0">
                <a:latin typeface="宋体" panose="02010600030101010101" pitchFamily="2" charset="-122"/>
              </a:rPr>
              <a:t>模块内，</a:t>
            </a:r>
            <a:r>
              <a:rPr lang="zh-CN" altLang="en-US" sz="1300" dirty="0">
                <a:latin typeface="华文新魏" panose="02010800040101010101" pitchFamily="2" charset="-122"/>
                <a:ea typeface="华文新魏" panose="02010800040101010101" pitchFamily="2" charset="-122"/>
              </a:rPr>
              <a:t>两条赋值语句的顺序相反。</a:t>
            </a:r>
            <a:endParaRPr lang="zh-CN" altLang="en-US" sz="1300" dirty="0">
              <a:latin typeface="华文新魏" panose="02010800040101010101" pitchFamily="2" charset="-122"/>
              <a:ea typeface="华文新魏" panose="02010800040101010101" pitchFamily="2" charset="-122"/>
            </a:endParaRPr>
          </a:p>
          <a:p>
            <a:pPr lvl="0" eaLnBrk="1" hangingPunct="1"/>
            <a:r>
              <a:rPr lang="en-US" altLang="zh-CN" sz="2200" dirty="0"/>
              <a:t>serial1.v</a:t>
            </a:r>
            <a:r>
              <a:rPr lang="zh-CN" altLang="en-US" sz="2200" dirty="0"/>
              <a:t>和</a:t>
            </a:r>
            <a:r>
              <a:rPr lang="en-US" altLang="zh-CN" sz="2200" dirty="0"/>
              <a:t>serial2.v</a:t>
            </a:r>
            <a:r>
              <a:rPr lang="zh-CN" altLang="en-US" sz="2200" dirty="0"/>
              <a:t>位于</a:t>
            </a:r>
            <a:r>
              <a:rPr lang="en-US" altLang="zh-CN" sz="2200" dirty="0"/>
              <a:t>serial</a:t>
            </a:r>
            <a:r>
              <a:rPr lang="zh-CN" altLang="en-US" sz="2200" dirty="0"/>
              <a:t>文件夹中</a:t>
            </a:r>
            <a:endParaRPr lang="zh-CN" altLang="en-US" sz="2200"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Rectangle 1026"/>
          <p:cNvSpPr>
            <a:spLocks noTextEdit="1"/>
          </p:cNvSpPr>
          <p:nvPr>
            <p:ph type="sldImg"/>
          </p:nvPr>
        </p:nvSpPr>
        <p:spPr>
          <a:solidFill>
            <a:srgbClr val="FFFFFF">
              <a:alpha val="100000"/>
            </a:srgbClr>
          </a:solidFill>
        </p:spPr>
      </p:sp>
      <p:sp>
        <p:nvSpPr>
          <p:cNvPr id="292867"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000" dirty="0">
                <a:latin typeface="宋体" panose="02010600030101010101" pitchFamily="2" charset="-122"/>
              </a:rPr>
              <a:t>功能仿真</a:t>
            </a:r>
            <a:endParaRPr lang="zh-CN" altLang="en-US" sz="1000" dirty="0">
              <a:latin typeface="宋体" panose="02010600030101010101" pitchFamily="2" charset="-122"/>
            </a:endParaRPr>
          </a:p>
          <a:p>
            <a:pPr lvl="0" eaLnBrk="1" hangingPunct="1"/>
            <a:r>
              <a:rPr lang="zh-CN" altLang="en-US" sz="1000" dirty="0">
                <a:latin typeface="宋体" panose="02010600030101010101" pitchFamily="2" charset="-122"/>
              </a:rPr>
              <a:t>在模块</a:t>
            </a:r>
            <a:r>
              <a:rPr lang="en-US" altLang="zh-CN" sz="1000" dirty="0">
                <a:latin typeface="宋体" panose="02010600030101010101" pitchFamily="2" charset="-122"/>
              </a:rPr>
              <a:t>1</a:t>
            </a:r>
            <a:r>
              <a:rPr lang="zh-CN" altLang="en-US" sz="1000" dirty="0">
                <a:latin typeface="宋体" panose="02010600030101010101" pitchFamily="2" charset="-122"/>
              </a:rPr>
              <a:t>中，</a:t>
            </a:r>
            <a:r>
              <a:rPr lang="en-US" altLang="zh-CN" sz="1000" dirty="0">
                <a:latin typeface="宋体" panose="02010600030101010101" pitchFamily="2" charset="-122"/>
              </a:rPr>
              <a:t>q</a:t>
            </a:r>
            <a:r>
              <a:rPr lang="zh-CN" altLang="en-US" sz="1000" dirty="0">
                <a:latin typeface="宋体" panose="02010600030101010101" pitchFamily="2" charset="-122"/>
              </a:rPr>
              <a:t>先取反，然后再取反，赋给</a:t>
            </a:r>
            <a:r>
              <a:rPr lang="en-US" altLang="zh-CN" sz="1000" dirty="0">
                <a:latin typeface="宋体" panose="02010600030101010101" pitchFamily="2" charset="-122"/>
              </a:rPr>
              <a:t>a</a:t>
            </a:r>
            <a:r>
              <a:rPr lang="zh-CN" altLang="en-US" sz="1000" dirty="0">
                <a:latin typeface="宋体" panose="02010600030101010101" pitchFamily="2" charset="-122"/>
              </a:rPr>
              <a:t>；在模块</a:t>
            </a:r>
            <a:r>
              <a:rPr lang="en-US" altLang="zh-CN" sz="1000" dirty="0">
                <a:latin typeface="宋体" panose="02010600030101010101" pitchFamily="2" charset="-122"/>
              </a:rPr>
              <a:t>2</a:t>
            </a:r>
            <a:r>
              <a:rPr lang="zh-CN" altLang="en-US" sz="1000" dirty="0">
                <a:latin typeface="宋体" panose="02010600030101010101" pitchFamily="2" charset="-122"/>
              </a:rPr>
              <a:t>中，</a:t>
            </a:r>
            <a:r>
              <a:rPr lang="en-US" altLang="zh-CN" sz="1000" dirty="0">
                <a:latin typeface="宋体" panose="02010600030101010101" pitchFamily="2" charset="-122"/>
              </a:rPr>
              <a:t>q</a:t>
            </a:r>
            <a:r>
              <a:rPr lang="zh-CN" altLang="en-US" sz="1000" dirty="0">
                <a:latin typeface="宋体" panose="02010600030101010101" pitchFamily="2" charset="-122"/>
              </a:rPr>
              <a:t>取反后赋给</a:t>
            </a:r>
            <a:r>
              <a:rPr lang="en-US" altLang="zh-CN" sz="1000" dirty="0">
                <a:latin typeface="宋体" panose="02010600030101010101" pitchFamily="2" charset="-122"/>
              </a:rPr>
              <a:t>q</a:t>
            </a:r>
            <a:r>
              <a:rPr lang="zh-CN" altLang="en-US" sz="1000" dirty="0">
                <a:latin typeface="宋体" panose="02010600030101010101" pitchFamily="2" charset="-122"/>
              </a:rPr>
              <a:t>和</a:t>
            </a:r>
            <a:r>
              <a:rPr lang="en-US" altLang="zh-CN" sz="1000" dirty="0">
                <a:latin typeface="宋体" panose="02010600030101010101" pitchFamily="2" charset="-122"/>
              </a:rPr>
              <a:t>a</a:t>
            </a:r>
            <a:r>
              <a:rPr lang="zh-CN" altLang="en-US" sz="1000" dirty="0">
                <a:latin typeface="宋体" panose="02010600030101010101" pitchFamily="2" charset="-122"/>
              </a:rPr>
              <a:t>， </a:t>
            </a:r>
            <a:r>
              <a:rPr lang="en-US" altLang="zh-CN" sz="1000" dirty="0">
                <a:latin typeface="宋体" panose="02010600030101010101" pitchFamily="2" charset="-122"/>
              </a:rPr>
              <a:t>q</a:t>
            </a:r>
            <a:r>
              <a:rPr lang="zh-CN" altLang="en-US" sz="1000" dirty="0">
                <a:latin typeface="宋体" panose="02010600030101010101" pitchFamily="2" charset="-122"/>
              </a:rPr>
              <a:t>和</a:t>
            </a:r>
            <a:r>
              <a:rPr lang="en-US" altLang="zh-CN" sz="1000" dirty="0">
                <a:latin typeface="宋体" panose="02010600030101010101" pitchFamily="2" charset="-122"/>
              </a:rPr>
              <a:t>a</a:t>
            </a:r>
            <a:r>
              <a:rPr lang="zh-CN" altLang="en-US" sz="1000" dirty="0">
                <a:latin typeface="宋体" panose="02010600030101010101" pitchFamily="2" charset="-122"/>
              </a:rPr>
              <a:t>的波形完全一样。</a:t>
            </a:r>
            <a:endParaRPr lang="zh-CN" altLang="en-US" sz="1000" dirty="0">
              <a:latin typeface="宋体" panose="02010600030101010101"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Rectangle 2"/>
          <p:cNvSpPr>
            <a:spLocks noTextEdit="1"/>
          </p:cNvSpPr>
          <p:nvPr>
            <p:ph type="sldImg"/>
          </p:nvPr>
        </p:nvSpPr>
        <p:spPr>
          <a:solidFill>
            <a:srgbClr val="FFFFFF">
              <a:alpha val="100000"/>
            </a:srgbClr>
          </a:solidFill>
        </p:spPr>
      </p:sp>
      <p:sp>
        <p:nvSpPr>
          <p:cNvPr id="29491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lnSpc>
                <a:spcPct val="110000"/>
              </a:lnSpc>
            </a:pPr>
            <a:r>
              <a:rPr lang="zh-CN" altLang="en-US" sz="1300" dirty="0"/>
              <a:t>见</a:t>
            </a:r>
            <a:r>
              <a:rPr lang="en-US" altLang="zh-CN" sz="1300" dirty="0"/>
              <a:t>《</a:t>
            </a:r>
            <a:r>
              <a:rPr lang="zh-CN" altLang="en-US" sz="1300" dirty="0"/>
              <a:t>数字系统设计与</a:t>
            </a:r>
            <a:r>
              <a:rPr lang="en-US" altLang="zh-CN" sz="1300" dirty="0">
                <a:latin typeface="华文新魏" panose="02010800040101010101" pitchFamily="2" charset="-122"/>
              </a:rPr>
              <a:t>Verilog HDL</a:t>
            </a:r>
            <a:r>
              <a:rPr lang="en-US" altLang="zh-CN" sz="1300" dirty="0"/>
              <a:t>》</a:t>
            </a:r>
            <a:r>
              <a:rPr lang="en-US" altLang="zh-CN" sz="1300" dirty="0">
                <a:latin typeface="华文新魏" panose="02010800040101010101" pitchFamily="2" charset="-122"/>
              </a:rPr>
              <a:t>P177[</a:t>
            </a:r>
            <a:r>
              <a:rPr lang="zh-CN" altLang="en-US" sz="1300" dirty="0"/>
              <a:t>例</a:t>
            </a:r>
            <a:r>
              <a:rPr lang="en-US" altLang="zh-CN" sz="1300" dirty="0">
                <a:latin typeface="华文新魏" panose="02010800040101010101" pitchFamily="2" charset="-122"/>
              </a:rPr>
              <a:t>6.20]</a:t>
            </a:r>
            <a:r>
              <a:rPr lang="zh-CN" altLang="en-US" sz="1300" dirty="0"/>
              <a:t>、</a:t>
            </a:r>
            <a:r>
              <a:rPr lang="en-US" altLang="zh-CN" sz="1300" dirty="0">
                <a:latin typeface="华文新魏" panose="02010800040101010101" pitchFamily="2" charset="-122"/>
              </a:rPr>
              <a:t>[</a:t>
            </a:r>
            <a:r>
              <a:rPr lang="zh-CN" altLang="en-US" sz="1300" dirty="0"/>
              <a:t>例</a:t>
            </a:r>
            <a:r>
              <a:rPr lang="en-US" altLang="zh-CN" sz="1300" dirty="0">
                <a:latin typeface="华文新魏" panose="02010800040101010101" pitchFamily="2" charset="-122"/>
              </a:rPr>
              <a:t>6.21]</a:t>
            </a:r>
            <a:r>
              <a:rPr lang="zh-CN" altLang="en-US" sz="1300" dirty="0"/>
              <a:t>。</a:t>
            </a:r>
            <a:endParaRPr lang="zh-CN" altLang="en-US" sz="1300" dirty="0"/>
          </a:p>
          <a:p>
            <a:pPr lvl="0" eaLnBrk="1" hangingPunct="1">
              <a:lnSpc>
                <a:spcPct val="110000"/>
              </a:lnSpc>
            </a:pPr>
            <a:endParaRPr lang="zh-CN" altLang="en-US" sz="1300" dirty="0">
              <a:latin typeface="华文新魏" panose="02010800040101010101" pitchFamily="2" charset="-122"/>
              <a:ea typeface="华文新魏" panose="0201080004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62" name="Rectangle 1026"/>
          <p:cNvSpPr>
            <a:spLocks noTextEdit="1"/>
          </p:cNvSpPr>
          <p:nvPr>
            <p:ph type="sldImg"/>
          </p:nvPr>
        </p:nvSpPr>
        <p:spPr>
          <a:solidFill>
            <a:srgbClr val="FFFFFF">
              <a:alpha val="100000"/>
            </a:srgbClr>
          </a:solidFill>
        </p:spPr>
      </p:sp>
      <p:sp>
        <p:nvSpPr>
          <p:cNvPr id="29696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lnSpc>
                <a:spcPct val="110000"/>
              </a:lnSpc>
            </a:pPr>
            <a:r>
              <a:rPr lang="en-US" altLang="zh-CN" sz="1300" dirty="0"/>
              <a:t>parall1.v</a:t>
            </a:r>
            <a:r>
              <a:rPr lang="zh-CN" altLang="en-US" sz="1300" dirty="0"/>
              <a:t>和</a:t>
            </a:r>
            <a:r>
              <a:rPr lang="en-US" altLang="zh-CN" sz="1300" dirty="0"/>
              <a:t>parall2.v</a:t>
            </a:r>
            <a:r>
              <a:rPr lang="zh-CN" altLang="en-US" sz="1300" dirty="0"/>
              <a:t>位于</a:t>
            </a:r>
            <a:r>
              <a:rPr lang="en-US" altLang="zh-CN" sz="1300" dirty="0"/>
              <a:t>parall</a:t>
            </a:r>
            <a:r>
              <a:rPr lang="zh-CN" altLang="en-US" sz="1300" dirty="0"/>
              <a:t>文件夹中</a:t>
            </a:r>
            <a:endParaRPr lang="zh-CN" altLang="en-US" sz="1300" dirty="0">
              <a:latin typeface="华文新魏" panose="02010800040101010101" pitchFamily="2" charset="-122"/>
            </a:endParaRPr>
          </a:p>
          <a:p>
            <a:pPr lvl="0" eaLnBrk="1" hangingPunct="1"/>
            <a:endParaRPr lang="en-US" altLang="zh-CN" sz="1000" dirty="0">
              <a:latin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TextEdit="1"/>
          </p:cNvSpPr>
          <p:nvPr>
            <p:ph type="sldImg"/>
          </p:nvPr>
        </p:nvSpPr>
        <p:spPr/>
      </p:sp>
      <p:sp>
        <p:nvSpPr>
          <p:cNvPr id="299011" name="Rectangle 3"/>
          <p:cNvSpPr>
            <a:spLocks noGrp="1"/>
          </p:cNvSpPr>
          <p:nvPr>
            <p:ph type="body"/>
          </p:nvPr>
        </p:nvSpPr>
        <p:spPr/>
        <p:txBody>
          <a:bodyPr wrap="square" lIns="91440" tIns="45720" rIns="91440" bIns="45720" anchor="t" anchorCtr="0"/>
          <a:p>
            <a:pPr lvl="0" algn="just" eaLnBrk="1" hangingPunct="1"/>
            <a:r>
              <a:rPr lang="zh-CN" altLang="en-US" dirty="0"/>
              <a:t>见</a:t>
            </a:r>
            <a:r>
              <a:rPr lang="en-US" altLang="zh-CN" dirty="0"/>
              <a:t>《</a:t>
            </a:r>
            <a:r>
              <a:rPr lang="zh-CN" altLang="en-US" dirty="0"/>
              <a:t>数字系统设计与</a:t>
            </a:r>
            <a:r>
              <a:rPr lang="en-US" altLang="zh-CN" dirty="0"/>
              <a:t>Verilog HDL》P177~180</a:t>
            </a:r>
            <a:endParaRPr lang="en-US" altLang="zh-CN" dirty="0"/>
          </a:p>
          <a:p>
            <a:pPr lvl="0" eaLnBrk="1" hangingPunct="1"/>
            <a:endParaRPr lang="en-US" altLang="zh-CN"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Rectangle 2"/>
          <p:cNvSpPr>
            <a:spLocks noTextEdit="1"/>
          </p:cNvSpPr>
          <p:nvPr>
            <p:ph type="sldImg"/>
          </p:nvPr>
        </p:nvSpPr>
        <p:spPr>
          <a:solidFill>
            <a:srgbClr val="FFFFFF">
              <a:alpha val="100000"/>
            </a:srgbClr>
          </a:solidFill>
        </p:spPr>
      </p:sp>
      <p:sp>
        <p:nvSpPr>
          <p:cNvPr id="30105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1000" dirty="0">
              <a:latin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Rectangle 2"/>
          <p:cNvSpPr>
            <a:spLocks noTextEdit="1"/>
          </p:cNvSpPr>
          <p:nvPr>
            <p:ph type="sldImg"/>
          </p:nvPr>
        </p:nvSpPr>
        <p:spPr>
          <a:solidFill>
            <a:srgbClr val="FFFFFF">
              <a:alpha val="100000"/>
            </a:srgbClr>
          </a:solidFill>
        </p:spPr>
      </p:sp>
      <p:sp>
        <p:nvSpPr>
          <p:cNvPr id="30310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endParaRPr lang="zh-CN" altLang="zh-CN" sz="1000" dirty="0">
              <a:latin typeface="宋体" panose="02010600030101010101"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4" name="Rectangle 2"/>
          <p:cNvSpPr>
            <a:spLocks noTextEdit="1"/>
          </p:cNvSpPr>
          <p:nvPr>
            <p:ph type="sldImg"/>
          </p:nvPr>
        </p:nvSpPr>
        <p:spPr>
          <a:solidFill>
            <a:srgbClr val="FFFFFF">
              <a:alpha val="100000"/>
            </a:srgbClr>
          </a:solidFill>
        </p:spPr>
      </p:sp>
      <p:sp>
        <p:nvSpPr>
          <p:cNvPr id="30515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latin typeface="宋体" panose="02010600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dirty="0">
                <a:latin typeface="宋体" panose="02010600030101010101" pitchFamily="2" charset="-122"/>
              </a:rPr>
              <a:t>P179[</a:t>
            </a:r>
            <a:r>
              <a:rPr lang="zh-CN" altLang="en-US" dirty="0">
                <a:latin typeface="宋体" panose="02010600030101010101" pitchFamily="2" charset="-122"/>
              </a:rPr>
              <a:t>例</a:t>
            </a:r>
            <a:r>
              <a:rPr lang="en-US" altLang="zh-CN" dirty="0">
                <a:latin typeface="宋体" panose="02010600030101010101" pitchFamily="2" charset="-122"/>
              </a:rPr>
              <a:t>6.22] </a:t>
            </a:r>
            <a:endParaRPr lang="en-US" altLang="zh-CN" dirty="0">
              <a:latin typeface="宋体" panose="02010600030101010101" pitchFamily="2" charset="-122"/>
            </a:endParaRPr>
          </a:p>
          <a:p>
            <a:pPr lvl="0" eaLnBrk="1" hangingPunct="1"/>
            <a:r>
              <a:rPr lang="zh-CN" altLang="en-US" dirty="0"/>
              <a:t>根据真值表可以直接写出逻辑表达式</a:t>
            </a:r>
            <a:r>
              <a:rPr lang="zh-CN" altLang="en-US" dirty="0">
                <a:latin typeface="宋体" panose="02010600030101010101" pitchFamily="2" charset="-122"/>
              </a:rPr>
              <a:t>（用各种逻辑门来描述）</a:t>
            </a:r>
            <a:r>
              <a:rPr lang="zh-CN" altLang="en-US" dirty="0"/>
              <a:t> ：</a:t>
            </a:r>
            <a:endParaRPr lang="zh-CN" altLang="en-US" dirty="0">
              <a:latin typeface="宋体" panose="02010600030101010101" pitchFamily="2" charset="-122"/>
            </a:endParaRPr>
          </a:p>
          <a:p>
            <a:pPr lvl="0" eaLnBrk="1" hangingPunct="1"/>
            <a:r>
              <a:rPr lang="en-US" altLang="zh-CN" dirty="0">
                <a:latin typeface="宋体" panose="02010600030101010101" pitchFamily="2" charset="-122"/>
              </a:rPr>
              <a:t>out = w + x + y + z = /ctrl1 &amp; /ctrl2 &amp; in1 + /ctrl1 &amp; ctrl2 &amp; in2 + ctrl1 &amp; /ctrl2 &amp; in3 + ctrl1 &amp; ctrl2 &amp; in4</a:t>
            </a:r>
            <a:endParaRPr lang="en-US" altLang="zh-CN" dirty="0">
              <a:latin typeface="宋体" panose="02010600030101010101" pitchFamily="2" charset="-122"/>
            </a:endParaRPr>
          </a:p>
          <a:p>
            <a:pPr lvl="0" eaLnBrk="1" hangingPunct="1"/>
            <a:endParaRPr lang="en-US" altLang="zh-CN" dirty="0">
              <a:latin typeface="宋体" panose="02010600030101010101"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02" name="Rectangle 1026"/>
          <p:cNvSpPr>
            <a:spLocks noTextEdit="1"/>
          </p:cNvSpPr>
          <p:nvPr>
            <p:ph type="sldImg"/>
          </p:nvPr>
        </p:nvSpPr>
        <p:spPr>
          <a:solidFill>
            <a:srgbClr val="FFFFFF">
              <a:alpha val="100000"/>
            </a:srgbClr>
          </a:solidFill>
        </p:spPr>
      </p:sp>
      <p:sp>
        <p:nvSpPr>
          <p:cNvPr id="307203" name="Rectangle 1027"/>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dirty="0">
                <a:latin typeface="宋体" panose="02010600030101010101" pitchFamily="2" charset="-122"/>
              </a:rPr>
              <a:t>这里</a:t>
            </a:r>
            <a:r>
              <a:rPr lang="en-US" altLang="zh-CN" dirty="0">
                <a:latin typeface="宋体" panose="02010600030101010101" pitchFamily="2" charset="-122"/>
              </a:rPr>
              <a:t>and</a:t>
            </a:r>
            <a:r>
              <a:rPr lang="zh-CN" altLang="en-US" dirty="0">
                <a:latin typeface="宋体" panose="02010600030101010101" pitchFamily="2" charset="-122"/>
              </a:rPr>
              <a:t>、</a:t>
            </a:r>
            <a:r>
              <a:rPr lang="en-US" altLang="zh-CN" dirty="0">
                <a:latin typeface="宋体" panose="02010600030101010101" pitchFamily="2" charset="-122"/>
              </a:rPr>
              <a:t>not</a:t>
            </a:r>
            <a:r>
              <a:rPr lang="zh-CN" altLang="en-US" dirty="0">
                <a:latin typeface="宋体" panose="02010600030101010101" pitchFamily="2" charset="-122"/>
              </a:rPr>
              <a:t>、</a:t>
            </a:r>
            <a:r>
              <a:rPr lang="en-US" altLang="zh-CN" dirty="0">
                <a:latin typeface="宋体" panose="02010600030101010101" pitchFamily="2" charset="-122"/>
              </a:rPr>
              <a:t>or</a:t>
            </a:r>
            <a:r>
              <a:rPr lang="zh-CN" altLang="en-US" dirty="0">
                <a:latin typeface="宋体" panose="02010600030101010101" pitchFamily="2" charset="-122"/>
              </a:rPr>
              <a:t>为门类型关键字，其后可以接例化门元件名称，也可以省略。</a:t>
            </a:r>
            <a:endParaRPr lang="zh-CN" altLang="en-US" dirty="0">
              <a:latin typeface="宋体" panose="02010600030101010101" pitchFamily="2" charset="-122"/>
            </a:endParaRPr>
          </a:p>
          <a:p>
            <a:pPr lvl="0" eaLnBrk="1" hangingPunct="1"/>
            <a:r>
              <a:rPr lang="zh-CN" altLang="en-US" dirty="0"/>
              <a:t>先调用非门，得到</a:t>
            </a:r>
            <a:r>
              <a:rPr lang="en-US" altLang="zh-CN" dirty="0">
                <a:latin typeface="宋体" panose="02010600030101010101" pitchFamily="2" charset="-122"/>
              </a:rPr>
              <a:t>/ctrl1</a:t>
            </a:r>
            <a:r>
              <a:rPr lang="zh-CN" altLang="en-US" dirty="0"/>
              <a:t>和</a:t>
            </a:r>
            <a:r>
              <a:rPr lang="en-US" altLang="zh-CN" dirty="0">
                <a:latin typeface="宋体" panose="02010600030101010101" pitchFamily="2" charset="-122"/>
              </a:rPr>
              <a:t>/ctrl2</a:t>
            </a:r>
            <a:r>
              <a:rPr lang="zh-CN" altLang="en-US" dirty="0"/>
              <a:t>；</a:t>
            </a:r>
            <a:endParaRPr lang="zh-CN" altLang="en-US" dirty="0">
              <a:latin typeface="宋体" panose="02010600030101010101" pitchFamily="2" charset="-122"/>
            </a:endParaRPr>
          </a:p>
          <a:p>
            <a:pPr lvl="0" eaLnBrk="1" hangingPunct="1"/>
            <a:r>
              <a:rPr lang="zh-CN" altLang="en-US" dirty="0"/>
              <a:t>再调用与门，得到</a:t>
            </a:r>
            <a:r>
              <a:rPr lang="en-US" altLang="zh-CN" dirty="0">
                <a:latin typeface="宋体" panose="02010600030101010101" pitchFamily="2" charset="-122"/>
              </a:rPr>
              <a:t>w</a:t>
            </a:r>
            <a:r>
              <a:rPr lang="zh-CN" altLang="en-US" dirty="0"/>
              <a:t>、</a:t>
            </a:r>
            <a:r>
              <a:rPr lang="en-US" altLang="zh-CN" dirty="0">
                <a:latin typeface="宋体" panose="02010600030101010101" pitchFamily="2" charset="-122"/>
              </a:rPr>
              <a:t>x</a:t>
            </a:r>
            <a:r>
              <a:rPr lang="zh-CN" altLang="en-US" dirty="0"/>
              <a:t>、</a:t>
            </a:r>
            <a:r>
              <a:rPr lang="en-US" altLang="zh-CN" dirty="0">
                <a:latin typeface="宋体" panose="02010600030101010101" pitchFamily="2" charset="-122"/>
              </a:rPr>
              <a:t>y</a:t>
            </a:r>
            <a:r>
              <a:rPr lang="zh-CN" altLang="en-US" dirty="0"/>
              <a:t>、</a:t>
            </a:r>
            <a:r>
              <a:rPr lang="en-US" altLang="zh-CN" dirty="0">
                <a:latin typeface="宋体" panose="02010600030101010101" pitchFamily="2" charset="-122"/>
              </a:rPr>
              <a:t>z</a:t>
            </a:r>
            <a:r>
              <a:rPr lang="zh-CN" altLang="en-US" dirty="0"/>
              <a:t>；</a:t>
            </a:r>
            <a:endParaRPr lang="zh-CN" altLang="en-US" dirty="0">
              <a:latin typeface="宋体" panose="02010600030101010101" pitchFamily="2" charset="-122"/>
            </a:endParaRPr>
          </a:p>
          <a:p>
            <a:pPr lvl="0" eaLnBrk="1" hangingPunct="1"/>
            <a:r>
              <a:rPr lang="zh-CN" altLang="en-US" dirty="0"/>
              <a:t>最后再调用或门，得到</a:t>
            </a:r>
            <a:r>
              <a:rPr lang="en-US" altLang="zh-CN" dirty="0">
                <a:latin typeface="宋体" panose="02010600030101010101" pitchFamily="2" charset="-122"/>
              </a:rPr>
              <a:t>out</a:t>
            </a:r>
            <a:r>
              <a:rPr lang="zh-CN" altLang="en-US" dirty="0"/>
              <a:t>。</a:t>
            </a:r>
            <a:endParaRPr lang="zh-CN" altLang="en-US" dirty="0">
              <a:latin typeface="宋体" panose="02010600030101010101" pitchFamily="2" charset="-122"/>
            </a:endParaRPr>
          </a:p>
          <a:p>
            <a:pPr lvl="0" eaLnBrk="1" hangingPunct="1"/>
            <a:endParaRPr lang="en-US" altLang="zh-CN" dirty="0">
              <a:latin typeface="宋体" panose="02010600030101010101"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Rectangle 2"/>
          <p:cNvSpPr>
            <a:spLocks noTextEdit="1"/>
          </p:cNvSpPr>
          <p:nvPr>
            <p:ph type="sldImg"/>
          </p:nvPr>
        </p:nvSpPr>
        <p:spPr>
          <a:solidFill>
            <a:srgbClr val="FFFFFF">
              <a:alpha val="100000"/>
            </a:srgbClr>
          </a:solidFill>
        </p:spPr>
      </p:sp>
      <p:sp>
        <p:nvSpPr>
          <p:cNvPr id="309251"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400" dirty="0">
                <a:latin typeface="方正姚体" panose="02010601030101010101" pitchFamily="2" charset="-122"/>
                <a:ea typeface="方正姚体" panose="02010601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sz="2400" dirty="0">
                <a:latin typeface="方正姚体" panose="02010601030101010101" pitchFamily="2" charset="-122"/>
                <a:ea typeface="方正姚体" panose="02010601030101010101" pitchFamily="2" charset="-122"/>
              </a:rPr>
              <a:t>P180[</a:t>
            </a:r>
            <a:r>
              <a:rPr lang="zh-CN" altLang="en-US" sz="2400" dirty="0">
                <a:latin typeface="方正姚体" panose="02010601030101010101" pitchFamily="2" charset="-122"/>
                <a:ea typeface="方正姚体" panose="02010601030101010101" pitchFamily="2" charset="-122"/>
              </a:rPr>
              <a:t>例</a:t>
            </a:r>
            <a:r>
              <a:rPr lang="en-US" altLang="zh-CN" sz="2400" dirty="0">
                <a:latin typeface="方正姚体" panose="02010601030101010101" pitchFamily="2" charset="-122"/>
                <a:ea typeface="方正姚体" panose="02010601030101010101" pitchFamily="2" charset="-122"/>
              </a:rPr>
              <a:t>6.23] </a:t>
            </a:r>
            <a:endParaRPr lang="en-US" altLang="zh-CN" sz="2400"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TextEdit="1"/>
          </p:cNvSpPr>
          <p:nvPr>
            <p:ph type="sldImg"/>
          </p:nvPr>
        </p:nvSpPr>
        <p:spPr>
          <a:solidFill>
            <a:srgbClr val="FFFFFF">
              <a:alpha val="100000"/>
            </a:srgbClr>
          </a:solidFill>
        </p:spPr>
      </p:sp>
      <p:sp>
        <p:nvSpPr>
          <p:cNvPr id="311299"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400" dirty="0">
                <a:latin typeface="方正姚体" panose="02010601030101010101" pitchFamily="2" charset="-122"/>
                <a:ea typeface="方正姚体" panose="02010601030101010101" pitchFamily="2" charset="-122"/>
              </a:rPr>
              <a:t>见</a:t>
            </a:r>
            <a:r>
              <a:rPr lang="en-US" altLang="zh-CN" sz="2200" dirty="0">
                <a:solidFill>
                  <a:srgbClr val="CC0066"/>
                </a:solidFill>
                <a:latin typeface="方正姚体" panose="02010601030101010101" pitchFamily="2" charset="-122"/>
                <a:ea typeface="方正姚体" panose="02010601030101010101" pitchFamily="2" charset="-122"/>
              </a:rPr>
              <a:t>《</a:t>
            </a:r>
            <a:r>
              <a:rPr lang="zh-CN" altLang="en-US" sz="2200" dirty="0">
                <a:solidFill>
                  <a:srgbClr val="CC0066"/>
                </a:solidFill>
                <a:latin typeface="方正姚体" panose="02010601030101010101" pitchFamily="2" charset="-122"/>
                <a:ea typeface="方正姚体" panose="02010601030101010101" pitchFamily="2" charset="-122"/>
              </a:rPr>
              <a:t>数字系统设计与</a:t>
            </a:r>
            <a:r>
              <a:rPr lang="en-US" altLang="zh-CN" sz="2200" dirty="0">
                <a:solidFill>
                  <a:srgbClr val="CC0066"/>
                </a:solidFill>
                <a:latin typeface="方正姚体" panose="02010601030101010101" pitchFamily="2" charset="-122"/>
                <a:ea typeface="方正姚体" panose="02010601030101010101" pitchFamily="2" charset="-122"/>
              </a:rPr>
              <a:t>Verilog HDL》</a:t>
            </a:r>
            <a:r>
              <a:rPr lang="en-US" altLang="zh-CN" sz="2400" dirty="0">
                <a:latin typeface="方正姚体" panose="02010601030101010101" pitchFamily="2" charset="-122"/>
                <a:ea typeface="方正姚体" panose="02010601030101010101" pitchFamily="2" charset="-122"/>
              </a:rPr>
              <a:t>P180[</a:t>
            </a:r>
            <a:r>
              <a:rPr lang="zh-CN" altLang="en-US" sz="2400" dirty="0">
                <a:latin typeface="方正姚体" panose="02010601030101010101" pitchFamily="2" charset="-122"/>
                <a:ea typeface="方正姚体" panose="02010601030101010101" pitchFamily="2" charset="-122"/>
              </a:rPr>
              <a:t>例</a:t>
            </a:r>
            <a:r>
              <a:rPr lang="en-US" altLang="zh-CN" sz="2400" dirty="0">
                <a:latin typeface="方正姚体" panose="02010601030101010101" pitchFamily="2" charset="-122"/>
                <a:ea typeface="方正姚体" panose="02010601030101010101" pitchFamily="2" charset="-122"/>
              </a:rPr>
              <a:t>6.24]</a:t>
            </a:r>
            <a:endParaRPr lang="en-US" altLang="zh-CN" sz="2400" dirty="0">
              <a:latin typeface="方正姚体" panose="02010601030101010101" pitchFamily="2" charset="-122"/>
              <a:ea typeface="方正姚体" panose="02010601030101010101" pitchFamily="2" charset="-122"/>
            </a:endParaRPr>
          </a:p>
          <a:p>
            <a:pPr lvl="0" eaLnBrk="1" hangingPunct="1"/>
            <a:r>
              <a:rPr lang="en-US" altLang="zh-CN" sz="1400" dirty="0">
                <a:solidFill>
                  <a:srgbClr val="009900"/>
                </a:solidFill>
                <a:latin typeface="华文新魏" panose="02010800040101010101" pitchFamily="2" charset="-122"/>
                <a:ea typeface="华文新魏" panose="02010800040101010101" pitchFamily="2" charset="-122"/>
              </a:rPr>
              <a:t>case</a:t>
            </a:r>
            <a:r>
              <a:rPr lang="zh-CN" altLang="en-US" sz="1400" dirty="0">
                <a:solidFill>
                  <a:srgbClr val="009900"/>
                </a:solidFill>
                <a:latin typeface="华文新魏" panose="02010800040101010101" pitchFamily="2" charset="-122"/>
                <a:ea typeface="华文新魏" panose="02010800040101010101" pitchFamily="2" charset="-122"/>
              </a:rPr>
              <a:t>语句特别适于描述</a:t>
            </a:r>
            <a:r>
              <a:rPr lang="zh-CN" altLang="en-US" sz="2000" dirty="0">
                <a:latin typeface="方正姚体" panose="02010601030101010101" pitchFamily="2" charset="-122"/>
                <a:ea typeface="方正姚体" panose="02010601030101010101" pitchFamily="2" charset="-122"/>
              </a:rPr>
              <a:t>数据选择器、译码器等。</a:t>
            </a:r>
            <a:endParaRPr lang="zh-CN" altLang="en-US" sz="2000"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Rectangle 2"/>
          <p:cNvSpPr>
            <a:spLocks noTextEdit="1"/>
          </p:cNvSpPr>
          <p:nvPr>
            <p:ph type="sldImg"/>
          </p:nvPr>
        </p:nvSpPr>
        <p:spPr>
          <a:solidFill>
            <a:srgbClr val="FFFFFF">
              <a:alpha val="100000"/>
            </a:srgbClr>
          </a:solidFill>
        </p:spPr>
      </p:sp>
      <p:sp>
        <p:nvSpPr>
          <p:cNvPr id="313347"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600" dirty="0">
                <a:latin typeface="方正姚体" panose="02010601030101010101" pitchFamily="2" charset="-122"/>
                <a:ea typeface="方正姚体" panose="02010601030101010101" pitchFamily="2" charset="-122"/>
              </a:rPr>
              <a:t>见</a:t>
            </a:r>
            <a:r>
              <a:rPr lang="en-US" altLang="zh-CN" sz="1600" dirty="0">
                <a:solidFill>
                  <a:srgbClr val="CC0066"/>
                </a:solidFill>
                <a:latin typeface="方正姚体" panose="02010601030101010101" pitchFamily="2" charset="-122"/>
                <a:ea typeface="方正姚体" panose="02010601030101010101" pitchFamily="2" charset="-122"/>
              </a:rPr>
              <a:t>《</a:t>
            </a:r>
            <a:r>
              <a:rPr lang="zh-CN" altLang="en-US" sz="1600" dirty="0">
                <a:solidFill>
                  <a:srgbClr val="CC0066"/>
                </a:solidFill>
                <a:latin typeface="方正姚体" panose="02010601030101010101" pitchFamily="2" charset="-122"/>
                <a:ea typeface="方正姚体" panose="02010601030101010101" pitchFamily="2" charset="-122"/>
              </a:rPr>
              <a:t>数字系统设计与</a:t>
            </a:r>
            <a:r>
              <a:rPr lang="en-US" altLang="zh-CN" sz="1600" dirty="0">
                <a:solidFill>
                  <a:srgbClr val="CC0066"/>
                </a:solidFill>
                <a:latin typeface="方正姚体" panose="02010601030101010101" pitchFamily="2" charset="-122"/>
                <a:ea typeface="方正姚体" panose="02010601030101010101" pitchFamily="2" charset="-122"/>
              </a:rPr>
              <a:t>Verilog HDL》</a:t>
            </a:r>
            <a:r>
              <a:rPr lang="en-US" altLang="zh-CN" sz="1600" dirty="0">
                <a:latin typeface="方正姚体" panose="02010601030101010101" pitchFamily="2" charset="-122"/>
                <a:ea typeface="方正姚体" panose="02010601030101010101" pitchFamily="2" charset="-122"/>
              </a:rPr>
              <a:t>P180[</a:t>
            </a:r>
            <a:r>
              <a:rPr lang="zh-CN" altLang="en-US" sz="1600" dirty="0">
                <a:latin typeface="方正姚体" panose="02010601030101010101" pitchFamily="2" charset="-122"/>
                <a:ea typeface="方正姚体" panose="02010601030101010101" pitchFamily="2" charset="-122"/>
              </a:rPr>
              <a:t>例</a:t>
            </a:r>
            <a:r>
              <a:rPr lang="en-US" altLang="zh-CN" sz="1600" dirty="0">
                <a:latin typeface="方正姚体" panose="02010601030101010101" pitchFamily="2" charset="-122"/>
                <a:ea typeface="方正姚体" panose="02010601030101010101" pitchFamily="2" charset="-122"/>
              </a:rPr>
              <a:t>6.25] </a:t>
            </a:r>
            <a:endParaRPr lang="en-US" altLang="zh-CN" sz="1600" dirty="0">
              <a:latin typeface="方正姚体" panose="02010601030101010101" pitchFamily="2" charset="-122"/>
              <a:ea typeface="方正姚体" panose="02010601030101010101"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Rectangle 2"/>
          <p:cNvSpPr>
            <a:spLocks noTextEdit="1"/>
          </p:cNvSpPr>
          <p:nvPr>
            <p:ph type="sldImg"/>
          </p:nvPr>
        </p:nvSpPr>
        <p:spPr>
          <a:solidFill>
            <a:srgbClr val="FFFFFF">
              <a:alpha val="100000"/>
            </a:srgbClr>
          </a:solidFill>
        </p:spPr>
      </p:sp>
      <p:sp>
        <p:nvSpPr>
          <p:cNvPr id="315395"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2400" dirty="0">
                <a:latin typeface="华文新魏" panose="02010800040101010101" pitchFamily="2" charset="-122"/>
                <a:ea typeface="华文新魏" panose="02010800040101010101" pitchFamily="2" charset="-122"/>
              </a:rPr>
              <a:t>尽量避免用门级描述</a:t>
            </a:r>
            <a:r>
              <a:rPr lang="en-US" altLang="zh-CN" sz="2400" dirty="0">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因为对于复杂的系统难以推出逻辑表达式，化简太繁琐！</a:t>
            </a:r>
            <a:endParaRPr lang="zh-CN" altLang="en-US" sz="2400" dirty="0">
              <a:latin typeface="华文新魏" panose="02010800040101010101" pitchFamily="2" charset="-122"/>
              <a:ea typeface="华文新魏" panose="0201080004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Rectangle 2"/>
          <p:cNvSpPr>
            <a:spLocks noTextEdit="1"/>
          </p:cNvSpPr>
          <p:nvPr>
            <p:ph type="sldImg"/>
          </p:nvPr>
        </p:nvSpPr>
        <p:spPr>
          <a:solidFill>
            <a:srgbClr val="FFFFFF">
              <a:alpha val="100000"/>
            </a:srgbClr>
          </a:solidFill>
        </p:spPr>
      </p:sp>
      <p:sp>
        <p:nvSpPr>
          <p:cNvPr id="317443" name="Rectangle 3"/>
          <p:cNvSpPr>
            <a:spLocks noGrp="1"/>
          </p:cNvSpPr>
          <p:nvPr>
            <p:ph type="body"/>
          </p:nvPr>
        </p:nvSpPr>
        <p:spPr>
          <a:solidFill>
            <a:srgbClr val="FFFFFF">
              <a:alpha val="100000"/>
            </a:srgbClr>
          </a:solidFill>
          <a:ln>
            <a:solidFill>
              <a:srgbClr val="000000">
                <a:alpha val="100000"/>
              </a:srgbClr>
            </a:solidFill>
            <a:miter lim="800000"/>
          </a:ln>
        </p:spPr>
        <p:txBody>
          <a:bodyPr wrap="square" lIns="91440" tIns="45720" rIns="91440" bIns="45720" anchor="t" anchorCtr="0"/>
          <a:p>
            <a:pPr lvl="0" eaLnBrk="1" hangingPunct="1"/>
            <a:r>
              <a:rPr lang="zh-CN" altLang="en-US" sz="1600" dirty="0">
                <a:latin typeface="方正姚体" panose="02010601030101010101" pitchFamily="2" charset="-122"/>
                <a:ea typeface="黑体" panose="02010609060101010101" pitchFamily="49" charset="-122"/>
              </a:rPr>
              <a:t>（</a:t>
            </a:r>
            <a:r>
              <a:rPr lang="en-US" altLang="zh-CN" sz="1600" dirty="0">
                <a:latin typeface="方正姚体" panose="02010601030101010101" pitchFamily="2" charset="-122"/>
                <a:ea typeface="黑体" panose="02010609060101010101" pitchFamily="49" charset="-122"/>
              </a:rPr>
              <a:t>1</a:t>
            </a:r>
            <a:r>
              <a:rPr lang="zh-CN" altLang="en-US" sz="1600" dirty="0">
                <a:latin typeface="方正姚体" panose="02010601030101010101" pitchFamily="2" charset="-122"/>
                <a:ea typeface="黑体" panose="02010609060101010101" pitchFamily="49" charset="-122"/>
              </a:rPr>
              <a:t>）</a:t>
            </a:r>
            <a:endParaRPr lang="zh-CN" altLang="en-US" sz="1600" dirty="0">
              <a:latin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solidFill>
                  <a:srgbClr val="FF66CC"/>
                </a:solidFill>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66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sz="1400" b="0">
                <a:solidFill>
                  <a:schemeClr val="bg2"/>
                </a:solidFill>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8FC8875-2BF7-49A1-BC02-3DF039B1FF3F}"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solidFill>
                  <a:schemeClr val="tx1"/>
                </a:solidFill>
                <a:latin typeface="黑体" panose="02010609060101010101" pitchFamily="49" charset="-122"/>
                <a:ea typeface="黑体" panose="02010609060101010101" pitchFamily="49" charset="-122"/>
              </a:defRPr>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lvl1pPr>
              <a:defRPr sz="2000">
                <a:solidFill>
                  <a:schemeClr val="tx1"/>
                </a:solidFill>
                <a:latin typeface="华文楷体" panose="02010600040101010101" pitchFamily="2" charset="-122"/>
                <a:ea typeface="华文楷体" panose="02010600040101010101" pitchFamily="2" charset="-122"/>
              </a:defRPr>
            </a:lvl1pPr>
            <a:lvl2pPr>
              <a:buNone/>
              <a:defRPr sz="2000">
                <a:solidFill>
                  <a:schemeClr val="tx1"/>
                </a:solidFill>
                <a:latin typeface="华文楷体" panose="02010600040101010101" pitchFamily="2" charset="-122"/>
                <a:ea typeface="华文楷体" panose="02010600040101010101" pitchFamily="2" charset="-122"/>
              </a:defRPr>
            </a:lvl2pPr>
            <a:lvl3pPr>
              <a:buNone/>
              <a:defRPr sz="2000"/>
            </a:lvl3pPr>
            <a:lvl4pPr>
              <a:defRPr sz="2000">
                <a:solidFill>
                  <a:schemeClr val="tx1"/>
                </a:solidFill>
                <a:latin typeface="华文楷体" panose="02010600040101010101" pitchFamily="2" charset="-122"/>
                <a:ea typeface="华文楷体" panose="02010600040101010101" pitchFamily="2" charset="-122"/>
              </a:defRPr>
            </a:lvl4pPr>
            <a:lvl5pPr>
              <a:defRPr sz="2000">
                <a:solidFill>
                  <a:schemeClr val="tx1"/>
                </a:solidFill>
                <a:latin typeface="华文楷体" panose="02010600040101010101" pitchFamily="2" charset="-122"/>
                <a:ea typeface="华文楷体" panose="02010600040101010101" pitchFamily="2" charset="-122"/>
              </a:defRPr>
            </a:lvl5pPr>
          </a:lstStyle>
          <a:p>
            <a:pPr lvl="0"/>
            <a:r>
              <a:rPr lang="zh-CN" altLang="en-US" noProof="1" smtClean="0"/>
              <a:t>单击此处编辑母版文本样式</a:t>
            </a:r>
            <a:endParaRPr lang="zh-CN" altLang="en-US" noProof="1" smtClean="0"/>
          </a:p>
          <a:p>
            <a:pPr lvl="1"/>
            <a:r>
              <a:rPr lang="zh-CN" altLang="en-US" noProof="1" smtClean="0"/>
              <a:t>第二级</a:t>
            </a:r>
            <a:endParaRPr lang="en-US" altLang="zh-CN" noProof="1" smtClean="0"/>
          </a:p>
          <a:p>
            <a:pPr lvl="1"/>
            <a:r>
              <a:rPr lang="en-US" altLang="zh-CN" noProof="1" smtClean="0"/>
              <a:t>		</a:t>
            </a:r>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灯片编号占位符 3"/>
          <p:cNvSpPr>
            <a:spLocks noGrp="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8E384C-743A-44EE-9E0C-638A56D7ACC9}"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D82218-84BC-4674-B545-4CEF4FBF2EAE}"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9750" y="1773238"/>
            <a:ext cx="3884613" cy="4032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576763" y="1773238"/>
            <a:ext cx="3884612" cy="4032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1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8A55E5D-B6D7-40AD-96F8-76F8FD77EBEA}"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1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1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1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6848E61-2FDB-42AD-A54B-683A8A09479E}"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4187" y="188913"/>
            <a:ext cx="5688013" cy="431800"/>
          </a:xfrm>
        </p:spPr>
        <p:txBody>
          <a:bodyPr/>
          <a:lstStyle>
            <a:lvl1pPr>
              <a:defRPr sz="2000">
                <a:solidFill>
                  <a:schemeClr val="tx1">
                    <a:lumMod val="75000"/>
                    <a:lumOff val="25000"/>
                  </a:schemeClr>
                </a:solidFill>
                <a:latin typeface="黑体" panose="02010609060101010101" pitchFamily="49" charset="-122"/>
                <a:ea typeface="黑体" panose="02010609060101010101" pitchFamily="49" charset="-122"/>
              </a:defRPr>
            </a:lvl1pPr>
          </a:lstStyle>
          <a:p>
            <a:r>
              <a:rPr lang="zh-CN" altLang="en-US" noProof="1" smtClean="0"/>
              <a:t>单击此处编辑母版标题样式</a:t>
            </a:r>
            <a:endParaRPr lang="zh-CN" altLang="en-US" noProof="1"/>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7441C0F-137E-42AE-924C-3D4DB93EC840}"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DB4DE4C-C2E8-4E45-828F-20B212586DE2}"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Rectangle 4"/>
          <p:cNvSpPr>
            <a:spLocks noGrp="1" noChangeArrowheads="1"/>
          </p:cNvSpPr>
          <p:nvPr>
            <p:ph type="dt" sz="half" idx="1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862F4D-D68E-473C-8A6E-FB4340C5053A}"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黑体" panose="02010609060101010101" pitchFamily="49" charset="-122"/>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7" name="Rectangle 4"/>
          <p:cNvSpPr>
            <a:spLocks noGrp="1" noChangeArrowheads="1"/>
          </p:cNvSpPr>
          <p:nvPr>
            <p:ph type="dt" sz="half" idx="1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EEECD32-CE9A-47DA-9F56-0C97B337572A}"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EEB89E6-9B9E-4DF8-8066-3BF8FA635089}"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81763" y="188913"/>
            <a:ext cx="1979612" cy="5616575"/>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9750" y="188913"/>
            <a:ext cx="5789613" cy="5616575"/>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4"/>
          <p:cNvSpPr>
            <a:spLocks noGrp="1" noChangeArrowheads="1"/>
          </p:cNvSpPr>
          <p:nvPr>
            <p:ph type="dt" sz="half" idx="2"/>
          </p:nvPr>
        </p:nvSpPr>
        <p:spPr>
          <a:xfrm>
            <a:off x="457200" y="6245225"/>
            <a:ext cx="2133600" cy="476250"/>
          </a:xfrm>
          <a:prstGeom prst="rect">
            <a:avLst/>
          </a:prstGeom>
        </p:spPr>
        <p:txBody>
          <a:bodyPr/>
          <a:lstStyle>
            <a:lvl1pPr eaLnBrk="1" hangingPunct="1">
              <a:buFontTx/>
              <a:buNone/>
              <a:defRPr>
                <a:latin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a:xfrm>
            <a:off x="3124200" y="6245225"/>
            <a:ext cx="2895600" cy="476250"/>
          </a:xfrm>
          <a:prstGeom prst="rect">
            <a:avLst/>
          </a:prstGeom>
        </p:spPr>
        <p:txBody>
          <a:bodyPr/>
          <a:lstStyle>
            <a:lvl1pPr algn="ctr" eaLnBrk="1" hangingPunct="1">
              <a:buFontTx/>
              <a:buNone/>
              <a:defRPr>
                <a:latin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1" i="0" u="none" strike="noStrike" kern="1200" cap="none" spc="0" normalizeH="0" baseline="0" noProof="0">
              <a:ln>
                <a:noFill/>
              </a:ln>
              <a:solidFill>
                <a:srgbClr val="FF33CC"/>
              </a:solidFill>
              <a:effectLst/>
              <a:uLnTx/>
              <a:uFillTx/>
              <a:latin typeface="Tahoma" panose="020B060403050404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5822950" y="6408738"/>
            <a:ext cx="2133600" cy="476250"/>
          </a:xfrm>
          <a:prstGeom prst="rect">
            <a:avLst/>
          </a:prstGeom>
          <a:ln>
            <a:miter lim="800000"/>
          </a:ln>
        </p:spPr>
        <p:txBody>
          <a:bodyPr vert="horz" wrap="square" lIns="91440" tIns="45720" rIns="91440" bIns="45720" numCol="1" anchor="t" anchorCtr="0" compatLnSpc="1"/>
          <a:lstStyle>
            <a:lvl1pPr>
              <a:defRPr>
                <a:latin typeface="Myriad Pro"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84BA20C-2705-4F59-8149-563C21B827B4}" type="slidenum">
              <a:rPr kumimoji="0" lang="en-US" altLang="zh-CN" sz="1000" b="1" i="1" u="none" strike="noStrike" kern="1200" cap="none" spc="0" normalizeH="0" baseline="0" noProof="1">
                <a:ln>
                  <a:noFill/>
                </a:ln>
                <a:solidFill>
                  <a:srgbClr val="7030A0"/>
                </a:solidFill>
                <a:effectLst/>
                <a:uLnTx/>
                <a:uFillTx/>
                <a:latin typeface="Myriad Pro"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par>
    </p:tnLst>
  </p:timing>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audio" Target="../media/audio1.wav"/><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39750" y="188913"/>
            <a:ext cx="5688013" cy="431800"/>
          </a:xfrm>
          <a:prstGeom prst="rect">
            <a:avLst/>
          </a:prstGeom>
          <a:noFill/>
          <a:ln w="9525">
            <a:noFill/>
          </a:ln>
        </p:spPr>
        <p:txBody>
          <a:bodyPr anchor="ctr" anchorCtr="0"/>
          <a:p>
            <a:pPr lvl="0"/>
            <a:r>
              <a:rPr lang="en-US" altLang="zh-CN" dirty="0"/>
              <a:t>aaaaa</a:t>
            </a:r>
            <a:endParaRPr lang="zh-CN" altLang="en-US" dirty="0"/>
          </a:p>
        </p:txBody>
      </p:sp>
      <p:sp>
        <p:nvSpPr>
          <p:cNvPr id="1027" name="Rectangle 3"/>
          <p:cNvSpPr>
            <a:spLocks noGrp="1"/>
          </p:cNvSpPr>
          <p:nvPr>
            <p:ph type="body"/>
          </p:nvPr>
        </p:nvSpPr>
        <p:spPr>
          <a:xfrm>
            <a:off x="539750" y="1085850"/>
            <a:ext cx="7921625" cy="4719638"/>
          </a:xfrm>
          <a:prstGeom prst="rect">
            <a:avLst/>
          </a:prstGeom>
          <a:noFill/>
          <a:ln w="9525">
            <a:noFill/>
          </a:ln>
        </p:spPr>
        <p:txBody>
          <a:bodyPr/>
          <a:p>
            <a:pPr lvl="0"/>
            <a:r>
              <a:rPr lang="zh-CN" altLang="en-US" dirty="0"/>
              <a:t>单击此处编辑母版文本样式或者添加图片</a:t>
            </a:r>
            <a:endParaRPr lang="zh-CN" altLang="en-US" dirty="0"/>
          </a:p>
        </p:txBody>
      </p:sp>
      <p:sp>
        <p:nvSpPr>
          <p:cNvPr id="1030" name="Rectangle 6"/>
          <p:cNvSpPr>
            <a:spLocks noGrp="1" noChangeArrowheads="1"/>
          </p:cNvSpPr>
          <p:nvPr>
            <p:ph type="sldNum" sz="quarter" idx="4"/>
          </p:nvPr>
        </p:nvSpPr>
        <p:spPr bwMode="auto">
          <a:xfrm>
            <a:off x="5822950" y="6408738"/>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buFont typeface="Arial" panose="020B0604020202020204" pitchFamily="34" charset="0"/>
              <a:buNone/>
              <a:defRPr sz="1000" i="1" noProof="1">
                <a:solidFill>
                  <a:srgbClr val="7030A0"/>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FBA08F1-156B-4C91-887C-9DF435C10131}" type="slidenum">
              <a:rPr kumimoji="0" lang="en-US" altLang="zh-CN" sz="1000" b="1" i="1" u="none" strike="noStrike" kern="1200" cap="none" spc="0" normalizeH="0" baseline="0" noProof="1" smtClean="0">
                <a:ln>
                  <a:noFill/>
                </a:ln>
                <a:solidFill>
                  <a:srgbClr val="7030A0"/>
                </a:solidFill>
                <a:effectLst/>
                <a:uLnTx/>
                <a:uFillTx/>
                <a:latin typeface="Tahoma" panose="020B0604030504040204" pitchFamily="34" charset="0"/>
                <a:ea typeface="宋体" panose="02010600030101010101" pitchFamily="2" charset="-122"/>
                <a:cs typeface="+mn-cs"/>
              </a:rPr>
            </a:fld>
            <a:endParaRPr kumimoji="0" lang="en-US" altLang="zh-CN" sz="1000" b="1" i="1" u="none" strike="noStrike" kern="1200" cap="none" spc="0" normalizeH="0" baseline="0" noProof="1">
              <a:ln>
                <a:noFill/>
              </a:ln>
              <a:solidFill>
                <a:srgbClr val="7030A0"/>
              </a:solidFill>
              <a:effectLst/>
              <a:uLnTx/>
              <a:uFillTx/>
              <a:latin typeface="Tahoma" panose="020B0604030504040204" pitchFamily="34" charset="0"/>
              <a:ea typeface="宋体" panose="02010600030101010101" pitchFamily="2" charset="-122"/>
              <a:cs typeface="+mn-cs"/>
            </a:endParaRPr>
          </a:p>
        </p:txBody>
      </p:sp>
      <p:cxnSp>
        <p:nvCxnSpPr>
          <p:cNvPr id="4" name="直接连接符 3"/>
          <p:cNvCxnSpPr/>
          <p:nvPr/>
        </p:nvCxnSpPr>
        <p:spPr>
          <a:xfrm>
            <a:off x="539750" y="796925"/>
            <a:ext cx="6342063" cy="38100"/>
          </a:xfrm>
          <a:prstGeom prst="line">
            <a:avLst/>
          </a:prstGeom>
          <a:ln w="38100" cmpd="sng">
            <a:solidFill>
              <a:srgbClr val="7030A0"/>
            </a:solidFill>
          </a:ln>
        </p:spPr>
        <p:style>
          <a:lnRef idx="1">
            <a:schemeClr val="accent1"/>
          </a:lnRef>
          <a:fillRef idx="0">
            <a:schemeClr val="accent1"/>
          </a:fillRef>
          <a:effectRef idx="0">
            <a:schemeClr val="accent1"/>
          </a:effectRef>
          <a:fontRef idx="minor">
            <a:schemeClr val="tx1"/>
          </a:fontRef>
        </p:style>
      </p:cxnSp>
      <p:pic>
        <p:nvPicPr>
          <p:cNvPr id="2" name="Picture 7" descr="http://online.nankai.edu.cn/nk_portal/resources/nku/images/logo.jpg"/>
          <p:cNvPicPr>
            <a:picLocks noChangeAspect="1"/>
          </p:cNvPicPr>
          <p:nvPr userDrawn="1"/>
        </p:nvPicPr>
        <p:blipFill>
          <a:blip r:embed="rId12"/>
          <a:stretch>
            <a:fillRect/>
          </a:stretch>
        </p:blipFill>
        <p:spPr>
          <a:xfrm>
            <a:off x="6953250" y="98425"/>
            <a:ext cx="2190750" cy="6858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blinds dir="vert"/>
    <p:sndAc>
      <p:stSnd>
        <p:snd r:embed="rId13" name="projctor.wav"/>
      </p:stSnd>
    </p:sndAc>
  </p:transition>
  <p:timing>
    <p:tnLst>
      <p:par>
        <p:cTn id="1" dur="indefinite" restart="never" nodeType="tmRoot"/>
      </p:par>
    </p:tnLst>
  </p:timing>
  <p:hf sldNum="0" hdr="0" ftr="0" dt="0"/>
  <p:txStyles>
    <p:titleStyle>
      <a:lvl1pPr algn="l" rtl="0" eaLnBrk="0" fontAlgn="base" hangingPunct="0">
        <a:spcBef>
          <a:spcPct val="0"/>
        </a:spcBef>
        <a:spcAft>
          <a:spcPct val="0"/>
        </a:spcAft>
        <a:defRPr sz="1400">
          <a:solidFill>
            <a:schemeClr val="tx2"/>
          </a:solidFill>
          <a:latin typeface="+mj-lt"/>
          <a:ea typeface="黑体" panose="02010609060101010101" pitchFamily="49" charset="-122"/>
          <a:cs typeface="+mj-cs"/>
        </a:defRPr>
      </a:lvl1pPr>
      <a:lvl2pPr algn="l" rtl="0" eaLnBrk="0" fontAlgn="base" hangingPunct="0">
        <a:spcBef>
          <a:spcPct val="0"/>
        </a:spcBef>
        <a:spcAft>
          <a:spcPct val="0"/>
        </a:spcAft>
        <a:defRPr sz="14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14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14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1400">
          <a:solidFill>
            <a:schemeClr val="tx2"/>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1400">
          <a:solidFill>
            <a:schemeClr val="tx2"/>
          </a:solidFill>
          <a:latin typeface="Arial" panose="020B0604020202020204" pitchFamily="34" charset="0"/>
          <a:ea typeface="汉仪中黑简" pitchFamily="49" charset="-122"/>
        </a:defRPr>
      </a:lvl6pPr>
      <a:lvl7pPr marL="914400" algn="l" rtl="0" fontAlgn="base">
        <a:spcBef>
          <a:spcPct val="0"/>
        </a:spcBef>
        <a:spcAft>
          <a:spcPct val="0"/>
        </a:spcAft>
        <a:defRPr sz="1400">
          <a:solidFill>
            <a:schemeClr val="tx2"/>
          </a:solidFill>
          <a:latin typeface="Arial" panose="020B0604020202020204" pitchFamily="34" charset="0"/>
          <a:ea typeface="汉仪中黑简" pitchFamily="49" charset="-122"/>
        </a:defRPr>
      </a:lvl7pPr>
      <a:lvl8pPr marL="1371600" algn="l" rtl="0" fontAlgn="base">
        <a:spcBef>
          <a:spcPct val="0"/>
        </a:spcBef>
        <a:spcAft>
          <a:spcPct val="0"/>
        </a:spcAft>
        <a:defRPr sz="1400">
          <a:solidFill>
            <a:schemeClr val="tx2"/>
          </a:solidFill>
          <a:latin typeface="Arial" panose="020B0604020202020204" pitchFamily="34" charset="0"/>
          <a:ea typeface="汉仪中黑简" pitchFamily="49" charset="-122"/>
        </a:defRPr>
      </a:lvl8pPr>
      <a:lvl9pPr marL="1828800" algn="l" rtl="0" fontAlgn="base">
        <a:spcBef>
          <a:spcPct val="0"/>
        </a:spcBef>
        <a:spcAft>
          <a:spcPct val="0"/>
        </a:spcAft>
        <a:defRPr sz="1400">
          <a:solidFill>
            <a:schemeClr val="tx2"/>
          </a:solidFill>
          <a:latin typeface="Arial" panose="020B0604020202020204" pitchFamily="34" charset="0"/>
          <a:ea typeface="汉仪中黑简" pitchFamily="49" charset="-122"/>
        </a:defRPr>
      </a:lvl9pPr>
    </p:titleStyle>
    <p:bodyStyle>
      <a:lvl1pPr marL="342900" indent="-342900" algn="l" rtl="0" eaLnBrk="0" fontAlgn="base" hangingPunct="0">
        <a:spcBef>
          <a:spcPct val="20000"/>
        </a:spcBef>
        <a:spcAft>
          <a:spcPct val="0"/>
        </a:spcAft>
        <a:defRPr sz="200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7.pn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9.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2.xml.rels><?xml version="1.0" encoding="UTF-8" standalone="yes"?>
<Relationships xmlns="http://schemas.openxmlformats.org/package/2006/relationships"><Relationship Id="rId5" Type="http://schemas.openxmlformats.org/officeDocument/2006/relationships/notesSlide" Target="../notesSlides/notesSlide93.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1.png"/><Relationship Id="rId1" Type="http://schemas.openxmlformats.org/officeDocument/2006/relationships/image" Target="../media/image10.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2.png"/></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3.pn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4.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5.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6.pn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7.png"/></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13.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8.png"/></Relationships>
</file>

<file path=ppt/slides/_rels/slide123.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9.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123.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21.png"/><Relationship Id="rId1" Type="http://schemas.openxmlformats.org/officeDocument/2006/relationships/image" Target="../media/image20.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1.xml.rels><?xml version="1.0" encoding="UTF-8" standalone="yes"?>
<Relationships xmlns="http://schemas.openxmlformats.org/package/2006/relationships"><Relationship Id="rId5" Type="http://schemas.openxmlformats.org/officeDocument/2006/relationships/notesSlide" Target="../notesSlides/notesSlide131.x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23.png"/><Relationship Id="rId1" Type="http://schemas.openxmlformats.org/officeDocument/2006/relationships/image" Target="../media/image22.png"/></Relationships>
</file>

<file path=ppt/slides/_rels/slide142.xml.rels><?xml version="1.0" encoding="UTF-8" standalone="yes"?>
<Relationships xmlns="http://schemas.openxmlformats.org/package/2006/relationships"><Relationship Id="rId4" Type="http://schemas.openxmlformats.org/officeDocument/2006/relationships/notesSlide" Target="../notesSlides/notesSlide132.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2.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4.xml.rels><?xml version="1.0" encoding="UTF-8" standalone="yes"?>
<Relationships xmlns="http://schemas.openxmlformats.org/package/2006/relationships"><Relationship Id="rId4" Type="http://schemas.openxmlformats.org/officeDocument/2006/relationships/notesSlide" Target="../notesSlides/notesSlide134.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7.xml.rels><?xml version="1.0" encoding="UTF-8" standalone="yes"?>
<Relationships xmlns="http://schemas.openxmlformats.org/package/2006/relationships"><Relationship Id="rId6" Type="http://schemas.openxmlformats.org/officeDocument/2006/relationships/notesSlide" Target="../notesSlides/notesSlide137.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24.png"/><Relationship Id="rId1" Type="http://schemas.openxmlformats.org/officeDocument/2006/relationships/oleObject" Target="../embeddings/oleObject1.bin"/></Relationships>
</file>

<file path=ppt/slides/_rels/slide148.xml.rels><?xml version="1.0" encoding="UTF-8" standalone="yes"?>
<Relationships xmlns="http://schemas.openxmlformats.org/package/2006/relationships"><Relationship Id="rId4" Type="http://schemas.openxmlformats.org/officeDocument/2006/relationships/notesSlide" Target="../notesSlides/notesSlide138.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25.png"/></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ctrTitle"/>
          </p:nvPr>
        </p:nvSpPr>
        <p:spPr/>
        <p:txBody>
          <a:bodyPr vert="horz" wrap="square" lIns="91440" tIns="45720" rIns="91440" bIns="45720" anchor="ctr" anchorCtr="0"/>
          <a:p>
            <a:pPr algn="ctr">
              <a:buClrTx/>
              <a:buSzTx/>
              <a:buFontTx/>
            </a:pPr>
            <a:r>
              <a:rPr lang="en-US" altLang="zh-CN" sz="7200" dirty="0"/>
              <a:t>Verilog HDL</a:t>
            </a:r>
            <a:r>
              <a:rPr lang="zh-CN" altLang="en-US" sz="7200" dirty="0"/>
              <a:t>基础</a:t>
            </a:r>
            <a:endParaRPr lang="zh-CN" altLang="en-US" sz="7200" dirty="0"/>
          </a:p>
        </p:txBody>
      </p:sp>
      <p:sp>
        <p:nvSpPr>
          <p:cNvPr id="15363" name="副标题 2"/>
          <p:cNvSpPr>
            <a:spLocks noGrp="1"/>
          </p:cNvSpPr>
          <p:nvPr>
            <p:ph type="subTitle" idx="1"/>
          </p:nvPr>
        </p:nvSpPr>
        <p:spPr/>
        <p:txBody>
          <a:bodyPr vert="horz" wrap="square" lIns="91440" tIns="45720" rIns="91440" bIns="45720" anchor="t" anchorCtr="0"/>
          <a:p>
            <a:pPr>
              <a:buClrTx/>
              <a:buSzTx/>
              <a:buFontTx/>
            </a:pPr>
            <a:endParaRPr lang="zh-CN" altLang="en-US" dirty="0">
              <a:latin typeface="+mn-lt"/>
              <a:ea typeface="黑体" panose="02010609060101010101" pitchFamily="49" charset="-122"/>
              <a:cs typeface="+mn-cs"/>
            </a:endParaRPr>
          </a:p>
        </p:txBody>
      </p:sp>
    </p:spTree>
  </p:cSld>
  <p:clrMapOvr>
    <a:masterClrMapping/>
  </p:clrMapOvr>
  <p:transition spd="med">
    <p:blinds dir="vert"/>
    <p:sndAc>
      <p:stSnd>
        <p:snd r:embed="rId1" name="projctor.wav"/>
      </p:stSnd>
    </p:sndAc>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5717" name="Rectangle 5"/>
          <p:cNvSpPr>
            <a:spLocks noGrp="1"/>
          </p:cNvSpPr>
          <p:nvPr>
            <p:ph type="title"/>
          </p:nvPr>
        </p:nvSpPr>
        <p:spPr/>
        <p:txBody>
          <a:bodyPr vert="horz" wrap="square" lIns="91440" tIns="45720" rIns="91440" bIns="45720" anchor="b" anchorCtr="0"/>
          <a:p>
            <a:pPr eaLnBrk="1" hangingPunct="1"/>
            <a:r>
              <a:rPr lang="zh-CN" altLang="en-US" sz="3600" dirty="0">
                <a:latin typeface="黑体" panose="02010609060101010101" pitchFamily="49" charset="-122"/>
                <a:ea typeface="黑体" panose="02010609060101010101" pitchFamily="49" charset="-122"/>
                <a:cs typeface="+mj-cs"/>
              </a:rPr>
              <a:t>硬件描述语言</a:t>
            </a:r>
            <a:r>
              <a:rPr lang="en-US" altLang="zh-CN" sz="3600" dirty="0">
                <a:latin typeface="黑体" panose="02010609060101010101" pitchFamily="49" charset="-122"/>
                <a:ea typeface="黑体" panose="02010609060101010101" pitchFamily="49" charset="-122"/>
                <a:cs typeface="+mj-cs"/>
              </a:rPr>
              <a:t>Verilog HDL</a:t>
            </a:r>
            <a:endParaRPr lang="en-US" altLang="zh-CN" sz="3600" dirty="0">
              <a:latin typeface="黑体" panose="02010609060101010101" pitchFamily="49" charset="-122"/>
              <a:ea typeface="黑体" panose="02010609060101010101" pitchFamily="49" charset="-122"/>
              <a:cs typeface="+mj-cs"/>
            </a:endParaRPr>
          </a:p>
        </p:txBody>
      </p:sp>
      <p:sp>
        <p:nvSpPr>
          <p:cNvPr id="16388" name="内容占位符 1"/>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1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引言</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2  Verilog HDL</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基本结构</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3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数据类型及常量、变量</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4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运算符及表达式</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5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6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赋值语句和块语句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5000"/>
              </a:spcBef>
              <a:spcAft>
                <a:spcPct val="0"/>
              </a:spcAft>
              <a:buClrTx/>
              <a:buSzTx/>
              <a:buFontTx/>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7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条件语句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10000"/>
              </a:lnSpc>
              <a:spcBef>
                <a:spcPct val="5000"/>
              </a:spcBef>
              <a:spcAft>
                <a:spcPct val="0"/>
              </a:spcAft>
              <a:buClr>
                <a:srgbClr val="3333FF"/>
              </a:buClr>
              <a:buSzTx/>
              <a:buFont typeface="Wingdings" panose="05000000000000000000" pitchFamily="2" charset="2"/>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8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循环语句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10000"/>
              </a:lnSpc>
              <a:spcBef>
                <a:spcPct val="5000"/>
              </a:spcBef>
              <a:spcAft>
                <a:spcPct val="0"/>
              </a:spcAft>
              <a:buClr>
                <a:srgbClr val="3333FF"/>
              </a:buClr>
              <a:buSzTx/>
              <a:buFont typeface="Wingdings" panose="05000000000000000000" pitchFamily="2" charset="2"/>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9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结构说明语句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10000"/>
              </a:lnSpc>
              <a:spcBef>
                <a:spcPct val="5000"/>
              </a:spcBef>
              <a:spcAft>
                <a:spcPct val="0"/>
              </a:spcAft>
              <a:buClr>
                <a:srgbClr val="3333FF"/>
              </a:buClr>
              <a:buSzTx/>
              <a:buFont typeface="Wingdings" panose="05000000000000000000" pitchFamily="2" charset="2"/>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10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编译预处理语句</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10000"/>
              </a:lnSpc>
              <a:spcBef>
                <a:spcPct val="5000"/>
              </a:spcBef>
              <a:spcAft>
                <a:spcPct val="0"/>
              </a:spcAft>
              <a:buClr>
                <a:srgbClr val="3333FF"/>
              </a:buClr>
              <a:buSzTx/>
              <a:buFont typeface="Wingdings" panose="05000000000000000000" pitchFamily="2" charset="2"/>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11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语句的顺序执行与并行执行</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0" fontAlgn="base" latinLnBrk="0" hangingPunct="0">
              <a:lnSpc>
                <a:spcPct val="110000"/>
              </a:lnSpc>
              <a:spcBef>
                <a:spcPct val="5000"/>
              </a:spcBef>
              <a:spcAft>
                <a:spcPct val="0"/>
              </a:spcAft>
              <a:buClr>
                <a:srgbClr val="3333FF"/>
              </a:buClr>
              <a:buSzTx/>
              <a:buFont typeface="Wingdings" panose="05000000000000000000" pitchFamily="2" charset="2"/>
              <a:buNone/>
              <a:defRPr/>
            </a:pP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12 </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不同抽象级别的</a:t>
            </a:r>
            <a:r>
              <a:rPr kumimoji="0" lang="en-US" altLang="zh-CN"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Verilog HDL</a:t>
            </a:r>
            <a:r>
              <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rPr>
              <a:t>模型</a:t>
            </a:r>
            <a:endParaRPr kumimoji="0" lang="zh-CN" altLang="en-US" sz="2000" b="0" i="0" u="none" strike="noStrike" kern="0" cap="none" spc="0" normalizeH="0" baseline="0" noProof="1" smtClean="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cover dir="ru"/>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iterate type="wd">
                                    <p:tmPct val="100000"/>
                                  </p:iterate>
                                  <p:childTnLst>
                                    <p:set>
                                      <p:cBhvr>
                                        <p:cTn id="6" dur="1" fill="hold">
                                          <p:stCondLst>
                                            <p:cond delay="0"/>
                                          </p:stCondLst>
                                        </p:cTn>
                                        <p:tgtEl>
                                          <p:spTgt spid="2035717"/>
                                        </p:tgtEl>
                                        <p:attrNameLst>
                                          <p:attrName>style.visibility</p:attrName>
                                        </p:attrNameLst>
                                      </p:cBhvr>
                                      <p:to>
                                        <p:strVal val="visible"/>
                                      </p:to>
                                    </p:set>
                                    <p:anim calcmode="lin" valueType="num">
                                      <p:cBhvr>
                                        <p:cTn id="7" dur="300" fill="hold"/>
                                        <p:tgtEl>
                                          <p:spTgt spid="2035717"/>
                                        </p:tgtEl>
                                        <p:attrNameLst>
                                          <p:attrName>ppt_w</p:attrName>
                                        </p:attrNameLst>
                                      </p:cBhvr>
                                      <p:tavLst>
                                        <p:tav tm="0">
                                          <p:val>
                                            <p:fltVal val="0.000000"/>
                                          </p:val>
                                        </p:tav>
                                        <p:tav tm="100000">
                                          <p:val>
                                            <p:strVal val="#ppt_w"/>
                                          </p:val>
                                        </p:tav>
                                      </p:tavLst>
                                    </p:anim>
                                    <p:anim calcmode="lin" valueType="num">
                                      <p:cBhvr>
                                        <p:cTn id="8" dur="300" fill="hold"/>
                                        <p:tgtEl>
                                          <p:spTgt spid="2035717"/>
                                        </p:tgtEl>
                                        <p:attrNameLst>
                                          <p:attrName>ppt_h</p:attrName>
                                        </p:attrNameLst>
                                      </p:cBhvr>
                                      <p:tavLst>
                                        <p:tav tm="0">
                                          <p:val>
                                            <p:fltVal val="0.00000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571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4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6738" name="Rectangle 2"/>
          <p:cNvSpPr>
            <a:spLocks noGrp="1"/>
          </p:cNvSpPr>
          <p:nvPr>
            <p:ph type="title"/>
          </p:nvPr>
        </p:nvSpPr>
        <p:spPr/>
        <p:txBody>
          <a:bodyPr vert="horz" wrap="square" lIns="91440" tIns="45720" rIns="91440" bIns="45720" anchor="b" anchorCtr="0"/>
          <a:p>
            <a:pPr eaLnBrk="1" hangingPunct="1"/>
            <a:r>
              <a:rPr lang="en-US" altLang="zh-CN" dirty="0">
                <a:latin typeface="黑体" panose="02010609060101010101" pitchFamily="49" charset="-122"/>
                <a:ea typeface="黑体" panose="02010609060101010101" pitchFamily="49" charset="-122"/>
                <a:cs typeface="+mj-cs"/>
              </a:rPr>
              <a:t>1  </a:t>
            </a:r>
            <a:r>
              <a:rPr lang="zh-CN" altLang="en-US" dirty="0">
                <a:latin typeface="黑体" panose="02010609060101010101" pitchFamily="49" charset="-122"/>
                <a:ea typeface="黑体" panose="02010609060101010101" pitchFamily="49" charset="-122"/>
                <a:cs typeface="+mj-cs"/>
              </a:rPr>
              <a:t>引言</a:t>
            </a:r>
            <a:endParaRPr lang="zh-CN" altLang="en-US" dirty="0">
              <a:latin typeface="黑体" panose="02010609060101010101" pitchFamily="49" charset="-122"/>
              <a:ea typeface="黑体" panose="02010609060101010101" pitchFamily="49" charset="-122"/>
              <a:cs typeface="+mj-cs"/>
            </a:endParaRPr>
          </a:p>
        </p:txBody>
      </p:sp>
      <p:sp>
        <p:nvSpPr>
          <p:cNvPr id="2036739" name="Rectangle 3"/>
          <p:cNvSpPr>
            <a:spLocks noGrp="1"/>
          </p:cNvSpPr>
          <p:nvPr>
            <p:ph idx="1"/>
          </p:nvPr>
        </p:nvSpPr>
        <p:spPr/>
        <p:txBody>
          <a:bodyPr vert="horz" wrap="square" lIns="91440" tIns="45720" rIns="91440" bIns="45720" anchor="t" anchorCtr="0"/>
          <a:p>
            <a:pPr eaLnBrk="1" hangingPunct="1">
              <a:lnSpc>
                <a:spcPct val="110000"/>
              </a:lnSpc>
            </a:pPr>
            <a:r>
              <a:rPr lang="en-US" altLang="zh-CN" sz="2800" dirty="0">
                <a:latin typeface="华文楷体" panose="02010600040101010101" pitchFamily="2" charset="-122"/>
                <a:ea typeface="华文楷体" panose="02010600040101010101" pitchFamily="2" charset="-122"/>
                <a:cs typeface="+mn-cs"/>
              </a:rPr>
              <a:t>1.1 </a:t>
            </a:r>
            <a:r>
              <a:rPr lang="zh-CN" altLang="en-US" sz="2800" dirty="0">
                <a:latin typeface="华文楷体" panose="02010600040101010101" pitchFamily="2" charset="-122"/>
                <a:ea typeface="华文楷体" panose="02010600040101010101" pitchFamily="2" charset="-122"/>
                <a:cs typeface="+mn-cs"/>
              </a:rPr>
              <a:t>什么是</a:t>
            </a:r>
            <a:r>
              <a:rPr lang="en-US" altLang="zh-CN" sz="2800" dirty="0">
                <a:latin typeface="华文楷体" panose="02010600040101010101" pitchFamily="2" charset="-122"/>
                <a:ea typeface="华文楷体" panose="02010600040101010101" pitchFamily="2" charset="-122"/>
                <a:cs typeface="+mn-cs"/>
              </a:rPr>
              <a:t>Verilog HDL</a:t>
            </a:r>
            <a:endParaRPr lang="en-US" altLang="zh-CN" sz="2800" dirty="0">
              <a:latin typeface="华文楷体" panose="02010600040101010101" pitchFamily="2" charset="-122"/>
              <a:ea typeface="华文楷体" panose="02010600040101010101" pitchFamily="2" charset="-122"/>
              <a:cs typeface="+mn-cs"/>
            </a:endParaRPr>
          </a:p>
          <a:p>
            <a:pPr eaLnBrk="1" hangingPunct="1">
              <a:lnSpc>
                <a:spcPct val="11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r>
              <a:rPr lang="en-US" altLang="zh-CN" sz="2800" dirty="0">
                <a:latin typeface="华文楷体" panose="02010600040101010101" pitchFamily="2" charset="-122"/>
                <a:ea typeface="华文楷体" panose="02010600040101010101" pitchFamily="2" charset="-122"/>
                <a:cs typeface="+mn-cs"/>
              </a:rPr>
              <a:t>1.2 </a:t>
            </a:r>
            <a:r>
              <a:rPr lang="zh-CN" altLang="en-US" sz="2800" dirty="0">
                <a:latin typeface="华文楷体" panose="02010600040101010101" pitchFamily="2" charset="-122"/>
                <a:ea typeface="华文楷体" panose="02010600040101010101" pitchFamily="2" charset="-122"/>
                <a:cs typeface="+mn-cs"/>
              </a:rPr>
              <a:t>不同层次的</a:t>
            </a:r>
            <a:r>
              <a:rPr lang="en-US" altLang="zh-CN" sz="2800" dirty="0">
                <a:latin typeface="华文楷体" panose="02010600040101010101" pitchFamily="2" charset="-122"/>
                <a:ea typeface="华文楷体" panose="02010600040101010101" pitchFamily="2" charset="-122"/>
                <a:cs typeface="+mn-cs"/>
              </a:rPr>
              <a:t>Verilog HDL</a:t>
            </a:r>
            <a:r>
              <a:rPr lang="zh-CN" altLang="en-US" sz="2800" dirty="0">
                <a:latin typeface="华文楷体" panose="02010600040101010101" pitchFamily="2" charset="-122"/>
                <a:ea typeface="华文楷体" panose="02010600040101010101" pitchFamily="2" charset="-122"/>
                <a:cs typeface="+mn-cs"/>
              </a:rPr>
              <a:t>抽象</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r>
              <a:rPr lang="zh-CN" altLang="en-US" sz="2800" dirty="0">
                <a:latin typeface="华文楷体" panose="02010600040101010101" pitchFamily="2" charset="-122"/>
                <a:ea typeface="华文楷体" panose="02010600040101010101" pitchFamily="2" charset="-122"/>
                <a:cs typeface="+mn-cs"/>
              </a:rPr>
              <a:t> </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r>
              <a:rPr lang="en-US" altLang="zh-CN" sz="2800" dirty="0">
                <a:latin typeface="华文楷体" panose="02010600040101010101" pitchFamily="2" charset="-122"/>
                <a:ea typeface="华文楷体" panose="02010600040101010101" pitchFamily="2" charset="-122"/>
                <a:cs typeface="+mn-cs"/>
              </a:rPr>
              <a:t>1.3 Verilog HDL</a:t>
            </a:r>
            <a:r>
              <a:rPr lang="zh-CN" altLang="en-US" sz="2800" dirty="0">
                <a:latin typeface="华文楷体" panose="02010600040101010101" pitchFamily="2" charset="-122"/>
                <a:ea typeface="华文楷体" panose="02010600040101010101" pitchFamily="2" charset="-122"/>
                <a:cs typeface="+mn-cs"/>
              </a:rPr>
              <a:t>的特点</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endParaRPr lang="en-US" altLang="zh-CN" sz="2800" dirty="0">
              <a:solidFill>
                <a:srgbClr val="FF0000"/>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36738"/>
                                        </p:tgtEl>
                                        <p:attrNameLst>
                                          <p:attrName>style.visibility</p:attrName>
                                        </p:attrNameLst>
                                      </p:cBhvr>
                                      <p:to>
                                        <p:strVal val="visible"/>
                                      </p:to>
                                    </p:set>
                                    <p:anim calcmode="lin" valueType="num">
                                      <p:cBhvr additive="base">
                                        <p:cTn id="7" dur="500" fill="hold"/>
                                        <p:tgtEl>
                                          <p:spTgt spid="2036738"/>
                                        </p:tgtEl>
                                        <p:attrNameLst>
                                          <p:attrName>ppt_x</p:attrName>
                                        </p:attrNameLst>
                                      </p:cBhvr>
                                      <p:tavLst>
                                        <p:tav tm="0">
                                          <p:val>
                                            <p:strVal val="#ppt_x"/>
                                          </p:val>
                                        </p:tav>
                                        <p:tav tm="100000">
                                          <p:val>
                                            <p:strVal val="#ppt_x"/>
                                          </p:val>
                                        </p:tav>
                                      </p:tavLst>
                                    </p:anim>
                                    <p:anim calcmode="lin" valueType="num">
                                      <p:cBhvr additive="base">
                                        <p:cTn id="8" dur="500" fill="hold"/>
                                        <p:tgtEl>
                                          <p:spTgt spid="203673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036739"/>
                                        </p:tgtEl>
                                        <p:attrNameLst>
                                          <p:attrName>style.visibility</p:attrName>
                                        </p:attrNameLst>
                                      </p:cBhvr>
                                      <p:to>
                                        <p:strVal val="visible"/>
                                      </p:to>
                                    </p:set>
                                    <p:anim calcmode="lin" valueType="num">
                                      <p:cBhvr additive="base">
                                        <p:cTn id="12" dur="500" fill="hold"/>
                                        <p:tgtEl>
                                          <p:spTgt spid="2036739"/>
                                        </p:tgtEl>
                                        <p:attrNameLst>
                                          <p:attrName>ppt_x</p:attrName>
                                        </p:attrNameLst>
                                      </p:cBhvr>
                                      <p:tavLst>
                                        <p:tav tm="0">
                                          <p:val>
                                            <p:strVal val="#ppt_x"/>
                                          </p:val>
                                        </p:tav>
                                        <p:tav tm="100000">
                                          <p:val>
                                            <p:strVal val="#ppt_x"/>
                                          </p:val>
                                        </p:tav>
                                      </p:tavLst>
                                    </p:anim>
                                    <p:anim calcmode="lin" valueType="num">
                                      <p:cBhvr additive="base">
                                        <p:cTn id="13" dur="500" fill="hold"/>
                                        <p:tgtEl>
                                          <p:spTgt spid="203673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6738" grpId="0"/>
      <p:bldP spid="2036739"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45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459" name="Rectangle 2"/>
          <p:cNvSpPr>
            <a:spLocks noGrp="1"/>
          </p:cNvSpPr>
          <p:nvPr>
            <p:ph type="title"/>
          </p:nvPr>
        </p:nvSpPr>
        <p:spPr/>
        <p:txBody>
          <a:bodyPr vert="horz" wrap="square" lIns="91440" tIns="45720" rIns="91440" bIns="45720" anchor="b" anchorCtr="0"/>
          <a:p>
            <a:pPr eaLnBrk="1" hangingPunct="1"/>
            <a:r>
              <a:rPr lang="en-US" altLang="zh-CN" dirty="0">
                <a:latin typeface="黑体" panose="02010609060101010101" pitchFamily="49" charset="-122"/>
                <a:ea typeface="黑体" panose="02010609060101010101" pitchFamily="49" charset="-122"/>
                <a:cs typeface="+mj-cs"/>
              </a:rPr>
              <a:t>1  </a:t>
            </a:r>
            <a:r>
              <a:rPr lang="zh-CN" altLang="en-US" dirty="0">
                <a:latin typeface="黑体" panose="02010609060101010101" pitchFamily="49" charset="-122"/>
                <a:ea typeface="黑体" panose="02010609060101010101" pitchFamily="49" charset="-122"/>
                <a:cs typeface="+mj-cs"/>
              </a:rPr>
              <a:t>引言</a:t>
            </a:r>
            <a:endParaRPr lang="zh-CN" altLang="en-US" dirty="0">
              <a:latin typeface="黑体" panose="02010609060101010101" pitchFamily="49" charset="-122"/>
              <a:ea typeface="黑体" panose="02010609060101010101" pitchFamily="49" charset="-122"/>
              <a:cs typeface="+mj-cs"/>
            </a:endParaRPr>
          </a:p>
        </p:txBody>
      </p:sp>
      <p:sp>
        <p:nvSpPr>
          <p:cNvPr id="1582083" name="Rectangle 3"/>
          <p:cNvSpPr>
            <a:spLocks noGrp="1"/>
          </p:cNvSpPr>
          <p:nvPr>
            <p:ph idx="1"/>
          </p:nvPr>
        </p:nvSpPr>
        <p:spPr/>
        <p:txBody>
          <a:bodyPr vert="horz" wrap="square" lIns="91440" tIns="45720" rIns="91440" bIns="45720" anchor="t" anchorCtr="0"/>
          <a:p>
            <a:pPr algn="just" eaLnBrk="1" hangingPunct="1">
              <a:lnSpc>
                <a:spcPct val="110000"/>
              </a:lnSpc>
              <a:spcBef>
                <a:spcPct val="5000"/>
              </a:spcBef>
            </a:pPr>
            <a:r>
              <a:rPr lang="en-US" altLang="zh-CN" sz="2800" dirty="0">
                <a:latin typeface="Times New Roman" panose="02020603050405020304" pitchFamily="18" charset="0"/>
                <a:ea typeface="黑体" panose="02010609060101010101" pitchFamily="49" charset="-122"/>
                <a:cs typeface="+mn-cs"/>
              </a:rPr>
              <a:t>1.1 </a:t>
            </a:r>
            <a:r>
              <a:rPr lang="zh-CN" altLang="en-US" sz="2800" dirty="0">
                <a:latin typeface="Times New Roman" panose="02020603050405020304" pitchFamily="18" charset="0"/>
                <a:ea typeface="华文楷体" panose="02010600040101010101" pitchFamily="2" charset="-122"/>
                <a:cs typeface="+mn-cs"/>
              </a:rPr>
              <a:t>什么是</a:t>
            </a:r>
            <a:r>
              <a:rPr lang="en-US" altLang="zh-CN" sz="2800" dirty="0">
                <a:latin typeface="Times New Roman" panose="02020603050405020304" pitchFamily="18" charset="0"/>
                <a:ea typeface="黑体" panose="02010609060101010101" pitchFamily="49" charset="-122"/>
                <a:cs typeface="+mn-cs"/>
              </a:rPr>
              <a:t>Verilog HDL</a:t>
            </a:r>
            <a:endParaRPr lang="en-US" altLang="zh-CN" sz="2800" dirty="0">
              <a:latin typeface="Times New Roman" panose="02020603050405020304" pitchFamily="18" charset="0"/>
              <a:ea typeface="黑体" panose="02010609060101010101" pitchFamily="49" charset="-122"/>
              <a:cs typeface="+mn-cs"/>
            </a:endParaRPr>
          </a:p>
          <a:p>
            <a:pPr algn="just">
              <a:lnSpc>
                <a:spcPct val="110000"/>
              </a:lnSpc>
              <a:spcBef>
                <a:spcPct val="5000"/>
              </a:spcBef>
              <a:buClr>
                <a:schemeClr val="folHlink"/>
              </a:buClr>
            </a:pPr>
            <a:r>
              <a:rPr lang="en-US" altLang="zh-CN" dirty="0">
                <a:latin typeface="Times New Roman" panose="02020603050405020304" pitchFamily="18" charset="0"/>
                <a:ea typeface="黑体" panose="02010609060101010101" pitchFamily="49" charset="-122"/>
                <a:cs typeface="+mn-cs"/>
              </a:rPr>
              <a:t>     </a:t>
            </a:r>
            <a:r>
              <a:rPr lang="en-US" altLang="zh-CN" dirty="0">
                <a:latin typeface="华文楷体" panose="02010600040101010101" pitchFamily="2" charset="-122"/>
                <a:ea typeface="华文楷体" panose="02010600040101010101" pitchFamily="2" charset="-122"/>
                <a:cs typeface="+mn-cs"/>
              </a:rPr>
              <a:t>     Verilog HDL</a:t>
            </a:r>
            <a:r>
              <a:rPr lang="zh-CN" altLang="en-US" dirty="0">
                <a:latin typeface="华文楷体" panose="02010600040101010101" pitchFamily="2" charset="-122"/>
                <a:ea typeface="华文楷体" panose="02010600040101010101" pitchFamily="2" charset="-122"/>
                <a:cs typeface="+mn-cs"/>
              </a:rPr>
              <a:t>是一种用于数字逻辑电路设计的硬件描述语言（</a:t>
            </a:r>
            <a:r>
              <a:rPr lang="en-US" altLang="zh-CN" dirty="0">
                <a:latin typeface="华文楷体" panose="02010600040101010101" pitchFamily="2" charset="-122"/>
                <a:ea typeface="华文楷体" panose="02010600040101010101" pitchFamily="2" charset="-122"/>
                <a:cs typeface="+mn-cs"/>
              </a:rPr>
              <a:t>Hradware Description Language )</a:t>
            </a:r>
            <a:r>
              <a:rPr lang="zh-CN" altLang="en-US" dirty="0">
                <a:latin typeface="华文楷体" panose="02010600040101010101" pitchFamily="2" charset="-122"/>
                <a:ea typeface="华文楷体" panose="02010600040101010101" pitchFamily="2" charset="-122"/>
                <a:cs typeface="+mn-cs"/>
              </a:rPr>
              <a:t>，可以用来进行数字电路的仿真验证、时序分析、逻辑综合。</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5000"/>
              </a:spcBef>
              <a:buClr>
                <a:schemeClr val="folHlink"/>
              </a:buClr>
            </a:pPr>
            <a:r>
              <a:rPr lang="zh-CN" altLang="en-US" dirty="0">
                <a:latin typeface="华文楷体" panose="02010600040101010101" pitchFamily="2" charset="-122"/>
                <a:ea typeface="华文楷体" panose="02010600040101010101" pitchFamily="2" charset="-122"/>
                <a:cs typeface="+mn-cs"/>
              </a:rPr>
              <a:t>          用</a:t>
            </a:r>
            <a:r>
              <a:rPr lang="en-US" altLang="zh-CN" dirty="0">
                <a:latin typeface="华文楷体" panose="02010600040101010101" pitchFamily="2" charset="-122"/>
                <a:ea typeface="华文楷体" panose="02010600040101010101" pitchFamily="2" charset="-122"/>
                <a:cs typeface="+mn-cs"/>
              </a:rPr>
              <a:t>Verilog HDL</a:t>
            </a:r>
            <a:r>
              <a:rPr lang="zh-CN" altLang="en-US" dirty="0">
                <a:latin typeface="华文楷体" panose="02010600040101010101" pitchFamily="2" charset="-122"/>
                <a:ea typeface="华文楷体" panose="02010600040101010101" pitchFamily="2" charset="-122"/>
                <a:cs typeface="+mn-cs"/>
              </a:rPr>
              <a:t>描述的电路设计就是该电路的</a:t>
            </a:r>
            <a:r>
              <a:rPr lang="en-US" altLang="zh-CN" dirty="0">
                <a:latin typeface="华文楷体" panose="02010600040101010101" pitchFamily="2" charset="-122"/>
                <a:ea typeface="华文楷体" panose="02010600040101010101" pitchFamily="2" charset="-122"/>
                <a:cs typeface="+mn-cs"/>
              </a:rPr>
              <a:t>Verilog HDL</a:t>
            </a:r>
            <a:r>
              <a:rPr lang="zh-CN" altLang="en-US" dirty="0">
                <a:latin typeface="华文楷体" panose="02010600040101010101" pitchFamily="2" charset="-122"/>
                <a:ea typeface="华文楷体" panose="02010600040101010101" pitchFamily="2" charset="-122"/>
                <a:cs typeface="+mn-cs"/>
              </a:rPr>
              <a:t>模型。       </a:t>
            </a:r>
            <a:r>
              <a:rPr lang="en-US" altLang="zh-CN" dirty="0">
                <a:latin typeface="华文楷体" panose="02010600040101010101" pitchFamily="2" charset="-122"/>
                <a:ea typeface="华文楷体" panose="02010600040101010101" pitchFamily="2" charset="-122"/>
                <a:cs typeface="+mn-cs"/>
              </a:rPr>
              <a:t>Verilog HDL </a:t>
            </a:r>
            <a:r>
              <a:rPr lang="zh-CN" altLang="en-US" dirty="0">
                <a:latin typeface="华文楷体" panose="02010600040101010101" pitchFamily="2" charset="-122"/>
                <a:ea typeface="华文楷体" panose="02010600040101010101" pitchFamily="2" charset="-122"/>
                <a:cs typeface="+mn-cs"/>
              </a:rPr>
              <a:t>既是一种</a:t>
            </a:r>
            <a:r>
              <a:rPr lang="zh-CN" altLang="en-US" dirty="0">
                <a:solidFill>
                  <a:srgbClr val="FF0000"/>
                </a:solidFill>
                <a:latin typeface="华文楷体" panose="02010600040101010101" pitchFamily="2" charset="-122"/>
                <a:ea typeface="华文楷体" panose="02010600040101010101" pitchFamily="2" charset="-122"/>
                <a:cs typeface="+mn-cs"/>
              </a:rPr>
              <a:t>行为</a:t>
            </a:r>
            <a:r>
              <a:rPr lang="zh-CN" altLang="en-US" dirty="0">
                <a:latin typeface="华文楷体" panose="02010600040101010101" pitchFamily="2" charset="-122"/>
                <a:ea typeface="华文楷体" panose="02010600040101010101" pitchFamily="2" charset="-122"/>
                <a:cs typeface="+mn-cs"/>
              </a:rPr>
              <a:t>描述语言也是一种</a:t>
            </a:r>
            <a:r>
              <a:rPr lang="zh-CN" altLang="en-US" dirty="0">
                <a:solidFill>
                  <a:srgbClr val="FF0000"/>
                </a:solidFill>
                <a:latin typeface="华文楷体" panose="02010600040101010101" pitchFamily="2" charset="-122"/>
                <a:ea typeface="华文楷体" panose="02010600040101010101" pitchFamily="2" charset="-122"/>
                <a:cs typeface="+mn-cs"/>
              </a:rPr>
              <a:t>结构</a:t>
            </a:r>
            <a:r>
              <a:rPr lang="zh-CN" altLang="en-US" dirty="0">
                <a:latin typeface="华文楷体" panose="02010600040101010101" pitchFamily="2" charset="-122"/>
                <a:ea typeface="华文楷体" panose="02010600040101010101" pitchFamily="2" charset="-122"/>
                <a:cs typeface="+mn-cs"/>
              </a:rPr>
              <a:t>描述语言。</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5000"/>
              </a:spcBef>
            </a:pP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5000"/>
              </a:spcBef>
              <a:buClr>
                <a:schemeClr val="folHlink"/>
              </a:buClr>
            </a:pPr>
            <a:r>
              <a:rPr lang="zh-CN" altLang="en-US" dirty="0">
                <a:latin typeface="华文楷体" panose="02010600040101010101" pitchFamily="2" charset="-122"/>
                <a:ea typeface="华文楷体" panose="02010600040101010101" pitchFamily="2" charset="-122"/>
                <a:cs typeface="+mn-cs"/>
              </a:rPr>
              <a:t>   </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5000"/>
              </a:spcBef>
              <a:buClr>
                <a:schemeClr val="folHlink"/>
              </a:buClr>
            </a:pP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5000"/>
              </a:spcBef>
              <a:buClr>
                <a:schemeClr val="folHlink"/>
              </a:buClr>
            </a:pPr>
            <a:r>
              <a:rPr lang="zh-CN" altLang="en-US" dirty="0">
                <a:latin typeface="华文楷体" panose="02010600040101010101" pitchFamily="2" charset="-122"/>
                <a:ea typeface="华文楷体" panose="02010600040101010101" pitchFamily="2" charset="-122"/>
                <a:cs typeface="+mn-cs"/>
              </a:rPr>
              <a:t>   既可以用电路的功能描述，也可以用元器件及其之间的连接来建立</a:t>
            </a:r>
            <a:r>
              <a:rPr lang="en-US" altLang="zh-CN" dirty="0">
                <a:latin typeface="华文楷体" panose="02010600040101010101" pitchFamily="2" charset="-122"/>
                <a:ea typeface="华文楷体" panose="02010600040101010101" pitchFamily="2" charset="-122"/>
                <a:cs typeface="+mn-cs"/>
              </a:rPr>
              <a:t>Verilog HDL</a:t>
            </a:r>
            <a:r>
              <a:rPr lang="zh-CN" altLang="en-US" dirty="0">
                <a:latin typeface="华文楷体" panose="02010600040101010101" pitchFamily="2" charset="-122"/>
                <a:ea typeface="华文楷体" panose="02010600040101010101" pitchFamily="2" charset="-122"/>
                <a:cs typeface="+mn-cs"/>
              </a:rPr>
              <a:t>模型。</a:t>
            </a:r>
            <a:endParaRPr lang="zh-CN" altLang="en-US" dirty="0">
              <a:latin typeface="华文楷体" panose="02010600040101010101" pitchFamily="2" charset="-122"/>
              <a:ea typeface="华文楷体" panose="02010600040101010101" pitchFamily="2" charset="-122"/>
              <a:cs typeface="+mn-cs"/>
            </a:endParaRPr>
          </a:p>
        </p:txBody>
      </p:sp>
      <p:sp>
        <p:nvSpPr>
          <p:cNvPr id="1582084" name="Line 4"/>
          <p:cNvSpPr/>
          <p:nvPr/>
        </p:nvSpPr>
        <p:spPr>
          <a:xfrm flipH="1">
            <a:off x="2720975" y="3509963"/>
            <a:ext cx="768350" cy="811212"/>
          </a:xfrm>
          <a:prstGeom prst="line">
            <a:avLst/>
          </a:prstGeom>
          <a:ln w="22225" cap="flat" cmpd="sng">
            <a:solidFill>
              <a:srgbClr val="FF0000"/>
            </a:solidFill>
            <a:prstDash val="solid"/>
            <a:headEnd type="none" w="med" len="med"/>
            <a:tailEnd type="triangle" w="med" len="med"/>
          </a:ln>
        </p:spPr>
      </p:sp>
      <p:sp>
        <p:nvSpPr>
          <p:cNvPr id="1582085" name="Line 5"/>
          <p:cNvSpPr/>
          <p:nvPr/>
        </p:nvSpPr>
        <p:spPr>
          <a:xfrm flipH="1">
            <a:off x="5529263" y="3424238"/>
            <a:ext cx="698500" cy="896937"/>
          </a:xfrm>
          <a:prstGeom prst="line">
            <a:avLst/>
          </a:prstGeom>
          <a:ln w="22225" cap="flat" cmpd="sng">
            <a:solidFill>
              <a:srgbClr val="FF0000"/>
            </a:solidFill>
            <a:prstDash val="solid"/>
            <a:headEnd type="none" w="med" len="med"/>
            <a:tailEnd type="triangle" w="med" len="med"/>
          </a:ln>
        </p:spPr>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82083"/>
                                        </p:tgtEl>
                                        <p:attrNameLst>
                                          <p:attrName>style.visibility</p:attrName>
                                        </p:attrNameLst>
                                      </p:cBhvr>
                                      <p:to>
                                        <p:strVal val="visible"/>
                                      </p:to>
                                    </p:set>
                                    <p:anim calcmode="lin" valueType="num">
                                      <p:cBhvr additive="base">
                                        <p:cTn id="7" dur="500" fill="hold"/>
                                        <p:tgtEl>
                                          <p:spTgt spid="1582083"/>
                                        </p:tgtEl>
                                        <p:attrNameLst>
                                          <p:attrName>ppt_x</p:attrName>
                                        </p:attrNameLst>
                                      </p:cBhvr>
                                      <p:tavLst>
                                        <p:tav tm="0">
                                          <p:val>
                                            <p:strVal val="0-#ppt_w/2"/>
                                          </p:val>
                                        </p:tav>
                                        <p:tav tm="100000">
                                          <p:val>
                                            <p:strVal val="#ppt_x"/>
                                          </p:val>
                                        </p:tav>
                                      </p:tavLst>
                                    </p:anim>
                                    <p:anim calcmode="lin" valueType="num">
                                      <p:cBhvr additive="base">
                                        <p:cTn id="8" dur="500" fill="hold"/>
                                        <p:tgtEl>
                                          <p:spTgt spid="15820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 fill="hold" nodeType="clickEffect">
                                  <p:stCondLst>
                                    <p:cond delay="0"/>
                                  </p:stCondLst>
                                  <p:childTnLst>
                                    <p:set>
                                      <p:cBhvr>
                                        <p:cTn id="12" dur="1" fill="hold">
                                          <p:stCondLst>
                                            <p:cond delay="0"/>
                                          </p:stCondLst>
                                        </p:cTn>
                                        <p:tgtEl>
                                          <p:spTgt spid="1582084"/>
                                        </p:tgtEl>
                                        <p:attrNameLst>
                                          <p:attrName>style.visibility</p:attrName>
                                        </p:attrNameLst>
                                      </p:cBhvr>
                                      <p:to>
                                        <p:strVal val="visible"/>
                                      </p:to>
                                    </p:set>
                                    <p:anim calcmode="lin" valueType="num">
                                      <p:cBhvr>
                                        <p:cTn id="13" dur="500" fill="hold"/>
                                        <p:tgtEl>
                                          <p:spTgt spid="1582084"/>
                                        </p:tgtEl>
                                        <p:attrNameLst>
                                          <p:attrName>ppt_x</p:attrName>
                                        </p:attrNameLst>
                                      </p:cBhvr>
                                      <p:tavLst>
                                        <p:tav tm="0">
                                          <p:val>
                                            <p:strVal val="#ppt_x"/>
                                          </p:val>
                                        </p:tav>
                                        <p:tav tm="100000">
                                          <p:val>
                                            <p:strVal val="#ppt_x"/>
                                          </p:val>
                                        </p:tav>
                                      </p:tavLst>
                                    </p:anim>
                                    <p:anim calcmode="lin" valueType="num">
                                      <p:cBhvr>
                                        <p:cTn id="14" dur="500" fill="hold"/>
                                        <p:tgtEl>
                                          <p:spTgt spid="1582084"/>
                                        </p:tgtEl>
                                        <p:attrNameLst>
                                          <p:attrName>ppt_y</p:attrName>
                                        </p:attrNameLst>
                                      </p:cBhvr>
                                      <p:tavLst>
                                        <p:tav tm="0">
                                          <p:val>
                                            <p:strVal val="#ppt_y-#ppt_h/2"/>
                                          </p:val>
                                        </p:tav>
                                        <p:tav tm="100000">
                                          <p:val>
                                            <p:strVal val="#ppt_y"/>
                                          </p:val>
                                        </p:tav>
                                      </p:tavLst>
                                    </p:anim>
                                    <p:anim calcmode="lin" valueType="num">
                                      <p:cBhvr>
                                        <p:cTn id="15" dur="500" fill="hold"/>
                                        <p:tgtEl>
                                          <p:spTgt spid="1582084"/>
                                        </p:tgtEl>
                                        <p:attrNameLst>
                                          <p:attrName>ppt_w</p:attrName>
                                        </p:attrNameLst>
                                      </p:cBhvr>
                                      <p:tavLst>
                                        <p:tav tm="0">
                                          <p:val>
                                            <p:strVal val="#ppt_w"/>
                                          </p:val>
                                        </p:tav>
                                        <p:tav tm="100000">
                                          <p:val>
                                            <p:strVal val="#ppt_w"/>
                                          </p:val>
                                        </p:tav>
                                      </p:tavLst>
                                    </p:anim>
                                    <p:anim calcmode="lin" valueType="num">
                                      <p:cBhvr>
                                        <p:cTn id="16" dur="500" fill="hold"/>
                                        <p:tgtEl>
                                          <p:spTgt spid="1582084"/>
                                        </p:tgtEl>
                                        <p:attrNameLst>
                                          <p:attrName>ppt_h</p:attrName>
                                        </p:attrNameLst>
                                      </p:cBhvr>
                                      <p:tavLst>
                                        <p:tav tm="0">
                                          <p:val>
                                            <p:fltVal val="0.00000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 fill="hold" nodeType="clickEffect">
                                  <p:stCondLst>
                                    <p:cond delay="0"/>
                                  </p:stCondLst>
                                  <p:childTnLst>
                                    <p:set>
                                      <p:cBhvr>
                                        <p:cTn id="20" dur="1" fill="hold">
                                          <p:stCondLst>
                                            <p:cond delay="0"/>
                                          </p:stCondLst>
                                        </p:cTn>
                                        <p:tgtEl>
                                          <p:spTgt spid="1582085"/>
                                        </p:tgtEl>
                                        <p:attrNameLst>
                                          <p:attrName>style.visibility</p:attrName>
                                        </p:attrNameLst>
                                      </p:cBhvr>
                                      <p:to>
                                        <p:strVal val="visible"/>
                                      </p:to>
                                    </p:set>
                                    <p:anim calcmode="lin" valueType="num">
                                      <p:cBhvr>
                                        <p:cTn id="21" dur="500" fill="hold"/>
                                        <p:tgtEl>
                                          <p:spTgt spid="1582085"/>
                                        </p:tgtEl>
                                        <p:attrNameLst>
                                          <p:attrName>ppt_x</p:attrName>
                                        </p:attrNameLst>
                                      </p:cBhvr>
                                      <p:tavLst>
                                        <p:tav tm="0">
                                          <p:val>
                                            <p:strVal val="#ppt_x"/>
                                          </p:val>
                                        </p:tav>
                                        <p:tav tm="100000">
                                          <p:val>
                                            <p:strVal val="#ppt_x"/>
                                          </p:val>
                                        </p:tav>
                                      </p:tavLst>
                                    </p:anim>
                                    <p:anim calcmode="lin" valueType="num">
                                      <p:cBhvr>
                                        <p:cTn id="22" dur="500" fill="hold"/>
                                        <p:tgtEl>
                                          <p:spTgt spid="1582085"/>
                                        </p:tgtEl>
                                        <p:attrNameLst>
                                          <p:attrName>ppt_y</p:attrName>
                                        </p:attrNameLst>
                                      </p:cBhvr>
                                      <p:tavLst>
                                        <p:tav tm="0">
                                          <p:val>
                                            <p:strVal val="#ppt_y-#ppt_h/2"/>
                                          </p:val>
                                        </p:tav>
                                        <p:tav tm="100000">
                                          <p:val>
                                            <p:strVal val="#ppt_y"/>
                                          </p:val>
                                        </p:tav>
                                      </p:tavLst>
                                    </p:anim>
                                    <p:anim calcmode="lin" valueType="num">
                                      <p:cBhvr>
                                        <p:cTn id="23" dur="500" fill="hold"/>
                                        <p:tgtEl>
                                          <p:spTgt spid="1582085"/>
                                        </p:tgtEl>
                                        <p:attrNameLst>
                                          <p:attrName>ppt_w</p:attrName>
                                        </p:attrNameLst>
                                      </p:cBhvr>
                                      <p:tavLst>
                                        <p:tav tm="0">
                                          <p:val>
                                            <p:strVal val="#ppt_w"/>
                                          </p:val>
                                        </p:tav>
                                        <p:tav tm="100000">
                                          <p:val>
                                            <p:strVal val="#ppt_w"/>
                                          </p:val>
                                        </p:tav>
                                      </p:tavLst>
                                    </p:anim>
                                    <p:anim calcmode="lin" valueType="num">
                                      <p:cBhvr>
                                        <p:cTn id="24" dur="500" fill="hold"/>
                                        <p:tgtEl>
                                          <p:spTgt spid="158208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208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50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50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  </a:t>
            </a:r>
            <a:r>
              <a:rPr lang="zh-CN" altLang="en-US" dirty="0">
                <a:latin typeface="华文楷体" panose="02010600040101010101" pitchFamily="2" charset="-122"/>
                <a:ea typeface="黑体" panose="02010609060101010101" pitchFamily="49" charset="-122"/>
                <a:cs typeface="+mj-cs"/>
              </a:rPr>
              <a:t>引言</a:t>
            </a:r>
            <a:endParaRPr lang="zh-CN" altLang="en-US" dirty="0">
              <a:latin typeface="华文楷体" panose="02010600040101010101" pitchFamily="2" charset="-122"/>
              <a:ea typeface="黑体" panose="02010609060101010101" pitchFamily="49" charset="-122"/>
              <a:cs typeface="+mj-cs"/>
            </a:endParaRPr>
          </a:p>
        </p:txBody>
      </p:sp>
      <p:sp>
        <p:nvSpPr>
          <p:cNvPr id="1586179" name="Rectangle 3"/>
          <p:cNvSpPr>
            <a:spLocks noGrp="1"/>
          </p:cNvSpPr>
          <p:nvPr>
            <p:ph idx="1"/>
          </p:nvPr>
        </p:nvSpPr>
        <p:spPr/>
        <p:txBody>
          <a:bodyPr vert="horz" wrap="square" lIns="91440" tIns="45720" rIns="91440" bIns="45720" anchor="t" anchorCtr="0"/>
          <a:p>
            <a:pPr algn="just" eaLnBrk="1" hangingPunct="1">
              <a:lnSpc>
                <a:spcPct val="90000"/>
              </a:lnSpc>
            </a:pPr>
            <a:r>
              <a:rPr lang="en-US" altLang="zh-CN" dirty="0">
                <a:latin typeface="华文楷体" panose="02010600040101010101" pitchFamily="2" charset="-122"/>
                <a:ea typeface="黑体" panose="02010609060101010101" pitchFamily="49" charset="-122"/>
                <a:cs typeface="+mn-cs"/>
              </a:rPr>
              <a:t>1.2 </a:t>
            </a:r>
            <a:r>
              <a:rPr lang="zh-CN" altLang="en-US" dirty="0">
                <a:latin typeface="华文楷体" panose="02010600040101010101" pitchFamily="2" charset="-122"/>
                <a:ea typeface="华文楷体" panose="02010600040101010101" pitchFamily="2" charset="-122"/>
                <a:cs typeface="+mn-cs"/>
              </a:rPr>
              <a:t>不同层次的</a:t>
            </a:r>
            <a:r>
              <a:rPr lang="en-US" altLang="zh-CN" dirty="0">
                <a:latin typeface="华文楷体" panose="02010600040101010101" pitchFamily="2" charset="-122"/>
                <a:ea typeface="黑体" panose="02010609060101010101" pitchFamily="49" charset="-122"/>
                <a:cs typeface="+mn-cs"/>
              </a:rPr>
              <a:t>Verilog HDL</a:t>
            </a:r>
            <a:r>
              <a:rPr lang="zh-CN" altLang="en-US" dirty="0">
                <a:latin typeface="华文楷体" panose="02010600040101010101" pitchFamily="2" charset="-122"/>
                <a:ea typeface="华文楷体" panose="02010600040101010101" pitchFamily="2" charset="-122"/>
                <a:cs typeface="+mn-cs"/>
              </a:rPr>
              <a:t>抽象</a:t>
            </a:r>
            <a:endParaRPr lang="zh-CN" altLang="en-US" dirty="0">
              <a:latin typeface="华文楷体" panose="02010600040101010101" pitchFamily="2" charset="-122"/>
              <a:ea typeface="华文楷体" panose="02010600040101010101" pitchFamily="2" charset="-122"/>
              <a:cs typeface="+mn-cs"/>
            </a:endParaRPr>
          </a:p>
          <a:p>
            <a:pPr algn="just"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algn="just">
              <a:lnSpc>
                <a:spcPct val="90000"/>
              </a:lnSpc>
              <a:spcBef>
                <a:spcPct val="0"/>
              </a:spcBef>
              <a:buClr>
                <a:schemeClr val="folHlink"/>
              </a:buClr>
            </a:pPr>
            <a:r>
              <a:rPr lang="en-US" altLang="zh-CN" dirty="0">
                <a:latin typeface="华文楷体" panose="02010600040101010101" pitchFamily="2" charset="-122"/>
                <a:ea typeface="黑体" panose="02010609060101010101" pitchFamily="49" charset="-122"/>
                <a:cs typeface="+mn-cs"/>
              </a:rPr>
              <a:t>Verilog HDL</a:t>
            </a:r>
            <a:r>
              <a:rPr lang="zh-CN" altLang="en-US" dirty="0">
                <a:latin typeface="华文楷体" panose="02010600040101010101" pitchFamily="2" charset="-122"/>
                <a:ea typeface="华文楷体" panose="02010600040101010101" pitchFamily="2" charset="-122"/>
                <a:cs typeface="+mn-cs"/>
              </a:rPr>
              <a:t>模型可以是实际电路的不同级别的抽象。抽象级别可分为</a:t>
            </a:r>
            <a:r>
              <a:rPr lang="zh-CN" altLang="en-US" dirty="0">
                <a:solidFill>
                  <a:srgbClr val="FF0066"/>
                </a:solidFill>
                <a:latin typeface="华文楷体" panose="02010600040101010101" pitchFamily="2" charset="-122"/>
                <a:ea typeface="华文楷体" panose="02010600040101010101" pitchFamily="2" charset="-122"/>
                <a:cs typeface="+mn-cs"/>
              </a:rPr>
              <a:t>五</a:t>
            </a:r>
            <a:r>
              <a:rPr lang="zh-CN" altLang="en-US" dirty="0">
                <a:latin typeface="华文楷体" panose="02010600040101010101" pitchFamily="2" charset="-122"/>
                <a:ea typeface="华文楷体" panose="02010600040101010101" pitchFamily="2" charset="-122"/>
                <a:cs typeface="+mn-cs"/>
              </a:rPr>
              <a:t>级：</a:t>
            </a:r>
            <a:endParaRPr lang="zh-CN" altLang="en-US" dirty="0">
              <a:latin typeface="华文楷体" panose="02010600040101010101" pitchFamily="2" charset="-122"/>
              <a:ea typeface="华文楷体" panose="02010600040101010101" pitchFamily="2" charset="-122"/>
              <a:cs typeface="+mn-cs"/>
            </a:endParaRPr>
          </a:p>
          <a:p>
            <a:pPr lvl="1" eaLnBrk="1" hangingPunct="1">
              <a:lnSpc>
                <a:spcPct val="90000"/>
              </a:lnSpc>
              <a:spcBef>
                <a:spcPct val="50000"/>
              </a:spcBef>
            </a:pPr>
            <a:r>
              <a:rPr lang="zh-CN" altLang="en-US" dirty="0">
                <a:solidFill>
                  <a:srgbClr val="FF0000"/>
                </a:solidFill>
                <a:latin typeface="华文楷体" panose="02010600040101010101" pitchFamily="2" charset="-122"/>
                <a:ea typeface="华文楷体" panose="02010600040101010101" pitchFamily="2" charset="-122"/>
              </a:rPr>
              <a:t>系统级</a:t>
            </a:r>
            <a:r>
              <a:rPr lang="en-US" altLang="zh-CN" dirty="0">
                <a:latin typeface="华文楷体" panose="02010600040101010101" pitchFamily="2" charset="-122"/>
                <a:ea typeface="黑体" panose="02010609060101010101" pitchFamily="49" charset="-122"/>
              </a:rPr>
              <a:t>(system level): </a:t>
            </a:r>
            <a:r>
              <a:rPr lang="zh-CN" altLang="en-US" dirty="0">
                <a:latin typeface="华文楷体" panose="02010600040101010101" pitchFamily="2" charset="-122"/>
                <a:ea typeface="华文楷体" panose="02010600040101010101" pitchFamily="2" charset="-122"/>
              </a:rPr>
              <a:t>用高级语言结构（如</a:t>
            </a:r>
            <a:r>
              <a:rPr lang="en-US" altLang="zh-CN" dirty="0">
                <a:latin typeface="华文楷体" panose="02010600040101010101" pitchFamily="2" charset="-122"/>
                <a:ea typeface="黑体" panose="02010609060101010101" pitchFamily="49" charset="-122"/>
              </a:rPr>
              <a:t>case</a:t>
            </a:r>
            <a:r>
              <a:rPr lang="zh-CN" altLang="en-US" dirty="0">
                <a:latin typeface="华文楷体" panose="02010600040101010101" pitchFamily="2" charset="-122"/>
                <a:ea typeface="华文楷体" panose="02010600040101010101" pitchFamily="2" charset="-122"/>
              </a:rPr>
              <a:t>语句）实现的设计模块外部性能的模型；</a:t>
            </a:r>
            <a:endParaRPr lang="zh-CN" altLang="en-US" dirty="0">
              <a:latin typeface="华文楷体" panose="02010600040101010101" pitchFamily="2" charset="-122"/>
              <a:ea typeface="华文楷体" panose="02010600040101010101" pitchFamily="2" charset="-122"/>
            </a:endParaRPr>
          </a:p>
          <a:p>
            <a:pPr lvl="1" eaLnBrk="1" hangingPunct="1">
              <a:lnSpc>
                <a:spcPct val="90000"/>
              </a:lnSpc>
              <a:spcBef>
                <a:spcPct val="50000"/>
              </a:spcBef>
            </a:pPr>
            <a:r>
              <a:rPr lang="zh-CN" altLang="zh-CN" dirty="0">
                <a:solidFill>
                  <a:srgbClr val="FF0000"/>
                </a:solidFill>
                <a:latin typeface="华文楷体" panose="02010600040101010101" pitchFamily="2" charset="-122"/>
                <a:ea typeface="华文楷体" panose="02010600040101010101" pitchFamily="2" charset="-122"/>
              </a:rPr>
              <a:t>算</a:t>
            </a:r>
            <a:r>
              <a:rPr lang="zh-CN" altLang="en-US" dirty="0">
                <a:solidFill>
                  <a:srgbClr val="FF0000"/>
                </a:solidFill>
                <a:latin typeface="华文楷体" panose="02010600040101010101" pitchFamily="2" charset="-122"/>
                <a:ea typeface="华文楷体" panose="02010600040101010101" pitchFamily="2" charset="-122"/>
              </a:rPr>
              <a:t>法级</a:t>
            </a:r>
            <a:r>
              <a:rPr lang="en-US" altLang="zh-CN" dirty="0">
                <a:latin typeface="华文楷体" panose="02010600040101010101" pitchFamily="2" charset="-122"/>
                <a:ea typeface="黑体" panose="02010609060101010101" pitchFamily="49" charset="-122"/>
              </a:rPr>
              <a:t>(algorithmic level): </a:t>
            </a:r>
            <a:r>
              <a:rPr lang="zh-CN" altLang="en-US" dirty="0">
                <a:latin typeface="华文楷体" panose="02010600040101010101" pitchFamily="2" charset="-122"/>
                <a:ea typeface="华文楷体" panose="02010600040101010101" pitchFamily="2" charset="-122"/>
              </a:rPr>
              <a:t>用高级语言结构实现的设计算法模型（写出逻辑表达式）；</a:t>
            </a:r>
            <a:endParaRPr lang="zh-CN" altLang="en-US" dirty="0">
              <a:latin typeface="华文楷体" panose="02010600040101010101" pitchFamily="2" charset="-122"/>
              <a:ea typeface="华文楷体" panose="02010600040101010101" pitchFamily="2" charset="-122"/>
            </a:endParaRPr>
          </a:p>
          <a:p>
            <a:pPr lvl="1" eaLnBrk="1" hangingPunct="1">
              <a:lnSpc>
                <a:spcPct val="90000"/>
              </a:lnSpc>
              <a:spcBef>
                <a:spcPct val="50000"/>
              </a:spcBef>
            </a:pPr>
            <a:r>
              <a:rPr lang="en-US" altLang="zh-CN" dirty="0">
                <a:solidFill>
                  <a:srgbClr val="FF0000"/>
                </a:solidFill>
                <a:latin typeface="华文楷体" panose="02010600040101010101" pitchFamily="2" charset="-122"/>
                <a:ea typeface="黑体" panose="02010609060101010101" pitchFamily="49" charset="-122"/>
              </a:rPr>
              <a:t>RTL</a:t>
            </a:r>
            <a:r>
              <a:rPr lang="zh-CN" altLang="en-US" dirty="0">
                <a:solidFill>
                  <a:srgbClr val="FF0000"/>
                </a:solidFill>
                <a:latin typeface="华文楷体" panose="02010600040101010101" pitchFamily="2" charset="-122"/>
                <a:ea typeface="华文楷体" panose="02010600040101010101" pitchFamily="2" charset="-122"/>
              </a:rPr>
              <a:t>级</a:t>
            </a:r>
            <a:r>
              <a:rPr lang="en-US" altLang="zh-CN" dirty="0">
                <a:latin typeface="华文楷体" panose="02010600040101010101" pitchFamily="2" charset="-122"/>
                <a:ea typeface="黑体" panose="02010609060101010101" pitchFamily="49" charset="-122"/>
              </a:rPr>
              <a:t>(register transfer level): </a:t>
            </a:r>
            <a:r>
              <a:rPr lang="zh-CN" altLang="en-US" dirty="0">
                <a:latin typeface="华文楷体" panose="02010600040101010101" pitchFamily="2" charset="-122"/>
                <a:ea typeface="华文楷体" panose="02010600040101010101" pitchFamily="2" charset="-122"/>
              </a:rPr>
              <a:t>描述数据在寄存器之间流动和如何处理这些数据的模型；</a:t>
            </a:r>
            <a:endParaRPr lang="zh-CN" altLang="en-US" dirty="0">
              <a:latin typeface="华文楷体" panose="02010600040101010101" pitchFamily="2" charset="-122"/>
              <a:ea typeface="华文楷体" panose="02010600040101010101" pitchFamily="2" charset="-122"/>
            </a:endParaRPr>
          </a:p>
          <a:p>
            <a:pPr lvl="1" eaLnBrk="1" hangingPunct="1">
              <a:lnSpc>
                <a:spcPct val="90000"/>
              </a:lnSpc>
              <a:spcBef>
                <a:spcPct val="50000"/>
              </a:spcBef>
            </a:pPr>
            <a:r>
              <a:rPr lang="zh-CN" altLang="en-US" dirty="0">
                <a:solidFill>
                  <a:srgbClr val="FF0000"/>
                </a:solidFill>
                <a:latin typeface="华文楷体" panose="02010600040101010101" pitchFamily="2" charset="-122"/>
                <a:ea typeface="华文楷体" panose="02010600040101010101" pitchFamily="2" charset="-122"/>
              </a:rPr>
              <a:t>门级</a:t>
            </a:r>
            <a:r>
              <a:rPr lang="en-US" altLang="zh-CN" dirty="0">
                <a:latin typeface="华文楷体" panose="02010600040101010101" pitchFamily="2" charset="-122"/>
                <a:ea typeface="黑体" panose="02010609060101010101" pitchFamily="49" charset="-122"/>
              </a:rPr>
              <a:t>(gate level): </a:t>
            </a:r>
            <a:r>
              <a:rPr lang="zh-CN" altLang="en-US" dirty="0">
                <a:latin typeface="华文楷体" panose="02010600040101010101" pitchFamily="2" charset="-122"/>
                <a:ea typeface="华文楷体" panose="02010600040101010101" pitchFamily="2" charset="-122"/>
              </a:rPr>
              <a:t>描述逻辑门（如与门、非门、或门、与非门、三态门等）以及逻辑门之间连接的模型；</a:t>
            </a:r>
            <a:endParaRPr lang="zh-CN" altLang="en-US" dirty="0">
              <a:latin typeface="华文楷体" panose="02010600040101010101" pitchFamily="2" charset="-122"/>
              <a:ea typeface="华文楷体" panose="02010600040101010101" pitchFamily="2" charset="-122"/>
            </a:endParaRPr>
          </a:p>
          <a:p>
            <a:pPr lvl="1" eaLnBrk="1" hangingPunct="1">
              <a:lnSpc>
                <a:spcPct val="90000"/>
              </a:lnSpc>
              <a:spcBef>
                <a:spcPct val="50000"/>
              </a:spcBef>
            </a:pPr>
            <a:r>
              <a:rPr lang="zh-CN" altLang="en-US" dirty="0">
                <a:solidFill>
                  <a:srgbClr val="FF0000"/>
                </a:solidFill>
                <a:latin typeface="华文楷体" panose="02010600040101010101" pitchFamily="2" charset="-122"/>
                <a:ea typeface="华文楷体" panose="02010600040101010101" pitchFamily="2" charset="-122"/>
              </a:rPr>
              <a:t>开关级</a:t>
            </a:r>
            <a:r>
              <a:rPr lang="en-US" altLang="zh-CN" dirty="0">
                <a:latin typeface="华文楷体" panose="02010600040101010101" pitchFamily="2" charset="-122"/>
                <a:ea typeface="黑体" panose="02010609060101010101" pitchFamily="49" charset="-122"/>
              </a:rPr>
              <a:t>(switch level): </a:t>
            </a:r>
            <a:r>
              <a:rPr lang="zh-CN" altLang="en-US" dirty="0">
                <a:latin typeface="华文楷体" panose="02010600040101010101" pitchFamily="2" charset="-122"/>
                <a:ea typeface="华文楷体" panose="02010600040101010101" pitchFamily="2" charset="-122"/>
              </a:rPr>
              <a:t>描述器件中三极管和储存节点及其之间连接的模型。</a:t>
            </a:r>
            <a:endParaRPr lang="zh-CN" altLang="en-US" dirty="0">
              <a:latin typeface="华文楷体" panose="02010600040101010101" pitchFamily="2" charset="-122"/>
              <a:ea typeface="华文楷体" panose="02010600040101010101" pitchFamily="2" charset="-122"/>
            </a:endParaRPr>
          </a:p>
        </p:txBody>
      </p:sp>
      <p:sp>
        <p:nvSpPr>
          <p:cNvPr id="21509" name="Text Box 4"/>
          <p:cNvSpPr txBox="1"/>
          <p:nvPr/>
        </p:nvSpPr>
        <p:spPr>
          <a:xfrm>
            <a:off x="4754563" y="6370638"/>
            <a:ext cx="1295400" cy="398462"/>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latin typeface="Tahoma" panose="020B0604030504040204" pitchFamily="34" charset="0"/>
                <a:ea typeface="华文楷体" panose="02010600040101010101" pitchFamily="2" charset="-122"/>
                <a:hlinkClick r:id="rId1" action="ppaction://hlinksldjump"/>
              </a:rPr>
              <a:t>返回</a:t>
            </a:r>
            <a:r>
              <a:rPr lang="en-US" altLang="zh-CN" b="1" dirty="0">
                <a:latin typeface="Times New Roman" panose="02020603050405020304" pitchFamily="18" charset="0"/>
                <a:ea typeface="华文楷体" panose="02010600040101010101" pitchFamily="2" charset="-122"/>
                <a:hlinkClick r:id="rId1" action="ppaction://hlinksldjump"/>
              </a:rPr>
              <a:t>12</a:t>
            </a:r>
            <a:endParaRPr lang="en-US" altLang="zh-CN" b="1" dirty="0">
              <a:latin typeface="Tahoma" panose="020B0604030504040204" pitchFamily="34" charset="0"/>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86179"/>
                                        </p:tgtEl>
                                        <p:attrNameLst>
                                          <p:attrName>style.visibility</p:attrName>
                                        </p:attrNameLst>
                                      </p:cBhvr>
                                      <p:to>
                                        <p:strVal val="visible"/>
                                      </p:to>
                                    </p:set>
                                    <p:anim calcmode="lin" valueType="num">
                                      <p:cBhvr additive="base">
                                        <p:cTn id="7" dur="500" fill="hold"/>
                                        <p:tgtEl>
                                          <p:spTgt spid="1586179"/>
                                        </p:tgtEl>
                                        <p:attrNameLst>
                                          <p:attrName>ppt_x</p:attrName>
                                        </p:attrNameLst>
                                      </p:cBhvr>
                                      <p:tavLst>
                                        <p:tav tm="0">
                                          <p:val>
                                            <p:strVal val="0-#ppt_w/2"/>
                                          </p:val>
                                        </p:tav>
                                        <p:tav tm="100000">
                                          <p:val>
                                            <p:strVal val="#ppt_x"/>
                                          </p:val>
                                        </p:tav>
                                      </p:tavLst>
                                    </p:anim>
                                    <p:anim calcmode="lin" valueType="num">
                                      <p:cBhvr additive="base">
                                        <p:cTn id="8" dur="500" fill="hold"/>
                                        <p:tgtEl>
                                          <p:spTgt spid="15861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6179"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55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55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  </a:t>
            </a:r>
            <a:r>
              <a:rPr lang="zh-CN" altLang="en-US" dirty="0">
                <a:latin typeface="华文楷体" panose="02010600040101010101" pitchFamily="2" charset="-122"/>
                <a:ea typeface="黑体" panose="02010609060101010101" pitchFamily="49" charset="-122"/>
                <a:cs typeface="+mj-cs"/>
              </a:rPr>
              <a:t>引言</a:t>
            </a:r>
            <a:endParaRPr lang="zh-CN" altLang="en-US" dirty="0">
              <a:latin typeface="华文楷体" panose="02010600040101010101" pitchFamily="2" charset="-122"/>
              <a:ea typeface="黑体" panose="02010609060101010101" pitchFamily="49" charset="-122"/>
              <a:cs typeface="+mj-cs"/>
            </a:endParaRPr>
          </a:p>
        </p:txBody>
      </p:sp>
      <p:sp>
        <p:nvSpPr>
          <p:cNvPr id="1588227" name="Rectangle 3"/>
          <p:cNvSpPr>
            <a:spLocks noGrp="1"/>
          </p:cNvSpPr>
          <p:nvPr>
            <p:ph idx="1"/>
          </p:nvPr>
        </p:nvSpPr>
        <p:spPr/>
        <p:txBody>
          <a:bodyPr vert="horz" wrap="square" lIns="91440" tIns="45720" rIns="91440" bIns="45720" anchor="t" anchorCtr="0"/>
          <a:p>
            <a:pPr algn="just" eaLnBrk="1" hangingPunct="1">
              <a:lnSpc>
                <a:spcPct val="120000"/>
              </a:lnSpc>
            </a:pPr>
            <a:r>
              <a:rPr lang="en-US" altLang="zh-CN" dirty="0">
                <a:solidFill>
                  <a:srgbClr val="FF0000"/>
                </a:solidFill>
                <a:latin typeface="华文楷体" panose="02010600040101010101" pitchFamily="2" charset="-122"/>
                <a:ea typeface="黑体" panose="02010609060101010101" pitchFamily="49" charset="-122"/>
                <a:cs typeface="+mn-cs"/>
              </a:rPr>
              <a:t>1.3 Verilog HDL</a:t>
            </a:r>
            <a:r>
              <a:rPr lang="zh-CN" altLang="en-US" dirty="0">
                <a:solidFill>
                  <a:srgbClr val="FF0000"/>
                </a:solidFill>
                <a:latin typeface="华文楷体" panose="02010600040101010101" pitchFamily="2" charset="-122"/>
                <a:ea typeface="华文楷体" panose="02010600040101010101" pitchFamily="2" charset="-122"/>
                <a:cs typeface="+mn-cs"/>
              </a:rPr>
              <a:t>的特点</a:t>
            </a:r>
            <a:endParaRPr lang="zh-CN" altLang="en-US" dirty="0">
              <a:latin typeface="华文楷体" panose="02010600040101010101" pitchFamily="2" charset="-122"/>
              <a:ea typeface="华文楷体" panose="02010600040101010101" pitchFamily="2" charset="-122"/>
              <a:cs typeface="+mn-cs"/>
            </a:endParaRPr>
          </a:p>
          <a:p>
            <a:pPr algn="just">
              <a:lnSpc>
                <a:spcPct val="120000"/>
              </a:lnSpc>
              <a:buClr>
                <a:schemeClr val="folHlink"/>
              </a:buClr>
            </a:pPr>
            <a:r>
              <a:rPr lang="zh-CN" altLang="en-US" dirty="0">
                <a:latin typeface="华文楷体" panose="02010600040101010101" pitchFamily="2" charset="-122"/>
                <a:ea typeface="华文楷体" panose="02010600040101010101" pitchFamily="2" charset="-122"/>
                <a:cs typeface="+mn-cs"/>
              </a:rPr>
              <a:t>语法结构上的主要</a:t>
            </a:r>
            <a:r>
              <a:rPr lang="zh-CN" altLang="en-US" dirty="0">
                <a:solidFill>
                  <a:srgbClr val="FF0000"/>
                </a:solidFill>
                <a:latin typeface="华文楷体" panose="02010600040101010101" pitchFamily="2" charset="-122"/>
                <a:ea typeface="华文楷体" panose="02010600040101010101" pitchFamily="2" charset="-122"/>
                <a:cs typeface="+mn-cs"/>
              </a:rPr>
              <a:t>特点</a:t>
            </a:r>
            <a:r>
              <a:rPr lang="zh-CN" altLang="en-US" dirty="0">
                <a:latin typeface="华文楷体" panose="02010600040101010101" pitchFamily="2" charset="-122"/>
                <a:ea typeface="华文楷体" panose="02010600040101010101" pitchFamily="2" charset="-122"/>
                <a:cs typeface="+mn-cs"/>
              </a:rPr>
              <a:t>：</a:t>
            </a:r>
            <a:endParaRPr lang="zh-CN" altLang="en-US" dirty="0">
              <a:latin typeface="华文楷体" panose="02010600040101010101" pitchFamily="2" charset="-122"/>
              <a:ea typeface="华文楷体" panose="02010600040101010101" pitchFamily="2" charset="-122"/>
              <a:cs typeface="+mn-cs"/>
            </a:endParaRPr>
          </a:p>
          <a:p>
            <a:pPr lvl="1" eaLnBrk="1" hangingPunct="1">
              <a:lnSpc>
                <a:spcPct val="120000"/>
              </a:lnSpc>
            </a:pPr>
            <a:r>
              <a:rPr lang="zh-CN" altLang="en-US" dirty="0">
                <a:latin typeface="华文楷体" panose="02010600040101010101" pitchFamily="2" charset="-122"/>
                <a:ea typeface="华文楷体" panose="02010600040101010101" pitchFamily="2" charset="-122"/>
              </a:rPr>
              <a:t>形式化地表示电路的</a:t>
            </a:r>
            <a:r>
              <a:rPr lang="zh-CN" altLang="en-US" dirty="0">
                <a:solidFill>
                  <a:srgbClr val="FF0000"/>
                </a:solidFill>
                <a:latin typeface="华文楷体" panose="02010600040101010101" pitchFamily="2" charset="-122"/>
                <a:ea typeface="华文楷体" panose="02010600040101010101" pitchFamily="2" charset="-122"/>
              </a:rPr>
              <a:t>行为</a:t>
            </a:r>
            <a:r>
              <a:rPr lang="zh-CN" altLang="en-US" dirty="0">
                <a:latin typeface="华文楷体" panose="02010600040101010101" pitchFamily="2" charset="-122"/>
                <a:ea typeface="华文楷体" panose="02010600040101010101" pitchFamily="2" charset="-122"/>
              </a:rPr>
              <a:t>和</a:t>
            </a:r>
            <a:r>
              <a:rPr lang="zh-CN" altLang="en-US" dirty="0">
                <a:solidFill>
                  <a:srgbClr val="FF0000"/>
                </a:solidFill>
                <a:latin typeface="华文楷体" panose="02010600040101010101" pitchFamily="2" charset="-122"/>
                <a:ea typeface="华文楷体" panose="02010600040101010101" pitchFamily="2" charset="-122"/>
              </a:rPr>
              <a:t>结构</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lvl="1" eaLnBrk="1" hangingPunct="1">
              <a:lnSpc>
                <a:spcPct val="120000"/>
              </a:lnSpc>
            </a:pPr>
            <a:r>
              <a:rPr lang="zh-CN" altLang="zh-CN" dirty="0">
                <a:latin typeface="华文楷体" panose="02010600040101010101" pitchFamily="2" charset="-122"/>
                <a:ea typeface="华文楷体" panose="02010600040101010101" pitchFamily="2" charset="-122"/>
              </a:rPr>
              <a:t>借用</a:t>
            </a:r>
            <a:r>
              <a:rPr lang="en-US" altLang="zh-CN" dirty="0">
                <a:solidFill>
                  <a:srgbClr val="FF0000"/>
                </a:solidFill>
                <a:latin typeface="华文楷体" panose="02010600040101010101" pitchFamily="2" charset="-122"/>
                <a:ea typeface="黑体" panose="02010609060101010101" pitchFamily="49" charset="-122"/>
              </a:rPr>
              <a:t>C</a:t>
            </a:r>
            <a:r>
              <a:rPr lang="zh-CN" altLang="en-US" dirty="0">
                <a:solidFill>
                  <a:srgbClr val="FF0000"/>
                </a:solidFill>
                <a:latin typeface="华文楷体" panose="02010600040101010101" pitchFamily="2" charset="-122"/>
                <a:ea typeface="华文楷体" panose="02010600040101010101" pitchFamily="2" charset="-122"/>
              </a:rPr>
              <a:t>语言</a:t>
            </a:r>
            <a:r>
              <a:rPr lang="zh-CN" altLang="en-US" dirty="0">
                <a:latin typeface="华文楷体" panose="02010600040101010101" pitchFamily="2" charset="-122"/>
                <a:ea typeface="华文楷体" panose="02010600040101010101" pitchFamily="2" charset="-122"/>
              </a:rPr>
              <a:t>的结构和语句；</a:t>
            </a:r>
            <a:endParaRPr lang="zh-CN" altLang="en-US" dirty="0">
              <a:latin typeface="华文楷体" panose="02010600040101010101" pitchFamily="2" charset="-122"/>
              <a:ea typeface="华文楷体" panose="02010600040101010101" pitchFamily="2" charset="-122"/>
            </a:endParaRPr>
          </a:p>
          <a:p>
            <a:pPr lvl="1" eaLnBrk="1" hangingPunct="1">
              <a:lnSpc>
                <a:spcPct val="120000"/>
              </a:lnSpc>
            </a:pPr>
            <a:r>
              <a:rPr lang="zh-CN" altLang="en-US" dirty="0">
                <a:latin typeface="华文楷体" panose="02010600040101010101" pitchFamily="2" charset="-122"/>
                <a:ea typeface="华文楷体" panose="02010600040101010101" pitchFamily="2" charset="-122"/>
              </a:rPr>
              <a:t>可在多个层次上对所设计的系统加以描述，语言对设计规模不加任何限制；</a:t>
            </a:r>
            <a:endParaRPr lang="zh-CN" altLang="en-US" dirty="0">
              <a:latin typeface="华文楷体" panose="02010600040101010101" pitchFamily="2" charset="-122"/>
              <a:ea typeface="华文楷体" panose="02010600040101010101" pitchFamily="2" charset="-122"/>
            </a:endParaRPr>
          </a:p>
          <a:p>
            <a:pPr lvl="1" eaLnBrk="1" hangingPunct="1">
              <a:lnSpc>
                <a:spcPct val="120000"/>
              </a:lnSpc>
            </a:pPr>
            <a:r>
              <a:rPr lang="zh-CN" altLang="en-US" dirty="0">
                <a:latin typeface="华文楷体" panose="02010600040101010101" pitchFamily="2" charset="-122"/>
                <a:ea typeface="华文楷体" panose="02010600040101010101" pitchFamily="2" charset="-122"/>
              </a:rPr>
              <a:t>具有混合建模能力：一个设计中的各子模块可用不同级别的抽象模型来描述；</a:t>
            </a:r>
            <a:endParaRPr lang="zh-CN" altLang="en-US" dirty="0">
              <a:latin typeface="华文楷体" panose="02010600040101010101" pitchFamily="2" charset="-122"/>
              <a:ea typeface="华文楷体" panose="02010600040101010101" pitchFamily="2" charset="-122"/>
            </a:endParaRPr>
          </a:p>
          <a:p>
            <a:pPr lvl="1" eaLnBrk="1" hangingPunct="1">
              <a:lnSpc>
                <a:spcPct val="120000"/>
              </a:lnSpc>
            </a:pPr>
            <a:r>
              <a:rPr lang="zh-CN" altLang="en-US" dirty="0">
                <a:latin typeface="华文楷体" panose="02010600040101010101" pitchFamily="2" charset="-122"/>
                <a:ea typeface="华文楷体" panose="02010600040101010101" pitchFamily="2" charset="-122"/>
              </a:rPr>
              <a:t>基本逻辑门、开关级结构模型均内置于语言中，可直接调用；</a:t>
            </a:r>
            <a:endParaRPr lang="zh-CN" altLang="en-US" dirty="0">
              <a:latin typeface="华文楷体" panose="02010600040101010101" pitchFamily="2" charset="-122"/>
              <a:ea typeface="华文楷体" panose="02010600040101010101" pitchFamily="2" charset="-122"/>
            </a:endParaRPr>
          </a:p>
          <a:p>
            <a:pPr eaLnBrk="1" hangingPunct="1">
              <a:lnSpc>
                <a:spcPct val="120000"/>
              </a:lnSpc>
            </a:pPr>
            <a:r>
              <a:rPr lang="zh-CN" altLang="en-US" dirty="0">
                <a:latin typeface="华文楷体" panose="02010600040101010101" pitchFamily="2" charset="-122"/>
                <a:ea typeface="华文楷体" panose="02010600040101010101" pitchFamily="2" charset="-122"/>
                <a:cs typeface="+mn-cs"/>
              </a:rPr>
              <a:t>       易学易用，功能强</a:t>
            </a:r>
            <a:endParaRPr lang="zh-CN" altLang="en-US"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88227"/>
                                        </p:tgtEl>
                                        <p:attrNameLst>
                                          <p:attrName>style.visibility</p:attrName>
                                        </p:attrNameLst>
                                      </p:cBhvr>
                                      <p:to>
                                        <p:strVal val="visible"/>
                                      </p:to>
                                    </p:set>
                                    <p:anim calcmode="lin" valueType="num">
                                      <p:cBhvr additive="base">
                                        <p:cTn id="7" dur="500" fill="hold"/>
                                        <p:tgtEl>
                                          <p:spTgt spid="1588227"/>
                                        </p:tgtEl>
                                        <p:attrNameLst>
                                          <p:attrName>ppt_x</p:attrName>
                                        </p:attrNameLst>
                                      </p:cBhvr>
                                      <p:tavLst>
                                        <p:tav tm="0">
                                          <p:val>
                                            <p:strVal val="0-#ppt_w/2"/>
                                          </p:val>
                                        </p:tav>
                                        <p:tav tm="100000">
                                          <p:val>
                                            <p:strVal val="#ppt_x"/>
                                          </p:val>
                                        </p:tav>
                                      </p:tavLst>
                                    </p:anim>
                                    <p:anim calcmode="lin" valueType="num">
                                      <p:cBhvr additive="base">
                                        <p:cTn id="8" dur="500" fill="hold"/>
                                        <p:tgtEl>
                                          <p:spTgt spid="1588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822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776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037763" name="Rectangle 3"/>
          <p:cNvSpPr>
            <a:spLocks noGrp="1"/>
          </p:cNvSpPr>
          <p:nvPr>
            <p:ph idx="1"/>
          </p:nvPr>
        </p:nvSpPr>
        <p:spPr/>
        <p:txBody>
          <a:bodyPr vert="horz" wrap="square" lIns="91440" tIns="45720" rIns="91440" bIns="45720" anchor="t" anchorCtr="0"/>
          <a:p>
            <a:pPr eaLnBrk="1" hangingPunct="1">
              <a:lnSpc>
                <a:spcPct val="110000"/>
              </a:lnSpc>
            </a:pPr>
            <a:r>
              <a:rPr lang="en-US" altLang="zh-CN" dirty="0">
                <a:latin typeface="华文楷体" panose="02010600040101010101" pitchFamily="2" charset="-122"/>
                <a:ea typeface="华文楷体" panose="02010600040101010101" pitchFamily="2" charset="-122"/>
                <a:cs typeface="+mn-cs"/>
              </a:rPr>
              <a:t>2.1 </a:t>
            </a:r>
            <a:r>
              <a:rPr lang="zh-CN" altLang="en-US" dirty="0">
                <a:latin typeface="华文楷体" panose="02010600040101010101" pitchFamily="2" charset="-122"/>
                <a:ea typeface="华文楷体" panose="02010600040101010101" pitchFamily="2" charset="-122"/>
                <a:cs typeface="+mn-cs"/>
              </a:rPr>
              <a:t>简单的</a:t>
            </a:r>
            <a:r>
              <a:rPr lang="en-US" altLang="zh-CN" dirty="0">
                <a:latin typeface="华文楷体" panose="02010600040101010101" pitchFamily="2" charset="-122"/>
                <a:ea typeface="华文楷体" panose="02010600040101010101" pitchFamily="2" charset="-122"/>
                <a:cs typeface="+mn-cs"/>
              </a:rPr>
              <a:t>Verilog HDL</a:t>
            </a:r>
            <a:r>
              <a:rPr lang="zh-CN" altLang="en-US" dirty="0">
                <a:latin typeface="华文楷体" panose="02010600040101010101" pitchFamily="2" charset="-122"/>
                <a:ea typeface="华文楷体" panose="02010600040101010101" pitchFamily="2" charset="-122"/>
                <a:cs typeface="+mn-cs"/>
              </a:rPr>
              <a:t>例子</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r>
              <a:rPr lang="en-US" altLang="zh-CN" dirty="0">
                <a:latin typeface="华文楷体" panose="02010600040101010101" pitchFamily="2" charset="-122"/>
                <a:ea typeface="华文楷体" panose="02010600040101010101" pitchFamily="2" charset="-122"/>
                <a:cs typeface="+mn-cs"/>
              </a:rPr>
              <a:t>2.2 Verilog HDL</a:t>
            </a:r>
            <a:r>
              <a:rPr lang="zh-CN" altLang="en-US" dirty="0">
                <a:latin typeface="华文楷体" panose="02010600040101010101" pitchFamily="2" charset="-122"/>
                <a:ea typeface="华文楷体" panose="02010600040101010101" pitchFamily="2" charset="-122"/>
                <a:cs typeface="+mn-cs"/>
              </a:rPr>
              <a:t>模块的结构</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r>
              <a:rPr lang="en-US" altLang="zh-CN" dirty="0">
                <a:latin typeface="华文楷体" panose="02010600040101010101" pitchFamily="2" charset="-122"/>
                <a:ea typeface="华文楷体" panose="02010600040101010101" pitchFamily="2" charset="-122"/>
                <a:cs typeface="+mn-cs"/>
              </a:rPr>
              <a:t>2.3 </a:t>
            </a:r>
            <a:r>
              <a:rPr lang="zh-CN" altLang="en-US" dirty="0">
                <a:latin typeface="华文楷体" panose="02010600040101010101" pitchFamily="2" charset="-122"/>
                <a:ea typeface="华文楷体" panose="02010600040101010101" pitchFamily="2" charset="-122"/>
                <a:cs typeface="+mn-cs"/>
              </a:rPr>
              <a:t>逻辑功能定义</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r>
              <a:rPr lang="en-US" altLang="zh-CN" dirty="0">
                <a:latin typeface="华文楷体" panose="02010600040101010101" pitchFamily="2" charset="-122"/>
                <a:ea typeface="华文楷体" panose="02010600040101010101" pitchFamily="2" charset="-122"/>
                <a:cs typeface="+mn-cs"/>
              </a:rPr>
              <a:t>2.4 </a:t>
            </a:r>
            <a:r>
              <a:rPr lang="zh-CN" altLang="en-US" dirty="0">
                <a:latin typeface="华文楷体" panose="02010600040101010101" pitchFamily="2" charset="-122"/>
                <a:ea typeface="华文楷体" panose="02010600040101010101" pitchFamily="2" charset="-122"/>
                <a:cs typeface="+mn-cs"/>
              </a:rPr>
              <a:t>关键字</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endParaRPr lang="zh-CN" altLang="en-US" dirty="0">
              <a:latin typeface="华文楷体" panose="02010600040101010101" pitchFamily="2" charset="-122"/>
              <a:ea typeface="华文楷体" panose="02010600040101010101" pitchFamily="2" charset="-122"/>
              <a:cs typeface="+mn-cs"/>
            </a:endParaRPr>
          </a:p>
          <a:p>
            <a:pPr eaLnBrk="1" hangingPunct="1">
              <a:lnSpc>
                <a:spcPct val="90000"/>
              </a:lnSpc>
            </a:pPr>
            <a:r>
              <a:rPr lang="en-US" altLang="zh-CN" dirty="0">
                <a:latin typeface="华文楷体" panose="02010600040101010101" pitchFamily="2" charset="-122"/>
                <a:ea typeface="华文楷体" panose="02010600040101010101" pitchFamily="2" charset="-122"/>
                <a:cs typeface="+mn-cs"/>
              </a:rPr>
              <a:t>2.5 </a:t>
            </a:r>
            <a:r>
              <a:rPr lang="zh-CN" altLang="en-US" dirty="0">
                <a:latin typeface="华文楷体" panose="02010600040101010101" pitchFamily="2" charset="-122"/>
                <a:ea typeface="华文楷体" panose="02010600040101010101" pitchFamily="2" charset="-122"/>
                <a:cs typeface="+mn-cs"/>
              </a:rPr>
              <a:t>标识符</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110000"/>
              </a:lnSpc>
            </a:pPr>
            <a:endParaRPr lang="zh-CN" altLang="en-US"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37762"/>
                                        </p:tgtEl>
                                        <p:attrNameLst>
                                          <p:attrName>style.visibility</p:attrName>
                                        </p:attrNameLst>
                                      </p:cBhvr>
                                      <p:to>
                                        <p:strVal val="visible"/>
                                      </p:to>
                                    </p:set>
                                    <p:anim calcmode="lin" valueType="num">
                                      <p:cBhvr additive="base">
                                        <p:cTn id="7" dur="500" fill="hold"/>
                                        <p:tgtEl>
                                          <p:spTgt spid="2037762"/>
                                        </p:tgtEl>
                                        <p:attrNameLst>
                                          <p:attrName>ppt_x</p:attrName>
                                        </p:attrNameLst>
                                      </p:cBhvr>
                                      <p:tavLst>
                                        <p:tav tm="0">
                                          <p:val>
                                            <p:strVal val="#ppt_x"/>
                                          </p:val>
                                        </p:tav>
                                        <p:tav tm="100000">
                                          <p:val>
                                            <p:strVal val="#ppt_x"/>
                                          </p:val>
                                        </p:tav>
                                      </p:tavLst>
                                    </p:anim>
                                    <p:anim calcmode="lin" valueType="num">
                                      <p:cBhvr additive="base">
                                        <p:cTn id="8" dur="500" fill="hold"/>
                                        <p:tgtEl>
                                          <p:spTgt spid="203776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037763"/>
                                        </p:tgtEl>
                                        <p:attrNameLst>
                                          <p:attrName>style.visibility</p:attrName>
                                        </p:attrNameLst>
                                      </p:cBhvr>
                                      <p:to>
                                        <p:strVal val="visible"/>
                                      </p:to>
                                    </p:set>
                                    <p:anim calcmode="lin" valueType="num">
                                      <p:cBhvr additive="base">
                                        <p:cTn id="12" dur="500" fill="hold"/>
                                        <p:tgtEl>
                                          <p:spTgt spid="2037763"/>
                                        </p:tgtEl>
                                        <p:attrNameLst>
                                          <p:attrName>ppt_x</p:attrName>
                                        </p:attrNameLst>
                                      </p:cBhvr>
                                      <p:tavLst>
                                        <p:tav tm="0">
                                          <p:val>
                                            <p:strVal val="#ppt_x"/>
                                          </p:val>
                                        </p:tav>
                                        <p:tav tm="100000">
                                          <p:val>
                                            <p:strVal val="#ppt_x"/>
                                          </p:val>
                                        </p:tav>
                                      </p:tavLst>
                                    </p:anim>
                                    <p:anim calcmode="lin" valueType="num">
                                      <p:cBhvr additive="base">
                                        <p:cTn id="13" dur="500" fill="hold"/>
                                        <p:tgtEl>
                                          <p:spTgt spid="203776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62" grpId="0"/>
      <p:bldP spid="2037763"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6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662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591299" name="Rectangle 3"/>
          <p:cNvSpPr>
            <a:spLocks noGrp="1"/>
          </p:cNvSpPr>
          <p:nvPr>
            <p:ph idx="1"/>
          </p:nvPr>
        </p:nvSpPr>
        <p:spPr/>
        <p:txBody>
          <a:bodyPr vert="horz" wrap="square" lIns="91440" tIns="45720" rIns="91440" bIns="45720" anchor="t" anchorCtr="0"/>
          <a:p>
            <a:pPr algn="just" eaLnBrk="1" hangingPunct="1"/>
            <a:r>
              <a:rPr lang="en-US" altLang="zh-CN" sz="2800" dirty="0">
                <a:latin typeface="华文楷体" panose="02010600040101010101" pitchFamily="2" charset="-122"/>
                <a:ea typeface="黑体" panose="02010609060101010101" pitchFamily="49" charset="-122"/>
                <a:cs typeface="+mn-cs"/>
              </a:rPr>
              <a:t>2.1 </a:t>
            </a:r>
            <a:r>
              <a:rPr lang="zh-CN" altLang="en-US" sz="2800" dirty="0">
                <a:latin typeface="华文楷体" panose="02010600040101010101" pitchFamily="2" charset="-122"/>
                <a:ea typeface="华文楷体" panose="02010600040101010101" pitchFamily="2" charset="-122"/>
                <a:cs typeface="+mn-cs"/>
              </a:rPr>
              <a:t>简单的</a:t>
            </a:r>
            <a:r>
              <a:rPr lang="en-US" altLang="zh-CN" sz="2800" dirty="0">
                <a:latin typeface="华文楷体" panose="02010600040101010101" pitchFamily="2" charset="-122"/>
                <a:ea typeface="黑体" panose="02010609060101010101" pitchFamily="49" charset="-122"/>
                <a:cs typeface="+mn-cs"/>
              </a:rPr>
              <a:t>Verilog HDL</a:t>
            </a:r>
            <a:r>
              <a:rPr lang="zh-CN" altLang="en-US" sz="2800" dirty="0">
                <a:latin typeface="华文楷体" panose="02010600040101010101" pitchFamily="2" charset="-122"/>
                <a:ea typeface="华文楷体" panose="02010600040101010101" pitchFamily="2" charset="-122"/>
                <a:cs typeface="+mn-cs"/>
              </a:rPr>
              <a:t>例子</a:t>
            </a:r>
            <a:endParaRPr lang="zh-CN" altLang="en-US" sz="2800" dirty="0">
              <a:latin typeface="华文楷体" panose="02010600040101010101" pitchFamily="2" charset="-122"/>
              <a:ea typeface="华文楷体" panose="02010600040101010101" pitchFamily="2" charset="-122"/>
              <a:cs typeface="+mn-cs"/>
            </a:endParaRPr>
          </a:p>
          <a:p>
            <a:pPr algn="just" eaLnBrk="1" hangingPunct="1"/>
            <a:r>
              <a:rPr lang="en-US" altLang="zh-CN" dirty="0">
                <a:latin typeface="宋体" panose="02010600030101010101" pitchFamily="2" charset="-122"/>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2.1</a:t>
            </a:r>
            <a:r>
              <a:rPr lang="en-US" altLang="zh-CN" dirty="0">
                <a:latin typeface="宋体" panose="02010600030101010101" pitchFamily="2" charset="-122"/>
                <a:ea typeface="黑体" panose="02010609060101010101" pitchFamily="49" charset="-122"/>
                <a:cs typeface="+mn-cs"/>
              </a:rPr>
              <a:t>] 8</a:t>
            </a:r>
            <a:r>
              <a:rPr lang="zh-CN" altLang="en-US" dirty="0">
                <a:latin typeface="宋体" panose="02010600030101010101" pitchFamily="2" charset="-122"/>
                <a:ea typeface="华文楷体" panose="02010600040101010101" pitchFamily="2" charset="-122"/>
                <a:cs typeface="+mn-cs"/>
              </a:rPr>
              <a:t>位全加器</a:t>
            </a:r>
            <a:endParaRPr lang="zh-CN" altLang="en-US" dirty="0">
              <a:latin typeface="宋体" panose="02010600030101010101" pitchFamily="2" charset="-122"/>
              <a:ea typeface="华文楷体" panose="02010600040101010101" pitchFamily="2" charset="-122"/>
              <a:cs typeface="+mn-cs"/>
            </a:endParaRPr>
          </a:p>
          <a:p>
            <a:pPr algn="just" eaLnBrk="1" hangingPunct="1"/>
            <a:r>
              <a:rPr lang="zh-CN" altLang="en-US" sz="2600" dirty="0">
                <a:latin typeface="宋体" panose="02010600030101010101" pitchFamily="2" charset="-122"/>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module  </a:t>
            </a:r>
            <a:r>
              <a:rPr lang="en-US" altLang="zh-CN" dirty="0">
                <a:solidFill>
                  <a:srgbClr val="FF0066"/>
                </a:solidFill>
                <a:latin typeface="Times New Roman" panose="02020603050405020304" pitchFamily="18" charset="0"/>
                <a:ea typeface="黑体" panose="02010609060101010101" pitchFamily="49" charset="-122"/>
                <a:cs typeface="+mn-cs"/>
              </a:rPr>
              <a:t>adder8</a:t>
            </a:r>
            <a:r>
              <a:rPr lang="en-US" altLang="zh-CN" dirty="0">
                <a:latin typeface="Times New Roman" panose="02020603050405020304" pitchFamily="18" charset="0"/>
                <a:ea typeface="黑体" panose="02010609060101010101" pitchFamily="49" charset="-122"/>
                <a:cs typeface="+mn-cs"/>
              </a:rPr>
              <a:t> ( cout,sum,a,b,cin ); 	</a:t>
            </a:r>
            <a:endParaRPr lang="en-US" altLang="zh-CN" dirty="0">
              <a:latin typeface="Times New Roman" panose="02020603050405020304" pitchFamily="18" charset="0"/>
              <a:ea typeface="黑体" panose="02010609060101010101" pitchFamily="49" charset="-122"/>
              <a:cs typeface="+mn-cs"/>
            </a:endParaRPr>
          </a:p>
          <a:p>
            <a:pPr algn="just">
              <a:spcBef>
                <a:spcPct val="0"/>
              </a:spcBef>
            </a:pPr>
            <a:r>
              <a:rPr lang="en-US" altLang="zh-CN" dirty="0">
                <a:latin typeface="Times New Roman" panose="02020603050405020304" pitchFamily="18" charset="0"/>
                <a:ea typeface="黑体" panose="02010609060101010101" pitchFamily="49" charset="-122"/>
                <a:cs typeface="+mn-cs"/>
              </a:rPr>
              <a:t> 		     output  cout; 		// </a:t>
            </a:r>
            <a:r>
              <a:rPr lang="zh-CN" altLang="en-US" dirty="0">
                <a:latin typeface="Times New Roman" panose="02020603050405020304" pitchFamily="18" charset="0"/>
                <a:ea typeface="华文楷体" panose="02010600040101010101" pitchFamily="2" charset="-122"/>
                <a:cs typeface="+mn-cs"/>
              </a:rPr>
              <a:t>输出端口声明</a:t>
            </a:r>
            <a:endParaRPr lang="zh-CN" altLang="en-US" dirty="0">
              <a:latin typeface="Times New Roman" panose="02020603050405020304" pitchFamily="18" charset="0"/>
              <a:ea typeface="华文楷体" panose="02010600040101010101" pitchFamily="2" charset="-122"/>
              <a:cs typeface="+mn-cs"/>
            </a:endParaRPr>
          </a:p>
          <a:p>
            <a:pPr algn="just">
              <a:spcBef>
                <a:spcPct val="0"/>
              </a:spcBef>
            </a:pP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output [7:0] sum; </a:t>
            </a:r>
            <a:endParaRPr lang="en-US" altLang="zh-CN" dirty="0">
              <a:latin typeface="Times New Roman" panose="02020603050405020304" pitchFamily="18" charset="0"/>
              <a:ea typeface="黑体" panose="02010609060101010101" pitchFamily="49" charset="-122"/>
              <a:cs typeface="+mn-cs"/>
            </a:endParaRPr>
          </a:p>
          <a:p>
            <a:pPr algn="just">
              <a:spcBef>
                <a:spcPct val="0"/>
              </a:spcBef>
            </a:pPr>
            <a:r>
              <a:rPr lang="en-US" altLang="zh-CN" dirty="0">
                <a:latin typeface="Times New Roman" panose="02020603050405020304" pitchFamily="18" charset="0"/>
                <a:ea typeface="黑体" panose="02010609060101010101" pitchFamily="49" charset="-122"/>
                <a:cs typeface="+mn-cs"/>
              </a:rPr>
              <a:t>		     input [7:0] a,b; 		// </a:t>
            </a:r>
            <a:r>
              <a:rPr lang="zh-CN" altLang="en-US" dirty="0">
                <a:latin typeface="Times New Roman" panose="02020603050405020304" pitchFamily="18" charset="0"/>
                <a:ea typeface="华文楷体" panose="02010600040101010101" pitchFamily="2" charset="-122"/>
                <a:cs typeface="+mn-cs"/>
              </a:rPr>
              <a:t>输入端口声明</a:t>
            </a:r>
            <a:endParaRPr lang="zh-CN" altLang="en-US" dirty="0">
              <a:latin typeface="Times New Roman" panose="02020603050405020304" pitchFamily="18" charset="0"/>
              <a:ea typeface="华文楷体" panose="02010600040101010101" pitchFamily="2" charset="-122"/>
              <a:cs typeface="+mn-cs"/>
            </a:endParaRPr>
          </a:p>
          <a:p>
            <a:pPr algn="just">
              <a:spcBef>
                <a:spcPct val="0"/>
              </a:spcBef>
            </a:pP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input   cin;				</a:t>
            </a:r>
            <a:endParaRPr lang="en-US" altLang="zh-CN" dirty="0">
              <a:latin typeface="Times New Roman" panose="02020603050405020304" pitchFamily="18" charset="0"/>
              <a:ea typeface="黑体" panose="02010609060101010101" pitchFamily="49" charset="-122"/>
              <a:cs typeface="+mn-cs"/>
            </a:endParaRPr>
          </a:p>
          <a:p>
            <a:pPr algn="just">
              <a:spcBef>
                <a:spcPct val="0"/>
              </a:spcBef>
            </a:pPr>
            <a:r>
              <a:rPr lang="en-US" altLang="zh-CN" dirty="0">
                <a:latin typeface="Times New Roman" panose="02020603050405020304" pitchFamily="18" charset="0"/>
                <a:ea typeface="黑体" panose="02010609060101010101" pitchFamily="49" charset="-122"/>
                <a:cs typeface="+mn-cs"/>
              </a:rPr>
              <a:t>		     assign {cout,sum}=a+b+cin;	</a:t>
            </a:r>
            <a:endParaRPr lang="en-US" altLang="zh-CN" dirty="0">
              <a:latin typeface="Times New Roman" panose="02020603050405020304" pitchFamily="18" charset="0"/>
              <a:ea typeface="黑体" panose="02010609060101010101" pitchFamily="49" charset="-122"/>
              <a:cs typeface="+mn-cs"/>
            </a:endParaRPr>
          </a:p>
          <a:p>
            <a:pPr algn="just">
              <a:spcBef>
                <a:spcPct val="0"/>
              </a:spcBef>
            </a:pPr>
            <a:r>
              <a:rPr lang="en-US" altLang="zh-CN" dirty="0">
                <a:latin typeface="Times New Roman" panose="02020603050405020304" pitchFamily="18" charset="0"/>
                <a:ea typeface="黑体" panose="02010609060101010101" pitchFamily="49" charset="-122"/>
                <a:cs typeface="+mn-cs"/>
              </a:rPr>
              <a:t>		endmodule </a:t>
            </a:r>
            <a:endParaRPr lang="en-US" altLang="zh-CN" dirty="0">
              <a:latin typeface="Times New Roman" panose="02020603050405020304" pitchFamily="18" charset="0"/>
              <a:ea typeface="黑体" panose="02010609060101010101" pitchFamily="49" charset="-122"/>
              <a:cs typeface="+mn-cs"/>
            </a:endParaRPr>
          </a:p>
          <a:p>
            <a:pPr algn="just">
              <a:spcBef>
                <a:spcPct val="0"/>
              </a:spcBef>
            </a:pPr>
            <a:r>
              <a:rPr lang="en-US" altLang="zh-CN" sz="1600" dirty="0">
                <a:latin typeface="Times New Roman" panose="02020603050405020304" pitchFamily="18" charset="0"/>
                <a:ea typeface="黑体" panose="02010609060101010101" pitchFamily="49" charset="-122"/>
                <a:cs typeface="+mn-cs"/>
              </a:rPr>
              <a:t>        </a:t>
            </a:r>
            <a:endParaRPr lang="en-US" altLang="zh-CN" sz="1600" dirty="0">
              <a:latin typeface="Times New Roman" panose="02020603050405020304" pitchFamily="18" charset="0"/>
              <a:ea typeface="黑体" panose="02010609060101010101" pitchFamily="49" charset="-122"/>
              <a:cs typeface="+mn-cs"/>
            </a:endParaRPr>
          </a:p>
          <a:p>
            <a:pPr algn="just">
              <a:spcBef>
                <a:spcPct val="0"/>
              </a:spcBef>
            </a:pPr>
            <a:r>
              <a:rPr lang="en-US" altLang="zh-CN" sz="1600" dirty="0">
                <a:latin typeface="Times New Roman" panose="02020603050405020304" pitchFamily="18" charset="0"/>
                <a:ea typeface="黑体" panose="02010609060101010101" pitchFamily="49" charset="-122"/>
                <a:cs typeface="+mn-cs"/>
              </a:rPr>
              <a:t>		</a:t>
            </a:r>
            <a:r>
              <a:rPr lang="en-US" altLang="zh-CN" dirty="0">
                <a:latin typeface="Times New Roman" panose="02020603050405020304" pitchFamily="18" charset="0"/>
                <a:ea typeface="黑体" panose="02010609060101010101" pitchFamily="49" charset="-122"/>
                <a:cs typeface="+mn-cs"/>
              </a:rPr>
              <a:t>assign</a:t>
            </a:r>
            <a:r>
              <a:rPr lang="zh-CN" altLang="en-US" dirty="0">
                <a:latin typeface="Times New Roman" panose="02020603050405020304" pitchFamily="18" charset="0"/>
                <a:ea typeface="华文楷体" panose="02010600040101010101" pitchFamily="2" charset="-122"/>
                <a:cs typeface="+mn-cs"/>
              </a:rPr>
              <a:t>语句：无论右边表达式操作数何时发生变化，右边表达式都会重新计算，并且在指定的延迟后给左边表达式赋值。</a:t>
            </a:r>
            <a:endParaRPr lang="en-US" altLang="zh-CN" dirty="0">
              <a:latin typeface="宋体" panose="02010600030101010101" pitchFamily="2" charset="-122"/>
              <a:ea typeface="黑体" panose="02010609060101010101" pitchFamily="49" charset="-122"/>
              <a:cs typeface="+mn-cs"/>
            </a:endParaRPr>
          </a:p>
        </p:txBody>
      </p:sp>
      <p:grpSp>
        <p:nvGrpSpPr>
          <p:cNvPr id="2" name="Group 4"/>
          <p:cNvGrpSpPr/>
          <p:nvPr/>
        </p:nvGrpSpPr>
        <p:grpSpPr>
          <a:xfrm>
            <a:off x="7445375" y="2514600"/>
            <a:ext cx="1447800" cy="609600"/>
            <a:chOff x="4752" y="1776"/>
            <a:chExt cx="912" cy="384"/>
          </a:xfrm>
        </p:grpSpPr>
        <p:grpSp>
          <p:nvGrpSpPr>
            <p:cNvPr id="26635" name="Group 5"/>
            <p:cNvGrpSpPr/>
            <p:nvPr/>
          </p:nvGrpSpPr>
          <p:grpSpPr>
            <a:xfrm>
              <a:off x="4752" y="1776"/>
              <a:ext cx="192" cy="384"/>
              <a:chOff x="4752" y="1776"/>
              <a:chExt cx="192" cy="384"/>
            </a:xfrm>
          </p:grpSpPr>
          <p:sp>
            <p:nvSpPr>
              <p:cNvPr id="26637" name="Line 6"/>
              <p:cNvSpPr/>
              <p:nvPr/>
            </p:nvSpPr>
            <p:spPr>
              <a:xfrm>
                <a:off x="4752" y="1776"/>
                <a:ext cx="192" cy="144"/>
              </a:xfrm>
              <a:prstGeom prst="line">
                <a:avLst/>
              </a:prstGeom>
              <a:ln w="9525" cap="flat" cmpd="sng">
                <a:solidFill>
                  <a:schemeClr val="hlink"/>
                </a:solidFill>
                <a:prstDash val="solid"/>
                <a:headEnd type="none" w="med" len="med"/>
                <a:tailEnd type="triangle" w="med" len="med"/>
              </a:ln>
            </p:spPr>
          </p:sp>
          <p:sp>
            <p:nvSpPr>
              <p:cNvPr id="26638" name="Line 7"/>
              <p:cNvSpPr/>
              <p:nvPr/>
            </p:nvSpPr>
            <p:spPr>
              <a:xfrm flipV="1">
                <a:off x="4752" y="1968"/>
                <a:ext cx="192" cy="192"/>
              </a:xfrm>
              <a:prstGeom prst="line">
                <a:avLst/>
              </a:prstGeom>
              <a:ln w="9525" cap="flat" cmpd="sng">
                <a:solidFill>
                  <a:schemeClr val="hlink"/>
                </a:solidFill>
                <a:prstDash val="solid"/>
                <a:headEnd type="none" w="med" len="med"/>
                <a:tailEnd type="triangle" w="med" len="med"/>
              </a:ln>
            </p:spPr>
          </p:sp>
        </p:grpSp>
        <p:sp>
          <p:nvSpPr>
            <p:cNvPr id="26636" name="Text Box 8"/>
            <p:cNvSpPr txBox="1"/>
            <p:nvPr/>
          </p:nvSpPr>
          <p:spPr>
            <a:xfrm>
              <a:off x="4992" y="1824"/>
              <a:ext cx="672"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I/O</a:t>
              </a:r>
              <a:r>
                <a:rPr lang="zh-CN" altLang="en-US" b="1" dirty="0">
                  <a:latin typeface="Tahoma" panose="020B0604030504040204" pitchFamily="34" charset="0"/>
                  <a:ea typeface="宋体" panose="02010600030101010101" pitchFamily="2" charset="-122"/>
                </a:rPr>
                <a:t>说明</a:t>
              </a:r>
              <a:endParaRPr lang="zh-CN" altLang="en-US" b="1" dirty="0">
                <a:latin typeface="Tahoma" panose="020B0604030504040204" pitchFamily="34" charset="0"/>
                <a:ea typeface="宋体" panose="02010600030101010101" pitchFamily="2" charset="-122"/>
              </a:endParaRPr>
            </a:p>
          </p:txBody>
        </p:sp>
      </p:grpSp>
      <p:sp>
        <p:nvSpPr>
          <p:cNvPr id="1591305" name="Text Box 9"/>
          <p:cNvSpPr txBox="1"/>
          <p:nvPr/>
        </p:nvSpPr>
        <p:spPr>
          <a:xfrm>
            <a:off x="6400800" y="2005013"/>
            <a:ext cx="1219200" cy="398462"/>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ea typeface="宋体" panose="02010600030101010101" pitchFamily="2" charset="-122"/>
              </a:rPr>
              <a:t>端口定义</a:t>
            </a:r>
            <a:endParaRPr lang="zh-CN" altLang="en-US" b="1" dirty="0">
              <a:ea typeface="宋体" panose="02010600030101010101" pitchFamily="2" charset="-122"/>
            </a:endParaRPr>
          </a:p>
        </p:txBody>
      </p:sp>
      <p:sp>
        <p:nvSpPr>
          <p:cNvPr id="1591306" name="Text Box 10"/>
          <p:cNvSpPr txBox="1"/>
          <p:nvPr/>
        </p:nvSpPr>
        <p:spPr>
          <a:xfrm>
            <a:off x="6400800" y="3594100"/>
            <a:ext cx="1219200"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ea typeface="宋体" panose="02010600030101010101" pitchFamily="2" charset="-122"/>
              </a:rPr>
              <a:t>功能描述</a:t>
            </a:r>
            <a:endParaRPr lang="zh-CN" altLang="en-US" b="1" dirty="0">
              <a:ea typeface="宋体" panose="02010600030101010101" pitchFamily="2" charset="-122"/>
            </a:endParaRPr>
          </a:p>
        </p:txBody>
      </p:sp>
      <p:sp>
        <p:nvSpPr>
          <p:cNvPr id="1591308" name="AutoShape 12"/>
          <p:cNvSpPr/>
          <p:nvPr/>
        </p:nvSpPr>
        <p:spPr>
          <a:xfrm>
            <a:off x="3509963" y="1624013"/>
            <a:ext cx="1981200" cy="381000"/>
          </a:xfrm>
          <a:prstGeom prst="wedgeRoundRectCallout">
            <a:avLst>
              <a:gd name="adj1" fmla="val -71074"/>
              <a:gd name="adj2" fmla="val 65417"/>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1800" dirty="0">
                <a:latin typeface="Tahoma" panose="020B0604030504040204" pitchFamily="34" charset="0"/>
                <a:ea typeface="宋体" panose="02010600030101010101" pitchFamily="2" charset="-122"/>
              </a:rPr>
              <a:t>模块名</a:t>
            </a:r>
            <a:r>
              <a:rPr lang="en-US" altLang="zh-CN" sz="1800" dirty="0">
                <a:latin typeface="Tahoma" panose="020B0604030504040204" pitchFamily="34" charset="0"/>
                <a:ea typeface="宋体" panose="02010600030101010101" pitchFamily="2" charset="-122"/>
              </a:rPr>
              <a:t>(</a:t>
            </a:r>
            <a:r>
              <a:rPr lang="zh-CN" altLang="en-US" sz="1800" dirty="0">
                <a:latin typeface="Tahoma" panose="020B0604030504040204" pitchFamily="34" charset="0"/>
                <a:ea typeface="宋体" panose="02010600030101010101" pitchFamily="2" charset="-122"/>
              </a:rPr>
              <a:t>文件名</a:t>
            </a:r>
            <a:r>
              <a:rPr lang="en-US" altLang="zh-CN" sz="1800" dirty="0">
                <a:latin typeface="Tahoma" panose="020B0604030504040204" pitchFamily="34" charset="0"/>
                <a:ea typeface="宋体" panose="02010600030101010101" pitchFamily="2" charset="-122"/>
              </a:rPr>
              <a:t>)</a:t>
            </a:r>
            <a:endParaRPr lang="en-US" altLang="zh-CN" sz="1800" dirty="0">
              <a:latin typeface="Tahoma" panose="020B0604030504040204" pitchFamily="34" charset="0"/>
              <a:ea typeface="宋体" panose="02010600030101010101" pitchFamily="2" charset="-122"/>
            </a:endParaRPr>
          </a:p>
        </p:txBody>
      </p:sp>
      <p:sp>
        <p:nvSpPr>
          <p:cNvPr id="1591309" name="AutoShape 13"/>
          <p:cNvSpPr/>
          <p:nvPr/>
        </p:nvSpPr>
        <p:spPr>
          <a:xfrm>
            <a:off x="398463" y="5165725"/>
            <a:ext cx="8494712" cy="1465263"/>
          </a:xfrm>
          <a:prstGeom prst="horizontalScroll">
            <a:avLst>
              <a:gd name="adj" fmla="val 12500"/>
            </a:avLst>
          </a:prstGeom>
          <a:noFill/>
          <a:ln w="9525">
            <a:noFill/>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Clr>
                <a:srgbClr val="FF0000"/>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整个</a:t>
            </a:r>
            <a:r>
              <a:rPr lang="en-US" altLang="zh-CN" sz="2200" b="1" dirty="0">
                <a:latin typeface="华文楷体" panose="02010600040101010101" pitchFamily="2" charset="-122"/>
                <a:ea typeface="华文楷体" panose="02010600040101010101" pitchFamily="2" charset="-122"/>
              </a:rPr>
              <a:t>Verilog HDL</a:t>
            </a:r>
            <a:r>
              <a:rPr lang="zh-CN" altLang="en-US" sz="2200" b="1" dirty="0">
                <a:latin typeface="华文楷体" panose="02010600040101010101" pitchFamily="2" charset="-122"/>
                <a:ea typeface="华文楷体" panose="02010600040101010101" pitchFamily="2" charset="-122"/>
              </a:rPr>
              <a:t>程序嵌套在</a:t>
            </a:r>
            <a:r>
              <a:rPr lang="en-US" altLang="zh-CN" sz="2200" b="1" dirty="0">
                <a:latin typeface="华文楷体" panose="02010600040101010101" pitchFamily="2" charset="-122"/>
                <a:ea typeface="华文楷体" panose="02010600040101010101" pitchFamily="2" charset="-122"/>
              </a:rPr>
              <a:t>module</a:t>
            </a:r>
            <a:r>
              <a:rPr lang="zh-CN" altLang="en-US" sz="2200" b="1" dirty="0">
                <a:latin typeface="华文楷体" panose="02010600040101010101" pitchFamily="2" charset="-122"/>
                <a:ea typeface="华文楷体" panose="02010600040101010101" pitchFamily="2" charset="-122"/>
              </a:rPr>
              <a:t>和</a:t>
            </a:r>
            <a:r>
              <a:rPr lang="en-US" altLang="zh-CN" sz="2200" b="1" dirty="0">
                <a:latin typeface="华文楷体" panose="02010600040101010101" pitchFamily="2" charset="-122"/>
                <a:ea typeface="华文楷体" panose="02010600040101010101" pitchFamily="2" charset="-122"/>
              </a:rPr>
              <a:t>endmodule</a:t>
            </a:r>
            <a:r>
              <a:rPr lang="zh-CN" altLang="en-US" sz="2200" b="1" dirty="0">
                <a:latin typeface="华文楷体" panose="02010600040101010101" pitchFamily="2" charset="-122"/>
                <a:ea typeface="华文楷体" panose="02010600040101010101" pitchFamily="2" charset="-122"/>
              </a:rPr>
              <a:t>声明语句中。</a:t>
            </a:r>
            <a:endParaRPr lang="zh-CN" altLang="en-US" sz="2200" b="1" dirty="0">
              <a:latin typeface="华文楷体" panose="02010600040101010101" pitchFamily="2" charset="-122"/>
              <a:ea typeface="华文楷体" panose="02010600040101010101" pitchFamily="2" charset="-122"/>
            </a:endParaRPr>
          </a:p>
          <a:p>
            <a:pPr marL="281305" lvl="0" indent="-281305">
              <a:spcBef>
                <a:spcPct val="0"/>
              </a:spcBef>
              <a:buClr>
                <a:srgbClr val="FF0000"/>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每条语句相对</a:t>
            </a:r>
            <a:r>
              <a:rPr lang="en-US" altLang="zh-CN" sz="2200" b="1" dirty="0">
                <a:latin typeface="华文楷体" panose="02010600040101010101" pitchFamily="2" charset="-122"/>
                <a:ea typeface="华文楷体" panose="02010600040101010101" pitchFamily="2" charset="-122"/>
              </a:rPr>
              <a:t>module</a:t>
            </a:r>
            <a:r>
              <a:rPr lang="zh-CN" altLang="en-US" sz="2200" b="1" dirty="0">
                <a:latin typeface="华文楷体" panose="02010600040101010101" pitchFamily="2" charset="-122"/>
                <a:ea typeface="华文楷体" panose="02010600040101010101" pitchFamily="2" charset="-122"/>
              </a:rPr>
              <a:t>和</a:t>
            </a:r>
            <a:r>
              <a:rPr lang="en-US" altLang="zh-CN" sz="2200" b="1" dirty="0">
                <a:latin typeface="华文楷体" panose="02010600040101010101" pitchFamily="2" charset="-122"/>
                <a:ea typeface="华文楷体" panose="02010600040101010101" pitchFamily="2" charset="-122"/>
              </a:rPr>
              <a:t>endmodule</a:t>
            </a:r>
            <a:r>
              <a:rPr lang="zh-CN" altLang="en-US" sz="2200" b="1" dirty="0">
                <a:latin typeface="华文楷体" panose="02010600040101010101" pitchFamily="2" charset="-122"/>
                <a:ea typeface="华文楷体" panose="02010600040101010101" pitchFamily="2" charset="-122"/>
              </a:rPr>
              <a:t>最好缩进</a:t>
            </a:r>
            <a:r>
              <a:rPr lang="en-US" altLang="zh-CN" sz="2200" b="1" dirty="0">
                <a:solidFill>
                  <a:srgbClr val="FF0066"/>
                </a:solidFill>
                <a:latin typeface="华文楷体" panose="02010600040101010101" pitchFamily="2" charset="-122"/>
                <a:ea typeface="华文楷体" panose="02010600040101010101" pitchFamily="2" charset="-122"/>
              </a:rPr>
              <a:t>2</a:t>
            </a:r>
            <a:r>
              <a:rPr lang="zh-CN" altLang="en-US" sz="2200" b="1" dirty="0">
                <a:latin typeface="华文楷体" panose="02010600040101010101" pitchFamily="2" charset="-122"/>
                <a:ea typeface="华文楷体" panose="02010600040101010101" pitchFamily="2" charset="-122"/>
              </a:rPr>
              <a:t>格或</a:t>
            </a:r>
            <a:r>
              <a:rPr lang="en-US" altLang="zh-CN" sz="2200" b="1" dirty="0">
                <a:solidFill>
                  <a:srgbClr val="FF0066"/>
                </a:solidFill>
                <a:latin typeface="华文楷体" panose="02010600040101010101" pitchFamily="2" charset="-122"/>
                <a:ea typeface="华文楷体" panose="02010600040101010101" pitchFamily="2" charset="-122"/>
              </a:rPr>
              <a:t>4</a:t>
            </a:r>
            <a:r>
              <a:rPr lang="zh-CN" altLang="en-US" sz="2200" b="1" dirty="0">
                <a:latin typeface="华文楷体" panose="02010600040101010101" pitchFamily="2" charset="-122"/>
                <a:ea typeface="华文楷体" panose="02010600040101010101" pitchFamily="2" charset="-122"/>
              </a:rPr>
              <a:t>格！</a:t>
            </a:r>
            <a:endParaRPr lang="zh-CN" altLang="en-US" sz="2200" b="1" dirty="0">
              <a:latin typeface="华文楷体" panose="02010600040101010101" pitchFamily="2" charset="-122"/>
              <a:ea typeface="华文楷体" panose="02010600040101010101" pitchFamily="2" charset="-122"/>
            </a:endParaRPr>
          </a:p>
          <a:p>
            <a:pPr marL="281305" lvl="0" indent="-281305">
              <a:spcBef>
                <a:spcPct val="0"/>
              </a:spcBef>
              <a:buClr>
                <a:srgbClr val="FF0000"/>
              </a:buClr>
              <a:buSzPct val="80000"/>
              <a:buFont typeface="Wingdings" panose="05000000000000000000" pitchFamily="2" charset="2"/>
              <a:buChar char="Ø"/>
            </a:pPr>
            <a:r>
              <a:rPr lang="en-US" altLang="zh-CN" sz="2200" b="1" dirty="0">
                <a:solidFill>
                  <a:srgbClr val="FF0066"/>
                </a:solidFill>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  …… </a:t>
            </a:r>
            <a:r>
              <a:rPr lang="zh-CN" altLang="en-US" sz="2200" b="1" dirty="0">
                <a:latin typeface="华文楷体" panose="02010600040101010101" pitchFamily="2" charset="-122"/>
                <a:ea typeface="华文楷体" panose="02010600040101010101" pitchFamily="2" charset="-122"/>
              </a:rPr>
              <a:t>表示注释部分，一般只占据</a:t>
            </a:r>
            <a:r>
              <a:rPr lang="zh-CN" altLang="en-US" sz="2200" b="1" dirty="0">
                <a:solidFill>
                  <a:srgbClr val="FF0066"/>
                </a:solidFill>
                <a:latin typeface="华文楷体" panose="02010600040101010101" pitchFamily="2" charset="-122"/>
                <a:ea typeface="华文楷体" panose="02010600040101010101" pitchFamily="2" charset="-122"/>
              </a:rPr>
              <a:t>一</a:t>
            </a:r>
            <a:r>
              <a:rPr lang="zh-CN" altLang="en-US" sz="2200" b="1" dirty="0">
                <a:latin typeface="华文楷体" panose="02010600040101010101" pitchFamily="2" charset="-122"/>
                <a:ea typeface="华文楷体" panose="02010600040101010101" pitchFamily="2" charset="-122"/>
              </a:rPr>
              <a:t>行。对编译不起作用！</a:t>
            </a:r>
            <a:endParaRPr lang="zh-CN" altLang="en-US" sz="2200" b="1" dirty="0">
              <a:latin typeface="华文楷体" panose="02010600040101010101" pitchFamily="2" charset="-122"/>
              <a:ea typeface="华文楷体" panose="02010600040101010101" pitchFamily="2" charset="-122"/>
            </a:endParaRPr>
          </a:p>
        </p:txBody>
      </p:sp>
      <p:sp>
        <p:nvSpPr>
          <p:cNvPr id="1591307" name="AutoShape 11"/>
          <p:cNvSpPr/>
          <p:nvPr/>
        </p:nvSpPr>
        <p:spPr>
          <a:xfrm>
            <a:off x="1027113" y="6477000"/>
            <a:ext cx="1600200" cy="381000"/>
          </a:xfrm>
          <a:prstGeom prst="wedgeRoundRectCallout">
            <a:avLst>
              <a:gd name="adj1" fmla="val -44940"/>
              <a:gd name="adj2" fmla="val -110417"/>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1800" dirty="0">
                <a:latin typeface="Tahoma" panose="020B0604030504040204" pitchFamily="34" charset="0"/>
                <a:ea typeface="宋体" panose="02010600030101010101" pitchFamily="2" charset="-122"/>
              </a:rPr>
              <a:t>单行注释符</a:t>
            </a:r>
            <a:endParaRPr lang="zh-CN" altLang="en-US" sz="1800" dirty="0">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91299"/>
                                        </p:tgtEl>
                                        <p:attrNameLst>
                                          <p:attrName>style.visibility</p:attrName>
                                        </p:attrNameLst>
                                      </p:cBhvr>
                                      <p:to>
                                        <p:strVal val="visible"/>
                                      </p:to>
                                    </p:set>
                                    <p:anim calcmode="lin" valueType="num">
                                      <p:cBhvr additive="base">
                                        <p:cTn id="7" dur="500" fill="hold"/>
                                        <p:tgtEl>
                                          <p:spTgt spid="1591299"/>
                                        </p:tgtEl>
                                        <p:attrNameLst>
                                          <p:attrName>ppt_x</p:attrName>
                                        </p:attrNameLst>
                                      </p:cBhvr>
                                      <p:tavLst>
                                        <p:tav tm="0">
                                          <p:val>
                                            <p:strVal val="#ppt_x"/>
                                          </p:val>
                                        </p:tav>
                                        <p:tav tm="100000">
                                          <p:val>
                                            <p:strVal val="#ppt_x"/>
                                          </p:val>
                                        </p:tav>
                                      </p:tavLst>
                                    </p:anim>
                                    <p:anim calcmode="lin" valueType="num">
                                      <p:cBhvr additive="base">
                                        <p:cTn id="8" dur="500" fill="hold"/>
                                        <p:tgtEl>
                                          <p:spTgt spid="1591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91308"/>
                                        </p:tgtEl>
                                        <p:attrNameLst>
                                          <p:attrName>style.visibility</p:attrName>
                                        </p:attrNameLst>
                                      </p:cBhvr>
                                      <p:to>
                                        <p:strVal val="visible"/>
                                      </p:to>
                                    </p:set>
                                    <p:animEffect transition="in" filter="wipe(left)">
                                      <p:cBhvr>
                                        <p:cTn id="13" dur="500"/>
                                        <p:tgtEl>
                                          <p:spTgt spid="159130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591305"/>
                                        </p:tgtEl>
                                        <p:attrNameLst>
                                          <p:attrName>style.visibility</p:attrName>
                                        </p:attrNameLst>
                                      </p:cBhvr>
                                      <p:to>
                                        <p:strVal val="visible"/>
                                      </p:to>
                                    </p:set>
                                    <p:animEffect transition="in" filter="dissolve">
                                      <p:cBhvr>
                                        <p:cTn id="18" dur="500"/>
                                        <p:tgtEl>
                                          <p:spTgt spid="159130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591306"/>
                                        </p:tgtEl>
                                        <p:attrNameLst>
                                          <p:attrName>style.visibility</p:attrName>
                                        </p:attrNameLst>
                                      </p:cBhvr>
                                      <p:to>
                                        <p:strVal val="visible"/>
                                      </p:to>
                                    </p:set>
                                    <p:animEffect transition="in" filter="dissolve">
                                      <p:cBhvr>
                                        <p:cTn id="28" dur="500"/>
                                        <p:tgtEl>
                                          <p:spTgt spid="1591306"/>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1591309"/>
                                        </p:tgtEl>
                                        <p:attrNameLst>
                                          <p:attrName>style.visibility</p:attrName>
                                        </p:attrNameLst>
                                      </p:cBhvr>
                                      <p:to>
                                        <p:strVal val="visible"/>
                                      </p:to>
                                    </p:set>
                                    <p:animEffect transition="in" filter="barn(outVertical)">
                                      <p:cBhvr>
                                        <p:cTn id="33" dur="500"/>
                                        <p:tgtEl>
                                          <p:spTgt spid="1591309"/>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591307"/>
                                        </p:tgtEl>
                                        <p:attrNameLst>
                                          <p:attrName>style.visibility</p:attrName>
                                        </p:attrNameLst>
                                      </p:cBhvr>
                                      <p:to>
                                        <p:strVal val="visible"/>
                                      </p:to>
                                    </p:set>
                                    <p:animEffect transition="in" filter="dissolve">
                                      <p:cBhvr>
                                        <p:cTn id="38" dur="500"/>
                                        <p:tgtEl>
                                          <p:spTgt spid="159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1299" grpId="0"/>
      <p:bldP spid="1591305" grpId="0" bldLvl="0" animBg="1"/>
      <p:bldP spid="1591306" grpId="0" bldLvl="0" animBg="1"/>
      <p:bldP spid="1591308" grpId="0" bldLvl="0" animBg="1"/>
      <p:bldP spid="1591309" grpId="0" animBg="1"/>
      <p:bldP spid="159130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67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8675" name="Rectangle 3"/>
          <p:cNvSpPr>
            <a:spLocks noGrp="1"/>
          </p:cNvSpPr>
          <p:nvPr>
            <p:ph idx="1"/>
          </p:nvPr>
        </p:nvSpPr>
        <p:spPr/>
        <p:txBody>
          <a:bodyPr vert="horz" wrap="square" lIns="91440" tIns="45720" rIns="91440" bIns="45720" anchor="t" anchorCtr="0"/>
          <a:p>
            <a:pPr algn="just" eaLnBrk="1" hangingPunct="1">
              <a:lnSpc>
                <a:spcPct val="90000"/>
              </a:lnSpc>
            </a:pPr>
            <a:r>
              <a:rPr lang="en-US" altLang="zh-CN" dirty="0">
                <a:latin typeface="宋体" panose="02010600030101010101" pitchFamily="2" charset="-122"/>
                <a:ea typeface="黑体" panose="02010609060101010101" pitchFamily="49" charset="-122"/>
                <a:cs typeface="+mn-cs"/>
              </a:rPr>
              <a:t>   </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例</a:t>
            </a:r>
            <a:r>
              <a:rPr lang="en-US" altLang="zh-CN" dirty="0">
                <a:latin typeface="华文楷体" panose="02010600040101010101" pitchFamily="2" charset="-122"/>
                <a:ea typeface="黑体" panose="02010609060101010101" pitchFamily="49" charset="-122"/>
                <a:cs typeface="+mn-cs"/>
              </a:rPr>
              <a:t>2.2] 8</a:t>
            </a:r>
            <a:r>
              <a:rPr lang="zh-CN" altLang="en-US" dirty="0">
                <a:latin typeface="华文楷体" panose="02010600040101010101" pitchFamily="2" charset="-122"/>
                <a:ea typeface="华文楷体" panose="02010600040101010101" pitchFamily="2" charset="-122"/>
                <a:cs typeface="+mn-cs"/>
              </a:rPr>
              <a:t>位计数器</a:t>
            </a:r>
            <a:endParaRPr lang="zh-CN" altLang="en-US" dirty="0">
              <a:latin typeface="华文楷体" panose="02010600040101010101" pitchFamily="2" charset="-122"/>
              <a:ea typeface="华文楷体" panose="02010600040101010101" pitchFamily="2" charset="-122"/>
              <a:cs typeface="+mn-cs"/>
            </a:endParaRPr>
          </a:p>
          <a:p>
            <a:pPr algn="just" eaLnBrk="1" hangingPunct="1">
              <a:lnSpc>
                <a:spcPct val="90000"/>
              </a:lnSpc>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module  counter8 ( out,cout,data,load, cin,clk ); 	</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output [7:0] out;</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output  cout; 			</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input [7:0] data; 			</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input load, cin,clk ;				</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reg[7:0] out; </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always @(posedge clk)</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begin</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if(load)</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out &lt;= data;                     // </a:t>
            </a:r>
            <a:r>
              <a:rPr lang="zh-CN" altLang="en-US" dirty="0">
                <a:latin typeface="华文楷体" panose="02010600040101010101" pitchFamily="2" charset="-122"/>
                <a:ea typeface="华文楷体" panose="02010600040101010101" pitchFamily="2" charset="-122"/>
                <a:cs typeface="+mn-cs"/>
              </a:rPr>
              <a:t>同步预置数据</a:t>
            </a:r>
            <a:endParaRPr lang="zh-CN" altLang="en-US" dirty="0">
              <a:latin typeface="华文楷体" panose="02010600040101010101" pitchFamily="2" charset="-122"/>
              <a:ea typeface="华文楷体" panose="02010600040101010101" pitchFamily="2" charset="-122"/>
              <a:cs typeface="+mn-cs"/>
            </a:endParaRPr>
          </a:p>
          <a:p>
            <a:pPr algn="just">
              <a:lnSpc>
                <a:spcPct val="90000"/>
              </a:lnSpc>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else</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out &lt; = out + 1 +  cin;      // </a:t>
            </a:r>
            <a:r>
              <a:rPr lang="zh-CN" altLang="en-US" dirty="0">
                <a:latin typeface="华文楷体" panose="02010600040101010101" pitchFamily="2" charset="-122"/>
                <a:ea typeface="华文楷体" panose="02010600040101010101" pitchFamily="2" charset="-122"/>
                <a:cs typeface="+mn-cs"/>
              </a:rPr>
              <a:t>加</a:t>
            </a:r>
            <a:r>
              <a:rPr lang="en-US" altLang="zh-CN" dirty="0">
                <a:latin typeface="华文楷体" panose="02010600040101010101" pitchFamily="2" charset="-122"/>
                <a:ea typeface="黑体" panose="02010609060101010101" pitchFamily="49" charset="-122"/>
                <a:cs typeface="+mn-cs"/>
              </a:rPr>
              <a:t>1</a:t>
            </a:r>
            <a:r>
              <a:rPr lang="zh-CN" altLang="en-US" dirty="0">
                <a:latin typeface="华文楷体" panose="02010600040101010101" pitchFamily="2" charset="-122"/>
                <a:ea typeface="华文楷体" panose="02010600040101010101" pitchFamily="2" charset="-122"/>
                <a:cs typeface="+mn-cs"/>
              </a:rPr>
              <a:t>计数</a:t>
            </a:r>
            <a:endParaRPr lang="zh-CN" altLang="en-US" dirty="0">
              <a:latin typeface="华文楷体" panose="02010600040101010101" pitchFamily="2" charset="-122"/>
              <a:ea typeface="华文楷体" panose="02010600040101010101" pitchFamily="2" charset="-122"/>
              <a:cs typeface="+mn-cs"/>
            </a:endParaRPr>
          </a:p>
          <a:p>
            <a:pPr algn="just">
              <a:lnSpc>
                <a:spcPct val="90000"/>
              </a:lnSpc>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end</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assign cout = </a:t>
            </a:r>
            <a:r>
              <a:rPr lang="en-US" altLang="zh-CN" dirty="0">
                <a:solidFill>
                  <a:srgbClr val="FF0066"/>
                </a:solidFill>
                <a:latin typeface="华文楷体" panose="02010600040101010101" pitchFamily="2" charset="-122"/>
                <a:ea typeface="黑体" panose="02010609060101010101" pitchFamily="49" charset="-122"/>
                <a:cs typeface="+mn-cs"/>
              </a:rPr>
              <a:t>&amp;</a:t>
            </a:r>
            <a:r>
              <a:rPr lang="en-US" altLang="zh-CN" dirty="0">
                <a:latin typeface="华文楷体" panose="02010600040101010101" pitchFamily="2" charset="-122"/>
                <a:ea typeface="黑体" panose="02010609060101010101" pitchFamily="49" charset="-122"/>
                <a:cs typeface="+mn-cs"/>
              </a:rPr>
              <a:t>out </a:t>
            </a:r>
            <a:r>
              <a:rPr lang="en-US" altLang="zh-CN" dirty="0">
                <a:solidFill>
                  <a:srgbClr val="FF0066"/>
                </a:solidFill>
                <a:latin typeface="华文楷体" panose="02010600040101010101" pitchFamily="2" charset="-122"/>
                <a:ea typeface="黑体" panose="02010609060101010101" pitchFamily="49" charset="-122"/>
                <a:cs typeface="+mn-cs"/>
              </a:rPr>
              <a:t>&amp;</a:t>
            </a:r>
            <a:r>
              <a:rPr lang="en-US" altLang="zh-CN" dirty="0">
                <a:latin typeface="华文楷体" panose="02010600040101010101" pitchFamily="2" charset="-122"/>
                <a:ea typeface="黑体" panose="02010609060101010101" pitchFamily="49" charset="-122"/>
                <a:cs typeface="+mn-cs"/>
              </a:rPr>
              <a:t> cin;   //</a:t>
            </a:r>
            <a:r>
              <a:rPr lang="zh-CN" altLang="en-US" dirty="0">
                <a:latin typeface="华文楷体" panose="02010600040101010101" pitchFamily="2" charset="-122"/>
                <a:ea typeface="华文楷体" panose="02010600040101010101" pitchFamily="2" charset="-122"/>
                <a:cs typeface="+mn-cs"/>
              </a:rPr>
              <a:t>若</a:t>
            </a:r>
            <a:r>
              <a:rPr lang="en-US" altLang="zh-CN" dirty="0">
                <a:latin typeface="华文楷体" panose="02010600040101010101" pitchFamily="2" charset="-122"/>
                <a:ea typeface="黑体" panose="02010609060101010101" pitchFamily="49" charset="-122"/>
                <a:cs typeface="+mn-cs"/>
              </a:rPr>
              <a:t>out</a:t>
            </a:r>
            <a:r>
              <a:rPr lang="zh-CN" altLang="en-US" dirty="0">
                <a:latin typeface="华文楷体" panose="02010600040101010101" pitchFamily="2" charset="-122"/>
                <a:ea typeface="华文楷体" panose="02010600040101010101" pitchFamily="2" charset="-122"/>
                <a:cs typeface="+mn-cs"/>
              </a:rPr>
              <a:t>为</a:t>
            </a:r>
            <a:r>
              <a:rPr lang="en-US" altLang="zh-CN" dirty="0">
                <a:latin typeface="华文楷体" panose="02010600040101010101" pitchFamily="2" charset="-122"/>
                <a:ea typeface="黑体" panose="02010609060101010101" pitchFamily="49" charset="-122"/>
                <a:cs typeface="+mn-cs"/>
              </a:rPr>
              <a:t>8‘hFF</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cin</a:t>
            </a:r>
            <a:r>
              <a:rPr lang="zh-CN" altLang="en-US" dirty="0">
                <a:latin typeface="华文楷体" panose="02010600040101010101" pitchFamily="2" charset="-122"/>
                <a:ea typeface="华文楷体" panose="02010600040101010101" pitchFamily="2" charset="-122"/>
                <a:cs typeface="+mn-cs"/>
              </a:rPr>
              <a:t>为</a:t>
            </a:r>
            <a:r>
              <a:rPr lang="en-US" altLang="zh-CN" dirty="0">
                <a:latin typeface="华文楷体" panose="02010600040101010101" pitchFamily="2" charset="-122"/>
                <a:ea typeface="黑体" panose="02010609060101010101" pitchFamily="49" charset="-122"/>
                <a:cs typeface="+mn-cs"/>
              </a:rPr>
              <a:t>1</a:t>
            </a:r>
            <a:r>
              <a:rPr lang="zh-CN" altLang="en-US" dirty="0">
                <a:latin typeface="华文楷体" panose="02010600040101010101" pitchFamily="2" charset="-122"/>
                <a:ea typeface="华文楷体" panose="02010600040101010101" pitchFamily="2" charset="-122"/>
                <a:cs typeface="+mn-cs"/>
              </a:rPr>
              <a:t>，则</a:t>
            </a:r>
            <a:endParaRPr lang="zh-CN" altLang="en-US" dirty="0">
              <a:latin typeface="华文楷体" panose="02010600040101010101" pitchFamily="2" charset="-122"/>
              <a:ea typeface="华文楷体" panose="02010600040101010101" pitchFamily="2" charset="-122"/>
              <a:cs typeface="+mn-cs"/>
            </a:endParaRPr>
          </a:p>
          <a:p>
            <a:pPr algn="just">
              <a:lnSpc>
                <a:spcPct val="90000"/>
              </a:lnSpc>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cout</a:t>
            </a:r>
            <a:r>
              <a:rPr lang="zh-CN" altLang="en-US" dirty="0">
                <a:latin typeface="华文楷体" panose="02010600040101010101" pitchFamily="2" charset="-122"/>
                <a:ea typeface="华文楷体" panose="02010600040101010101" pitchFamily="2" charset="-122"/>
                <a:cs typeface="+mn-cs"/>
              </a:rPr>
              <a:t>为</a:t>
            </a:r>
            <a:r>
              <a:rPr lang="en-US" altLang="zh-CN" dirty="0">
                <a:latin typeface="华文楷体" panose="02010600040101010101" pitchFamily="2" charset="-122"/>
                <a:ea typeface="黑体" panose="02010609060101010101" pitchFamily="49" charset="-122"/>
                <a:cs typeface="+mn-cs"/>
              </a:rPr>
              <a:t>1</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pPr>
            <a:r>
              <a:rPr lang="en-US" altLang="zh-CN" dirty="0">
                <a:latin typeface="华文楷体" panose="02010600040101010101" pitchFamily="2" charset="-122"/>
                <a:ea typeface="黑体" panose="02010609060101010101" pitchFamily="49" charset="-122"/>
                <a:cs typeface="+mn-cs"/>
              </a:rPr>
              <a:t>		endmodule</a:t>
            </a:r>
            <a:endParaRPr lang="en-US" altLang="zh-CN" dirty="0">
              <a:latin typeface="华文楷体" panose="02010600040101010101" pitchFamily="2" charset="-122"/>
              <a:ea typeface="黑体" panose="02010609060101010101" pitchFamily="49" charset="-122"/>
              <a:cs typeface="+mn-cs"/>
            </a:endParaRPr>
          </a:p>
          <a:p>
            <a:pPr algn="just">
              <a:lnSpc>
                <a:spcPct val="90000"/>
              </a:lnSpc>
              <a:spcBef>
                <a:spcPct val="0"/>
              </a:spcBef>
              <a:buClr>
                <a:schemeClr val="folHlink"/>
              </a:buClr>
            </a:pPr>
            <a:endParaRPr lang="en-US" altLang="zh-CN" dirty="0">
              <a:latin typeface="华文楷体" panose="02010600040101010101" pitchFamily="2" charset="-122"/>
              <a:ea typeface="黑体" panose="02010609060101010101" pitchFamily="49" charset="-122"/>
              <a:cs typeface="+mn-cs"/>
            </a:endParaRPr>
          </a:p>
        </p:txBody>
      </p:sp>
      <p:grpSp>
        <p:nvGrpSpPr>
          <p:cNvPr id="2" name="Group 4"/>
          <p:cNvGrpSpPr/>
          <p:nvPr/>
        </p:nvGrpSpPr>
        <p:grpSpPr>
          <a:xfrm>
            <a:off x="6553200" y="1968500"/>
            <a:ext cx="1600200" cy="685800"/>
            <a:chOff x="4176" y="1536"/>
            <a:chExt cx="1008" cy="432"/>
          </a:xfrm>
        </p:grpSpPr>
        <p:grpSp>
          <p:nvGrpSpPr>
            <p:cNvPr id="28685" name="Group 5"/>
            <p:cNvGrpSpPr/>
            <p:nvPr/>
          </p:nvGrpSpPr>
          <p:grpSpPr>
            <a:xfrm>
              <a:off x="4176" y="1536"/>
              <a:ext cx="192" cy="432"/>
              <a:chOff x="4176" y="1536"/>
              <a:chExt cx="192" cy="432"/>
            </a:xfrm>
          </p:grpSpPr>
          <p:sp>
            <p:nvSpPr>
              <p:cNvPr id="28687" name="Line 6"/>
              <p:cNvSpPr/>
              <p:nvPr/>
            </p:nvSpPr>
            <p:spPr>
              <a:xfrm>
                <a:off x="4176" y="1536"/>
                <a:ext cx="192" cy="144"/>
              </a:xfrm>
              <a:prstGeom prst="line">
                <a:avLst/>
              </a:prstGeom>
              <a:ln w="9525" cap="flat" cmpd="sng">
                <a:solidFill>
                  <a:schemeClr val="hlink"/>
                </a:solidFill>
                <a:prstDash val="solid"/>
                <a:headEnd type="none" w="med" len="med"/>
                <a:tailEnd type="triangle" w="med" len="med"/>
              </a:ln>
            </p:spPr>
          </p:sp>
          <p:sp>
            <p:nvSpPr>
              <p:cNvPr id="28688" name="Line 7"/>
              <p:cNvSpPr/>
              <p:nvPr/>
            </p:nvSpPr>
            <p:spPr>
              <a:xfrm flipV="1">
                <a:off x="4176" y="1776"/>
                <a:ext cx="192" cy="192"/>
              </a:xfrm>
              <a:prstGeom prst="line">
                <a:avLst/>
              </a:prstGeom>
              <a:ln w="9525" cap="flat" cmpd="sng">
                <a:solidFill>
                  <a:schemeClr val="hlink"/>
                </a:solidFill>
                <a:prstDash val="solid"/>
                <a:headEnd type="none" w="med" len="med"/>
                <a:tailEnd type="triangle" w="med" len="med"/>
              </a:ln>
            </p:spPr>
          </p:sp>
        </p:grpSp>
        <p:sp>
          <p:nvSpPr>
            <p:cNvPr id="28686" name="Text Box 8"/>
            <p:cNvSpPr txBox="1"/>
            <p:nvPr/>
          </p:nvSpPr>
          <p:spPr>
            <a:xfrm>
              <a:off x="4416" y="1622"/>
              <a:ext cx="768"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ahoma" panose="020B0604030504040204" pitchFamily="34" charset="0"/>
                  <a:ea typeface="宋体" panose="02010600030101010101" pitchFamily="2" charset="-122"/>
                </a:rPr>
                <a:t>I/O</a:t>
              </a:r>
              <a:r>
                <a:rPr lang="zh-CN" altLang="en-US" b="1" dirty="0">
                  <a:latin typeface="Tahoma" panose="020B0604030504040204" pitchFamily="34" charset="0"/>
                  <a:ea typeface="宋体" panose="02010600030101010101" pitchFamily="2" charset="-122"/>
                </a:rPr>
                <a:t>说明</a:t>
              </a:r>
              <a:endParaRPr lang="zh-CN" altLang="en-US" b="1" dirty="0">
                <a:latin typeface="Tahoma" panose="020B0604030504040204" pitchFamily="34" charset="0"/>
                <a:ea typeface="宋体" panose="02010600030101010101" pitchFamily="2" charset="-122"/>
              </a:endParaRPr>
            </a:p>
          </p:txBody>
        </p:sp>
      </p:grpSp>
      <p:sp>
        <p:nvSpPr>
          <p:cNvPr id="1593353" name="Text Box 9"/>
          <p:cNvSpPr txBox="1"/>
          <p:nvPr/>
        </p:nvSpPr>
        <p:spPr>
          <a:xfrm>
            <a:off x="6934200" y="1393825"/>
            <a:ext cx="1219200"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ea typeface="宋体" panose="02010600030101010101" pitchFamily="2" charset="-122"/>
              </a:rPr>
              <a:t>端口定义</a:t>
            </a:r>
            <a:endParaRPr lang="zh-CN" altLang="en-US" b="1" dirty="0">
              <a:ea typeface="宋体" panose="02010600030101010101" pitchFamily="2" charset="-122"/>
            </a:endParaRPr>
          </a:p>
        </p:txBody>
      </p:sp>
      <p:sp>
        <p:nvSpPr>
          <p:cNvPr id="1593354" name="Text Box 10"/>
          <p:cNvSpPr txBox="1"/>
          <p:nvPr/>
        </p:nvSpPr>
        <p:spPr>
          <a:xfrm>
            <a:off x="7010400" y="4175125"/>
            <a:ext cx="1219200"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ea typeface="宋体" panose="02010600030101010101" pitchFamily="2" charset="-122"/>
              </a:rPr>
              <a:t>功能描述</a:t>
            </a:r>
            <a:endParaRPr lang="zh-CN" altLang="en-US" b="1" dirty="0">
              <a:ea typeface="宋体" panose="02010600030101010101" pitchFamily="2" charset="-122"/>
            </a:endParaRPr>
          </a:p>
        </p:txBody>
      </p:sp>
      <p:grpSp>
        <p:nvGrpSpPr>
          <p:cNvPr id="4" name="Group 11"/>
          <p:cNvGrpSpPr/>
          <p:nvPr/>
        </p:nvGrpSpPr>
        <p:grpSpPr>
          <a:xfrm>
            <a:off x="3279775" y="2784475"/>
            <a:ext cx="5486400" cy="396875"/>
            <a:chOff x="2112" y="2064"/>
            <a:chExt cx="3456" cy="250"/>
          </a:xfrm>
        </p:grpSpPr>
        <p:sp>
          <p:nvSpPr>
            <p:cNvPr id="28683" name="Text Box 12"/>
            <p:cNvSpPr txBox="1"/>
            <p:nvPr/>
          </p:nvSpPr>
          <p:spPr>
            <a:xfrm>
              <a:off x="4416" y="2064"/>
              <a:ext cx="1152"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latin typeface="Tahoma" panose="020B0604030504040204" pitchFamily="34" charset="0"/>
                  <a:ea typeface="宋体" panose="02010600030101010101" pitchFamily="2" charset="-122"/>
                </a:rPr>
                <a:t>信号类型声明</a:t>
              </a:r>
              <a:endParaRPr lang="zh-CN" altLang="en-US" b="1" dirty="0">
                <a:latin typeface="Tahoma" panose="020B0604030504040204" pitchFamily="34" charset="0"/>
                <a:ea typeface="宋体" panose="02010600030101010101" pitchFamily="2" charset="-122"/>
              </a:endParaRPr>
            </a:p>
          </p:txBody>
        </p:sp>
        <p:sp>
          <p:nvSpPr>
            <p:cNvPr id="28684" name="Line 13"/>
            <p:cNvSpPr/>
            <p:nvPr/>
          </p:nvSpPr>
          <p:spPr>
            <a:xfrm>
              <a:off x="2112" y="2208"/>
              <a:ext cx="2256" cy="0"/>
            </a:xfrm>
            <a:prstGeom prst="line">
              <a:avLst/>
            </a:prstGeom>
            <a:ln w="9525" cap="flat" cmpd="sng">
              <a:solidFill>
                <a:schemeClr val="hlink"/>
              </a:solidFill>
              <a:prstDash val="solid"/>
              <a:headEnd type="none" w="med" len="med"/>
              <a:tailEnd type="triangle" w="med" len="med"/>
            </a:ln>
          </p:spPr>
        </p:sp>
      </p:grpSp>
      <p:sp>
        <p:nvSpPr>
          <p:cNvPr id="1593358" name="AutoShape 14"/>
          <p:cNvSpPr/>
          <p:nvPr/>
        </p:nvSpPr>
        <p:spPr>
          <a:xfrm>
            <a:off x="2049463" y="5999163"/>
            <a:ext cx="1676400" cy="381000"/>
          </a:xfrm>
          <a:prstGeom prst="wedgeRoundRectCallout">
            <a:avLst>
              <a:gd name="adj1" fmla="val 18389"/>
              <a:gd name="adj2" fmla="val -24575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Tahoma" panose="020B0604030504040204" pitchFamily="34" charset="0"/>
                <a:ea typeface="宋体" panose="02010600030101010101" pitchFamily="2" charset="-122"/>
              </a:rPr>
              <a:t>缩减运算符</a:t>
            </a:r>
            <a:endParaRPr lang="zh-CN" altLang="en-US" dirty="0">
              <a:latin typeface="Tahoma" panose="020B0604030504040204" pitchFamily="34" charset="0"/>
              <a:ea typeface="宋体" panose="02010600030101010101" pitchFamily="2" charset="-122"/>
            </a:endParaRPr>
          </a:p>
        </p:txBody>
      </p:sp>
      <p:sp>
        <p:nvSpPr>
          <p:cNvPr id="1593359" name="AutoShape 15"/>
          <p:cNvSpPr/>
          <p:nvPr/>
        </p:nvSpPr>
        <p:spPr>
          <a:xfrm>
            <a:off x="4270375" y="5999163"/>
            <a:ext cx="1371600" cy="381000"/>
          </a:xfrm>
          <a:prstGeom prst="wedgeRoundRectCallout">
            <a:avLst>
              <a:gd name="adj1" fmla="val -81227"/>
              <a:gd name="adj2" fmla="val -249083"/>
              <a:gd name="adj3" fmla="val 16667"/>
            </a:avLst>
          </a:prstGeom>
          <a:noFill/>
          <a:ln w="9525" cap="flat" cmpd="sng">
            <a:solidFill>
              <a:schemeClr val="accent1"/>
            </a:solidFill>
            <a:prstDash val="solid"/>
            <a:round/>
            <a:headEnd type="none" w="med" len="med"/>
            <a:tailEnd type="none" w="med" len="med"/>
          </a:ln>
          <a:effectLst>
            <a:prstShdw prst="shdw17" dist="17961" dir="2699999">
              <a:srgbClr val="00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Tahoma" panose="020B0604030504040204" pitchFamily="34" charset="0"/>
                <a:ea typeface="宋体" panose="02010600030101010101" pitchFamily="2" charset="-122"/>
              </a:rPr>
              <a:t>位运算符</a:t>
            </a:r>
            <a:endParaRPr lang="zh-CN" altLang="en-US" dirty="0">
              <a:latin typeface="Tahoma" panose="020B0604030504040204" pitchFamily="34" charset="0"/>
              <a:ea typeface="宋体" panose="02010600030101010101" pitchFamily="2" charset="-122"/>
            </a:endParaRPr>
          </a:p>
        </p:txBody>
      </p:sp>
      <p:sp>
        <p:nvSpPr>
          <p:cNvPr id="1593360" name="Rectangle 16"/>
          <p:cNvSpPr/>
          <p:nvPr/>
        </p:nvSpPr>
        <p:spPr>
          <a:xfrm>
            <a:off x="1146175" y="3112770"/>
            <a:ext cx="7169785" cy="1925320"/>
          </a:xfrm>
          <a:prstGeom prst="rect">
            <a:avLst/>
          </a:prstGeom>
          <a:noFill/>
          <a:ln w="19050" cap="flat" cmpd="sng">
            <a:solidFill>
              <a:schemeClr val="hlink"/>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93353"/>
                                        </p:tgtEl>
                                        <p:attrNameLst>
                                          <p:attrName>style.visibility</p:attrName>
                                        </p:attrNameLst>
                                      </p:cBhvr>
                                      <p:to>
                                        <p:strVal val="visible"/>
                                      </p:to>
                                    </p:set>
                                    <p:animEffect transition="in" filter="dissolve">
                                      <p:cBhvr>
                                        <p:cTn id="7" dur="500"/>
                                        <p:tgtEl>
                                          <p:spTgt spid="15933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1593360"/>
                                        </p:tgtEl>
                                        <p:attrNameLst>
                                          <p:attrName>style.visibility</p:attrName>
                                        </p:attrNameLst>
                                      </p:cBhvr>
                                      <p:to>
                                        <p:strVal val="visible"/>
                                      </p:to>
                                    </p:set>
                                    <p:anim calcmode="lin" valueType="num">
                                      <p:cBhvr>
                                        <p:cTn id="22" dur="500" fill="hold"/>
                                        <p:tgtEl>
                                          <p:spTgt spid="1593360"/>
                                        </p:tgtEl>
                                        <p:attrNameLst>
                                          <p:attrName>ppt_w</p:attrName>
                                        </p:attrNameLst>
                                      </p:cBhvr>
                                      <p:tavLst>
                                        <p:tav tm="0">
                                          <p:val>
                                            <p:fltVal val="0.000000"/>
                                          </p:val>
                                        </p:tav>
                                        <p:tav tm="100000">
                                          <p:val>
                                            <p:strVal val="#ppt_w"/>
                                          </p:val>
                                        </p:tav>
                                      </p:tavLst>
                                    </p:anim>
                                    <p:anim calcmode="lin" valueType="num">
                                      <p:cBhvr>
                                        <p:cTn id="23" dur="500" fill="hold"/>
                                        <p:tgtEl>
                                          <p:spTgt spid="1593360"/>
                                        </p:tgtEl>
                                        <p:attrNameLst>
                                          <p:attrName>ppt_h</p:attrName>
                                        </p:attrNameLst>
                                      </p:cBhvr>
                                      <p:tavLst>
                                        <p:tav tm="0">
                                          <p:val>
                                            <p:fltVal val="0.000000"/>
                                          </p:val>
                                        </p:tav>
                                        <p:tav tm="100000">
                                          <p:val>
                                            <p:strVal val="#ppt_h"/>
                                          </p:val>
                                        </p:tav>
                                      </p:tavLst>
                                    </p:anim>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1593354"/>
                                        </p:tgtEl>
                                        <p:attrNameLst>
                                          <p:attrName>style.visibility</p:attrName>
                                        </p:attrNameLst>
                                      </p:cBhvr>
                                      <p:to>
                                        <p:strVal val="visible"/>
                                      </p:to>
                                    </p:set>
                                    <p:animEffect transition="in" filter="dissolve">
                                      <p:cBhvr>
                                        <p:cTn id="27" dur="500"/>
                                        <p:tgtEl>
                                          <p:spTgt spid="15933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93358"/>
                                        </p:tgtEl>
                                        <p:attrNameLst>
                                          <p:attrName>style.visibility</p:attrName>
                                        </p:attrNameLst>
                                      </p:cBhvr>
                                      <p:to>
                                        <p:strVal val="visible"/>
                                      </p:to>
                                    </p:set>
                                    <p:animEffect transition="in" filter="dissolve">
                                      <p:cBhvr>
                                        <p:cTn id="32" dur="500"/>
                                        <p:tgtEl>
                                          <p:spTgt spid="159335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593359"/>
                                        </p:tgtEl>
                                        <p:attrNameLst>
                                          <p:attrName>style.visibility</p:attrName>
                                        </p:attrNameLst>
                                      </p:cBhvr>
                                      <p:to>
                                        <p:strVal val="visible"/>
                                      </p:to>
                                    </p:set>
                                    <p:animEffect transition="in" filter="dissolve">
                                      <p:cBhvr>
                                        <p:cTn id="37" dur="500"/>
                                        <p:tgtEl>
                                          <p:spTgt spid="159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3353" grpId="0" bldLvl="0" animBg="1"/>
      <p:bldP spid="1593354" grpId="0" bldLvl="0" animBg="1"/>
      <p:bldP spid="1593358" grpId="0" bldLvl="0" animBg="1"/>
      <p:bldP spid="1593359" grpId="0" bldLvl="0" animBg="1"/>
      <p:bldP spid="159336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2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72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595395" name="Rectangle 3"/>
          <p:cNvSpPr>
            <a:spLocks noGrp="1"/>
          </p:cNvSpPr>
          <p:nvPr>
            <p:ph idx="1"/>
          </p:nvPr>
        </p:nvSpPr>
        <p:spPr>
          <a:xfrm>
            <a:off x="539750" y="1085850"/>
            <a:ext cx="8151813" cy="4719638"/>
          </a:xfrm>
        </p:spPr>
        <p:txBody>
          <a:bodyPr vert="horz" wrap="square" lIns="91440" tIns="45720" rIns="91440" bIns="45720" anchor="t" anchorCtr="0"/>
          <a:p>
            <a:pPr algn="just" eaLnBrk="1" hangingPunct="1"/>
            <a:r>
              <a:rPr lang="en-US" altLang="zh-CN" dirty="0">
                <a:latin typeface="宋体" panose="02010600030101010101" pitchFamily="2" charset="-122"/>
                <a:ea typeface="黑体" panose="02010609060101010101" pitchFamily="49" charset="-122"/>
                <a:cs typeface="+mn-cs"/>
              </a:rPr>
              <a:t>  </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例</a:t>
            </a:r>
            <a:r>
              <a:rPr lang="en-US" altLang="zh-CN" dirty="0">
                <a:latin typeface="华文楷体" panose="02010600040101010101" pitchFamily="2" charset="-122"/>
                <a:ea typeface="黑体" panose="02010609060101010101" pitchFamily="49" charset="-122"/>
                <a:cs typeface="+mn-cs"/>
              </a:rPr>
              <a:t>2.3] 2</a:t>
            </a:r>
            <a:r>
              <a:rPr lang="zh-CN" altLang="en-US" dirty="0">
                <a:latin typeface="华文楷体" panose="02010600040101010101" pitchFamily="2" charset="-122"/>
                <a:ea typeface="华文楷体" panose="02010600040101010101" pitchFamily="2" charset="-122"/>
                <a:cs typeface="+mn-cs"/>
              </a:rPr>
              <a:t>位比较器</a:t>
            </a:r>
            <a:endParaRPr lang="zh-CN" altLang="en-US" dirty="0">
              <a:latin typeface="华文楷体" panose="02010600040101010101" pitchFamily="2" charset="-122"/>
              <a:ea typeface="华文楷体" panose="02010600040101010101" pitchFamily="2" charset="-122"/>
              <a:cs typeface="+mn-cs"/>
            </a:endParaRPr>
          </a:p>
          <a:p>
            <a:pPr algn="just" eaLnBrk="1" hangingPunct="1"/>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module  compare2 ( equal,a,b); 	</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output equal;</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input [1:0] a,b; 			</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assign equal = ( a = = b ) </a:t>
            </a:r>
            <a:r>
              <a:rPr lang="en-US" altLang="zh-CN" dirty="0">
                <a:solidFill>
                  <a:srgbClr val="FF0066"/>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 1</a:t>
            </a:r>
            <a:r>
              <a:rPr lang="en-US" altLang="zh-CN" dirty="0">
                <a:solidFill>
                  <a:srgbClr val="FF0066"/>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0;</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 * </a:t>
            </a:r>
            <a:r>
              <a:rPr lang="zh-CN" altLang="en-US" dirty="0">
                <a:latin typeface="华文楷体" panose="02010600040101010101" pitchFamily="2" charset="-122"/>
                <a:ea typeface="华文楷体" panose="02010600040101010101" pitchFamily="2" charset="-122"/>
                <a:cs typeface="+mn-cs"/>
              </a:rPr>
              <a:t>如果</a:t>
            </a:r>
            <a:r>
              <a:rPr lang="en-US" altLang="zh-CN" dirty="0">
                <a:latin typeface="华文楷体" panose="02010600040101010101" pitchFamily="2" charset="-122"/>
                <a:ea typeface="黑体" panose="02010609060101010101" pitchFamily="49" charset="-122"/>
                <a:cs typeface="+mn-cs"/>
              </a:rPr>
              <a:t>a</a:t>
            </a:r>
            <a:r>
              <a:rPr lang="zh-CN" altLang="en-US" dirty="0">
                <a:latin typeface="华文楷体" panose="02010600040101010101" pitchFamily="2" charset="-122"/>
                <a:ea typeface="华文楷体" panose="02010600040101010101" pitchFamily="2" charset="-122"/>
                <a:cs typeface="+mn-cs"/>
              </a:rPr>
              <a:t>等于</a:t>
            </a:r>
            <a:r>
              <a:rPr lang="en-US" altLang="zh-CN" dirty="0">
                <a:latin typeface="华文楷体" panose="02010600040101010101" pitchFamily="2" charset="-122"/>
                <a:ea typeface="黑体" panose="02010609060101010101" pitchFamily="49" charset="-122"/>
                <a:cs typeface="+mn-cs"/>
              </a:rPr>
              <a:t>b</a:t>
            </a:r>
            <a:r>
              <a:rPr lang="zh-CN" altLang="en-US" dirty="0">
                <a:latin typeface="华文楷体" panose="02010600040101010101" pitchFamily="2" charset="-122"/>
                <a:ea typeface="华文楷体" panose="02010600040101010101" pitchFamily="2" charset="-122"/>
                <a:cs typeface="+mn-cs"/>
              </a:rPr>
              <a:t>，则</a:t>
            </a:r>
            <a:r>
              <a:rPr lang="en-US" altLang="zh-CN" dirty="0">
                <a:latin typeface="华文楷体" panose="02010600040101010101" pitchFamily="2" charset="-122"/>
                <a:ea typeface="黑体" panose="02010609060101010101" pitchFamily="49" charset="-122"/>
                <a:cs typeface="+mn-cs"/>
              </a:rPr>
              <a:t>equal </a:t>
            </a:r>
            <a:r>
              <a:rPr lang="zh-CN" altLang="en-US" dirty="0">
                <a:latin typeface="华文楷体" panose="02010600040101010101" pitchFamily="2" charset="-122"/>
                <a:ea typeface="华文楷体" panose="02010600040101010101" pitchFamily="2" charset="-122"/>
                <a:cs typeface="+mn-cs"/>
              </a:rPr>
              <a:t>为</a:t>
            </a:r>
            <a:r>
              <a:rPr lang="en-US" altLang="zh-CN" dirty="0">
                <a:latin typeface="华文楷体" panose="02010600040101010101" pitchFamily="2" charset="-122"/>
                <a:ea typeface="黑体" panose="02010609060101010101" pitchFamily="49" charset="-122"/>
                <a:cs typeface="+mn-cs"/>
              </a:rPr>
              <a:t>1</a:t>
            </a:r>
            <a:r>
              <a:rPr lang="zh-CN" altLang="en-US" dirty="0">
                <a:latin typeface="华文楷体" panose="02010600040101010101" pitchFamily="2" charset="-122"/>
                <a:ea typeface="华文楷体" panose="02010600040101010101" pitchFamily="2" charset="-122"/>
                <a:cs typeface="+mn-cs"/>
              </a:rPr>
              <a:t>，否则为</a:t>
            </a:r>
            <a:r>
              <a:rPr lang="en-US" altLang="zh-CN" dirty="0">
                <a:latin typeface="华文楷体" panose="02010600040101010101" pitchFamily="2" charset="-122"/>
                <a:ea typeface="黑体" panose="02010609060101010101" pitchFamily="49" charset="-122"/>
                <a:cs typeface="+mn-cs"/>
              </a:rPr>
              <a:t>0 * /	</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endmodule</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&lt;=</a:t>
            </a:r>
            <a:r>
              <a:rPr lang="zh-CN" altLang="en-US" dirty="0">
                <a:latin typeface="华文楷体" panose="02010600040101010101" pitchFamily="2" charset="-122"/>
                <a:ea typeface="华文楷体" panose="02010600040101010101" pitchFamily="2" charset="-122"/>
                <a:cs typeface="+mn-cs"/>
              </a:rPr>
              <a:t>”非阻塞过程性赋值：将想要赋给左式的值安排在未来时刻。不等上一个赋值完成执行下个赋值语句。</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r>
              <a:rPr lang="en-US" altLang="zh-CN" dirty="0">
                <a:latin typeface="华文楷体" panose="02010600040101010101" pitchFamily="2" charset="-122"/>
                <a:ea typeface="黑体" panose="02010609060101010101" pitchFamily="49" charset="-122"/>
                <a:cs typeface="+mn-cs"/>
              </a:rPr>
              <a:t>	</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  阻塞过程性赋值：按照顺序执行，前一个赋值结束才执行下边的赋值语句。</a:t>
            </a:r>
            <a:endParaRPr lang="en-US" altLang="zh-CN" dirty="0">
              <a:latin typeface="华文楷体" panose="02010600040101010101" pitchFamily="2" charset="-122"/>
              <a:ea typeface="黑体" panose="02010609060101010101" pitchFamily="49" charset="-122"/>
              <a:cs typeface="+mn-cs"/>
            </a:endParaRPr>
          </a:p>
          <a:p>
            <a:pPr algn="just">
              <a:spcBef>
                <a:spcPct val="0"/>
              </a:spcBef>
            </a:pPr>
            <a:endParaRPr lang="en-US" altLang="zh-CN" dirty="0">
              <a:latin typeface="华文楷体" panose="02010600040101010101" pitchFamily="2" charset="-122"/>
              <a:ea typeface="黑体" panose="02010609060101010101" pitchFamily="49" charset="-122"/>
              <a:cs typeface="+mn-cs"/>
            </a:endParaRPr>
          </a:p>
          <a:p>
            <a:pPr algn="just">
              <a:spcBef>
                <a:spcPct val="0"/>
              </a:spcBef>
            </a:pPr>
            <a:endParaRPr lang="en-US" altLang="zh-CN" dirty="0">
              <a:latin typeface="Times New Roman" panose="02020603050405020304" pitchFamily="18" charset="0"/>
              <a:ea typeface="黑体" panose="02010609060101010101" pitchFamily="49" charset="-122"/>
              <a:cs typeface="+mn-cs"/>
            </a:endParaRPr>
          </a:p>
        </p:txBody>
      </p:sp>
      <p:sp>
        <p:nvSpPr>
          <p:cNvPr id="1595396" name="Text Box 4"/>
          <p:cNvSpPr txBox="1"/>
          <p:nvPr/>
        </p:nvSpPr>
        <p:spPr>
          <a:xfrm>
            <a:off x="6534150" y="2349500"/>
            <a:ext cx="1752600" cy="396875"/>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ea typeface="华文楷体" panose="02010600040101010101" pitchFamily="2" charset="-122"/>
              </a:rPr>
              <a:t>连续赋值语句</a:t>
            </a:r>
            <a:endParaRPr lang="zh-CN" altLang="en-US" b="1" dirty="0">
              <a:ea typeface="华文楷体" panose="02010600040101010101" pitchFamily="2" charset="-122"/>
            </a:endParaRPr>
          </a:p>
        </p:txBody>
      </p:sp>
      <p:sp>
        <p:nvSpPr>
          <p:cNvPr id="1595397" name="AutoShape 5"/>
          <p:cNvSpPr/>
          <p:nvPr/>
        </p:nvSpPr>
        <p:spPr>
          <a:xfrm>
            <a:off x="4765675" y="1831975"/>
            <a:ext cx="1600200" cy="381000"/>
          </a:xfrm>
          <a:prstGeom prst="wedgeRoundRectCallout">
            <a:avLst>
              <a:gd name="adj1" fmla="val -42657"/>
              <a:gd name="adj2" fmla="val 11000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ahoma" panose="020B0604030504040204" pitchFamily="34" charset="0"/>
                <a:ea typeface="宋体" panose="02010600030101010101" pitchFamily="2" charset="-122"/>
              </a:rPr>
              <a:t>条件运算符</a:t>
            </a:r>
            <a:endParaRPr lang="zh-CN" altLang="en-US" b="1" dirty="0">
              <a:latin typeface="Tahoma" panose="020B0604030504040204" pitchFamily="34" charset="0"/>
              <a:ea typeface="宋体" panose="02010600030101010101" pitchFamily="2" charset="-122"/>
            </a:endParaRPr>
          </a:p>
        </p:txBody>
      </p:sp>
      <p:sp>
        <p:nvSpPr>
          <p:cNvPr id="1595399" name="AutoShape 7"/>
          <p:cNvSpPr/>
          <p:nvPr/>
        </p:nvSpPr>
        <p:spPr>
          <a:xfrm>
            <a:off x="1166813" y="4818063"/>
            <a:ext cx="7119937" cy="1095375"/>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Clr>
                <a:srgbClr val="FF0000"/>
              </a:buClr>
              <a:buSzPct val="80000"/>
              <a:buFont typeface="Wingdings" panose="05000000000000000000" pitchFamily="2" charset="2"/>
              <a:buChar char="Ø"/>
            </a:pPr>
            <a:r>
              <a:rPr lang="en-US" altLang="zh-CN" sz="2400" b="1" dirty="0">
                <a:solidFill>
                  <a:schemeClr val="hlink"/>
                </a:solidFill>
                <a:latin typeface="华文楷体" panose="02010600040101010101" pitchFamily="2" charset="-122"/>
                <a:ea typeface="华文楷体" panose="02010600040101010101" pitchFamily="2" charset="-122"/>
              </a:rPr>
              <a:t>/ * …… * /</a:t>
            </a:r>
            <a:r>
              <a:rPr lang="zh-CN" altLang="en-US" sz="2400" b="1" dirty="0">
                <a:solidFill>
                  <a:schemeClr val="tx2"/>
                </a:solidFill>
                <a:latin typeface="华文楷体" panose="02010600040101010101" pitchFamily="2" charset="-122"/>
                <a:ea typeface="华文楷体" panose="02010600040101010101" pitchFamily="2" charset="-122"/>
              </a:rPr>
              <a:t>内表示注释部分，一般可占据</a:t>
            </a:r>
            <a:r>
              <a:rPr lang="zh-CN" altLang="en-US" sz="2400" b="1" dirty="0">
                <a:solidFill>
                  <a:schemeClr val="hlink"/>
                </a:solidFill>
                <a:latin typeface="华文楷体" panose="02010600040101010101" pitchFamily="2" charset="-122"/>
                <a:ea typeface="华文楷体" panose="02010600040101010101" pitchFamily="2" charset="-122"/>
              </a:rPr>
              <a:t>多</a:t>
            </a:r>
            <a:r>
              <a:rPr lang="zh-CN" altLang="en-US" sz="2400" b="1" dirty="0">
                <a:solidFill>
                  <a:schemeClr val="tx2"/>
                </a:solidFill>
                <a:latin typeface="华文楷体" panose="02010600040101010101" pitchFamily="2" charset="-122"/>
                <a:ea typeface="华文楷体" panose="02010600040101010101" pitchFamily="2" charset="-122"/>
              </a:rPr>
              <a:t>行。对编译不起作用！</a:t>
            </a:r>
            <a:endParaRPr lang="zh-CN" altLang="en-US" sz="2400" b="1" dirty="0">
              <a:solidFill>
                <a:schemeClr val="tx2"/>
              </a:solidFill>
              <a:latin typeface="华文楷体" panose="02010600040101010101" pitchFamily="2" charset="-122"/>
              <a:ea typeface="华文楷体" panose="02010600040101010101" pitchFamily="2" charset="-122"/>
            </a:endParaRPr>
          </a:p>
        </p:txBody>
      </p:sp>
      <p:sp>
        <p:nvSpPr>
          <p:cNvPr id="1595398" name="AutoShape 6"/>
          <p:cNvSpPr/>
          <p:nvPr/>
        </p:nvSpPr>
        <p:spPr>
          <a:xfrm>
            <a:off x="663575" y="5915025"/>
            <a:ext cx="1600200" cy="381000"/>
          </a:xfrm>
          <a:prstGeom prst="wedgeRoundRectCallout">
            <a:avLst>
              <a:gd name="adj1" fmla="val 48907"/>
              <a:gd name="adj2" fmla="val -190417"/>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ahoma" panose="020B0604030504040204" pitchFamily="34" charset="0"/>
                <a:ea typeface="宋体" panose="02010600030101010101" pitchFamily="2" charset="-122"/>
              </a:rPr>
              <a:t>多行注释符</a:t>
            </a:r>
            <a:endParaRPr lang="zh-CN" altLang="en-US" b="1" dirty="0">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595395"/>
                                        </p:tgtEl>
                                        <p:attrNameLst>
                                          <p:attrName>style.visibility</p:attrName>
                                        </p:attrNameLst>
                                      </p:cBhvr>
                                      <p:to>
                                        <p:strVal val="visible"/>
                                      </p:to>
                                    </p:set>
                                    <p:anim calcmode="lin" valueType="num">
                                      <p:cBhvr additive="base">
                                        <p:cTn id="7" dur="500" fill="hold"/>
                                        <p:tgtEl>
                                          <p:spTgt spid="1595395"/>
                                        </p:tgtEl>
                                        <p:attrNameLst>
                                          <p:attrName>ppt_x</p:attrName>
                                        </p:attrNameLst>
                                      </p:cBhvr>
                                      <p:tavLst>
                                        <p:tav tm="0">
                                          <p:val>
                                            <p:strVal val="#ppt_x"/>
                                          </p:val>
                                        </p:tav>
                                        <p:tav tm="100000">
                                          <p:val>
                                            <p:strVal val="#ppt_x"/>
                                          </p:val>
                                        </p:tav>
                                      </p:tavLst>
                                    </p:anim>
                                    <p:anim calcmode="lin" valueType="num">
                                      <p:cBhvr additive="base">
                                        <p:cTn id="8" dur="500" fill="hold"/>
                                        <p:tgtEl>
                                          <p:spTgt spid="15953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595397"/>
                                        </p:tgtEl>
                                        <p:attrNameLst>
                                          <p:attrName>style.visibility</p:attrName>
                                        </p:attrNameLst>
                                      </p:cBhvr>
                                      <p:to>
                                        <p:strVal val="visible"/>
                                      </p:to>
                                    </p:set>
                                    <p:animEffect transition="in" filter="wipe(left)">
                                      <p:cBhvr>
                                        <p:cTn id="13" dur="500"/>
                                        <p:tgtEl>
                                          <p:spTgt spid="15953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95396"/>
                                        </p:tgtEl>
                                        <p:attrNameLst>
                                          <p:attrName>style.visibility</p:attrName>
                                        </p:attrNameLst>
                                      </p:cBhvr>
                                      <p:to>
                                        <p:strVal val="visible"/>
                                      </p:to>
                                    </p:set>
                                    <p:animEffect transition="in" filter="wipe(left)">
                                      <p:cBhvr>
                                        <p:cTn id="18" dur="500"/>
                                        <p:tgtEl>
                                          <p:spTgt spid="159539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1595399"/>
                                        </p:tgtEl>
                                        <p:attrNameLst>
                                          <p:attrName>style.visibility</p:attrName>
                                        </p:attrNameLst>
                                      </p:cBhvr>
                                      <p:to>
                                        <p:strVal val="visible"/>
                                      </p:to>
                                    </p:set>
                                    <p:animEffect transition="in" filter="barn(outVertical)">
                                      <p:cBhvr>
                                        <p:cTn id="23" dur="500"/>
                                        <p:tgtEl>
                                          <p:spTgt spid="15953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95398"/>
                                        </p:tgtEl>
                                        <p:attrNameLst>
                                          <p:attrName>style.visibility</p:attrName>
                                        </p:attrNameLst>
                                      </p:cBhvr>
                                      <p:to>
                                        <p:strVal val="visible"/>
                                      </p:to>
                                    </p:set>
                                    <p:animEffect transition="in" filter="wipe(left)">
                                      <p:cBhvr>
                                        <p:cTn id="28" dur="500"/>
                                        <p:tgtEl>
                                          <p:spTgt spid="1595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5395" grpId="0"/>
      <p:bldP spid="1595396" grpId="0" bldLvl="0" animBg="1"/>
      <p:bldP spid="1595397" grpId="0" bldLvl="0" animBg="1"/>
      <p:bldP spid="1595399" grpId="0" bldLvl="0" animBg="1"/>
      <p:bldP spid="1595398"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277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277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597443" name="Rectangle 3"/>
          <p:cNvSpPr>
            <a:spLocks noGrp="1"/>
          </p:cNvSpPr>
          <p:nvPr>
            <p:ph idx="1"/>
          </p:nvPr>
        </p:nvSpPr>
        <p:spPr/>
        <p:txBody>
          <a:bodyPr vert="horz" wrap="square" lIns="91440" tIns="45720" rIns="91440" bIns="45720" anchor="t" anchorCtr="0"/>
          <a:p>
            <a:pPr algn="just" eaLnBrk="1" hangingPunct="1">
              <a:lnSpc>
                <a:spcPct val="90000"/>
              </a:lnSpc>
            </a:pPr>
            <a:r>
              <a:rPr lang="en-US" altLang="zh-CN" dirty="0">
                <a:latin typeface="宋体" panose="02010600030101010101" pitchFamily="2" charset="-122"/>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2.4</a:t>
            </a:r>
            <a:r>
              <a:rPr lang="en-US" altLang="zh-CN" dirty="0">
                <a:latin typeface="宋体" panose="02010600030101010101" pitchFamily="2" charset="-122"/>
                <a:ea typeface="黑体" panose="02010609060101010101" pitchFamily="49" charset="-122"/>
                <a:cs typeface="+mn-cs"/>
              </a:rPr>
              <a:t>] </a:t>
            </a:r>
            <a:r>
              <a:rPr lang="zh-CN" altLang="en-US" dirty="0">
                <a:latin typeface="宋体" panose="02010600030101010101" pitchFamily="2" charset="-122"/>
                <a:ea typeface="华文楷体" panose="02010600040101010101" pitchFamily="2" charset="-122"/>
                <a:cs typeface="+mn-cs"/>
              </a:rPr>
              <a:t>三态驱动器</a:t>
            </a: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90000"/>
              </a:lnSpc>
            </a:pPr>
            <a:r>
              <a:rPr lang="zh-CN" altLang="en-US" dirty="0">
                <a:latin typeface="宋体" panose="02010600030101010101" pitchFamily="2" charset="-122"/>
                <a:ea typeface="华文楷体" panose="02010600040101010101" pitchFamily="2" charset="-122"/>
                <a:cs typeface="+mn-cs"/>
              </a:rPr>
              <a:t>			</a:t>
            </a: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9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90000"/>
              </a:lnSpc>
            </a:pPr>
            <a:r>
              <a:rPr lang="en-US" altLang="zh-CN" dirty="0">
                <a:latin typeface="Times New Roman" panose="02020603050405020304" pitchFamily="18" charset="0"/>
                <a:ea typeface="黑体" panose="02010609060101010101" pitchFamily="49" charset="-122"/>
                <a:cs typeface="+mn-cs"/>
              </a:rPr>
              <a:t>			module  trist2(out,in,enable);</a:t>
            </a:r>
            <a:endParaRPr lang="en-US" altLang="zh-CN" dirty="0">
              <a:latin typeface="Times New Roman" panose="02020603050405020304" pitchFamily="18" charset="0"/>
              <a:ea typeface="黑体" panose="02010609060101010101" pitchFamily="49" charset="-122"/>
              <a:cs typeface="+mn-cs"/>
            </a:endParaRPr>
          </a:p>
          <a:p>
            <a:pPr algn="just">
              <a:lnSpc>
                <a:spcPct val="90000"/>
              </a:lnSpc>
              <a:spcBef>
                <a:spcPct val="0"/>
              </a:spcBef>
            </a:pPr>
            <a:r>
              <a:rPr lang="en-US" altLang="zh-CN" dirty="0">
                <a:latin typeface="Times New Roman" panose="02020603050405020304" pitchFamily="18" charset="0"/>
                <a:ea typeface="黑体" panose="02010609060101010101" pitchFamily="49" charset="-122"/>
                <a:cs typeface="+mn-cs"/>
              </a:rPr>
              <a:t> 		     	     output  out;</a:t>
            </a:r>
            <a:endParaRPr lang="en-US" altLang="zh-CN" dirty="0">
              <a:latin typeface="Times New Roman" panose="02020603050405020304" pitchFamily="18" charset="0"/>
              <a:ea typeface="黑体" panose="02010609060101010101" pitchFamily="49" charset="-122"/>
              <a:cs typeface="+mn-cs"/>
            </a:endParaRPr>
          </a:p>
          <a:p>
            <a:pPr algn="just">
              <a:lnSpc>
                <a:spcPct val="90000"/>
              </a:lnSpc>
              <a:spcBef>
                <a:spcPct val="0"/>
              </a:spcBef>
            </a:pPr>
            <a:r>
              <a:rPr lang="en-US" altLang="zh-CN" dirty="0">
                <a:latin typeface="Times New Roman" panose="02020603050405020304" pitchFamily="18" charset="0"/>
                <a:ea typeface="黑体" panose="02010609060101010101" pitchFamily="49" charset="-122"/>
                <a:cs typeface="+mn-cs"/>
              </a:rPr>
              <a:t>                	     input   in, enable;</a:t>
            </a:r>
            <a:endParaRPr lang="en-US" altLang="zh-CN" dirty="0">
              <a:latin typeface="Times New Roman" panose="02020603050405020304" pitchFamily="18" charset="0"/>
              <a:ea typeface="黑体" panose="02010609060101010101" pitchFamily="49" charset="-122"/>
              <a:cs typeface="+mn-cs"/>
            </a:endParaRPr>
          </a:p>
          <a:p>
            <a:pPr algn="just">
              <a:lnSpc>
                <a:spcPct val="90000"/>
              </a:lnSpc>
              <a:spcBef>
                <a:spcPct val="0"/>
              </a:spcBef>
            </a:pPr>
            <a:r>
              <a:rPr lang="en-US" altLang="zh-CN" dirty="0">
                <a:latin typeface="Times New Roman" panose="02020603050405020304" pitchFamily="18" charset="0"/>
                <a:ea typeface="黑体" panose="02010609060101010101" pitchFamily="49" charset="-122"/>
                <a:cs typeface="+mn-cs"/>
              </a:rPr>
              <a:t>                	     </a:t>
            </a:r>
            <a:r>
              <a:rPr lang="en-US" altLang="zh-CN" dirty="0">
                <a:solidFill>
                  <a:srgbClr val="FF0066"/>
                </a:solidFill>
                <a:latin typeface="Times New Roman" panose="02020603050405020304" pitchFamily="18" charset="0"/>
                <a:ea typeface="黑体" panose="02010609060101010101" pitchFamily="49" charset="-122"/>
                <a:cs typeface="+mn-cs"/>
              </a:rPr>
              <a:t>bufif1</a:t>
            </a:r>
            <a:r>
              <a:rPr lang="en-US" altLang="zh-CN" dirty="0">
                <a:latin typeface="Times New Roman" panose="02020603050405020304" pitchFamily="18" charset="0"/>
                <a:ea typeface="黑体" panose="02010609060101010101" pitchFamily="49" charset="-122"/>
                <a:cs typeface="+mn-cs"/>
              </a:rPr>
              <a:t>  </a:t>
            </a:r>
            <a:r>
              <a:rPr lang="en-US" altLang="zh-CN" dirty="0">
                <a:solidFill>
                  <a:srgbClr val="990099"/>
                </a:solidFill>
                <a:latin typeface="Times New Roman" panose="02020603050405020304" pitchFamily="18" charset="0"/>
                <a:ea typeface="黑体" panose="02010609060101010101" pitchFamily="49" charset="-122"/>
                <a:cs typeface="+mn-cs"/>
              </a:rPr>
              <a:t>mybuf</a:t>
            </a:r>
            <a:r>
              <a:rPr lang="en-US" altLang="zh-CN" dirty="0">
                <a:latin typeface="Times New Roman" panose="02020603050405020304" pitchFamily="18" charset="0"/>
                <a:ea typeface="黑体" panose="02010609060101010101" pitchFamily="49" charset="-122"/>
                <a:cs typeface="+mn-cs"/>
              </a:rPr>
              <a:t>(out,in,enable);</a:t>
            </a:r>
            <a:endParaRPr lang="en-US" altLang="zh-CN" dirty="0">
              <a:latin typeface="Times New Roman" panose="02020603050405020304" pitchFamily="18" charset="0"/>
              <a:ea typeface="黑体" panose="02010609060101010101" pitchFamily="49" charset="-122"/>
              <a:cs typeface="+mn-cs"/>
            </a:endParaRPr>
          </a:p>
          <a:p>
            <a:pPr algn="just">
              <a:lnSpc>
                <a:spcPct val="90000"/>
              </a:lnSpc>
              <a:spcBef>
                <a:spcPct val="0"/>
              </a:spcBef>
            </a:pPr>
            <a:r>
              <a:rPr lang="en-US" altLang="zh-CN" dirty="0">
                <a:latin typeface="Times New Roman" panose="02020603050405020304" pitchFamily="18" charset="0"/>
                <a:ea typeface="黑体" panose="02010609060101010101" pitchFamily="49" charset="-122"/>
                <a:cs typeface="+mn-cs"/>
              </a:rPr>
              <a:t>			endmodule</a:t>
            </a:r>
            <a:endParaRPr lang="en-US" altLang="zh-CN" dirty="0">
              <a:latin typeface="Times New Roman" panose="02020603050405020304" pitchFamily="18" charset="0"/>
              <a:ea typeface="黑体" panose="02010609060101010101" pitchFamily="49" charset="-122"/>
              <a:cs typeface="+mn-cs"/>
            </a:endParaRPr>
          </a:p>
        </p:txBody>
      </p:sp>
      <p:sp>
        <p:nvSpPr>
          <p:cNvPr id="1597444" name="AutoShape 4"/>
          <p:cNvSpPr/>
          <p:nvPr/>
        </p:nvSpPr>
        <p:spPr>
          <a:xfrm>
            <a:off x="4011613" y="3402013"/>
            <a:ext cx="1484312" cy="381000"/>
          </a:xfrm>
          <a:prstGeom prst="wedgeRoundRectCallout">
            <a:avLst>
              <a:gd name="adj1" fmla="val -45185"/>
              <a:gd name="adj2" fmla="val -97917"/>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1800" dirty="0">
                <a:latin typeface="Tahoma" panose="020B0604030504040204" pitchFamily="34" charset="0"/>
                <a:ea typeface="宋体" panose="02010600030101010101" pitchFamily="2" charset="-122"/>
              </a:rPr>
              <a:t>例化元件名</a:t>
            </a:r>
            <a:endParaRPr lang="zh-CN" altLang="en-US" sz="1800" dirty="0">
              <a:latin typeface="Tahoma" panose="020B0604030504040204" pitchFamily="34" charset="0"/>
              <a:ea typeface="宋体" panose="02010600030101010101" pitchFamily="2" charset="-122"/>
            </a:endParaRPr>
          </a:p>
        </p:txBody>
      </p:sp>
      <p:sp>
        <p:nvSpPr>
          <p:cNvPr id="1597445" name="AutoShape 5"/>
          <p:cNvSpPr/>
          <p:nvPr/>
        </p:nvSpPr>
        <p:spPr>
          <a:xfrm>
            <a:off x="539750" y="2706688"/>
            <a:ext cx="1701800" cy="381000"/>
          </a:xfrm>
          <a:prstGeom prst="wedgeRoundRectCallout">
            <a:avLst>
              <a:gd name="adj1" fmla="val 80056"/>
              <a:gd name="adj2" fmla="val 5675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dirty="0">
                <a:ea typeface="宋体" panose="02010600030101010101" pitchFamily="2" charset="-122"/>
              </a:rPr>
              <a:t>门元件关键字</a:t>
            </a:r>
            <a:endParaRPr lang="zh-CN" altLang="en-US" sz="1800" dirty="0">
              <a:ea typeface="宋体" panose="02010600030101010101" pitchFamily="2" charset="-122"/>
            </a:endParaRPr>
          </a:p>
        </p:txBody>
      </p:sp>
      <p:sp>
        <p:nvSpPr>
          <p:cNvPr id="1597448" name="Rectangle 8"/>
          <p:cNvSpPr/>
          <p:nvPr/>
        </p:nvSpPr>
        <p:spPr>
          <a:xfrm>
            <a:off x="4275138" y="4422775"/>
            <a:ext cx="4598987" cy="1503363"/>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defTabSz="2716530" eaLnBrk="1" hangingPunct="1">
              <a:lnSpc>
                <a:spcPct val="110000"/>
              </a:lnSpc>
              <a:buClr>
                <a:srgbClr val="3333FF"/>
              </a:buClr>
              <a:buFont typeface="Wingdings" panose="05000000000000000000" pitchFamily="2" charset="2"/>
              <a:buNone/>
            </a:pPr>
            <a:r>
              <a:rPr lang="zh-CN" altLang="en-US" sz="2400" b="1" dirty="0">
                <a:solidFill>
                  <a:srgbClr val="FF0066"/>
                </a:solidFill>
                <a:latin typeface="华文楷体" panose="02010600040101010101" pitchFamily="2" charset="-122"/>
                <a:ea typeface="华文楷体" panose="02010600040101010101" pitchFamily="2" charset="-122"/>
              </a:rPr>
              <a:t>门元件例化</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程序通过调用一个在</a:t>
            </a:r>
            <a:r>
              <a:rPr lang="en-US" altLang="zh-CN" sz="2400" b="1" dirty="0">
                <a:latin typeface="华文楷体" panose="02010600040101010101" pitchFamily="2" charset="-122"/>
                <a:ea typeface="华文楷体" panose="02010600040101010101" pitchFamily="2" charset="-122"/>
              </a:rPr>
              <a:t>Verilog</a:t>
            </a:r>
            <a:r>
              <a:rPr lang="zh-CN" altLang="en-US" sz="2400" b="1" dirty="0">
                <a:latin typeface="华文楷体" panose="02010600040101010101" pitchFamily="2" charset="-122"/>
                <a:ea typeface="华文楷体" panose="02010600040101010101" pitchFamily="2" charset="-122"/>
              </a:rPr>
              <a:t>语言库中现存的实例门元件来实现某逻辑门功能。</a:t>
            </a:r>
            <a:endParaRPr lang="zh-CN" altLang="en-US" sz="2400" dirty="0">
              <a:latin typeface="华文楷体" panose="02010600040101010101" pitchFamily="2" charset="-122"/>
              <a:ea typeface="华文楷体" panose="02010600040101010101" pitchFamily="2" charset="-122"/>
            </a:endParaRPr>
          </a:p>
        </p:txBody>
      </p:sp>
      <p:sp>
        <p:nvSpPr>
          <p:cNvPr id="1597449" name="Rectangle 9"/>
          <p:cNvSpPr/>
          <p:nvPr/>
        </p:nvSpPr>
        <p:spPr>
          <a:xfrm>
            <a:off x="539750" y="4273550"/>
            <a:ext cx="3330575" cy="1803400"/>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sz="1600" b="1" dirty="0">
                <a:solidFill>
                  <a:srgbClr val="FF33CC"/>
                </a:solidFill>
                <a:latin typeface="Tahoma" panose="020B0604030504040204" pitchFamily="34" charset="0"/>
                <a:ea typeface="宋体" panose="02010600030101010101" pitchFamily="2" charset="-122"/>
              </a:rPr>
              <a:t>      </a:t>
            </a:r>
            <a:r>
              <a:rPr lang="en-US" altLang="zh-CN" sz="1600" b="1" dirty="0">
                <a:latin typeface="Tahoma" panose="020B0604030504040204" pitchFamily="34" charset="0"/>
                <a:ea typeface="宋体" panose="02010600030101010101" pitchFamily="2" charset="-122"/>
              </a:rPr>
              <a:t>Inputs             |   Output</a:t>
            </a:r>
            <a:endParaRPr lang="en-US" altLang="zh-CN" sz="1600" b="1" dirty="0">
              <a:latin typeface="Tahoma" panose="020B0604030504040204" pitchFamily="34" charset="0"/>
              <a:ea typeface="宋体" panose="02010600030101010101" pitchFamily="2" charset="-122"/>
            </a:endParaRPr>
          </a:p>
          <a:p>
            <a:pPr marL="0" lvl="0" indent="0" eaLnBrk="1" hangingPunct="1">
              <a:spcBef>
                <a:spcPct val="50000"/>
              </a:spcBef>
              <a:buNone/>
            </a:pPr>
            <a:r>
              <a:rPr lang="en-US" altLang="zh-CN" sz="1600" b="1" dirty="0">
                <a:latin typeface="Tahoma" panose="020B0604030504040204" pitchFamily="34" charset="0"/>
                <a:ea typeface="宋体" panose="02010600030101010101" pitchFamily="2" charset="-122"/>
              </a:rPr>
              <a:t>IN       ENABLE	|     OUT</a:t>
            </a:r>
            <a:endParaRPr lang="en-US" altLang="zh-CN" sz="1600" b="1" dirty="0">
              <a:latin typeface="Tahoma" panose="020B0604030504040204" pitchFamily="34" charset="0"/>
              <a:ea typeface="宋体" panose="02010600030101010101" pitchFamily="2" charset="-122"/>
            </a:endParaRPr>
          </a:p>
          <a:p>
            <a:pPr marL="0" lvl="0" indent="0" eaLnBrk="1" hangingPunct="1">
              <a:spcBef>
                <a:spcPct val="50000"/>
              </a:spcBef>
              <a:buNone/>
            </a:pPr>
            <a:r>
              <a:rPr lang="en-US" altLang="zh-CN" sz="1600" b="1" dirty="0">
                <a:latin typeface="Tahoma" panose="020B0604030504040204" pitchFamily="34" charset="0"/>
                <a:ea typeface="宋体" panose="02010600030101010101" pitchFamily="2" charset="-122"/>
              </a:rPr>
              <a:t>X	0	|       Z</a:t>
            </a:r>
            <a:endParaRPr lang="en-US" altLang="zh-CN" sz="1600" b="1" dirty="0">
              <a:latin typeface="Tahoma" panose="020B0604030504040204" pitchFamily="34" charset="0"/>
              <a:ea typeface="宋体" panose="02010600030101010101" pitchFamily="2" charset="-122"/>
            </a:endParaRPr>
          </a:p>
          <a:p>
            <a:pPr marL="0" lvl="0" indent="0" eaLnBrk="1" hangingPunct="1">
              <a:spcBef>
                <a:spcPct val="50000"/>
              </a:spcBef>
              <a:buNone/>
            </a:pPr>
            <a:r>
              <a:rPr lang="en-US" altLang="zh-CN" sz="1600" b="1" dirty="0">
                <a:latin typeface="Tahoma" panose="020B0604030504040204" pitchFamily="34" charset="0"/>
                <a:ea typeface="宋体" panose="02010600030101010101" pitchFamily="2" charset="-122"/>
              </a:rPr>
              <a:t>1	1	|       1</a:t>
            </a:r>
            <a:endParaRPr lang="en-US" altLang="zh-CN" sz="1600" b="1" dirty="0">
              <a:latin typeface="Tahoma" panose="020B0604030504040204" pitchFamily="34" charset="0"/>
              <a:ea typeface="宋体" panose="02010600030101010101" pitchFamily="2" charset="-122"/>
            </a:endParaRPr>
          </a:p>
          <a:p>
            <a:pPr marL="0" lvl="0" indent="0" eaLnBrk="1" hangingPunct="1">
              <a:spcBef>
                <a:spcPct val="50000"/>
              </a:spcBef>
              <a:buNone/>
            </a:pPr>
            <a:r>
              <a:rPr lang="en-US" altLang="zh-CN" sz="1600" b="1" dirty="0">
                <a:latin typeface="Tahoma" panose="020B0604030504040204" pitchFamily="34" charset="0"/>
                <a:ea typeface="宋体" panose="02010600030101010101" pitchFamily="2" charset="-122"/>
              </a:rPr>
              <a:t>0	1	|       0</a:t>
            </a:r>
            <a:endParaRPr lang="en-US" altLang="zh-CN" sz="1600" b="1" dirty="0">
              <a:latin typeface="Tahoma" panose="020B0604030504040204" pitchFamily="34" charset="0"/>
              <a:ea typeface="宋体" panose="02010600030101010101" pitchFamily="2" charset="-122"/>
            </a:endParaRPr>
          </a:p>
        </p:txBody>
      </p:sp>
      <p:sp>
        <p:nvSpPr>
          <p:cNvPr id="1597452" name="Text Box 12"/>
          <p:cNvSpPr txBox="1"/>
          <p:nvPr/>
        </p:nvSpPr>
        <p:spPr>
          <a:xfrm>
            <a:off x="798513" y="3633788"/>
            <a:ext cx="2525712" cy="46037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sz="2400" b="1" dirty="0">
                <a:solidFill>
                  <a:srgbClr val="CC0000"/>
                </a:solidFill>
                <a:latin typeface="华文楷体" panose="02010600040101010101" pitchFamily="2" charset="-122"/>
                <a:ea typeface="华文楷体" panose="02010600040101010101" pitchFamily="2" charset="-122"/>
              </a:rPr>
              <a:t>bufif1</a:t>
            </a:r>
            <a:r>
              <a:rPr lang="zh-CN" altLang="en-US" sz="2400" b="1" dirty="0">
                <a:solidFill>
                  <a:srgbClr val="CC0000"/>
                </a:solidFill>
                <a:latin typeface="华文楷体" panose="02010600040101010101" pitchFamily="2" charset="-122"/>
                <a:ea typeface="华文楷体" panose="02010600040101010101" pitchFamily="2" charset="-122"/>
              </a:rPr>
              <a:t>的真值表</a:t>
            </a:r>
            <a:endParaRPr lang="zh-CN" altLang="en-US" sz="2400" b="1" dirty="0">
              <a:solidFill>
                <a:srgbClr val="CC0000"/>
              </a:solidFill>
              <a:latin typeface="华文楷体" panose="02010600040101010101" pitchFamily="2" charset="-122"/>
              <a:ea typeface="华文楷体" panose="02010600040101010101" pitchFamily="2" charset="-122"/>
            </a:endParaRPr>
          </a:p>
        </p:txBody>
      </p:sp>
      <p:sp>
        <p:nvSpPr>
          <p:cNvPr id="1597453" name="AutoShape 13" descr="80%"/>
          <p:cNvSpPr/>
          <p:nvPr/>
        </p:nvSpPr>
        <p:spPr>
          <a:xfrm rot="-133237">
            <a:off x="4351338" y="876300"/>
            <a:ext cx="4503737" cy="1092200"/>
          </a:xfrm>
          <a:prstGeom prst="irregularSeal2">
            <a:avLst/>
          </a:prstGeom>
          <a:noFill/>
          <a:ln w="9525" cap="flat" cmpd="sng">
            <a:solidFill>
              <a:schemeClr val="accent1"/>
            </a:solidFill>
            <a:prstDash val="solid"/>
            <a:round/>
            <a:headEnd type="none" w="med" len="med"/>
            <a:tailEnd type="none" w="med" len="med"/>
          </a:ln>
          <a:effectLst>
            <a:prstShdw prst="shdw17" dist="17961" dir="13499999">
              <a:srgbClr val="997A99"/>
            </a:prstShdw>
          </a:effectLst>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1"/>
              </a:buClr>
              <a:buSzPct val="80000"/>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门元件例化</a:t>
            </a:r>
            <a:endParaRPr lang="zh-CN" altLang="en-US" sz="2800" b="1" dirty="0">
              <a:latin typeface="华文楷体" panose="02010600040101010101" pitchFamily="2" charset="-122"/>
              <a:ea typeface="华文楷体" panose="02010600040101010101" pitchFamily="2" charset="-122"/>
            </a:endParaRPr>
          </a:p>
        </p:txBody>
      </p:sp>
      <p:sp>
        <p:nvSpPr>
          <p:cNvPr id="1597454" name="Rectangle 14"/>
          <p:cNvSpPr/>
          <p:nvPr/>
        </p:nvSpPr>
        <p:spPr>
          <a:xfrm>
            <a:off x="2649538" y="2914650"/>
            <a:ext cx="4049712" cy="327025"/>
          </a:xfrm>
          <a:prstGeom prst="rect">
            <a:avLst/>
          </a:prstGeom>
          <a:noFill/>
          <a:ln w="19050" cap="flat" cmpd="sng">
            <a:solidFill>
              <a:srgbClr val="FF0000"/>
            </a:solidFill>
            <a:prstDash val="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97443"/>
                                        </p:tgtEl>
                                        <p:attrNameLst>
                                          <p:attrName>style.visibility</p:attrName>
                                        </p:attrNameLst>
                                      </p:cBhvr>
                                      <p:to>
                                        <p:strVal val="visible"/>
                                      </p:to>
                                    </p:set>
                                    <p:anim calcmode="lin" valueType="num">
                                      <p:cBhvr additive="base">
                                        <p:cTn id="7" dur="500" fill="hold"/>
                                        <p:tgtEl>
                                          <p:spTgt spid="1597443"/>
                                        </p:tgtEl>
                                        <p:attrNameLst>
                                          <p:attrName>ppt_x</p:attrName>
                                        </p:attrNameLst>
                                      </p:cBhvr>
                                      <p:tavLst>
                                        <p:tav tm="0">
                                          <p:val>
                                            <p:strVal val="0-#ppt_w/2"/>
                                          </p:val>
                                        </p:tav>
                                        <p:tav tm="100000">
                                          <p:val>
                                            <p:strVal val="#ppt_x"/>
                                          </p:val>
                                        </p:tav>
                                      </p:tavLst>
                                    </p:anim>
                                    <p:anim calcmode="lin" valueType="num">
                                      <p:cBhvr additive="base">
                                        <p:cTn id="8" dur="500" fill="hold"/>
                                        <p:tgtEl>
                                          <p:spTgt spid="15974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597453"/>
                                        </p:tgtEl>
                                        <p:attrNameLst>
                                          <p:attrName>style.visibility</p:attrName>
                                        </p:attrNameLst>
                                      </p:cBhvr>
                                      <p:to>
                                        <p:strVal val="visible"/>
                                      </p:to>
                                    </p:set>
                                    <p:anim calcmode="lin" valueType="num">
                                      <p:cBhvr>
                                        <p:cTn id="13" dur="500" fill="hold"/>
                                        <p:tgtEl>
                                          <p:spTgt spid="1597453"/>
                                        </p:tgtEl>
                                        <p:attrNameLst>
                                          <p:attrName>ppt_w</p:attrName>
                                        </p:attrNameLst>
                                      </p:cBhvr>
                                      <p:tavLst>
                                        <p:tav tm="0">
                                          <p:val>
                                            <p:fltVal val="0.000000"/>
                                          </p:val>
                                        </p:tav>
                                        <p:tav tm="100000">
                                          <p:val>
                                            <p:strVal val="#ppt_w"/>
                                          </p:val>
                                        </p:tav>
                                      </p:tavLst>
                                    </p:anim>
                                    <p:anim calcmode="lin" valueType="num">
                                      <p:cBhvr>
                                        <p:cTn id="14" dur="500" fill="hold"/>
                                        <p:tgtEl>
                                          <p:spTgt spid="1597453"/>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6" fill="hold" grpId="0" nodeType="afterEffect">
                                  <p:stCondLst>
                                    <p:cond delay="0"/>
                                  </p:stCondLst>
                                  <p:childTnLst>
                                    <p:set>
                                      <p:cBhvr>
                                        <p:cTn id="17" dur="1" fill="hold">
                                          <p:stCondLst>
                                            <p:cond delay="0"/>
                                          </p:stCondLst>
                                        </p:cTn>
                                        <p:tgtEl>
                                          <p:spTgt spid="1597448"/>
                                        </p:tgtEl>
                                        <p:attrNameLst>
                                          <p:attrName>style.visibility</p:attrName>
                                        </p:attrNameLst>
                                      </p:cBhvr>
                                      <p:to>
                                        <p:strVal val="visible"/>
                                      </p:to>
                                    </p:set>
                                    <p:anim calcmode="lin" valueType="num">
                                      <p:cBhvr additive="base">
                                        <p:cTn id="18" dur="500" fill="hold"/>
                                        <p:tgtEl>
                                          <p:spTgt spid="1597448"/>
                                        </p:tgtEl>
                                        <p:attrNameLst>
                                          <p:attrName>ppt_x</p:attrName>
                                        </p:attrNameLst>
                                      </p:cBhvr>
                                      <p:tavLst>
                                        <p:tav tm="0">
                                          <p:val>
                                            <p:strVal val="1+#ppt_w/2"/>
                                          </p:val>
                                        </p:tav>
                                        <p:tav tm="100000">
                                          <p:val>
                                            <p:strVal val="#ppt_x"/>
                                          </p:val>
                                        </p:tav>
                                      </p:tavLst>
                                    </p:anim>
                                    <p:anim calcmode="lin" valueType="num">
                                      <p:cBhvr additive="base">
                                        <p:cTn id="19" dur="500" fill="hold"/>
                                        <p:tgtEl>
                                          <p:spTgt spid="159744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597454"/>
                                        </p:tgtEl>
                                        <p:attrNameLst>
                                          <p:attrName>style.visibility</p:attrName>
                                        </p:attrNameLst>
                                      </p:cBhvr>
                                      <p:to>
                                        <p:strVal val="visible"/>
                                      </p:to>
                                    </p:set>
                                    <p:anim calcmode="lin" valueType="num">
                                      <p:cBhvr>
                                        <p:cTn id="24" dur="500" fill="hold"/>
                                        <p:tgtEl>
                                          <p:spTgt spid="1597454"/>
                                        </p:tgtEl>
                                        <p:attrNameLst>
                                          <p:attrName>ppt_w</p:attrName>
                                        </p:attrNameLst>
                                      </p:cBhvr>
                                      <p:tavLst>
                                        <p:tav tm="0">
                                          <p:val>
                                            <p:fltVal val="0.000000"/>
                                          </p:val>
                                        </p:tav>
                                        <p:tav tm="100000">
                                          <p:val>
                                            <p:strVal val="#ppt_w"/>
                                          </p:val>
                                        </p:tav>
                                      </p:tavLst>
                                    </p:anim>
                                    <p:anim calcmode="lin" valueType="num">
                                      <p:cBhvr>
                                        <p:cTn id="25" dur="500" fill="hold"/>
                                        <p:tgtEl>
                                          <p:spTgt spid="1597454"/>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597445"/>
                                        </p:tgtEl>
                                        <p:attrNameLst>
                                          <p:attrName>style.visibility</p:attrName>
                                        </p:attrNameLst>
                                      </p:cBhvr>
                                      <p:to>
                                        <p:strVal val="visible"/>
                                      </p:to>
                                    </p:set>
                                    <p:animEffect transition="in" filter="dissolve">
                                      <p:cBhvr>
                                        <p:cTn id="30" dur="500"/>
                                        <p:tgtEl>
                                          <p:spTgt spid="159744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597444"/>
                                        </p:tgtEl>
                                        <p:attrNameLst>
                                          <p:attrName>style.visibility</p:attrName>
                                        </p:attrNameLst>
                                      </p:cBhvr>
                                      <p:to>
                                        <p:strVal val="visible"/>
                                      </p:to>
                                    </p:set>
                                    <p:animEffect transition="in" filter="dissolve">
                                      <p:cBhvr>
                                        <p:cTn id="35" dur="500"/>
                                        <p:tgtEl>
                                          <p:spTgt spid="1597444"/>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1597452"/>
                                        </p:tgtEl>
                                        <p:attrNameLst>
                                          <p:attrName>style.visibility</p:attrName>
                                        </p:attrNameLst>
                                      </p:cBhvr>
                                      <p:to>
                                        <p:strVal val="visible"/>
                                      </p:to>
                                    </p:set>
                                    <p:anim calcmode="lin" valueType="num">
                                      <p:cBhvr>
                                        <p:cTn id="40" dur="500" fill="hold"/>
                                        <p:tgtEl>
                                          <p:spTgt spid="1597452"/>
                                        </p:tgtEl>
                                        <p:attrNameLst>
                                          <p:attrName>ppt_w</p:attrName>
                                        </p:attrNameLst>
                                      </p:cBhvr>
                                      <p:tavLst>
                                        <p:tav tm="0">
                                          <p:val>
                                            <p:fltVal val="0.000000"/>
                                          </p:val>
                                        </p:tav>
                                        <p:tav tm="100000">
                                          <p:val>
                                            <p:strVal val="#ppt_w"/>
                                          </p:val>
                                        </p:tav>
                                      </p:tavLst>
                                    </p:anim>
                                    <p:anim calcmode="lin" valueType="num">
                                      <p:cBhvr>
                                        <p:cTn id="41" dur="500" fill="hold"/>
                                        <p:tgtEl>
                                          <p:spTgt spid="1597452"/>
                                        </p:tgtEl>
                                        <p:attrNameLst>
                                          <p:attrName>ppt_h</p:attrName>
                                        </p:attrNameLst>
                                      </p:cBhvr>
                                      <p:tavLst>
                                        <p:tav tm="0">
                                          <p:val>
                                            <p:fltVal val="0.000000"/>
                                          </p:val>
                                        </p:tav>
                                        <p:tav tm="100000">
                                          <p:val>
                                            <p:strVal val="#ppt_h"/>
                                          </p:val>
                                        </p:tav>
                                      </p:tavLst>
                                    </p:anim>
                                  </p:childTnLst>
                                </p:cTn>
                              </p:par>
                            </p:childTnLst>
                          </p:cTn>
                        </p:par>
                        <p:par>
                          <p:cTn id="42" fill="hold">
                            <p:stCondLst>
                              <p:cond delay="500"/>
                            </p:stCondLst>
                            <p:childTnLst>
                              <p:par>
                                <p:cTn id="43" presetID="2" presetClass="entr" presetSubtype="12" fill="hold" grpId="0" nodeType="afterEffect">
                                  <p:stCondLst>
                                    <p:cond delay="0"/>
                                  </p:stCondLst>
                                  <p:childTnLst>
                                    <p:set>
                                      <p:cBhvr>
                                        <p:cTn id="44" dur="1" fill="hold">
                                          <p:stCondLst>
                                            <p:cond delay="0"/>
                                          </p:stCondLst>
                                        </p:cTn>
                                        <p:tgtEl>
                                          <p:spTgt spid="1597449"/>
                                        </p:tgtEl>
                                        <p:attrNameLst>
                                          <p:attrName>style.visibility</p:attrName>
                                        </p:attrNameLst>
                                      </p:cBhvr>
                                      <p:to>
                                        <p:strVal val="visible"/>
                                      </p:to>
                                    </p:set>
                                    <p:anim calcmode="lin" valueType="num">
                                      <p:cBhvr additive="base">
                                        <p:cTn id="45" dur="500" fill="hold"/>
                                        <p:tgtEl>
                                          <p:spTgt spid="1597449"/>
                                        </p:tgtEl>
                                        <p:attrNameLst>
                                          <p:attrName>ppt_x</p:attrName>
                                        </p:attrNameLst>
                                      </p:cBhvr>
                                      <p:tavLst>
                                        <p:tav tm="0">
                                          <p:val>
                                            <p:strVal val="0-#ppt_w/2"/>
                                          </p:val>
                                        </p:tav>
                                        <p:tav tm="100000">
                                          <p:val>
                                            <p:strVal val="#ppt_x"/>
                                          </p:val>
                                        </p:tav>
                                      </p:tavLst>
                                    </p:anim>
                                    <p:anim calcmode="lin" valueType="num">
                                      <p:cBhvr additive="base">
                                        <p:cTn id="46" dur="500" fill="hold"/>
                                        <p:tgtEl>
                                          <p:spTgt spid="15974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43" grpId="0"/>
      <p:bldP spid="1597444" grpId="0" bldLvl="0" animBg="1"/>
      <p:bldP spid="1597445" grpId="0" bldLvl="0" animBg="1"/>
      <p:bldP spid="1597448" grpId="0" bldLvl="0" animBg="1"/>
      <p:bldP spid="1597449" grpId="0" bldLvl="0" animBg="1"/>
      <p:bldP spid="1597452" grpId="0"/>
      <p:bldP spid="1597453" grpId="0" bldLvl="0" animBg="1"/>
      <p:bldP spid="159745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481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599502" name="Text Box 14"/>
          <p:cNvSpPr txBox="1"/>
          <p:nvPr/>
        </p:nvSpPr>
        <p:spPr>
          <a:xfrm>
            <a:off x="2332038" y="1462088"/>
            <a:ext cx="6129337" cy="390842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module  trist1(out,in,enable);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output  out;</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input   in, enable;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solidFill>
                  <a:srgbClr val="FF0066"/>
                </a:solidFill>
                <a:latin typeface="Times New Roman" panose="02020603050405020304" pitchFamily="18" charset="0"/>
                <a:ea typeface="宋体" panose="02010600030101010101" pitchFamily="2" charset="-122"/>
              </a:rPr>
              <a:t>      mytri</a:t>
            </a:r>
            <a:r>
              <a:rPr lang="en-US" altLang="zh-CN" b="1" dirty="0">
                <a:latin typeface="Times New Roman" panose="02020603050405020304" pitchFamily="18" charset="0"/>
                <a:ea typeface="宋体" panose="02010600030101010101" pitchFamily="2" charset="-122"/>
              </a:rPr>
              <a:t>  </a:t>
            </a:r>
            <a:r>
              <a:rPr lang="en-US" altLang="zh-CN" b="1" dirty="0">
                <a:solidFill>
                  <a:srgbClr val="990099"/>
                </a:solidFill>
                <a:latin typeface="Times New Roman" panose="02020603050405020304" pitchFamily="18" charset="0"/>
                <a:ea typeface="宋体" panose="02010600030101010101" pitchFamily="2" charset="-122"/>
              </a:rPr>
              <a:t>tri_inst</a:t>
            </a:r>
            <a:r>
              <a:rPr lang="en-US" altLang="zh-CN" b="1" dirty="0">
                <a:latin typeface="Times New Roman" panose="02020603050405020304" pitchFamily="18" charset="0"/>
                <a:ea typeface="宋体" panose="02010600030101010101" pitchFamily="2" charset="-122"/>
              </a:rPr>
              <a:t>(out,in,enable);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endmodule</a:t>
            </a:r>
            <a:endParaRPr lang="en-US" altLang="zh-CN" b="1" dirty="0">
              <a:latin typeface="Times New Roman" panose="02020603050405020304" pitchFamily="18" charset="0"/>
              <a:ea typeface="宋体" panose="02010600030101010101" pitchFamily="2" charset="-122"/>
            </a:endParaRPr>
          </a:p>
          <a:p>
            <a:pPr marL="0" lvl="0" indent="0" algn="just" eaLnBrk="1" hangingPunct="1">
              <a:buClr>
                <a:srgbClr val="3333FF"/>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a:p>
            <a:pPr marL="0" lvl="0" indent="0" algn="just" eaLnBrk="1" hangingPunct="1">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module mytri(out,in,enable);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output  out;</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input   in, enable;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assign out = enable</a:t>
            </a:r>
            <a:r>
              <a:rPr lang="en-US" altLang="zh-CN" b="1" dirty="0">
                <a:solidFill>
                  <a:srgbClr val="FF0066"/>
                </a:solidFill>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 in</a:t>
            </a:r>
            <a:r>
              <a:rPr lang="en-US" altLang="zh-CN" b="1" dirty="0">
                <a:solidFill>
                  <a:srgbClr val="FF0066"/>
                </a:solidFill>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’bz;</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 * </a:t>
            </a:r>
            <a:r>
              <a:rPr lang="zh-CN" altLang="en-US" b="1" dirty="0">
                <a:latin typeface="Times New Roman" panose="02020603050405020304" pitchFamily="18" charset="0"/>
                <a:ea typeface="宋体" panose="02010600030101010101" pitchFamily="2" charset="-122"/>
              </a:rPr>
              <a:t>如果</a:t>
            </a:r>
            <a:r>
              <a:rPr lang="en-US" altLang="zh-CN" b="1" dirty="0">
                <a:latin typeface="Times New Roman" panose="02020603050405020304" pitchFamily="18" charset="0"/>
                <a:ea typeface="宋体" panose="02010600030101010101" pitchFamily="2" charset="-122"/>
              </a:rPr>
              <a:t>enable</a:t>
            </a:r>
            <a:r>
              <a:rPr lang="zh-CN" altLang="en-US" b="1" dirty="0">
                <a:latin typeface="Times New Roman" panose="02020603050405020304" pitchFamily="18" charset="0"/>
                <a:ea typeface="宋体" panose="02010600030101010101" pitchFamily="2" charset="-122"/>
              </a:rPr>
              <a:t>为</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，则</a:t>
            </a:r>
            <a:r>
              <a:rPr lang="en-US" altLang="zh-CN" b="1" dirty="0">
                <a:latin typeface="Times New Roman" panose="02020603050405020304" pitchFamily="18" charset="0"/>
                <a:ea typeface="宋体" panose="02010600030101010101" pitchFamily="2" charset="-122"/>
              </a:rPr>
              <a:t>out = in</a:t>
            </a:r>
            <a:r>
              <a:rPr lang="zh-CN" altLang="en-US" b="1" dirty="0">
                <a:latin typeface="Times New Roman" panose="02020603050405020304" pitchFamily="18" charset="0"/>
                <a:ea typeface="宋体" panose="02010600030101010101" pitchFamily="2" charset="-122"/>
              </a:rPr>
              <a:t>，否则为高阻态 * </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endmodule</a:t>
            </a:r>
            <a:endParaRPr lang="en-US" altLang="zh-CN" b="1" dirty="0">
              <a:latin typeface="Times New Roman" panose="02020603050405020304" pitchFamily="18" charset="0"/>
              <a:ea typeface="宋体" panose="02010600030101010101" pitchFamily="2" charset="-122"/>
            </a:endParaRPr>
          </a:p>
        </p:txBody>
      </p:sp>
      <p:sp>
        <p:nvSpPr>
          <p:cNvPr id="3482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599491" name="Rectangle 3"/>
          <p:cNvSpPr>
            <a:spLocks noGrp="1"/>
          </p:cNvSpPr>
          <p:nvPr>
            <p:ph idx="1"/>
          </p:nvPr>
        </p:nvSpPr>
        <p:spPr/>
        <p:txBody>
          <a:bodyPr vert="horz" wrap="square" lIns="91440" tIns="45720" rIns="91440" bIns="45720" anchor="t" anchorCtr="0"/>
          <a:p>
            <a:pPr algn="just" eaLnBrk="1" hangingPunct="1">
              <a:lnSpc>
                <a:spcPct val="90000"/>
              </a:lnSpc>
            </a:pPr>
            <a:r>
              <a:rPr lang="en-US" altLang="zh-CN" dirty="0">
                <a:latin typeface="宋体" panose="02010600030101010101" pitchFamily="2" charset="-122"/>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2.5</a:t>
            </a:r>
            <a:r>
              <a:rPr lang="en-US" altLang="zh-CN" dirty="0">
                <a:latin typeface="宋体" panose="02010600030101010101" pitchFamily="2" charset="-122"/>
                <a:ea typeface="黑体" panose="02010609060101010101" pitchFamily="49" charset="-122"/>
                <a:cs typeface="+mn-cs"/>
              </a:rPr>
              <a:t>]</a:t>
            </a:r>
            <a:r>
              <a:rPr lang="en-US" altLang="zh-CN" sz="1800" dirty="0">
                <a:latin typeface="宋体" panose="02010600030101010101" pitchFamily="2" charset="-122"/>
                <a:ea typeface="黑体" panose="02010609060101010101" pitchFamily="49" charset="-122"/>
                <a:cs typeface="+mn-cs"/>
              </a:rPr>
              <a:t> </a:t>
            </a:r>
            <a:r>
              <a:rPr lang="zh-CN" altLang="en-US" dirty="0">
                <a:latin typeface="宋体" panose="02010600030101010101" pitchFamily="2" charset="-122"/>
                <a:ea typeface="华文楷体" panose="02010600040101010101" pitchFamily="2" charset="-122"/>
                <a:cs typeface="+mn-cs"/>
              </a:rPr>
              <a:t>三态驱动器</a:t>
            </a:r>
            <a:endParaRPr lang="zh-CN" altLang="en-US" dirty="0">
              <a:latin typeface="宋体" panose="02010600030101010101" pitchFamily="2" charset="-122"/>
              <a:ea typeface="华文楷体" panose="02010600040101010101" pitchFamily="2" charset="-122"/>
              <a:cs typeface="+mn-cs"/>
            </a:endParaRPr>
          </a:p>
        </p:txBody>
      </p:sp>
      <p:sp>
        <p:nvSpPr>
          <p:cNvPr id="1599492" name="AutoShape 4"/>
          <p:cNvSpPr/>
          <p:nvPr/>
        </p:nvSpPr>
        <p:spPr>
          <a:xfrm>
            <a:off x="3913188" y="3008313"/>
            <a:ext cx="1600200" cy="336550"/>
          </a:xfrm>
          <a:prstGeom prst="wedgeRoundRectCallout">
            <a:avLst>
              <a:gd name="adj1" fmla="val -41764"/>
              <a:gd name="adj2" fmla="val -119338"/>
              <a:gd name="adj3" fmla="val 16667"/>
            </a:avLst>
          </a:prstGeom>
          <a:noFill/>
          <a:ln w="9525" cap="flat" cmpd="sng">
            <a:solidFill>
              <a:schemeClr val="accent1"/>
            </a:solidFill>
            <a:prstDash val="solid"/>
            <a:round/>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1800" dirty="0">
                <a:latin typeface="Tahoma" panose="020B0604030504040204" pitchFamily="34" charset="0"/>
                <a:ea typeface="宋体" panose="02010600030101010101" pitchFamily="2" charset="-122"/>
              </a:rPr>
              <a:t>例化元件名</a:t>
            </a:r>
            <a:endParaRPr lang="zh-CN" altLang="en-US" sz="1800" dirty="0">
              <a:latin typeface="Tahoma" panose="020B0604030504040204" pitchFamily="34" charset="0"/>
              <a:ea typeface="宋体" panose="02010600030101010101" pitchFamily="2" charset="-122"/>
            </a:endParaRPr>
          </a:p>
        </p:txBody>
      </p:sp>
      <p:sp>
        <p:nvSpPr>
          <p:cNvPr id="1599493" name="AutoShape 5"/>
          <p:cNvSpPr/>
          <p:nvPr/>
        </p:nvSpPr>
        <p:spPr>
          <a:xfrm>
            <a:off x="1104900" y="2049463"/>
            <a:ext cx="1227138" cy="366712"/>
          </a:xfrm>
          <a:prstGeom prst="wedgeRoundRectCallout">
            <a:avLst>
              <a:gd name="adj1" fmla="val 81306"/>
              <a:gd name="adj2" fmla="val 104977"/>
              <a:gd name="adj3" fmla="val 16667"/>
            </a:avLst>
          </a:prstGeom>
          <a:noFill/>
          <a:ln w="9525" cap="flat" cmpd="sng">
            <a:solidFill>
              <a:schemeClr val="accent1"/>
            </a:solidFill>
            <a:prstDash val="solid"/>
            <a:round/>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dirty="0">
                <a:ea typeface="宋体" panose="02010600030101010101" pitchFamily="2" charset="-122"/>
              </a:rPr>
              <a:t>子模块名</a:t>
            </a:r>
            <a:endParaRPr lang="zh-CN" altLang="en-US" sz="1800" dirty="0">
              <a:ea typeface="宋体" panose="02010600030101010101" pitchFamily="2" charset="-122"/>
            </a:endParaRPr>
          </a:p>
        </p:txBody>
      </p:sp>
      <p:sp>
        <p:nvSpPr>
          <p:cNvPr id="1599494" name="Text Box 6"/>
          <p:cNvSpPr txBox="1"/>
          <p:nvPr/>
        </p:nvSpPr>
        <p:spPr>
          <a:xfrm>
            <a:off x="793750" y="1487488"/>
            <a:ext cx="1219200" cy="398462"/>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latin typeface="华文楷体" panose="02010600040101010101" pitchFamily="2" charset="-122"/>
                <a:ea typeface="华文楷体" panose="02010600040101010101" pitchFamily="2" charset="-122"/>
              </a:rPr>
              <a:t>顶层模块</a:t>
            </a:r>
            <a:endParaRPr lang="zh-CN" altLang="en-US" b="1" dirty="0">
              <a:latin typeface="华文楷体" panose="02010600040101010101" pitchFamily="2" charset="-122"/>
              <a:ea typeface="华文楷体" panose="02010600040101010101" pitchFamily="2" charset="-122"/>
            </a:endParaRPr>
          </a:p>
        </p:txBody>
      </p:sp>
      <p:sp>
        <p:nvSpPr>
          <p:cNvPr id="1599495" name="Text Box 7"/>
          <p:cNvSpPr txBox="1"/>
          <p:nvPr/>
        </p:nvSpPr>
        <p:spPr>
          <a:xfrm>
            <a:off x="908050" y="3260725"/>
            <a:ext cx="990600" cy="398463"/>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latin typeface="华文楷体" panose="02010600040101010101" pitchFamily="2" charset="-122"/>
                <a:ea typeface="华文楷体" panose="02010600040101010101" pitchFamily="2" charset="-122"/>
              </a:rPr>
              <a:t>子模块</a:t>
            </a:r>
            <a:endParaRPr lang="zh-CN" altLang="en-US" b="1" dirty="0">
              <a:latin typeface="华文楷体" panose="02010600040101010101" pitchFamily="2" charset="-122"/>
              <a:ea typeface="华文楷体" panose="02010600040101010101" pitchFamily="2" charset="-122"/>
            </a:endParaRPr>
          </a:p>
        </p:txBody>
      </p:sp>
      <p:sp>
        <p:nvSpPr>
          <p:cNvPr id="1599497" name="AutoShape 9" descr="80%"/>
          <p:cNvSpPr/>
          <p:nvPr/>
        </p:nvSpPr>
        <p:spPr>
          <a:xfrm rot="-133237">
            <a:off x="4084638" y="606425"/>
            <a:ext cx="4503737" cy="981075"/>
          </a:xfrm>
          <a:prstGeom prst="irregularSeal2">
            <a:avLst/>
          </a:prstGeom>
          <a:noFill/>
          <a:ln w="9525" cap="flat" cmpd="sng">
            <a:solidFill>
              <a:schemeClr val="accent1"/>
            </a:solidFill>
            <a:prstDash val="solid"/>
            <a:round/>
            <a:headEnd type="none" w="med" len="med"/>
            <a:tailEnd type="none" w="med" len="med"/>
          </a:ln>
          <a:effectLst>
            <a:prstShdw prst="shdw17" dist="17961" dir="13499999">
              <a:srgbClr val="997A99"/>
            </a:prstShdw>
          </a:effectLst>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1"/>
              </a:buClr>
              <a:buSzPct val="80000"/>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模块元件例化</a:t>
            </a:r>
            <a:endParaRPr lang="zh-CN" altLang="en-US" sz="2800" b="1" dirty="0">
              <a:latin typeface="华文楷体" panose="02010600040101010101" pitchFamily="2" charset="-122"/>
              <a:ea typeface="华文楷体" panose="02010600040101010101" pitchFamily="2" charset="-122"/>
            </a:endParaRPr>
          </a:p>
        </p:txBody>
      </p:sp>
      <p:sp>
        <p:nvSpPr>
          <p:cNvPr id="1599498" name="Rectangle 10"/>
          <p:cNvSpPr/>
          <p:nvPr/>
        </p:nvSpPr>
        <p:spPr>
          <a:xfrm>
            <a:off x="2636838" y="2492375"/>
            <a:ext cx="3446462" cy="277813"/>
          </a:xfrm>
          <a:prstGeom prst="rect">
            <a:avLst/>
          </a:prstGeom>
          <a:noFill/>
          <a:ln w="19050" cap="flat" cmpd="sng">
            <a:solidFill>
              <a:srgbClr val="FF0000"/>
            </a:solidFill>
            <a:prstDash val="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599499" name="Rectangle 11"/>
          <p:cNvSpPr/>
          <p:nvPr/>
        </p:nvSpPr>
        <p:spPr>
          <a:xfrm>
            <a:off x="1176338" y="5732463"/>
            <a:ext cx="6780212" cy="731837"/>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defTabSz="2716530">
              <a:lnSpc>
                <a:spcPct val="90000"/>
              </a:lnSpc>
              <a:spcBef>
                <a:spcPct val="0"/>
              </a:spcBef>
              <a:buClr>
                <a:srgbClr val="3333FF"/>
              </a:buClr>
              <a:buFont typeface="Wingdings" panose="05000000000000000000" pitchFamily="2" charset="2"/>
              <a:buNone/>
            </a:pPr>
            <a:r>
              <a:rPr lang="zh-CN" altLang="en-US" sz="2200" b="1" dirty="0">
                <a:solidFill>
                  <a:srgbClr val="FF0066"/>
                </a:solidFill>
                <a:latin typeface="华文楷体" panose="02010600040101010101" pitchFamily="2" charset="-122"/>
                <a:ea typeface="华文楷体" panose="02010600040101010101" pitchFamily="2" charset="-122"/>
              </a:rPr>
              <a:t>模块元件例化</a:t>
            </a:r>
            <a:r>
              <a:rPr lang="en-US" altLang="zh-CN" sz="2200" b="1"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a:t>
            </a:r>
            <a:r>
              <a:rPr lang="zh-CN" altLang="en-US" sz="2200" b="1" dirty="0">
                <a:latin typeface="华文楷体" panose="02010600040101010101" pitchFamily="2" charset="-122"/>
                <a:ea typeface="华文楷体" panose="02010600040101010101" pitchFamily="2" charset="-122"/>
              </a:rPr>
              <a:t>顶层模块（</a:t>
            </a:r>
            <a:r>
              <a:rPr lang="en-US" altLang="zh-CN" sz="2200" b="1" dirty="0">
                <a:latin typeface="华文楷体" panose="02010600040101010101" pitchFamily="2" charset="-122"/>
                <a:ea typeface="华文楷体" panose="02010600040101010101" pitchFamily="2" charset="-122"/>
              </a:rPr>
              <a:t>trist1</a:t>
            </a:r>
            <a:r>
              <a:rPr lang="zh-CN" altLang="en-US" sz="2200" b="1" dirty="0">
                <a:latin typeface="华文楷体" panose="02010600040101010101" pitchFamily="2" charset="-122"/>
                <a:ea typeface="华文楷体" panose="02010600040101010101" pitchFamily="2" charset="-122"/>
              </a:rPr>
              <a:t>）调用由某子模块（</a:t>
            </a:r>
            <a:r>
              <a:rPr lang="en-US" altLang="zh-CN" sz="2200" b="1" dirty="0">
                <a:latin typeface="华文楷体" panose="02010600040101010101" pitchFamily="2" charset="-122"/>
                <a:ea typeface="华文楷体" panose="02010600040101010101" pitchFamily="2" charset="-122"/>
              </a:rPr>
              <a:t>mytri</a:t>
            </a:r>
            <a:r>
              <a:rPr lang="zh-CN" altLang="en-US" sz="2200" b="1" dirty="0">
                <a:latin typeface="华文楷体" panose="02010600040101010101" pitchFamily="2" charset="-122"/>
                <a:ea typeface="华文楷体" panose="02010600040101010101" pitchFamily="2" charset="-122"/>
              </a:rPr>
              <a:t>）定义的实例元件（</a:t>
            </a:r>
            <a:r>
              <a:rPr lang="en-US" altLang="zh-CN" sz="2200" b="1" dirty="0">
                <a:latin typeface="华文楷体" panose="02010600040101010101" pitchFamily="2" charset="-122"/>
                <a:ea typeface="华文楷体" panose="02010600040101010101" pitchFamily="2" charset="-122"/>
              </a:rPr>
              <a:t>tri_inst</a:t>
            </a:r>
            <a:r>
              <a:rPr lang="zh-CN" altLang="en-US" sz="2200" b="1" dirty="0">
                <a:latin typeface="华文楷体" panose="02010600040101010101" pitchFamily="2" charset="-122"/>
                <a:ea typeface="华文楷体" panose="02010600040101010101" pitchFamily="2" charset="-122"/>
              </a:rPr>
              <a:t>）来实现某功能。</a:t>
            </a:r>
            <a:endParaRPr lang="zh-CN" altLang="en-US" sz="22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99491"/>
                                        </p:tgtEl>
                                        <p:attrNameLst>
                                          <p:attrName>style.visibility</p:attrName>
                                        </p:attrNameLst>
                                      </p:cBhvr>
                                      <p:to>
                                        <p:strVal val="visible"/>
                                      </p:to>
                                    </p:set>
                                    <p:anim calcmode="lin" valueType="num">
                                      <p:cBhvr additive="base">
                                        <p:cTn id="7" dur="500" fill="hold"/>
                                        <p:tgtEl>
                                          <p:spTgt spid="1599491"/>
                                        </p:tgtEl>
                                        <p:attrNameLst>
                                          <p:attrName>ppt_x</p:attrName>
                                        </p:attrNameLst>
                                      </p:cBhvr>
                                      <p:tavLst>
                                        <p:tav tm="0">
                                          <p:val>
                                            <p:strVal val="0-#ppt_w/2"/>
                                          </p:val>
                                        </p:tav>
                                        <p:tav tm="100000">
                                          <p:val>
                                            <p:strVal val="#ppt_x"/>
                                          </p:val>
                                        </p:tav>
                                      </p:tavLst>
                                    </p:anim>
                                    <p:anim calcmode="lin" valueType="num">
                                      <p:cBhvr additive="base">
                                        <p:cTn id="8" dur="500" fill="hold"/>
                                        <p:tgtEl>
                                          <p:spTgt spid="15994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599497"/>
                                        </p:tgtEl>
                                        <p:attrNameLst>
                                          <p:attrName>style.visibility</p:attrName>
                                        </p:attrNameLst>
                                      </p:cBhvr>
                                      <p:to>
                                        <p:strVal val="visible"/>
                                      </p:to>
                                    </p:set>
                                    <p:anim calcmode="lin" valueType="num">
                                      <p:cBhvr>
                                        <p:cTn id="13" dur="500" fill="hold"/>
                                        <p:tgtEl>
                                          <p:spTgt spid="1599497"/>
                                        </p:tgtEl>
                                        <p:attrNameLst>
                                          <p:attrName>ppt_w</p:attrName>
                                        </p:attrNameLst>
                                      </p:cBhvr>
                                      <p:tavLst>
                                        <p:tav tm="0">
                                          <p:val>
                                            <p:fltVal val="0.000000"/>
                                          </p:val>
                                        </p:tav>
                                        <p:tav tm="100000">
                                          <p:val>
                                            <p:strVal val="#ppt_w"/>
                                          </p:val>
                                        </p:tav>
                                      </p:tavLst>
                                    </p:anim>
                                    <p:anim calcmode="lin" valueType="num">
                                      <p:cBhvr>
                                        <p:cTn id="14" dur="500" fill="hold"/>
                                        <p:tgtEl>
                                          <p:spTgt spid="1599497"/>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12" fill="hold" grpId="0" nodeType="afterEffect">
                                  <p:stCondLst>
                                    <p:cond delay="0"/>
                                  </p:stCondLst>
                                  <p:childTnLst>
                                    <p:set>
                                      <p:cBhvr>
                                        <p:cTn id="17" dur="1" fill="hold">
                                          <p:stCondLst>
                                            <p:cond delay="0"/>
                                          </p:stCondLst>
                                        </p:cTn>
                                        <p:tgtEl>
                                          <p:spTgt spid="1599502"/>
                                        </p:tgtEl>
                                        <p:attrNameLst>
                                          <p:attrName>style.visibility</p:attrName>
                                        </p:attrNameLst>
                                      </p:cBhvr>
                                      <p:to>
                                        <p:strVal val="visible"/>
                                      </p:to>
                                    </p:set>
                                    <p:anim calcmode="lin" valueType="num">
                                      <p:cBhvr additive="base">
                                        <p:cTn id="18" dur="500" fill="hold"/>
                                        <p:tgtEl>
                                          <p:spTgt spid="1599502"/>
                                        </p:tgtEl>
                                        <p:attrNameLst>
                                          <p:attrName>ppt_x</p:attrName>
                                        </p:attrNameLst>
                                      </p:cBhvr>
                                      <p:tavLst>
                                        <p:tav tm="0">
                                          <p:val>
                                            <p:strVal val="0-#ppt_w/2"/>
                                          </p:val>
                                        </p:tav>
                                        <p:tav tm="100000">
                                          <p:val>
                                            <p:strVal val="#ppt_x"/>
                                          </p:val>
                                        </p:tav>
                                      </p:tavLst>
                                    </p:anim>
                                    <p:anim calcmode="lin" valueType="num">
                                      <p:cBhvr additive="base">
                                        <p:cTn id="19" dur="500" fill="hold"/>
                                        <p:tgtEl>
                                          <p:spTgt spid="159950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6" fill="hold" grpId="0" nodeType="clickEffect">
                                  <p:stCondLst>
                                    <p:cond delay="0"/>
                                  </p:stCondLst>
                                  <p:childTnLst>
                                    <p:set>
                                      <p:cBhvr>
                                        <p:cTn id="23" dur="1" fill="hold">
                                          <p:stCondLst>
                                            <p:cond delay="0"/>
                                          </p:stCondLst>
                                        </p:cTn>
                                        <p:tgtEl>
                                          <p:spTgt spid="1599499"/>
                                        </p:tgtEl>
                                        <p:attrNameLst>
                                          <p:attrName>style.visibility</p:attrName>
                                        </p:attrNameLst>
                                      </p:cBhvr>
                                      <p:to>
                                        <p:strVal val="visible"/>
                                      </p:to>
                                    </p:set>
                                    <p:anim calcmode="lin" valueType="num">
                                      <p:cBhvr additive="base">
                                        <p:cTn id="24" dur="500" fill="hold"/>
                                        <p:tgtEl>
                                          <p:spTgt spid="1599499"/>
                                        </p:tgtEl>
                                        <p:attrNameLst>
                                          <p:attrName>ppt_x</p:attrName>
                                        </p:attrNameLst>
                                      </p:cBhvr>
                                      <p:tavLst>
                                        <p:tav tm="0">
                                          <p:val>
                                            <p:strVal val="1+#ppt_w/2"/>
                                          </p:val>
                                        </p:tav>
                                        <p:tav tm="100000">
                                          <p:val>
                                            <p:strVal val="#ppt_x"/>
                                          </p:val>
                                        </p:tav>
                                      </p:tavLst>
                                    </p:anim>
                                    <p:anim calcmode="lin" valueType="num">
                                      <p:cBhvr additive="base">
                                        <p:cTn id="25" dur="500" fill="hold"/>
                                        <p:tgtEl>
                                          <p:spTgt spid="159949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599494"/>
                                        </p:tgtEl>
                                        <p:attrNameLst>
                                          <p:attrName>style.visibility</p:attrName>
                                        </p:attrNameLst>
                                      </p:cBhvr>
                                      <p:to>
                                        <p:strVal val="visible"/>
                                      </p:to>
                                    </p:set>
                                    <p:anim calcmode="lin" valueType="num">
                                      <p:cBhvr>
                                        <p:cTn id="30" dur="500" fill="hold"/>
                                        <p:tgtEl>
                                          <p:spTgt spid="1599494"/>
                                        </p:tgtEl>
                                        <p:attrNameLst>
                                          <p:attrName>ppt_w</p:attrName>
                                        </p:attrNameLst>
                                      </p:cBhvr>
                                      <p:tavLst>
                                        <p:tav tm="0">
                                          <p:val>
                                            <p:fltVal val="0.000000"/>
                                          </p:val>
                                        </p:tav>
                                        <p:tav tm="100000">
                                          <p:val>
                                            <p:strVal val="#ppt_w"/>
                                          </p:val>
                                        </p:tav>
                                      </p:tavLst>
                                    </p:anim>
                                    <p:anim calcmode="lin" valueType="num">
                                      <p:cBhvr>
                                        <p:cTn id="31" dur="500" fill="hold"/>
                                        <p:tgtEl>
                                          <p:spTgt spid="1599494"/>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1599498"/>
                                        </p:tgtEl>
                                        <p:attrNameLst>
                                          <p:attrName>style.visibility</p:attrName>
                                        </p:attrNameLst>
                                      </p:cBhvr>
                                      <p:to>
                                        <p:strVal val="visible"/>
                                      </p:to>
                                    </p:set>
                                    <p:anim calcmode="lin" valueType="num">
                                      <p:cBhvr>
                                        <p:cTn id="36" dur="500" fill="hold"/>
                                        <p:tgtEl>
                                          <p:spTgt spid="1599498"/>
                                        </p:tgtEl>
                                        <p:attrNameLst>
                                          <p:attrName>ppt_w</p:attrName>
                                        </p:attrNameLst>
                                      </p:cBhvr>
                                      <p:tavLst>
                                        <p:tav tm="0">
                                          <p:val>
                                            <p:fltVal val="0.000000"/>
                                          </p:val>
                                        </p:tav>
                                        <p:tav tm="100000">
                                          <p:val>
                                            <p:strVal val="#ppt_w"/>
                                          </p:val>
                                        </p:tav>
                                      </p:tavLst>
                                    </p:anim>
                                    <p:anim calcmode="lin" valueType="num">
                                      <p:cBhvr>
                                        <p:cTn id="37" dur="500" fill="hold"/>
                                        <p:tgtEl>
                                          <p:spTgt spid="1599498"/>
                                        </p:tgtEl>
                                        <p:attrNameLst>
                                          <p:attrName>ppt_h</p:attrName>
                                        </p:attrNameLst>
                                      </p:cBhvr>
                                      <p:tavLst>
                                        <p:tav tm="0">
                                          <p:val>
                                            <p:fltVal val="0.00000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99493"/>
                                        </p:tgtEl>
                                        <p:attrNameLst>
                                          <p:attrName>style.visibility</p:attrName>
                                        </p:attrNameLst>
                                      </p:cBhvr>
                                      <p:to>
                                        <p:strVal val="visible"/>
                                      </p:to>
                                    </p:set>
                                    <p:animEffect transition="in" filter="dissolve">
                                      <p:cBhvr>
                                        <p:cTn id="42" dur="500"/>
                                        <p:tgtEl>
                                          <p:spTgt spid="159949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599492"/>
                                        </p:tgtEl>
                                        <p:attrNameLst>
                                          <p:attrName>style.visibility</p:attrName>
                                        </p:attrNameLst>
                                      </p:cBhvr>
                                      <p:to>
                                        <p:strVal val="visible"/>
                                      </p:to>
                                    </p:set>
                                    <p:animEffect transition="in" filter="dissolve">
                                      <p:cBhvr>
                                        <p:cTn id="47" dur="500"/>
                                        <p:tgtEl>
                                          <p:spTgt spid="1599492"/>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599495"/>
                                        </p:tgtEl>
                                        <p:attrNameLst>
                                          <p:attrName>style.visibility</p:attrName>
                                        </p:attrNameLst>
                                      </p:cBhvr>
                                      <p:to>
                                        <p:strVal val="visible"/>
                                      </p:to>
                                    </p:set>
                                    <p:anim calcmode="lin" valueType="num">
                                      <p:cBhvr>
                                        <p:cTn id="52" dur="500" fill="hold"/>
                                        <p:tgtEl>
                                          <p:spTgt spid="1599495"/>
                                        </p:tgtEl>
                                        <p:attrNameLst>
                                          <p:attrName>ppt_w</p:attrName>
                                        </p:attrNameLst>
                                      </p:cBhvr>
                                      <p:tavLst>
                                        <p:tav tm="0">
                                          <p:val>
                                            <p:fltVal val="0.000000"/>
                                          </p:val>
                                        </p:tav>
                                        <p:tav tm="100000">
                                          <p:val>
                                            <p:strVal val="#ppt_w"/>
                                          </p:val>
                                        </p:tav>
                                      </p:tavLst>
                                    </p:anim>
                                    <p:anim calcmode="lin" valueType="num">
                                      <p:cBhvr>
                                        <p:cTn id="53" dur="500" fill="hold"/>
                                        <p:tgtEl>
                                          <p:spTgt spid="159949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9502" grpId="0" bldLvl="0" animBg="1"/>
      <p:bldP spid="1599491" grpId="0"/>
      <p:bldP spid="1599492" grpId="0" bldLvl="0" animBg="1"/>
      <p:bldP spid="1599493" grpId="0" bldLvl="0" animBg="1"/>
      <p:bldP spid="1599494" grpId="0" bldLvl="0" animBg="1"/>
      <p:bldP spid="1599495" grpId="0" bldLvl="0" animBg="1"/>
      <p:bldP spid="1599497" grpId="0" bldLvl="0" animBg="1"/>
      <p:bldP spid="1599498" grpId="0" bldLvl="0" animBg="1"/>
      <p:bldP spid="159949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686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01539" name="Rectangle 3"/>
          <p:cNvSpPr>
            <a:spLocks noGrp="1"/>
          </p:cNvSpPr>
          <p:nvPr>
            <p:ph idx="1"/>
          </p:nvPr>
        </p:nvSpPr>
        <p:spPr>
          <a:xfrm>
            <a:off x="539750" y="1333500"/>
            <a:ext cx="7921625" cy="4719638"/>
          </a:xfrm>
        </p:spPr>
        <p:txBody>
          <a:bodyPr vert="horz" wrap="square" lIns="91440" tIns="45720" rIns="91440" bIns="45720" anchor="t" anchorCtr="0"/>
          <a:p>
            <a:pPr algn="just" eaLnBrk="1" hangingPunct="1">
              <a:lnSpc>
                <a:spcPct val="110000"/>
              </a:lnSpc>
              <a:buClr>
                <a:srgbClr val="FF0000"/>
              </a:buClr>
              <a:buSzPct val="80000"/>
              <a:buFont typeface="Wingdings" panose="05000000000000000000" pitchFamily="2" charset="2"/>
              <a:buChar char="Ø"/>
            </a:pPr>
            <a:r>
              <a:rPr lang="en-US" altLang="zh-CN" sz="2200" dirty="0">
                <a:latin typeface="Times New Roman" panose="02020603050405020304" pitchFamily="18" charset="0"/>
                <a:ea typeface="黑体" panose="02010609060101010101" pitchFamily="49" charset="-122"/>
                <a:cs typeface="+mn-cs"/>
              </a:rPr>
              <a:t>Verilog HDL</a:t>
            </a:r>
            <a:r>
              <a:rPr lang="zh-CN" altLang="en-US" sz="2200" dirty="0">
                <a:latin typeface="Times New Roman" panose="02020603050405020304" pitchFamily="18" charset="0"/>
                <a:ea typeface="华文楷体" panose="02010600040101010101" pitchFamily="2" charset="-122"/>
                <a:cs typeface="+mn-cs"/>
              </a:rPr>
              <a:t>程序是由</a:t>
            </a:r>
            <a:r>
              <a:rPr lang="zh-CN" altLang="en-US" sz="2200" dirty="0">
                <a:solidFill>
                  <a:srgbClr val="FF0000"/>
                </a:solidFill>
                <a:latin typeface="Times New Roman" panose="02020603050405020304" pitchFamily="18" charset="0"/>
                <a:ea typeface="华文楷体" panose="02010600040101010101" pitchFamily="2" charset="-122"/>
                <a:cs typeface="+mn-cs"/>
              </a:rPr>
              <a:t>模块</a:t>
            </a:r>
            <a:r>
              <a:rPr lang="zh-CN" altLang="en-US" sz="2200" dirty="0">
                <a:latin typeface="Times New Roman" panose="02020603050405020304" pitchFamily="18" charset="0"/>
                <a:ea typeface="华文楷体" panose="02010600040101010101" pitchFamily="2" charset="-122"/>
                <a:cs typeface="+mn-cs"/>
              </a:rPr>
              <a:t>构成的。每个模块嵌套在</a:t>
            </a:r>
            <a:r>
              <a:rPr lang="en-US" altLang="zh-CN" sz="2200" dirty="0">
                <a:latin typeface="Times New Roman" panose="02020603050405020304" pitchFamily="18" charset="0"/>
                <a:ea typeface="黑体" panose="02010609060101010101" pitchFamily="49" charset="-122"/>
                <a:cs typeface="+mn-cs"/>
              </a:rPr>
              <a:t>module</a:t>
            </a:r>
            <a:r>
              <a:rPr lang="zh-CN" altLang="en-US" sz="2200" dirty="0">
                <a:latin typeface="Times New Roman" panose="02020603050405020304" pitchFamily="18" charset="0"/>
                <a:ea typeface="华文楷体" panose="02010600040101010101" pitchFamily="2" charset="-122"/>
                <a:cs typeface="+mn-cs"/>
              </a:rPr>
              <a:t>和</a:t>
            </a:r>
            <a:r>
              <a:rPr lang="en-US" altLang="zh-CN" sz="2200" dirty="0">
                <a:latin typeface="Times New Roman" panose="02020603050405020304" pitchFamily="18" charset="0"/>
                <a:ea typeface="黑体" panose="02010609060101010101" pitchFamily="49" charset="-122"/>
                <a:cs typeface="+mn-cs"/>
              </a:rPr>
              <a:t>endmodule</a:t>
            </a:r>
            <a:r>
              <a:rPr lang="zh-CN" altLang="en-US" sz="2200" dirty="0">
                <a:latin typeface="Times New Roman" panose="02020603050405020304" pitchFamily="18" charset="0"/>
                <a:ea typeface="华文楷体" panose="02010600040101010101" pitchFamily="2" charset="-122"/>
                <a:cs typeface="+mn-cs"/>
              </a:rPr>
              <a:t>声明语句中。模块是可以进行层次嵌套的。</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000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每个</a:t>
            </a:r>
            <a:r>
              <a:rPr lang="en-US" altLang="zh-CN" sz="2200" dirty="0">
                <a:latin typeface="Times New Roman" panose="02020603050405020304" pitchFamily="18" charset="0"/>
                <a:ea typeface="黑体" panose="02010609060101010101" pitchFamily="49" charset="-122"/>
                <a:cs typeface="+mn-cs"/>
              </a:rPr>
              <a:t>Verilog HDL</a:t>
            </a:r>
            <a:r>
              <a:rPr lang="zh-CN" altLang="en-US" sz="2200" dirty="0">
                <a:latin typeface="Times New Roman" panose="02020603050405020304" pitchFamily="18" charset="0"/>
                <a:ea typeface="华文楷体" panose="02010600040101010101" pitchFamily="2" charset="-122"/>
                <a:cs typeface="+mn-cs"/>
              </a:rPr>
              <a:t>源文件中只准有一个顶层模块，其他为子模块。</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000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每个模块要进行端口定义，并说明输入输出端口，然后对模块的功能进行行为逻辑描述。</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000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程序书写格式自由，一行可以写几个语句，一个语句也可以分多行写。</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000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除了</a:t>
            </a:r>
            <a:r>
              <a:rPr lang="en-US" altLang="zh-CN" sz="2200" dirty="0">
                <a:solidFill>
                  <a:srgbClr val="FF0000"/>
                </a:solidFill>
                <a:latin typeface="Times New Roman" panose="02020603050405020304" pitchFamily="18" charset="0"/>
                <a:ea typeface="黑体" panose="02010609060101010101" pitchFamily="49" charset="-122"/>
                <a:cs typeface="+mn-cs"/>
              </a:rPr>
              <a:t>endmodule</a:t>
            </a:r>
            <a:r>
              <a:rPr lang="zh-CN" altLang="en-US" sz="2200" dirty="0">
                <a:latin typeface="Times New Roman" panose="02020603050405020304" pitchFamily="18" charset="0"/>
                <a:ea typeface="华文楷体" panose="02010600040101010101" pitchFamily="2" charset="-122"/>
                <a:cs typeface="+mn-cs"/>
              </a:rPr>
              <a:t>语句、</a:t>
            </a:r>
            <a:r>
              <a:rPr lang="en-US" altLang="zh-CN" sz="2200" dirty="0">
                <a:solidFill>
                  <a:srgbClr val="FF0000"/>
                </a:solidFill>
                <a:latin typeface="Times New Roman" panose="02020603050405020304" pitchFamily="18" charset="0"/>
                <a:ea typeface="黑体" panose="02010609060101010101" pitchFamily="49" charset="-122"/>
                <a:cs typeface="+mn-cs"/>
              </a:rPr>
              <a:t>begin_end</a:t>
            </a:r>
            <a:r>
              <a:rPr lang="zh-CN" altLang="en-US" sz="2200" dirty="0">
                <a:latin typeface="Times New Roman" panose="02020603050405020304" pitchFamily="18" charset="0"/>
                <a:ea typeface="华文楷体" panose="02010600040101010101" pitchFamily="2" charset="-122"/>
                <a:cs typeface="+mn-cs"/>
              </a:rPr>
              <a:t>语句和</a:t>
            </a:r>
            <a:r>
              <a:rPr lang="en-US" altLang="zh-CN" sz="2200" dirty="0">
                <a:solidFill>
                  <a:srgbClr val="FF0000"/>
                </a:solidFill>
                <a:latin typeface="Times New Roman" panose="02020603050405020304" pitchFamily="18" charset="0"/>
                <a:ea typeface="黑体" panose="02010609060101010101" pitchFamily="49" charset="-122"/>
                <a:cs typeface="+mn-cs"/>
              </a:rPr>
              <a:t>fork_join</a:t>
            </a:r>
            <a:r>
              <a:rPr lang="zh-CN" altLang="en-US" sz="2200" dirty="0">
                <a:latin typeface="Times New Roman" panose="02020603050405020304" pitchFamily="18" charset="0"/>
                <a:ea typeface="华文楷体" panose="02010600040101010101" pitchFamily="2" charset="-122"/>
                <a:cs typeface="+mn-cs"/>
              </a:rPr>
              <a:t>语句外，每个语句和数据定义的最后必须有分号。</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000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可用</a:t>
            </a:r>
            <a:r>
              <a:rPr lang="en-US" altLang="zh-CN" sz="2200" dirty="0">
                <a:solidFill>
                  <a:srgbClr val="FF0000"/>
                </a:solidFill>
                <a:latin typeface="Times New Roman" panose="02020603050405020304" pitchFamily="18" charset="0"/>
                <a:ea typeface="黑体" panose="02010609060101010101" pitchFamily="49" charset="-122"/>
                <a:cs typeface="+mn-cs"/>
              </a:rPr>
              <a:t>/*.....*/</a:t>
            </a:r>
            <a:r>
              <a:rPr lang="zh-CN" altLang="en-US" sz="2200" dirty="0">
                <a:latin typeface="Times New Roman" panose="02020603050405020304" pitchFamily="18" charset="0"/>
                <a:ea typeface="华文楷体" panose="02010600040101010101" pitchFamily="2" charset="-122"/>
                <a:cs typeface="+mn-cs"/>
              </a:rPr>
              <a:t>和</a:t>
            </a:r>
            <a:r>
              <a:rPr lang="en-US" altLang="zh-CN" sz="2200" dirty="0">
                <a:solidFill>
                  <a:srgbClr val="FF0000"/>
                </a:solidFill>
                <a:latin typeface="Times New Roman" panose="02020603050405020304" pitchFamily="18" charset="0"/>
                <a:ea typeface="黑体" panose="02010609060101010101" pitchFamily="49" charset="-122"/>
                <a:cs typeface="+mn-cs"/>
              </a:rPr>
              <a:t>//...</a:t>
            </a:r>
            <a:r>
              <a:rPr lang="zh-CN" altLang="en-US" sz="2200" dirty="0">
                <a:latin typeface="Times New Roman" panose="02020603050405020304" pitchFamily="18" charset="0"/>
                <a:ea typeface="华文楷体" panose="02010600040101010101" pitchFamily="2" charset="-122"/>
                <a:cs typeface="+mn-cs"/>
              </a:rPr>
              <a:t>对程序的任何部分作注释。加上必要的注释，以增强程序的可读性和可维护性。</a:t>
            </a:r>
            <a:endParaRPr lang="zh-CN" altLang="en-US" sz="2200" dirty="0">
              <a:latin typeface="Times New Roman" panose="02020603050405020304" pitchFamily="18" charset="0"/>
              <a:ea typeface="华文楷体" panose="02010600040101010101" pitchFamily="2" charset="-122"/>
              <a:cs typeface="+mn-cs"/>
            </a:endParaRPr>
          </a:p>
        </p:txBody>
      </p:sp>
      <p:sp>
        <p:nvSpPr>
          <p:cNvPr id="6" name="AutoShape 8"/>
          <p:cNvSpPr/>
          <p:nvPr/>
        </p:nvSpPr>
        <p:spPr>
          <a:xfrm rot="-765681">
            <a:off x="-85725" y="858838"/>
            <a:ext cx="2200275" cy="376237"/>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华文楷体" panose="02010600040101010101" pitchFamily="2" charset="-122"/>
                <a:ea typeface="华文楷体" panose="02010600040101010101" pitchFamily="2" charset="-122"/>
              </a:rPr>
              <a:t>总结</a:t>
            </a:r>
            <a:endParaRPr lang="en-US"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01539">
                                            <p:txEl>
                                              <p:charRg st="0" end="64"/>
                                            </p:txEl>
                                          </p:spTgt>
                                        </p:tgtEl>
                                        <p:attrNameLst>
                                          <p:attrName>style.visibility</p:attrName>
                                        </p:attrNameLst>
                                      </p:cBhvr>
                                      <p:to>
                                        <p:strVal val="visible"/>
                                      </p:to>
                                    </p:set>
                                    <p:anim calcmode="lin" valueType="num">
                                      <p:cBhvr additive="base">
                                        <p:cTn id="7" dur="500" fill="hold"/>
                                        <p:tgtEl>
                                          <p:spTgt spid="1601539">
                                            <p:txEl>
                                              <p:charRg st="0" end="6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1539">
                                            <p:txEl>
                                              <p:charRg st="0" end="6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01539">
                                            <p:txEl>
                                              <p:charRg st="64" end="99"/>
                                            </p:txEl>
                                          </p:spTgt>
                                        </p:tgtEl>
                                        <p:attrNameLst>
                                          <p:attrName>style.visibility</p:attrName>
                                        </p:attrNameLst>
                                      </p:cBhvr>
                                      <p:to>
                                        <p:strVal val="visible"/>
                                      </p:to>
                                    </p:set>
                                    <p:anim calcmode="lin" valueType="num">
                                      <p:cBhvr additive="base">
                                        <p:cTn id="13" dur="500" fill="hold"/>
                                        <p:tgtEl>
                                          <p:spTgt spid="1601539">
                                            <p:txEl>
                                              <p:charRg st="64" end="9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01539">
                                            <p:txEl>
                                              <p:charRg st="64" end="9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01539">
                                            <p:txEl>
                                              <p:charRg st="99" end="139"/>
                                            </p:txEl>
                                          </p:spTgt>
                                        </p:tgtEl>
                                        <p:attrNameLst>
                                          <p:attrName>style.visibility</p:attrName>
                                        </p:attrNameLst>
                                      </p:cBhvr>
                                      <p:to>
                                        <p:strVal val="visible"/>
                                      </p:to>
                                    </p:set>
                                    <p:anim calcmode="lin" valueType="num">
                                      <p:cBhvr additive="base">
                                        <p:cTn id="19" dur="500" fill="hold"/>
                                        <p:tgtEl>
                                          <p:spTgt spid="1601539">
                                            <p:txEl>
                                              <p:charRg st="99" end="13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01539">
                                            <p:txEl>
                                              <p:charRg st="99" end="139"/>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01539">
                                            <p:txEl>
                                              <p:charRg st="139" end="171"/>
                                            </p:txEl>
                                          </p:spTgt>
                                        </p:tgtEl>
                                        <p:attrNameLst>
                                          <p:attrName>style.visibility</p:attrName>
                                        </p:attrNameLst>
                                      </p:cBhvr>
                                      <p:to>
                                        <p:strVal val="visible"/>
                                      </p:to>
                                    </p:set>
                                    <p:anim calcmode="lin" valueType="num">
                                      <p:cBhvr additive="base">
                                        <p:cTn id="25" dur="500" fill="hold"/>
                                        <p:tgtEl>
                                          <p:spTgt spid="1601539">
                                            <p:txEl>
                                              <p:charRg st="139" end="17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01539">
                                            <p:txEl>
                                              <p:charRg st="139" end="17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01539">
                                            <p:txEl>
                                              <p:charRg st="171" end="229"/>
                                            </p:txEl>
                                          </p:spTgt>
                                        </p:tgtEl>
                                        <p:attrNameLst>
                                          <p:attrName>style.visibility</p:attrName>
                                        </p:attrNameLst>
                                      </p:cBhvr>
                                      <p:to>
                                        <p:strVal val="visible"/>
                                      </p:to>
                                    </p:set>
                                    <p:anim calcmode="lin" valueType="num">
                                      <p:cBhvr additive="base">
                                        <p:cTn id="31" dur="500" fill="hold"/>
                                        <p:tgtEl>
                                          <p:spTgt spid="1601539">
                                            <p:txEl>
                                              <p:charRg st="171" end="22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01539">
                                            <p:txEl>
                                              <p:charRg st="171" end="22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01539">
                                            <p:txEl>
                                              <p:charRg st="229" end="282"/>
                                            </p:txEl>
                                          </p:spTgt>
                                        </p:tgtEl>
                                        <p:attrNameLst>
                                          <p:attrName>style.visibility</p:attrName>
                                        </p:attrNameLst>
                                      </p:cBhvr>
                                      <p:to>
                                        <p:strVal val="visible"/>
                                      </p:to>
                                    </p:set>
                                    <p:anim calcmode="lin" valueType="num">
                                      <p:cBhvr additive="base">
                                        <p:cTn id="37" dur="500" fill="hold"/>
                                        <p:tgtEl>
                                          <p:spTgt spid="1601539">
                                            <p:txEl>
                                              <p:charRg st="229" end="28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01539">
                                            <p:txEl>
                                              <p:charRg st="229" end="282"/>
                                            </p:txEl>
                                          </p:spTgt>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3" presetClass="entr" presetSubtype="288" fill="hold" grpId="0" nodeType="after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strVal val="4/3*#ppt_w"/>
                                          </p:val>
                                        </p:tav>
                                        <p:tav tm="100000">
                                          <p:val>
                                            <p:strVal val="#ppt_w"/>
                                          </p:val>
                                        </p:tav>
                                      </p:tavLst>
                                    </p:anim>
                                    <p:anim calcmode="lin" valueType="num">
                                      <p:cBhvr>
                                        <p:cTn id="43" dur="500" fill="hold"/>
                                        <p:tgtEl>
                                          <p:spTgt spid="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1539" grpId="0" bldLvl="2" build="p"/>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891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891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03587" name="Rectangle 3"/>
          <p:cNvSpPr>
            <a:spLocks noGrp="1"/>
          </p:cNvSpPr>
          <p:nvPr>
            <p:ph idx="1"/>
          </p:nvPr>
        </p:nvSpPr>
        <p:spPr/>
        <p:txBody>
          <a:bodyPr vert="horz" wrap="square" lIns="91440" tIns="45720" rIns="91440" bIns="45720" anchor="t" anchorCtr="0"/>
          <a:p>
            <a:pPr algn="just" eaLnBrk="1" hangingPunct="1"/>
            <a:r>
              <a:rPr lang="en-US" altLang="zh-CN" sz="2800" dirty="0">
                <a:latin typeface="华文楷体" panose="02010600040101010101" pitchFamily="2" charset="-122"/>
                <a:ea typeface="黑体" panose="02010609060101010101" pitchFamily="49" charset="-122"/>
                <a:cs typeface="+mn-cs"/>
              </a:rPr>
              <a:t>2.2 Verilog HDL</a:t>
            </a:r>
            <a:r>
              <a:rPr lang="zh-CN" altLang="en-US" sz="2800" dirty="0">
                <a:latin typeface="华文楷体" panose="02010600040101010101" pitchFamily="2" charset="-122"/>
                <a:ea typeface="华文楷体" panose="02010600040101010101" pitchFamily="2" charset="-122"/>
                <a:cs typeface="+mn-cs"/>
              </a:rPr>
              <a:t>模块的结构</a:t>
            </a:r>
            <a:endParaRPr lang="zh-CN" altLang="en-US" sz="2800" dirty="0">
              <a:latin typeface="华文楷体" panose="02010600040101010101" pitchFamily="2" charset="-122"/>
              <a:ea typeface="华文楷体" panose="02010600040101010101" pitchFamily="2" charset="-122"/>
              <a:cs typeface="+mn-cs"/>
            </a:endParaRPr>
          </a:p>
          <a:p>
            <a:pPr algn="just">
              <a:lnSpc>
                <a:spcPct val="105000"/>
              </a:lnSpc>
              <a:spcBef>
                <a:spcPct val="0"/>
              </a:spcBef>
            </a:pPr>
            <a:r>
              <a:rPr lang="en-US" altLang="zh-CN" dirty="0">
                <a:latin typeface="华文楷体" panose="02010600040101010101" pitchFamily="2" charset="-122"/>
                <a:ea typeface="黑体" panose="02010609060101010101" pitchFamily="49" charset="-122"/>
                <a:cs typeface="+mn-cs"/>
              </a:rPr>
              <a:t>Verilog</a:t>
            </a:r>
            <a:r>
              <a:rPr lang="zh-CN" altLang="en-US" dirty="0">
                <a:latin typeface="华文楷体" panose="02010600040101010101" pitchFamily="2" charset="-122"/>
                <a:ea typeface="华文楷体" panose="02010600040101010101" pitchFamily="2" charset="-122"/>
                <a:cs typeface="+mn-cs"/>
              </a:rPr>
              <a:t>的基本设计单元是“</a:t>
            </a:r>
            <a:r>
              <a:rPr lang="zh-CN" altLang="en-US" dirty="0">
                <a:solidFill>
                  <a:srgbClr val="FF0066"/>
                </a:solidFill>
                <a:latin typeface="华文楷体" panose="02010600040101010101" pitchFamily="2" charset="-122"/>
                <a:ea typeface="华文楷体" panose="02010600040101010101" pitchFamily="2" charset="-122"/>
                <a:cs typeface="+mn-cs"/>
              </a:rPr>
              <a:t>模块</a:t>
            </a: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(block) ” </a:t>
            </a:r>
            <a:r>
              <a:rPr lang="zh-CN" altLang="en-US" dirty="0">
                <a:latin typeface="华文楷体" panose="02010600040101010101" pitchFamily="2" charset="-122"/>
                <a:ea typeface="华文楷体" panose="02010600040101010101" pitchFamily="2" charset="-122"/>
                <a:cs typeface="+mn-cs"/>
              </a:rPr>
              <a:t>。</a:t>
            </a:r>
            <a:endParaRPr lang="zh-CN" altLang="en-US" dirty="0">
              <a:latin typeface="华文楷体" panose="02010600040101010101" pitchFamily="2" charset="-122"/>
              <a:ea typeface="华文楷体" panose="02010600040101010101" pitchFamily="2" charset="-122"/>
              <a:cs typeface="+mn-cs"/>
            </a:endParaRPr>
          </a:p>
          <a:p>
            <a:pPr algn="just">
              <a:lnSpc>
                <a:spcPct val="105000"/>
              </a:lnSpc>
              <a:spcBef>
                <a:spcPct val="0"/>
              </a:spcBef>
            </a:pPr>
            <a:r>
              <a:rPr lang="zh-CN" altLang="zh-CN" dirty="0">
                <a:latin typeface="华文楷体" panose="02010600040101010101" pitchFamily="2" charset="-122"/>
                <a:ea typeface="华文楷体" panose="02010600040101010101" pitchFamily="2" charset="-122"/>
                <a:cs typeface="+mn-cs"/>
              </a:rPr>
              <a:t>Verilog 模块的结构由在</a:t>
            </a:r>
            <a:r>
              <a:rPr lang="zh-CN" altLang="zh-CN" dirty="0">
                <a:solidFill>
                  <a:srgbClr val="FF33CC"/>
                </a:solidFill>
                <a:latin typeface="华文楷体" panose="02010600040101010101" pitchFamily="2" charset="-122"/>
                <a:ea typeface="华文楷体" panose="02010600040101010101" pitchFamily="2" charset="-122"/>
                <a:cs typeface="+mn-cs"/>
              </a:rPr>
              <a:t>module</a:t>
            </a:r>
            <a:r>
              <a:rPr lang="zh-CN" altLang="zh-CN" dirty="0">
                <a:latin typeface="华文楷体" panose="02010600040101010101" pitchFamily="2" charset="-122"/>
                <a:ea typeface="华文楷体" panose="02010600040101010101" pitchFamily="2" charset="-122"/>
                <a:cs typeface="+mn-cs"/>
              </a:rPr>
              <a:t>和</a:t>
            </a:r>
            <a:r>
              <a:rPr lang="zh-CN" altLang="zh-CN" dirty="0">
                <a:solidFill>
                  <a:srgbClr val="FF33CC"/>
                </a:solidFill>
                <a:latin typeface="华文楷体" panose="02010600040101010101" pitchFamily="2" charset="-122"/>
                <a:ea typeface="华文楷体" panose="02010600040101010101" pitchFamily="2" charset="-122"/>
                <a:cs typeface="+mn-cs"/>
              </a:rPr>
              <a:t>endmodule</a:t>
            </a:r>
            <a:r>
              <a:rPr lang="zh-CN" altLang="zh-CN" dirty="0">
                <a:latin typeface="华文楷体" panose="02010600040101010101" pitchFamily="2" charset="-122"/>
                <a:ea typeface="华文楷体" panose="02010600040101010101" pitchFamily="2" charset="-122"/>
                <a:cs typeface="+mn-cs"/>
              </a:rPr>
              <a:t>关键词之间的</a:t>
            </a:r>
            <a:r>
              <a:rPr lang="en-US" altLang="zh-CN" dirty="0">
                <a:solidFill>
                  <a:srgbClr val="FF33CC"/>
                </a:solidFill>
                <a:latin typeface="华文楷体" panose="02010600040101010101" pitchFamily="2" charset="-122"/>
                <a:ea typeface="黑体" panose="02010609060101010101" pitchFamily="49" charset="-122"/>
                <a:cs typeface="+mn-cs"/>
              </a:rPr>
              <a:t>4</a:t>
            </a:r>
            <a:r>
              <a:rPr lang="zh-CN" altLang="zh-CN" dirty="0">
                <a:latin typeface="华文楷体" panose="02010600040101010101" pitchFamily="2" charset="-122"/>
                <a:ea typeface="华文楷体" panose="02010600040101010101" pitchFamily="2" charset="-122"/>
                <a:cs typeface="+mn-cs"/>
              </a:rPr>
              <a:t>个主要部分组成：</a:t>
            </a:r>
            <a:endParaRPr lang="zh-CN" altLang="en-US" dirty="0">
              <a:latin typeface="华文楷体" panose="02010600040101010101" pitchFamily="2" charset="-122"/>
              <a:ea typeface="华文楷体" panose="02010600040101010101" pitchFamily="2" charset="-122"/>
              <a:cs typeface="+mn-cs"/>
            </a:endParaRPr>
          </a:p>
        </p:txBody>
      </p:sp>
      <p:sp>
        <p:nvSpPr>
          <p:cNvPr id="1603588" name="Rectangle 4" descr="75%"/>
          <p:cNvSpPr/>
          <p:nvPr/>
        </p:nvSpPr>
        <p:spPr>
          <a:xfrm>
            <a:off x="3328988" y="2706688"/>
            <a:ext cx="4627562" cy="3189287"/>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buClr>
                <a:srgbClr val="3333FF"/>
              </a:buClr>
              <a:buFont typeface="Wingdings" panose="05000000000000000000" pitchFamily="2" charset="2"/>
              <a:buNone/>
            </a:pPr>
            <a:r>
              <a:rPr lang="zh-CN" altLang="zh-CN" sz="2400" b="1" dirty="0">
                <a:latin typeface="Times New Roman" panose="02020603050405020304" pitchFamily="18" charset="0"/>
                <a:ea typeface="宋体" panose="02010600030101010101" pitchFamily="2" charset="-122"/>
              </a:rPr>
              <a:t>module block1(a</a:t>
            </a:r>
            <a:r>
              <a:rPr lang="en-US" altLang="zh-CN" sz="2400" b="1" dirty="0">
                <a:latin typeface="Times New Roman" panose="02020603050405020304" pitchFamily="18" charset="0"/>
                <a:ea typeface="宋体" panose="02010600030101010101" pitchFamily="2" charset="-122"/>
              </a:rPr>
              <a:t>,</a:t>
            </a:r>
            <a:r>
              <a:rPr lang="zh-CN" altLang="zh-CN" sz="2400" b="1" dirty="0">
                <a:latin typeface="Times New Roman" panose="02020603050405020304" pitchFamily="18" charset="0"/>
                <a:ea typeface="宋体" panose="02010600030101010101" pitchFamily="2" charset="-122"/>
              </a:rPr>
              <a:t>b</a:t>
            </a:r>
            <a:r>
              <a:rPr lang="en-US" altLang="zh-CN" sz="2400" b="1" dirty="0">
                <a:latin typeface="Times New Roman" panose="02020603050405020304" pitchFamily="18" charset="0"/>
                <a:ea typeface="宋体" panose="02010600030101010101" pitchFamily="2" charset="-122"/>
              </a:rPr>
              <a:t>,</a:t>
            </a:r>
            <a:r>
              <a:rPr lang="zh-CN" altLang="zh-CN" sz="2400" b="1" dirty="0">
                <a:latin typeface="Times New Roman" panose="02020603050405020304" pitchFamily="18" charset="0"/>
                <a:ea typeface="宋体" panose="02010600030101010101" pitchFamily="2" charset="-122"/>
              </a:rPr>
              <a:t>c</a:t>
            </a:r>
            <a:r>
              <a:rPr lang="en-US" altLang="zh-CN" sz="2400" b="1" dirty="0">
                <a:latin typeface="Times New Roman" panose="02020603050405020304" pitchFamily="18" charset="0"/>
                <a:ea typeface="宋体" panose="02010600030101010101" pitchFamily="2" charset="-122"/>
              </a:rPr>
              <a:t>,</a:t>
            </a:r>
            <a:r>
              <a:rPr lang="zh-CN" altLang="zh-CN" sz="2400" b="1" dirty="0">
                <a:latin typeface="Times New Roman" panose="02020603050405020304" pitchFamily="18" charset="0"/>
                <a:ea typeface="宋体" panose="02010600030101010101" pitchFamily="2" charset="-122"/>
              </a:rPr>
              <a:t>d )；</a:t>
            </a:r>
            <a:endParaRPr lang="zh-CN" altLang="zh-CN"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input a</a:t>
            </a:r>
            <a:r>
              <a:rPr lang="en-US" altLang="zh-CN" sz="2400" b="1" dirty="0">
                <a:latin typeface="Times New Roman" panose="02020603050405020304" pitchFamily="18" charset="0"/>
                <a:ea typeface="宋体" panose="02010600030101010101" pitchFamily="2" charset="-122"/>
              </a:rPr>
              <a:t>,</a:t>
            </a:r>
            <a:r>
              <a:rPr lang="zh-CN" altLang="zh-CN" sz="2400" b="1" dirty="0">
                <a:latin typeface="Times New Roman" panose="02020603050405020304" pitchFamily="18" charset="0"/>
                <a:ea typeface="宋体" panose="02010600030101010101" pitchFamily="2" charset="-122"/>
              </a:rPr>
              <a:t>b</a:t>
            </a:r>
            <a:r>
              <a:rPr lang="en-US" altLang="zh-CN" sz="2400" b="1" dirty="0">
                <a:latin typeface="Times New Roman" panose="02020603050405020304" pitchFamily="18" charset="0"/>
                <a:ea typeface="宋体" panose="02010600030101010101" pitchFamily="2" charset="-122"/>
              </a:rPr>
              <a:t>,</a:t>
            </a:r>
            <a:r>
              <a:rPr lang="zh-CN" altLang="zh-CN" sz="2400" b="1" dirty="0">
                <a:latin typeface="Times New Roman" panose="02020603050405020304" pitchFamily="18" charset="0"/>
                <a:ea typeface="宋体" panose="02010600030101010101" pitchFamily="2" charset="-122"/>
              </a:rPr>
              <a:t>c；</a:t>
            </a:r>
            <a:endParaRPr lang="zh-CN" altLang="zh-CN"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output d；</a:t>
            </a:r>
            <a:endParaRPr lang="zh-CN" altLang="zh-CN"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wire x；</a:t>
            </a:r>
            <a:endParaRPr lang="zh-CN" altLang="zh-CN"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a:t>
            </a:r>
            <a:r>
              <a:rPr lang="zh-CN" altLang="zh-CN" sz="2400" b="1" dirty="0">
                <a:latin typeface="Times New Roman" panose="02020603050405020304" pitchFamily="18" charset="0"/>
                <a:ea typeface="宋体" panose="02010600030101010101" pitchFamily="2" charset="-122"/>
              </a:rPr>
              <a:t>assign d = a | x；  </a:t>
            </a:r>
            <a:endParaRPr lang="zh-CN" altLang="en-US"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zh-CN" sz="2400" b="1" dirty="0">
                <a:latin typeface="Times New Roman" panose="02020603050405020304" pitchFamily="18" charset="0"/>
                <a:ea typeface="宋体" panose="02010600030101010101" pitchFamily="2" charset="-122"/>
              </a:rPr>
              <a:t>  assign x = ( b &amp; ~c )；</a:t>
            </a:r>
            <a:endParaRPr lang="zh-CN" altLang="zh-CN" sz="2400" b="1" dirty="0">
              <a:latin typeface="Times New Roman" panose="02020603050405020304" pitchFamily="18" charset="0"/>
              <a:ea typeface="宋体" panose="02010600030101010101" pitchFamily="2" charset="-122"/>
            </a:endParaRPr>
          </a:p>
          <a:p>
            <a:pPr marL="0" lvl="0" indent="0" eaLnBrk="1" hangingPunct="1">
              <a:buClr>
                <a:srgbClr val="3333FF"/>
              </a:buClr>
              <a:buFont typeface="Wingdings" panose="05000000000000000000" pitchFamily="2" charset="2"/>
              <a:buNone/>
            </a:pPr>
            <a:r>
              <a:rPr lang="zh-CN" altLang="zh-CN" sz="2400" b="1" dirty="0">
                <a:latin typeface="Times New Roman" panose="02020603050405020304" pitchFamily="18" charset="0"/>
                <a:ea typeface="宋体" panose="02010600030101010101" pitchFamily="2" charset="-122"/>
              </a:rPr>
              <a:t>endmodule</a:t>
            </a:r>
            <a:endParaRPr lang="en-US" altLang="zh-CN" sz="2400" b="1" dirty="0">
              <a:latin typeface="Times New Roman" panose="02020603050405020304" pitchFamily="18" charset="0"/>
              <a:ea typeface="宋体" panose="02010600030101010101" pitchFamily="2" charset="-122"/>
            </a:endParaRPr>
          </a:p>
        </p:txBody>
      </p:sp>
      <p:sp>
        <p:nvSpPr>
          <p:cNvPr id="1603589" name="Text Box 5"/>
          <p:cNvSpPr txBox="1"/>
          <p:nvPr/>
        </p:nvSpPr>
        <p:spPr>
          <a:xfrm>
            <a:off x="1290638" y="3435350"/>
            <a:ext cx="1219200" cy="398463"/>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华文楷体" panose="02010600040101010101" pitchFamily="2" charset="-122"/>
                <a:ea typeface="华文楷体" panose="02010600040101010101" pitchFamily="2" charset="-122"/>
              </a:rPr>
              <a:t>I/O</a:t>
            </a:r>
            <a:r>
              <a:rPr lang="zh-CN" altLang="en-US" b="1" dirty="0">
                <a:latin typeface="华文楷体" panose="02010600040101010101" pitchFamily="2" charset="-122"/>
                <a:ea typeface="华文楷体" panose="02010600040101010101" pitchFamily="2" charset="-122"/>
              </a:rPr>
              <a:t>说明</a:t>
            </a:r>
            <a:endParaRPr lang="zh-CN" altLang="en-US" b="1" dirty="0">
              <a:latin typeface="华文楷体" panose="02010600040101010101" pitchFamily="2" charset="-122"/>
              <a:ea typeface="华文楷体" panose="02010600040101010101" pitchFamily="2" charset="-122"/>
            </a:endParaRPr>
          </a:p>
        </p:txBody>
      </p:sp>
      <p:sp>
        <p:nvSpPr>
          <p:cNvPr id="1603590" name="Text Box 6"/>
          <p:cNvSpPr txBox="1"/>
          <p:nvPr/>
        </p:nvSpPr>
        <p:spPr>
          <a:xfrm>
            <a:off x="1290638" y="2825750"/>
            <a:ext cx="1219200" cy="398463"/>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latin typeface="华文楷体" panose="02010600040101010101" pitchFamily="2" charset="-122"/>
                <a:ea typeface="华文楷体" panose="02010600040101010101" pitchFamily="2" charset="-122"/>
              </a:rPr>
              <a:t>端口定义</a:t>
            </a:r>
            <a:endParaRPr lang="zh-CN" altLang="en-US" b="1" dirty="0">
              <a:latin typeface="华文楷体" panose="02010600040101010101" pitchFamily="2" charset="-122"/>
              <a:ea typeface="华文楷体" panose="02010600040101010101" pitchFamily="2" charset="-122"/>
            </a:endParaRPr>
          </a:p>
        </p:txBody>
      </p:sp>
      <p:sp>
        <p:nvSpPr>
          <p:cNvPr id="1603591" name="Text Box 7"/>
          <p:cNvSpPr txBox="1"/>
          <p:nvPr/>
        </p:nvSpPr>
        <p:spPr>
          <a:xfrm>
            <a:off x="1290638" y="4791075"/>
            <a:ext cx="1219200" cy="398463"/>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b="1" dirty="0">
                <a:latin typeface="华文楷体" panose="02010600040101010101" pitchFamily="2" charset="-122"/>
                <a:ea typeface="华文楷体" panose="02010600040101010101" pitchFamily="2" charset="-122"/>
              </a:rPr>
              <a:t>功能描述</a:t>
            </a:r>
            <a:endParaRPr lang="zh-CN" altLang="en-US" b="1" dirty="0">
              <a:latin typeface="华文楷体" panose="02010600040101010101" pitchFamily="2" charset="-122"/>
              <a:ea typeface="华文楷体" panose="02010600040101010101" pitchFamily="2" charset="-122"/>
            </a:endParaRPr>
          </a:p>
        </p:txBody>
      </p:sp>
      <p:sp>
        <p:nvSpPr>
          <p:cNvPr id="1603592" name="Text Box 8"/>
          <p:cNvSpPr txBox="1"/>
          <p:nvPr/>
        </p:nvSpPr>
        <p:spPr>
          <a:xfrm>
            <a:off x="1290638" y="4121150"/>
            <a:ext cx="1828800" cy="398463"/>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zh-CN" b="1" dirty="0">
                <a:latin typeface="华文楷体" panose="02010600040101010101" pitchFamily="2" charset="-122"/>
                <a:ea typeface="华文楷体" panose="02010600040101010101" pitchFamily="2" charset="-122"/>
              </a:rPr>
              <a:t>信号类型声明</a:t>
            </a:r>
            <a:endParaRPr lang="zh-CN" altLang="en-US" b="1" dirty="0">
              <a:latin typeface="华文楷体" panose="02010600040101010101" pitchFamily="2" charset="-122"/>
              <a:ea typeface="华文楷体" panose="02010600040101010101" pitchFamily="2" charset="-122"/>
            </a:endParaRPr>
          </a:p>
        </p:txBody>
      </p:sp>
      <p:sp>
        <p:nvSpPr>
          <p:cNvPr id="1603597" name="AutoShape 13"/>
          <p:cNvSpPr/>
          <p:nvPr/>
        </p:nvSpPr>
        <p:spPr>
          <a:xfrm>
            <a:off x="2921000" y="3348038"/>
            <a:ext cx="196850" cy="630237"/>
          </a:xfrm>
          <a:prstGeom prst="leftBrace">
            <a:avLst>
              <a:gd name="adj1" fmla="val 26531"/>
              <a:gd name="adj2" fmla="val 50000"/>
            </a:avLst>
          </a:prstGeom>
          <a:noFill/>
          <a:ln w="41275" cap="flat" cmpd="sng">
            <a:solidFill>
              <a:srgbClr val="80008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603598" name="Oval 14"/>
          <p:cNvSpPr/>
          <p:nvPr/>
        </p:nvSpPr>
        <p:spPr>
          <a:xfrm>
            <a:off x="776288" y="2778125"/>
            <a:ext cx="477837" cy="509588"/>
          </a:xfrm>
          <a:prstGeom prst="ellipse">
            <a:avLst/>
          </a:prstGeom>
          <a:noFill/>
          <a:ln w="50800" cap="flat" cmpd="sng">
            <a:solidFill>
              <a:schemeClr val="bg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lnSpc>
                <a:spcPct val="85000"/>
              </a:lnSpc>
              <a:spcBef>
                <a:spcPct val="0"/>
              </a:spcBef>
              <a:buNone/>
            </a:pPr>
            <a:r>
              <a:rPr lang="en-US" altLang="zh-CN" b="1" dirty="0">
                <a:ea typeface="宋体" panose="02010600030101010101" pitchFamily="2" charset="-122"/>
              </a:rPr>
              <a:t>1</a:t>
            </a:r>
            <a:endParaRPr lang="en-US" altLang="zh-CN" b="1" dirty="0">
              <a:ea typeface="宋体" panose="02010600030101010101" pitchFamily="2" charset="-122"/>
            </a:endParaRPr>
          </a:p>
        </p:txBody>
      </p:sp>
      <p:sp>
        <p:nvSpPr>
          <p:cNvPr id="1603599" name="Oval 15"/>
          <p:cNvSpPr/>
          <p:nvPr/>
        </p:nvSpPr>
        <p:spPr>
          <a:xfrm>
            <a:off x="765175" y="3344863"/>
            <a:ext cx="477838" cy="509587"/>
          </a:xfrm>
          <a:prstGeom prst="ellipse">
            <a:avLst/>
          </a:prstGeom>
          <a:noFill/>
          <a:ln w="50800" cap="flat" cmpd="sng">
            <a:solidFill>
              <a:schemeClr val="bg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lnSpc>
                <a:spcPct val="85000"/>
              </a:lnSpc>
              <a:spcBef>
                <a:spcPct val="0"/>
              </a:spcBef>
              <a:buNone/>
            </a:pPr>
            <a:r>
              <a:rPr lang="en-US" altLang="zh-CN" b="1" dirty="0">
                <a:ea typeface="宋体" panose="02010600030101010101" pitchFamily="2" charset="-122"/>
              </a:rPr>
              <a:t>2</a:t>
            </a:r>
            <a:endParaRPr lang="en-US" altLang="zh-CN" b="1" dirty="0">
              <a:ea typeface="宋体" panose="02010600030101010101" pitchFamily="2" charset="-122"/>
            </a:endParaRPr>
          </a:p>
        </p:txBody>
      </p:sp>
      <p:sp>
        <p:nvSpPr>
          <p:cNvPr id="1603600" name="Oval 16"/>
          <p:cNvSpPr/>
          <p:nvPr/>
        </p:nvSpPr>
        <p:spPr>
          <a:xfrm>
            <a:off x="796925" y="4076700"/>
            <a:ext cx="477838" cy="509588"/>
          </a:xfrm>
          <a:prstGeom prst="ellipse">
            <a:avLst/>
          </a:prstGeom>
          <a:noFill/>
          <a:ln w="50800" cap="flat" cmpd="sng">
            <a:solidFill>
              <a:schemeClr val="bg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lnSpc>
                <a:spcPct val="85000"/>
              </a:lnSpc>
              <a:spcBef>
                <a:spcPct val="0"/>
              </a:spcBef>
              <a:buNone/>
            </a:pPr>
            <a:r>
              <a:rPr lang="en-US" altLang="zh-CN" b="1" dirty="0">
                <a:ea typeface="宋体" panose="02010600030101010101" pitchFamily="2" charset="-122"/>
              </a:rPr>
              <a:t>3</a:t>
            </a:r>
            <a:endParaRPr lang="en-US" altLang="zh-CN" b="1" dirty="0">
              <a:ea typeface="宋体" panose="02010600030101010101" pitchFamily="2" charset="-122"/>
            </a:endParaRPr>
          </a:p>
        </p:txBody>
      </p:sp>
      <p:sp>
        <p:nvSpPr>
          <p:cNvPr id="1603601" name="Oval 17"/>
          <p:cNvSpPr/>
          <p:nvPr/>
        </p:nvSpPr>
        <p:spPr>
          <a:xfrm>
            <a:off x="785813" y="4770438"/>
            <a:ext cx="477837" cy="509587"/>
          </a:xfrm>
          <a:prstGeom prst="ellipse">
            <a:avLst/>
          </a:prstGeom>
          <a:noFill/>
          <a:ln w="50800" cap="flat" cmpd="sng">
            <a:solidFill>
              <a:schemeClr val="bg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lnSpc>
                <a:spcPct val="85000"/>
              </a:lnSpc>
              <a:spcBef>
                <a:spcPct val="0"/>
              </a:spcBef>
              <a:buNone/>
            </a:pPr>
            <a:r>
              <a:rPr lang="en-US" altLang="zh-CN" b="1" dirty="0">
                <a:ea typeface="宋体" panose="02010600030101010101" pitchFamily="2" charset="-122"/>
              </a:rPr>
              <a:t>4</a:t>
            </a:r>
            <a:endParaRPr lang="en-US" altLang="zh-CN" b="1" dirty="0">
              <a:ea typeface="宋体" panose="02010600030101010101" pitchFamily="2" charset="-122"/>
            </a:endParaRPr>
          </a:p>
        </p:txBody>
      </p:sp>
      <p:sp>
        <p:nvSpPr>
          <p:cNvPr id="1603602" name="AutoShape 18"/>
          <p:cNvSpPr/>
          <p:nvPr/>
        </p:nvSpPr>
        <p:spPr>
          <a:xfrm>
            <a:off x="2914650" y="4691063"/>
            <a:ext cx="196850" cy="630237"/>
          </a:xfrm>
          <a:prstGeom prst="leftBrace">
            <a:avLst>
              <a:gd name="adj1" fmla="val 26531"/>
              <a:gd name="adj2" fmla="val 50000"/>
            </a:avLst>
          </a:prstGeom>
          <a:noFill/>
          <a:ln w="41275" cap="flat" cmpd="sng">
            <a:solidFill>
              <a:srgbClr val="80008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03587"/>
                                        </p:tgtEl>
                                        <p:attrNameLst>
                                          <p:attrName>style.visibility</p:attrName>
                                        </p:attrNameLst>
                                      </p:cBhvr>
                                      <p:to>
                                        <p:strVal val="visible"/>
                                      </p:to>
                                    </p:set>
                                    <p:anim calcmode="lin" valueType="num">
                                      <p:cBhvr additive="base">
                                        <p:cTn id="7" dur="500" fill="hold"/>
                                        <p:tgtEl>
                                          <p:spTgt spid="1603587"/>
                                        </p:tgtEl>
                                        <p:attrNameLst>
                                          <p:attrName>ppt_x</p:attrName>
                                        </p:attrNameLst>
                                      </p:cBhvr>
                                      <p:tavLst>
                                        <p:tav tm="0">
                                          <p:val>
                                            <p:strVal val="0-#ppt_w/2"/>
                                          </p:val>
                                        </p:tav>
                                        <p:tav tm="100000">
                                          <p:val>
                                            <p:strVal val="#ppt_x"/>
                                          </p:val>
                                        </p:tav>
                                      </p:tavLst>
                                    </p:anim>
                                    <p:anim calcmode="lin" valueType="num">
                                      <p:cBhvr additive="base">
                                        <p:cTn id="8" dur="500" fill="hold"/>
                                        <p:tgtEl>
                                          <p:spTgt spid="16035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03588"/>
                                        </p:tgtEl>
                                        <p:attrNameLst>
                                          <p:attrName>style.visibility</p:attrName>
                                        </p:attrNameLst>
                                      </p:cBhvr>
                                      <p:to>
                                        <p:strVal val="visible"/>
                                      </p:to>
                                    </p:set>
                                    <p:anim calcmode="lin" valueType="num">
                                      <p:cBhvr additive="base">
                                        <p:cTn id="13" dur="500" fill="hold"/>
                                        <p:tgtEl>
                                          <p:spTgt spid="1603588"/>
                                        </p:tgtEl>
                                        <p:attrNameLst>
                                          <p:attrName>ppt_x</p:attrName>
                                        </p:attrNameLst>
                                      </p:cBhvr>
                                      <p:tavLst>
                                        <p:tav tm="0">
                                          <p:val>
                                            <p:strVal val="#ppt_x"/>
                                          </p:val>
                                        </p:tav>
                                        <p:tav tm="100000">
                                          <p:val>
                                            <p:strVal val="#ppt_x"/>
                                          </p:val>
                                        </p:tav>
                                      </p:tavLst>
                                    </p:anim>
                                    <p:anim calcmode="lin" valueType="num">
                                      <p:cBhvr additive="base">
                                        <p:cTn id="14" dur="500" fill="hold"/>
                                        <p:tgtEl>
                                          <p:spTgt spid="16035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603598"/>
                                        </p:tgtEl>
                                        <p:attrNameLst>
                                          <p:attrName>style.visibility</p:attrName>
                                        </p:attrNameLst>
                                      </p:cBhvr>
                                      <p:to>
                                        <p:strVal val="visible"/>
                                      </p:to>
                                    </p:set>
                                    <p:animEffect transition="in" filter="dissolve">
                                      <p:cBhvr>
                                        <p:cTn id="19" dur="500"/>
                                        <p:tgtEl>
                                          <p:spTgt spid="1603598"/>
                                        </p:tgtEl>
                                      </p:cBhvr>
                                    </p:animEffect>
                                  </p:childTnLst>
                                </p:cTn>
                              </p:par>
                            </p:childTnLst>
                          </p:cTn>
                        </p:par>
                        <p:par>
                          <p:cTn id="20" fill="hold">
                            <p:stCondLst>
                              <p:cond delay="500"/>
                            </p:stCondLst>
                            <p:childTnLst>
                              <p:par>
                                <p:cTn id="21" presetID="17" presetClass="entr" presetSubtype="8" fill="hold" grpId="0" nodeType="afterEffect">
                                  <p:stCondLst>
                                    <p:cond delay="0"/>
                                  </p:stCondLst>
                                  <p:childTnLst>
                                    <p:set>
                                      <p:cBhvr>
                                        <p:cTn id="22" dur="1" fill="hold">
                                          <p:stCondLst>
                                            <p:cond delay="0"/>
                                          </p:stCondLst>
                                        </p:cTn>
                                        <p:tgtEl>
                                          <p:spTgt spid="1603590"/>
                                        </p:tgtEl>
                                        <p:attrNameLst>
                                          <p:attrName>style.visibility</p:attrName>
                                        </p:attrNameLst>
                                      </p:cBhvr>
                                      <p:to>
                                        <p:strVal val="visible"/>
                                      </p:to>
                                    </p:set>
                                    <p:anim calcmode="lin" valueType="num">
                                      <p:cBhvr>
                                        <p:cTn id="23" dur="500" fill="hold"/>
                                        <p:tgtEl>
                                          <p:spTgt spid="1603590"/>
                                        </p:tgtEl>
                                        <p:attrNameLst>
                                          <p:attrName>ppt_x</p:attrName>
                                        </p:attrNameLst>
                                      </p:cBhvr>
                                      <p:tavLst>
                                        <p:tav tm="0">
                                          <p:val>
                                            <p:strVal val="#ppt_x-#ppt_w/2"/>
                                          </p:val>
                                        </p:tav>
                                        <p:tav tm="100000">
                                          <p:val>
                                            <p:strVal val="#ppt_x"/>
                                          </p:val>
                                        </p:tav>
                                      </p:tavLst>
                                    </p:anim>
                                    <p:anim calcmode="lin" valueType="num">
                                      <p:cBhvr>
                                        <p:cTn id="24" dur="500" fill="hold"/>
                                        <p:tgtEl>
                                          <p:spTgt spid="1603590"/>
                                        </p:tgtEl>
                                        <p:attrNameLst>
                                          <p:attrName>ppt_y</p:attrName>
                                        </p:attrNameLst>
                                      </p:cBhvr>
                                      <p:tavLst>
                                        <p:tav tm="0">
                                          <p:val>
                                            <p:strVal val="#ppt_y"/>
                                          </p:val>
                                        </p:tav>
                                        <p:tav tm="100000">
                                          <p:val>
                                            <p:strVal val="#ppt_y"/>
                                          </p:val>
                                        </p:tav>
                                      </p:tavLst>
                                    </p:anim>
                                    <p:anim calcmode="lin" valueType="num">
                                      <p:cBhvr>
                                        <p:cTn id="25" dur="500" fill="hold"/>
                                        <p:tgtEl>
                                          <p:spTgt spid="1603590"/>
                                        </p:tgtEl>
                                        <p:attrNameLst>
                                          <p:attrName>ppt_w</p:attrName>
                                        </p:attrNameLst>
                                      </p:cBhvr>
                                      <p:tavLst>
                                        <p:tav tm="0">
                                          <p:val>
                                            <p:fltVal val="0.000000"/>
                                          </p:val>
                                        </p:tav>
                                        <p:tav tm="100000">
                                          <p:val>
                                            <p:strVal val="#ppt_w"/>
                                          </p:val>
                                        </p:tav>
                                      </p:tavLst>
                                    </p:anim>
                                    <p:anim calcmode="lin" valueType="num">
                                      <p:cBhvr>
                                        <p:cTn id="26" dur="500" fill="hold"/>
                                        <p:tgtEl>
                                          <p:spTgt spid="160359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1603597"/>
                                        </p:tgtEl>
                                        <p:attrNameLst>
                                          <p:attrName>style.visibility</p:attrName>
                                        </p:attrNameLst>
                                      </p:cBhvr>
                                      <p:to>
                                        <p:strVal val="visible"/>
                                      </p:to>
                                    </p:set>
                                    <p:animEffect transition="in" filter="barn(outHorizontal)">
                                      <p:cBhvr>
                                        <p:cTn id="31" dur="500"/>
                                        <p:tgtEl>
                                          <p:spTgt spid="1603597"/>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603599"/>
                                        </p:tgtEl>
                                        <p:attrNameLst>
                                          <p:attrName>style.visibility</p:attrName>
                                        </p:attrNameLst>
                                      </p:cBhvr>
                                      <p:to>
                                        <p:strVal val="visible"/>
                                      </p:to>
                                    </p:set>
                                    <p:animEffect transition="in" filter="dissolve">
                                      <p:cBhvr>
                                        <p:cTn id="35" dur="500"/>
                                        <p:tgtEl>
                                          <p:spTgt spid="1603599"/>
                                        </p:tgtEl>
                                      </p:cBhvr>
                                    </p:animEffect>
                                  </p:childTnLst>
                                </p:cTn>
                              </p:par>
                            </p:childTnLst>
                          </p:cTn>
                        </p:par>
                        <p:par>
                          <p:cTn id="36" fill="hold">
                            <p:stCondLst>
                              <p:cond delay="1000"/>
                            </p:stCondLst>
                            <p:childTnLst>
                              <p:par>
                                <p:cTn id="37" presetID="17" presetClass="entr" presetSubtype="8" fill="hold" grpId="0" nodeType="afterEffect">
                                  <p:stCondLst>
                                    <p:cond delay="0"/>
                                  </p:stCondLst>
                                  <p:childTnLst>
                                    <p:set>
                                      <p:cBhvr>
                                        <p:cTn id="38" dur="1" fill="hold">
                                          <p:stCondLst>
                                            <p:cond delay="0"/>
                                          </p:stCondLst>
                                        </p:cTn>
                                        <p:tgtEl>
                                          <p:spTgt spid="1603589"/>
                                        </p:tgtEl>
                                        <p:attrNameLst>
                                          <p:attrName>style.visibility</p:attrName>
                                        </p:attrNameLst>
                                      </p:cBhvr>
                                      <p:to>
                                        <p:strVal val="visible"/>
                                      </p:to>
                                    </p:set>
                                    <p:anim calcmode="lin" valueType="num">
                                      <p:cBhvr>
                                        <p:cTn id="39" dur="500" fill="hold"/>
                                        <p:tgtEl>
                                          <p:spTgt spid="1603589"/>
                                        </p:tgtEl>
                                        <p:attrNameLst>
                                          <p:attrName>ppt_x</p:attrName>
                                        </p:attrNameLst>
                                      </p:cBhvr>
                                      <p:tavLst>
                                        <p:tav tm="0">
                                          <p:val>
                                            <p:strVal val="#ppt_x-#ppt_w/2"/>
                                          </p:val>
                                        </p:tav>
                                        <p:tav tm="100000">
                                          <p:val>
                                            <p:strVal val="#ppt_x"/>
                                          </p:val>
                                        </p:tav>
                                      </p:tavLst>
                                    </p:anim>
                                    <p:anim calcmode="lin" valueType="num">
                                      <p:cBhvr>
                                        <p:cTn id="40" dur="500" fill="hold"/>
                                        <p:tgtEl>
                                          <p:spTgt spid="1603589"/>
                                        </p:tgtEl>
                                        <p:attrNameLst>
                                          <p:attrName>ppt_y</p:attrName>
                                        </p:attrNameLst>
                                      </p:cBhvr>
                                      <p:tavLst>
                                        <p:tav tm="0">
                                          <p:val>
                                            <p:strVal val="#ppt_y"/>
                                          </p:val>
                                        </p:tav>
                                        <p:tav tm="100000">
                                          <p:val>
                                            <p:strVal val="#ppt_y"/>
                                          </p:val>
                                        </p:tav>
                                      </p:tavLst>
                                    </p:anim>
                                    <p:anim calcmode="lin" valueType="num">
                                      <p:cBhvr>
                                        <p:cTn id="41" dur="500" fill="hold"/>
                                        <p:tgtEl>
                                          <p:spTgt spid="1603589"/>
                                        </p:tgtEl>
                                        <p:attrNameLst>
                                          <p:attrName>ppt_w</p:attrName>
                                        </p:attrNameLst>
                                      </p:cBhvr>
                                      <p:tavLst>
                                        <p:tav tm="0">
                                          <p:val>
                                            <p:fltVal val="0.000000"/>
                                          </p:val>
                                        </p:tav>
                                        <p:tav tm="100000">
                                          <p:val>
                                            <p:strVal val="#ppt_w"/>
                                          </p:val>
                                        </p:tav>
                                      </p:tavLst>
                                    </p:anim>
                                    <p:anim calcmode="lin" valueType="num">
                                      <p:cBhvr>
                                        <p:cTn id="42" dur="500" fill="hold"/>
                                        <p:tgtEl>
                                          <p:spTgt spid="1603589"/>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603600"/>
                                        </p:tgtEl>
                                        <p:attrNameLst>
                                          <p:attrName>style.visibility</p:attrName>
                                        </p:attrNameLst>
                                      </p:cBhvr>
                                      <p:to>
                                        <p:strVal val="visible"/>
                                      </p:to>
                                    </p:set>
                                    <p:animEffect transition="in" filter="dissolve">
                                      <p:cBhvr>
                                        <p:cTn id="47" dur="500"/>
                                        <p:tgtEl>
                                          <p:spTgt spid="1603600"/>
                                        </p:tgtEl>
                                      </p:cBhvr>
                                    </p:animEffect>
                                  </p:childTnLst>
                                </p:cTn>
                              </p:par>
                            </p:childTnLst>
                          </p:cTn>
                        </p:par>
                        <p:par>
                          <p:cTn id="48" fill="hold">
                            <p:stCondLst>
                              <p:cond delay="500"/>
                            </p:stCondLst>
                            <p:childTnLst>
                              <p:par>
                                <p:cTn id="49" presetID="17" presetClass="entr" presetSubtype="8" fill="hold" grpId="0" nodeType="afterEffect">
                                  <p:stCondLst>
                                    <p:cond delay="0"/>
                                  </p:stCondLst>
                                  <p:childTnLst>
                                    <p:set>
                                      <p:cBhvr>
                                        <p:cTn id="50" dur="1" fill="hold">
                                          <p:stCondLst>
                                            <p:cond delay="0"/>
                                          </p:stCondLst>
                                        </p:cTn>
                                        <p:tgtEl>
                                          <p:spTgt spid="1603592"/>
                                        </p:tgtEl>
                                        <p:attrNameLst>
                                          <p:attrName>style.visibility</p:attrName>
                                        </p:attrNameLst>
                                      </p:cBhvr>
                                      <p:to>
                                        <p:strVal val="visible"/>
                                      </p:to>
                                    </p:set>
                                    <p:anim calcmode="lin" valueType="num">
                                      <p:cBhvr>
                                        <p:cTn id="51" dur="500" fill="hold"/>
                                        <p:tgtEl>
                                          <p:spTgt spid="1603592"/>
                                        </p:tgtEl>
                                        <p:attrNameLst>
                                          <p:attrName>ppt_x</p:attrName>
                                        </p:attrNameLst>
                                      </p:cBhvr>
                                      <p:tavLst>
                                        <p:tav tm="0">
                                          <p:val>
                                            <p:strVal val="#ppt_x-#ppt_w/2"/>
                                          </p:val>
                                        </p:tav>
                                        <p:tav tm="100000">
                                          <p:val>
                                            <p:strVal val="#ppt_x"/>
                                          </p:val>
                                        </p:tav>
                                      </p:tavLst>
                                    </p:anim>
                                    <p:anim calcmode="lin" valueType="num">
                                      <p:cBhvr>
                                        <p:cTn id="52" dur="500" fill="hold"/>
                                        <p:tgtEl>
                                          <p:spTgt spid="1603592"/>
                                        </p:tgtEl>
                                        <p:attrNameLst>
                                          <p:attrName>ppt_y</p:attrName>
                                        </p:attrNameLst>
                                      </p:cBhvr>
                                      <p:tavLst>
                                        <p:tav tm="0">
                                          <p:val>
                                            <p:strVal val="#ppt_y"/>
                                          </p:val>
                                        </p:tav>
                                        <p:tav tm="100000">
                                          <p:val>
                                            <p:strVal val="#ppt_y"/>
                                          </p:val>
                                        </p:tav>
                                      </p:tavLst>
                                    </p:anim>
                                    <p:anim calcmode="lin" valueType="num">
                                      <p:cBhvr>
                                        <p:cTn id="53" dur="500" fill="hold"/>
                                        <p:tgtEl>
                                          <p:spTgt spid="1603592"/>
                                        </p:tgtEl>
                                        <p:attrNameLst>
                                          <p:attrName>ppt_w</p:attrName>
                                        </p:attrNameLst>
                                      </p:cBhvr>
                                      <p:tavLst>
                                        <p:tav tm="0">
                                          <p:val>
                                            <p:fltVal val="0.000000"/>
                                          </p:val>
                                        </p:tav>
                                        <p:tav tm="100000">
                                          <p:val>
                                            <p:strVal val="#ppt_w"/>
                                          </p:val>
                                        </p:tav>
                                      </p:tavLst>
                                    </p:anim>
                                    <p:anim calcmode="lin" valueType="num">
                                      <p:cBhvr>
                                        <p:cTn id="54" dur="500" fill="hold"/>
                                        <p:tgtEl>
                                          <p:spTgt spid="1603592"/>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42" fill="hold" grpId="0" nodeType="clickEffect">
                                  <p:stCondLst>
                                    <p:cond delay="0"/>
                                  </p:stCondLst>
                                  <p:childTnLst>
                                    <p:set>
                                      <p:cBhvr>
                                        <p:cTn id="58" dur="1" fill="hold">
                                          <p:stCondLst>
                                            <p:cond delay="0"/>
                                          </p:stCondLst>
                                        </p:cTn>
                                        <p:tgtEl>
                                          <p:spTgt spid="1603602"/>
                                        </p:tgtEl>
                                        <p:attrNameLst>
                                          <p:attrName>style.visibility</p:attrName>
                                        </p:attrNameLst>
                                      </p:cBhvr>
                                      <p:to>
                                        <p:strVal val="visible"/>
                                      </p:to>
                                    </p:set>
                                    <p:animEffect transition="in" filter="barn(outHorizontal)">
                                      <p:cBhvr>
                                        <p:cTn id="59" dur="500"/>
                                        <p:tgtEl>
                                          <p:spTgt spid="160360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1603601"/>
                                        </p:tgtEl>
                                        <p:attrNameLst>
                                          <p:attrName>style.visibility</p:attrName>
                                        </p:attrNameLst>
                                      </p:cBhvr>
                                      <p:to>
                                        <p:strVal val="visible"/>
                                      </p:to>
                                    </p:set>
                                    <p:animEffect transition="in" filter="dissolve">
                                      <p:cBhvr>
                                        <p:cTn id="63" dur="500"/>
                                        <p:tgtEl>
                                          <p:spTgt spid="1603601"/>
                                        </p:tgtEl>
                                      </p:cBhvr>
                                    </p:animEffect>
                                  </p:childTnLst>
                                </p:cTn>
                              </p:par>
                            </p:childTnLst>
                          </p:cTn>
                        </p:par>
                        <p:par>
                          <p:cTn id="64" fill="hold">
                            <p:stCondLst>
                              <p:cond delay="1000"/>
                            </p:stCondLst>
                            <p:childTnLst>
                              <p:par>
                                <p:cTn id="65" presetID="17" presetClass="entr" presetSubtype="8" fill="hold" grpId="0" nodeType="afterEffect">
                                  <p:stCondLst>
                                    <p:cond delay="0"/>
                                  </p:stCondLst>
                                  <p:childTnLst>
                                    <p:set>
                                      <p:cBhvr>
                                        <p:cTn id="66" dur="1" fill="hold">
                                          <p:stCondLst>
                                            <p:cond delay="0"/>
                                          </p:stCondLst>
                                        </p:cTn>
                                        <p:tgtEl>
                                          <p:spTgt spid="1603591"/>
                                        </p:tgtEl>
                                        <p:attrNameLst>
                                          <p:attrName>style.visibility</p:attrName>
                                        </p:attrNameLst>
                                      </p:cBhvr>
                                      <p:to>
                                        <p:strVal val="visible"/>
                                      </p:to>
                                    </p:set>
                                    <p:anim calcmode="lin" valueType="num">
                                      <p:cBhvr>
                                        <p:cTn id="67" dur="500" fill="hold"/>
                                        <p:tgtEl>
                                          <p:spTgt spid="1603591"/>
                                        </p:tgtEl>
                                        <p:attrNameLst>
                                          <p:attrName>ppt_x</p:attrName>
                                        </p:attrNameLst>
                                      </p:cBhvr>
                                      <p:tavLst>
                                        <p:tav tm="0">
                                          <p:val>
                                            <p:strVal val="#ppt_x-#ppt_w/2"/>
                                          </p:val>
                                        </p:tav>
                                        <p:tav tm="100000">
                                          <p:val>
                                            <p:strVal val="#ppt_x"/>
                                          </p:val>
                                        </p:tav>
                                      </p:tavLst>
                                    </p:anim>
                                    <p:anim calcmode="lin" valueType="num">
                                      <p:cBhvr>
                                        <p:cTn id="68" dur="500" fill="hold"/>
                                        <p:tgtEl>
                                          <p:spTgt spid="1603591"/>
                                        </p:tgtEl>
                                        <p:attrNameLst>
                                          <p:attrName>ppt_y</p:attrName>
                                        </p:attrNameLst>
                                      </p:cBhvr>
                                      <p:tavLst>
                                        <p:tav tm="0">
                                          <p:val>
                                            <p:strVal val="#ppt_y"/>
                                          </p:val>
                                        </p:tav>
                                        <p:tav tm="100000">
                                          <p:val>
                                            <p:strVal val="#ppt_y"/>
                                          </p:val>
                                        </p:tav>
                                      </p:tavLst>
                                    </p:anim>
                                    <p:anim calcmode="lin" valueType="num">
                                      <p:cBhvr>
                                        <p:cTn id="69" dur="500" fill="hold"/>
                                        <p:tgtEl>
                                          <p:spTgt spid="1603591"/>
                                        </p:tgtEl>
                                        <p:attrNameLst>
                                          <p:attrName>ppt_w</p:attrName>
                                        </p:attrNameLst>
                                      </p:cBhvr>
                                      <p:tavLst>
                                        <p:tav tm="0">
                                          <p:val>
                                            <p:fltVal val="0.000000"/>
                                          </p:val>
                                        </p:tav>
                                        <p:tav tm="100000">
                                          <p:val>
                                            <p:strVal val="#ppt_w"/>
                                          </p:val>
                                        </p:tav>
                                      </p:tavLst>
                                    </p:anim>
                                    <p:anim calcmode="lin" valueType="num">
                                      <p:cBhvr>
                                        <p:cTn id="70" dur="500" fill="hold"/>
                                        <p:tgtEl>
                                          <p:spTgt spid="160359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587" grpId="0"/>
      <p:bldP spid="1603588" grpId="0" bldLvl="0" animBg="1"/>
      <p:bldP spid="1603589" grpId="0" bldLvl="0" animBg="1"/>
      <p:bldP spid="1603590" grpId="0" bldLvl="0" animBg="1"/>
      <p:bldP spid="1603591" grpId="0" bldLvl="0" animBg="1"/>
      <p:bldP spid="1603592" grpId="0" bldLvl="0" animBg="1"/>
      <p:bldP spid="1603597" grpId="0" bldLvl="0" animBg="1"/>
      <p:bldP spid="1603598" grpId="0" bldLvl="0" animBg="1"/>
      <p:bldP spid="1603599" grpId="0" bldLvl="0" animBg="1"/>
      <p:bldP spid="1603600" grpId="0" bldLvl="0" animBg="1"/>
      <p:bldP spid="1603601" grpId="0" bldLvl="0" animBg="1"/>
      <p:bldP spid="160360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4096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07683" name="Rectangle 3"/>
          <p:cNvSpPr>
            <a:spLocks noGrp="1"/>
          </p:cNvSpPr>
          <p:nvPr>
            <p:ph idx="1"/>
          </p:nvPr>
        </p:nvSpPr>
        <p:spPr>
          <a:xfrm>
            <a:off x="539750" y="831850"/>
            <a:ext cx="7921625" cy="4719638"/>
          </a:xfrm>
        </p:spPr>
        <p:txBody>
          <a:bodyPr vert="horz" wrap="square" lIns="91440" tIns="45720" rIns="91440" bIns="45720" anchor="t" anchorCtr="0"/>
          <a:p>
            <a:pPr algn="just" eaLnBrk="1" hangingPunct="1">
              <a:lnSpc>
                <a:spcPct val="110000"/>
              </a:lnSpc>
            </a:pPr>
            <a:r>
              <a:rPr lang="en-US" altLang="zh-CN" sz="2800" dirty="0">
                <a:latin typeface="宋体" panose="02010600030101010101" pitchFamily="2" charset="-122"/>
                <a:ea typeface="黑体" panose="02010609060101010101" pitchFamily="49" charset="-122"/>
                <a:cs typeface="+mn-cs"/>
              </a:rPr>
              <a:t>2.3 </a:t>
            </a:r>
            <a:r>
              <a:rPr lang="zh-CN" altLang="en-US" sz="2800" dirty="0">
                <a:latin typeface="宋体" panose="02010600030101010101" pitchFamily="2" charset="-122"/>
                <a:ea typeface="华文楷体" panose="02010600040101010101" pitchFamily="2" charset="-122"/>
                <a:cs typeface="+mn-cs"/>
              </a:rPr>
              <a:t>逻辑功能定义</a:t>
            </a:r>
            <a:endParaRPr lang="zh-CN" altLang="en-US" sz="2800" dirty="0">
              <a:latin typeface="宋体" panose="02010600030101010101" pitchFamily="2" charset="-122"/>
              <a:ea typeface="华文楷体" panose="02010600040101010101" pitchFamily="2" charset="-122"/>
              <a:cs typeface="+mn-cs"/>
            </a:endParaRPr>
          </a:p>
          <a:p>
            <a:pPr algn="just">
              <a:lnSpc>
                <a:spcPct val="110000"/>
              </a:lnSpc>
              <a:spcBef>
                <a:spcPct val="0"/>
              </a:spcBef>
            </a:pPr>
            <a:r>
              <a:rPr lang="zh-CN" altLang="zh-CN" dirty="0">
                <a:latin typeface="华文楷体" panose="02010600040101010101" pitchFamily="2" charset="-122"/>
                <a:ea typeface="华文楷体" panose="02010600040101010101" pitchFamily="2" charset="-122"/>
                <a:cs typeface="+mn-cs"/>
              </a:rPr>
              <a:t>在Verilog 模块中有</a:t>
            </a:r>
            <a:r>
              <a:rPr lang="en-US" altLang="zh-CN" dirty="0">
                <a:solidFill>
                  <a:srgbClr val="FF66FF"/>
                </a:solidFill>
                <a:latin typeface="华文楷体" panose="02010600040101010101" pitchFamily="2" charset="-122"/>
                <a:ea typeface="黑体" panose="02010609060101010101" pitchFamily="49" charset="-122"/>
                <a:cs typeface="+mn-cs"/>
              </a:rPr>
              <a:t>3</a:t>
            </a:r>
            <a:r>
              <a:rPr lang="zh-CN" altLang="zh-CN" dirty="0">
                <a:latin typeface="华文楷体" panose="02010600040101010101" pitchFamily="2" charset="-122"/>
                <a:ea typeface="华文楷体" panose="02010600040101010101" pitchFamily="2" charset="-122"/>
                <a:cs typeface="+mn-cs"/>
              </a:rPr>
              <a:t>种方法可以描述电路的逻辑功能：</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en-US" altLang="zh-CN" dirty="0">
                <a:latin typeface="华文楷体" panose="02010600040101010101" pitchFamily="2" charset="-122"/>
                <a:ea typeface="黑体" panose="02010609060101010101" pitchFamily="49" charset="-122"/>
                <a:cs typeface="+mn-cs"/>
              </a:rPr>
              <a:t>(1)</a:t>
            </a:r>
            <a:r>
              <a:rPr lang="zh-CN" altLang="zh-CN" dirty="0">
                <a:latin typeface="华文楷体" panose="02010600040101010101" pitchFamily="2" charset="-122"/>
                <a:ea typeface="华文楷体" panose="02010600040101010101" pitchFamily="2" charset="-122"/>
                <a:cs typeface="+mn-cs"/>
              </a:rPr>
              <a:t>用assign 语句</a:t>
            </a:r>
            <a:endParaRPr lang="zh-CN" altLang="zh-CN" dirty="0">
              <a:latin typeface="华文楷体" panose="02010600040101010101" pitchFamily="2" charset="-122"/>
              <a:ea typeface="华文楷体" panose="02010600040101010101" pitchFamily="2" charset="-122"/>
              <a:cs typeface="+mn-cs"/>
            </a:endParaRPr>
          </a:p>
          <a:p>
            <a:pPr eaLnBrk="1" hangingPunct="1">
              <a:lnSpc>
                <a:spcPct val="110000"/>
              </a:lnSpc>
            </a:pPr>
            <a:r>
              <a:rPr lang="zh-CN" altLang="zh-CN" dirty="0">
                <a:latin typeface="华文楷体" panose="02010600040101010101" pitchFamily="2" charset="-122"/>
                <a:ea typeface="华文楷体" panose="02010600040101010101" pitchFamily="2" charset="-122"/>
                <a:cs typeface="+mn-cs"/>
              </a:rPr>
              <a:t> </a:t>
            </a:r>
            <a:r>
              <a:rPr lang="zh-CN" altLang="en-US" dirty="0">
                <a:latin typeface="华文楷体" panose="02010600040101010101" pitchFamily="2" charset="-122"/>
                <a:ea typeface="华文楷体" panose="02010600040101010101" pitchFamily="2" charset="-122"/>
                <a:cs typeface="+mn-cs"/>
              </a:rPr>
              <a:t>		</a:t>
            </a:r>
            <a:r>
              <a:rPr lang="zh-CN" altLang="zh-CN" dirty="0">
                <a:latin typeface="华文楷体" panose="02010600040101010101" pitchFamily="2" charset="-122"/>
                <a:ea typeface="华文楷体" panose="02010600040101010101" pitchFamily="2" charset="-122"/>
                <a:cs typeface="+mn-cs"/>
              </a:rPr>
              <a:t>assign x = ( b &amp; ~c )；</a:t>
            </a:r>
            <a:endParaRPr lang="zh-CN" altLang="en-US" dirty="0">
              <a:latin typeface="华文楷体" panose="02010600040101010101" pitchFamily="2" charset="-122"/>
              <a:ea typeface="华文楷体" panose="02010600040101010101" pitchFamily="2" charset="-122"/>
              <a:cs typeface="+mn-cs"/>
            </a:endParaRPr>
          </a:p>
        </p:txBody>
      </p:sp>
      <p:sp>
        <p:nvSpPr>
          <p:cNvPr id="1607684" name="Text Box 4"/>
          <p:cNvSpPr txBox="1"/>
          <p:nvPr/>
        </p:nvSpPr>
        <p:spPr>
          <a:xfrm>
            <a:off x="3808413" y="2071688"/>
            <a:ext cx="1828800"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zh-CN" b="1" dirty="0">
                <a:latin typeface="宋体" panose="02010600030101010101" pitchFamily="2" charset="-122"/>
                <a:ea typeface="宋体" panose="02010600030101010101" pitchFamily="2" charset="-122"/>
              </a:rPr>
              <a:t>连续赋值语句</a:t>
            </a:r>
            <a:endParaRPr lang="zh-CN" altLang="en-US" b="1" dirty="0">
              <a:latin typeface="宋体" panose="02010600030101010101" pitchFamily="2" charset="-122"/>
              <a:ea typeface="宋体" panose="02010600030101010101" pitchFamily="2" charset="-122"/>
            </a:endParaRPr>
          </a:p>
        </p:txBody>
      </p:sp>
      <p:sp>
        <p:nvSpPr>
          <p:cNvPr id="1607685" name="AutoShape 5"/>
          <p:cNvSpPr/>
          <p:nvPr/>
        </p:nvSpPr>
        <p:spPr>
          <a:xfrm>
            <a:off x="6010275" y="2286000"/>
            <a:ext cx="1498600" cy="685800"/>
          </a:xfrm>
          <a:prstGeom prst="wedgeRoundRectCallout">
            <a:avLst>
              <a:gd name="adj1" fmla="val -73199"/>
              <a:gd name="adj2" fmla="val -47222"/>
              <a:gd name="adj3" fmla="val 16667"/>
            </a:avLst>
          </a:prstGeom>
          <a:noFill/>
          <a:ln w="9525" cap="flat" cmpd="sng">
            <a:solidFill>
              <a:schemeClr val="tx1"/>
            </a:solidFill>
            <a:prstDash val="solid"/>
            <a:round/>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dirty="0">
                <a:ea typeface="宋体" panose="02010600030101010101" pitchFamily="2" charset="-122"/>
              </a:rPr>
              <a:t>常用于描述</a:t>
            </a:r>
            <a:r>
              <a:rPr lang="zh-CN" altLang="en-US" sz="1800" b="1" dirty="0">
                <a:ea typeface="宋体" panose="02010600030101010101" pitchFamily="2" charset="-122"/>
              </a:rPr>
              <a:t>组合</a:t>
            </a:r>
            <a:r>
              <a:rPr lang="zh-CN" altLang="en-US" sz="1800" dirty="0">
                <a:ea typeface="宋体" panose="02010600030101010101" pitchFamily="2" charset="-122"/>
              </a:rPr>
              <a:t>逻辑</a:t>
            </a:r>
            <a:endParaRPr lang="zh-CN" altLang="en-US" sz="1800" dirty="0">
              <a:ea typeface="宋体" panose="02010600030101010101" pitchFamily="2" charset="-122"/>
            </a:endParaRPr>
          </a:p>
        </p:txBody>
      </p:sp>
      <p:sp>
        <p:nvSpPr>
          <p:cNvPr id="1607686" name="Text Box 6"/>
          <p:cNvSpPr txBox="1"/>
          <p:nvPr/>
        </p:nvSpPr>
        <p:spPr>
          <a:xfrm>
            <a:off x="5153025" y="3486150"/>
            <a:ext cx="1600200" cy="396875"/>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zh-CN" b="1" dirty="0">
                <a:latin typeface="宋体" panose="02010600030101010101" pitchFamily="2" charset="-122"/>
                <a:ea typeface="宋体" panose="02010600030101010101" pitchFamily="2" charset="-122"/>
              </a:rPr>
              <a:t>门元件例化</a:t>
            </a:r>
            <a:endParaRPr lang="zh-CN" altLang="en-US" b="1" dirty="0">
              <a:latin typeface="宋体" panose="02010600030101010101" pitchFamily="2" charset="-122"/>
              <a:ea typeface="宋体" panose="02010600030101010101" pitchFamily="2" charset="-122"/>
            </a:endParaRPr>
          </a:p>
        </p:txBody>
      </p:sp>
      <p:sp>
        <p:nvSpPr>
          <p:cNvPr id="1607689" name="AutoShape 9">
            <a:hlinkClick r:id="rId1" action="ppaction://hlinksldjump"/>
          </p:cNvPr>
          <p:cNvSpPr/>
          <p:nvPr/>
        </p:nvSpPr>
        <p:spPr>
          <a:xfrm>
            <a:off x="7161213" y="5403850"/>
            <a:ext cx="1803400" cy="576263"/>
          </a:xfrm>
          <a:prstGeom prst="actionButtonBlank">
            <a:avLst/>
          </a:prstGeom>
          <a:noFill/>
          <a:ln w="12700" cap="flat" cmpd="sng">
            <a:solidFill>
              <a:srgbClr val="89A4A7"/>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solidFill>
                  <a:schemeClr val="tx2"/>
                </a:solidFill>
                <a:latin typeface="华文楷体" panose="02010600040101010101" pitchFamily="2" charset="-122"/>
                <a:ea typeface="华文楷体" panose="02010600040101010101" pitchFamily="2" charset="-122"/>
              </a:rPr>
              <a:t>模块元件例化</a:t>
            </a:r>
            <a:endParaRPr lang="zh-CN" altLang="en-US" b="1" dirty="0">
              <a:solidFill>
                <a:schemeClr val="tx2"/>
              </a:solidFill>
              <a:latin typeface="华文楷体" panose="02010600040101010101" pitchFamily="2" charset="-122"/>
              <a:ea typeface="华文楷体" panose="02010600040101010101" pitchFamily="2" charset="-122"/>
            </a:endParaRPr>
          </a:p>
        </p:txBody>
      </p:sp>
      <p:sp>
        <p:nvSpPr>
          <p:cNvPr id="1607690" name="AutoShape 10"/>
          <p:cNvSpPr/>
          <p:nvPr/>
        </p:nvSpPr>
        <p:spPr>
          <a:xfrm>
            <a:off x="3743325" y="4152900"/>
            <a:ext cx="1514475" cy="381000"/>
          </a:xfrm>
          <a:prstGeom prst="wedgeRoundRectCallout">
            <a:avLst>
              <a:gd name="adj1" fmla="val -75639"/>
              <a:gd name="adj2" fmla="val -142500"/>
              <a:gd name="adj3" fmla="val 16667"/>
            </a:avLst>
          </a:prstGeom>
          <a:noFill/>
          <a:ln w="9525" cap="flat" cmpd="sng">
            <a:solidFill>
              <a:schemeClr val="bg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1800" dirty="0">
                <a:latin typeface="Tahoma" panose="020B0604030504040204" pitchFamily="34" charset="0"/>
                <a:ea typeface="宋体" panose="02010600030101010101" pitchFamily="2" charset="-122"/>
              </a:rPr>
              <a:t>例化元件名</a:t>
            </a:r>
            <a:endParaRPr lang="zh-CN" altLang="en-US" sz="1800" dirty="0">
              <a:latin typeface="Tahoma" panose="020B0604030504040204" pitchFamily="34" charset="0"/>
              <a:ea typeface="宋体" panose="02010600030101010101" pitchFamily="2" charset="-122"/>
            </a:endParaRPr>
          </a:p>
        </p:txBody>
      </p:sp>
      <p:sp>
        <p:nvSpPr>
          <p:cNvPr id="1607691" name="AutoShape 11"/>
          <p:cNvSpPr/>
          <p:nvPr/>
        </p:nvSpPr>
        <p:spPr>
          <a:xfrm>
            <a:off x="1546225" y="4152900"/>
            <a:ext cx="1758950" cy="381000"/>
          </a:xfrm>
          <a:prstGeom prst="wedgeRoundRectCallout">
            <a:avLst>
              <a:gd name="adj1" fmla="val 12005"/>
              <a:gd name="adj2" fmla="val -142083"/>
              <a:gd name="adj3" fmla="val 16667"/>
            </a:avLst>
          </a:prstGeom>
          <a:noFill/>
          <a:ln w="9525" cap="flat" cmpd="sng">
            <a:solidFill>
              <a:schemeClr val="bg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dirty="0">
                <a:ea typeface="宋体" panose="02010600030101010101" pitchFamily="2" charset="-122"/>
              </a:rPr>
              <a:t>门元件关键字</a:t>
            </a:r>
            <a:endParaRPr lang="zh-CN" altLang="en-US" sz="1800" dirty="0">
              <a:ea typeface="宋体" panose="02010600030101010101" pitchFamily="2" charset="-122"/>
            </a:endParaRPr>
          </a:p>
        </p:txBody>
      </p:sp>
      <p:sp>
        <p:nvSpPr>
          <p:cNvPr id="1607692" name="Rectangle 12"/>
          <p:cNvSpPr/>
          <p:nvPr/>
        </p:nvSpPr>
        <p:spPr>
          <a:xfrm>
            <a:off x="1830388" y="3486150"/>
            <a:ext cx="3108325" cy="390525"/>
          </a:xfrm>
          <a:prstGeom prst="rect">
            <a:avLst/>
          </a:prstGeom>
          <a:noFill/>
          <a:ln w="19050" cap="flat" cmpd="sng">
            <a:solidFill>
              <a:srgbClr val="FF0000"/>
            </a:solidFill>
            <a:prstDash val="dashDot"/>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607693" name="Rectangle 13"/>
          <p:cNvSpPr/>
          <p:nvPr/>
        </p:nvSpPr>
        <p:spPr>
          <a:xfrm>
            <a:off x="436563" y="3063875"/>
            <a:ext cx="6786562" cy="9398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05000"/>
              </a:lnSpc>
              <a:spcBef>
                <a:spcPct val="0"/>
              </a:spcBef>
              <a:buClr>
                <a:srgbClr val="3333FF"/>
              </a:buClr>
              <a:buFont typeface="Wingdings" panose="05000000000000000000" pitchFamily="2" charset="2"/>
              <a:buNone/>
            </a:pPr>
            <a:r>
              <a:rPr lang="en-US" altLang="zh-CN" dirty="0">
                <a:latin typeface="华文楷体" panose="02010600040101010101" pitchFamily="2" charset="-122"/>
                <a:ea typeface="华文楷体" panose="02010600040101010101" pitchFamily="2" charset="-122"/>
              </a:rPr>
              <a:t> (2)</a:t>
            </a:r>
            <a:r>
              <a:rPr lang="zh-CN" altLang="zh-CN" dirty="0">
                <a:latin typeface="华文楷体" panose="02010600040101010101" pitchFamily="2" charset="-122"/>
                <a:ea typeface="华文楷体" panose="02010600040101010101" pitchFamily="2" charset="-122"/>
              </a:rPr>
              <a:t>用元件例化（</a:t>
            </a:r>
            <a:r>
              <a:rPr lang="en-US" altLang="zh-CN" dirty="0">
                <a:latin typeface="华文楷体" panose="02010600040101010101" pitchFamily="2" charset="-122"/>
                <a:ea typeface="华文楷体" panose="02010600040101010101" pitchFamily="2" charset="-122"/>
              </a:rPr>
              <a:t>instantiate</a:t>
            </a:r>
            <a:r>
              <a:rPr lang="zh-CN" altLang="en-US" dirty="0">
                <a:latin typeface="华文楷体" panose="02010600040101010101" pitchFamily="2" charset="-122"/>
                <a:ea typeface="华文楷体" panose="02010600040101010101" pitchFamily="2" charset="-122"/>
              </a:rPr>
              <a:t>）</a:t>
            </a:r>
            <a:endParaRPr lang="zh-CN" altLang="zh-CN" dirty="0">
              <a:latin typeface="华文楷体" panose="02010600040101010101" pitchFamily="2" charset="-122"/>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宋体" panose="02010600030101010101" pitchFamily="2" charset="-122"/>
              </a:rPr>
              <a:t>		</a:t>
            </a:r>
            <a:r>
              <a:rPr lang="zh-CN" altLang="zh-CN" dirty="0">
                <a:solidFill>
                  <a:srgbClr val="FF0066"/>
                </a:solidFill>
                <a:latin typeface="华文楷体" panose="02010600040101010101" pitchFamily="2" charset="-122"/>
                <a:ea typeface="华文楷体" panose="02010600040101010101" pitchFamily="2" charset="-122"/>
              </a:rPr>
              <a:t>and</a:t>
            </a:r>
            <a:r>
              <a:rPr lang="zh-CN" altLang="zh-CN" dirty="0">
                <a:latin typeface="华文楷体" panose="02010600040101010101" pitchFamily="2" charset="-122"/>
                <a:ea typeface="华文楷体" panose="02010600040101010101" pitchFamily="2" charset="-122"/>
              </a:rPr>
              <a:t> </a:t>
            </a:r>
            <a:r>
              <a:rPr lang="en-US" altLang="zh-CN" dirty="0">
                <a:solidFill>
                  <a:srgbClr val="990099"/>
                </a:solidFill>
                <a:latin typeface="华文楷体" panose="02010600040101010101" pitchFamily="2" charset="-122"/>
                <a:ea typeface="华文楷体" panose="02010600040101010101" pitchFamily="2" charset="-122"/>
              </a:rPr>
              <a:t>my</a:t>
            </a:r>
            <a:r>
              <a:rPr lang="zh-CN" altLang="zh-CN" dirty="0">
                <a:solidFill>
                  <a:srgbClr val="990099"/>
                </a:solidFill>
                <a:latin typeface="华文楷体" panose="02010600040101010101" pitchFamily="2" charset="-122"/>
                <a:ea typeface="华文楷体" panose="02010600040101010101" pitchFamily="2" charset="-122"/>
              </a:rPr>
              <a:t>and</a:t>
            </a:r>
            <a:r>
              <a:rPr lang="en-US" altLang="zh-CN" dirty="0">
                <a:solidFill>
                  <a:srgbClr val="990099"/>
                </a:solidFill>
                <a:latin typeface="华文楷体" panose="02010600040101010101" pitchFamily="2" charset="-122"/>
                <a:ea typeface="华文楷体" panose="02010600040101010101" pitchFamily="2" charset="-122"/>
              </a:rPr>
              <a:t>3</a:t>
            </a:r>
            <a:r>
              <a:rPr lang="zh-CN" altLang="zh-CN"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rPr>
              <a:t>f</a:t>
            </a:r>
            <a:r>
              <a:rPr lang="zh-CN" altLang="zh-CN" dirty="0">
                <a:latin typeface="华文楷体" panose="02010600040101010101" pitchFamily="2" charset="-122"/>
                <a:ea typeface="华文楷体" panose="02010600040101010101" pitchFamily="2" charset="-122"/>
              </a:rPr>
              <a:t>,a,b</a:t>
            </a:r>
            <a:r>
              <a:rPr lang="en-US" altLang="zh-CN" dirty="0">
                <a:latin typeface="华文楷体" panose="02010600040101010101" pitchFamily="2" charset="-122"/>
                <a:ea typeface="华文楷体" panose="02010600040101010101" pitchFamily="2" charset="-122"/>
              </a:rPr>
              <a:t>,c</a:t>
            </a:r>
            <a:r>
              <a:rPr lang="zh-CN"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1607694" name="AutoShape 14"/>
          <p:cNvSpPr/>
          <p:nvPr/>
        </p:nvSpPr>
        <p:spPr>
          <a:xfrm>
            <a:off x="436563" y="4533900"/>
            <a:ext cx="6507162" cy="2262188"/>
          </a:xfrm>
          <a:prstGeom prst="horizontalScroll">
            <a:avLst>
              <a:gd name="adj" fmla="val 12500"/>
            </a:avLst>
          </a:prstGeom>
          <a:noFill/>
          <a:ln w="12700" cap="flat" cmpd="sng">
            <a:solidFill>
              <a:srgbClr val="89A4A7"/>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287655" algn="just">
              <a:lnSpc>
                <a:spcPct val="105000"/>
              </a:lnSpc>
              <a:spcBef>
                <a:spcPct val="0"/>
              </a:spcBef>
              <a:buClr>
                <a:srgbClr val="FF0066"/>
              </a:buClr>
              <a:buFont typeface="Wingdings" panose="05000000000000000000" pitchFamily="2" charset="2"/>
              <a:buChar char="v"/>
            </a:pPr>
            <a:r>
              <a:rPr lang="zh-CN" altLang="zh-CN" b="1" dirty="0">
                <a:solidFill>
                  <a:schemeClr val="tx2"/>
                </a:solidFill>
                <a:latin typeface="华文楷体" panose="02010600040101010101" pitchFamily="2" charset="-122"/>
                <a:ea typeface="华文楷体" panose="02010600040101010101" pitchFamily="2" charset="-122"/>
              </a:rPr>
              <a:t>注</a:t>
            </a:r>
            <a:r>
              <a:rPr lang="en-US" altLang="zh-CN" b="1" dirty="0">
                <a:solidFill>
                  <a:schemeClr val="tx2"/>
                </a:solidFill>
                <a:latin typeface="华文楷体" panose="02010600040101010101" pitchFamily="2" charset="-122"/>
                <a:ea typeface="华文楷体" panose="02010600040101010101" pitchFamily="2" charset="-122"/>
              </a:rPr>
              <a:t>1</a:t>
            </a:r>
            <a:r>
              <a:rPr lang="zh-CN" altLang="zh-CN" b="1" dirty="0">
                <a:solidFill>
                  <a:schemeClr val="tx2"/>
                </a:solidFill>
                <a:latin typeface="华文楷体" panose="02010600040101010101" pitchFamily="2" charset="-122"/>
                <a:ea typeface="华文楷体" panose="02010600040101010101" pitchFamily="2" charset="-122"/>
              </a:rPr>
              <a:t>：元件例化即是调用</a:t>
            </a:r>
            <a:r>
              <a:rPr lang="en-US" altLang="zh-CN" b="1" dirty="0">
                <a:solidFill>
                  <a:schemeClr val="tx2"/>
                </a:solidFill>
                <a:latin typeface="华文楷体" panose="02010600040101010101" pitchFamily="2" charset="-122"/>
                <a:ea typeface="华文楷体" panose="02010600040101010101" pitchFamily="2" charset="-122"/>
              </a:rPr>
              <a:t>Verilog HDL</a:t>
            </a:r>
            <a:r>
              <a:rPr lang="zh-CN" altLang="en-US" b="1" dirty="0">
                <a:solidFill>
                  <a:schemeClr val="tx2"/>
                </a:solidFill>
                <a:latin typeface="华文楷体" panose="02010600040101010101" pitchFamily="2" charset="-122"/>
                <a:ea typeface="华文楷体" panose="02010600040101010101" pitchFamily="2" charset="-122"/>
              </a:rPr>
              <a:t>提供的元件；</a:t>
            </a:r>
            <a:endParaRPr lang="zh-CN" altLang="en-US" b="1" dirty="0">
              <a:solidFill>
                <a:schemeClr val="tx2"/>
              </a:solidFill>
              <a:latin typeface="华文楷体" panose="02010600040101010101" pitchFamily="2" charset="-122"/>
              <a:ea typeface="华文楷体" panose="02010600040101010101" pitchFamily="2" charset="-122"/>
            </a:endParaRPr>
          </a:p>
          <a:p>
            <a:pPr marL="0" lvl="0" indent="287655" algn="just">
              <a:lnSpc>
                <a:spcPct val="105000"/>
              </a:lnSpc>
              <a:spcBef>
                <a:spcPct val="0"/>
              </a:spcBef>
              <a:buClr>
                <a:srgbClr val="FF0066"/>
              </a:buClr>
              <a:buFont typeface="Wingdings" panose="05000000000000000000" pitchFamily="2" charset="2"/>
              <a:buChar char="v"/>
            </a:pPr>
            <a:r>
              <a:rPr lang="zh-CN" altLang="zh-CN" b="1" dirty="0">
                <a:solidFill>
                  <a:schemeClr val="tx2"/>
                </a:solidFill>
                <a:latin typeface="华文楷体" panose="02010600040101010101" pitchFamily="2" charset="-122"/>
                <a:ea typeface="华文楷体" panose="02010600040101010101" pitchFamily="2" charset="-122"/>
              </a:rPr>
              <a:t>注</a:t>
            </a:r>
            <a:r>
              <a:rPr lang="en-US" altLang="zh-CN" b="1" dirty="0">
                <a:solidFill>
                  <a:schemeClr val="tx2"/>
                </a:solidFill>
                <a:latin typeface="华文楷体" panose="02010600040101010101" pitchFamily="2" charset="-122"/>
                <a:ea typeface="华文楷体" panose="02010600040101010101" pitchFamily="2" charset="-122"/>
              </a:rPr>
              <a:t>2</a:t>
            </a:r>
            <a:r>
              <a:rPr lang="zh-CN" altLang="zh-CN" b="1" dirty="0">
                <a:solidFill>
                  <a:schemeClr val="tx2"/>
                </a:solidFill>
                <a:latin typeface="华文楷体" panose="02010600040101010101" pitchFamily="2" charset="-122"/>
                <a:ea typeface="华文楷体" panose="02010600040101010101" pitchFamily="2" charset="-122"/>
              </a:rPr>
              <a:t>：元件例化包括</a:t>
            </a:r>
            <a:r>
              <a:rPr lang="zh-CN" altLang="zh-CN" b="1" dirty="0">
                <a:solidFill>
                  <a:srgbClr val="FF0066"/>
                </a:solidFill>
                <a:latin typeface="华文楷体" panose="02010600040101010101" pitchFamily="2" charset="-122"/>
                <a:ea typeface="华文楷体" panose="02010600040101010101" pitchFamily="2" charset="-122"/>
              </a:rPr>
              <a:t>门</a:t>
            </a:r>
            <a:r>
              <a:rPr lang="zh-CN" altLang="zh-CN" b="1" dirty="0">
                <a:solidFill>
                  <a:schemeClr val="tx2"/>
                </a:solidFill>
                <a:latin typeface="华文楷体" panose="02010600040101010101" pitchFamily="2" charset="-122"/>
                <a:ea typeface="华文楷体" panose="02010600040101010101" pitchFamily="2" charset="-122"/>
              </a:rPr>
              <a:t>元件例化和</a:t>
            </a:r>
            <a:r>
              <a:rPr lang="zh-CN" altLang="zh-CN" b="1" dirty="0">
                <a:solidFill>
                  <a:srgbClr val="FF0066"/>
                </a:solidFill>
                <a:latin typeface="华文楷体" panose="02010600040101010101" pitchFamily="2" charset="-122"/>
                <a:ea typeface="华文楷体" panose="02010600040101010101" pitchFamily="2" charset="-122"/>
              </a:rPr>
              <a:t>模块</a:t>
            </a:r>
            <a:r>
              <a:rPr lang="zh-CN" altLang="zh-CN" b="1" dirty="0">
                <a:solidFill>
                  <a:schemeClr val="tx2"/>
                </a:solidFill>
                <a:latin typeface="华文楷体" panose="02010600040101010101" pitchFamily="2" charset="-122"/>
                <a:ea typeface="华文楷体" panose="02010600040101010101" pitchFamily="2" charset="-122"/>
              </a:rPr>
              <a:t>元件例化；</a:t>
            </a:r>
            <a:endParaRPr lang="zh-CN" altLang="en-US" b="1" dirty="0">
              <a:solidFill>
                <a:schemeClr val="tx2"/>
              </a:solidFill>
              <a:latin typeface="华文楷体" panose="02010600040101010101" pitchFamily="2" charset="-122"/>
              <a:ea typeface="华文楷体" panose="02010600040101010101" pitchFamily="2" charset="-122"/>
            </a:endParaRPr>
          </a:p>
          <a:p>
            <a:pPr marL="0" lvl="0" indent="287655" algn="just">
              <a:lnSpc>
                <a:spcPct val="105000"/>
              </a:lnSpc>
              <a:spcBef>
                <a:spcPct val="0"/>
              </a:spcBef>
              <a:buClr>
                <a:srgbClr val="FF0066"/>
              </a:buClr>
              <a:buFont typeface="Wingdings" panose="05000000000000000000" pitchFamily="2" charset="2"/>
              <a:buChar char="v"/>
            </a:pPr>
            <a:r>
              <a:rPr lang="zh-CN" altLang="zh-CN" b="1" dirty="0">
                <a:solidFill>
                  <a:schemeClr val="tx2"/>
                </a:solidFill>
                <a:latin typeface="华文楷体" panose="02010600040101010101" pitchFamily="2" charset="-122"/>
                <a:ea typeface="华文楷体" panose="02010600040101010101" pitchFamily="2" charset="-122"/>
              </a:rPr>
              <a:t>注</a:t>
            </a:r>
            <a:r>
              <a:rPr lang="en-US" altLang="zh-CN" b="1" dirty="0">
                <a:solidFill>
                  <a:schemeClr val="tx2"/>
                </a:solidFill>
                <a:latin typeface="华文楷体" panose="02010600040101010101" pitchFamily="2" charset="-122"/>
                <a:ea typeface="华文楷体" panose="02010600040101010101" pitchFamily="2" charset="-122"/>
              </a:rPr>
              <a:t>3</a:t>
            </a:r>
            <a:r>
              <a:rPr lang="zh-CN" altLang="zh-CN" b="1" dirty="0">
                <a:solidFill>
                  <a:schemeClr val="tx2"/>
                </a:solidFill>
                <a:latin typeface="华文楷体" panose="02010600040101010101" pitchFamily="2" charset="-122"/>
                <a:ea typeface="华文楷体" panose="02010600040101010101" pitchFamily="2" charset="-122"/>
              </a:rPr>
              <a:t>：</a:t>
            </a:r>
            <a:r>
              <a:rPr lang="zh-CN" altLang="en-US" b="1" dirty="0">
                <a:solidFill>
                  <a:schemeClr val="tx2"/>
                </a:solidFill>
                <a:latin typeface="华文楷体" panose="02010600040101010101" pitchFamily="2" charset="-122"/>
                <a:ea typeface="华文楷体" panose="02010600040101010101" pitchFamily="2" charset="-122"/>
              </a:rPr>
              <a:t>每个实例元件的名字必须</a:t>
            </a:r>
            <a:r>
              <a:rPr lang="zh-CN" altLang="en-US" b="1" dirty="0">
                <a:solidFill>
                  <a:srgbClr val="FF0066"/>
                </a:solidFill>
                <a:latin typeface="华文楷体" panose="02010600040101010101" pitchFamily="2" charset="-122"/>
                <a:ea typeface="华文楷体" panose="02010600040101010101" pitchFamily="2" charset="-122"/>
              </a:rPr>
              <a:t>唯一</a:t>
            </a:r>
            <a:r>
              <a:rPr lang="zh-CN" altLang="en-US" b="1" dirty="0">
                <a:solidFill>
                  <a:schemeClr val="tx2"/>
                </a:solidFill>
                <a:latin typeface="华文楷体" panose="02010600040101010101" pitchFamily="2" charset="-122"/>
                <a:ea typeface="华文楷体" panose="02010600040101010101" pitchFamily="2" charset="-122"/>
              </a:rPr>
              <a:t>！以避免与其它调用元件的实例相混淆。</a:t>
            </a:r>
            <a:endParaRPr lang="zh-CN" altLang="en-US" b="1" dirty="0">
              <a:solidFill>
                <a:schemeClr val="tx2"/>
              </a:solidFill>
              <a:latin typeface="华文楷体" panose="02010600040101010101" pitchFamily="2" charset="-122"/>
              <a:ea typeface="华文楷体" panose="02010600040101010101" pitchFamily="2" charset="-122"/>
            </a:endParaRPr>
          </a:p>
          <a:p>
            <a:pPr marL="0" lvl="0" indent="287655" algn="just">
              <a:lnSpc>
                <a:spcPct val="105000"/>
              </a:lnSpc>
              <a:spcBef>
                <a:spcPct val="0"/>
              </a:spcBef>
              <a:buClr>
                <a:srgbClr val="FF0066"/>
              </a:buClr>
              <a:buFont typeface="Wingdings" panose="05000000000000000000" pitchFamily="2" charset="2"/>
              <a:buChar char="v"/>
            </a:pPr>
            <a:r>
              <a:rPr lang="zh-CN" altLang="zh-CN" b="1" dirty="0">
                <a:solidFill>
                  <a:schemeClr val="tx2"/>
                </a:solidFill>
                <a:latin typeface="华文楷体" panose="02010600040101010101" pitchFamily="2" charset="-122"/>
                <a:ea typeface="华文楷体" panose="02010600040101010101" pitchFamily="2" charset="-122"/>
              </a:rPr>
              <a:t>注</a:t>
            </a:r>
            <a:r>
              <a:rPr lang="en-US" altLang="zh-CN" b="1" dirty="0">
                <a:solidFill>
                  <a:schemeClr val="tx2"/>
                </a:solidFill>
                <a:latin typeface="华文楷体" panose="02010600040101010101" pitchFamily="2" charset="-122"/>
                <a:ea typeface="华文楷体" panose="02010600040101010101" pitchFamily="2" charset="-122"/>
              </a:rPr>
              <a:t>4</a:t>
            </a:r>
            <a:r>
              <a:rPr lang="zh-CN" altLang="zh-CN" b="1" dirty="0">
                <a:solidFill>
                  <a:schemeClr val="tx2"/>
                </a:solidFill>
                <a:latin typeface="华文楷体" panose="02010600040101010101" pitchFamily="2" charset="-122"/>
                <a:ea typeface="华文楷体" panose="02010600040101010101" pitchFamily="2" charset="-122"/>
              </a:rPr>
              <a:t>：</a:t>
            </a:r>
            <a:r>
              <a:rPr lang="zh-CN" altLang="en-US" b="1" dirty="0">
                <a:solidFill>
                  <a:schemeClr val="tx2"/>
                </a:solidFill>
                <a:latin typeface="华文楷体" panose="02010600040101010101" pitchFamily="2" charset="-122"/>
                <a:ea typeface="华文楷体" panose="02010600040101010101" pitchFamily="2" charset="-122"/>
              </a:rPr>
              <a:t>例化元件名也可以省略！</a:t>
            </a:r>
            <a:endParaRPr lang="zh-CN" altLang="en-US"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07683"/>
                                        </p:tgtEl>
                                        <p:attrNameLst>
                                          <p:attrName>style.visibility</p:attrName>
                                        </p:attrNameLst>
                                      </p:cBhvr>
                                      <p:to>
                                        <p:strVal val="visible"/>
                                      </p:to>
                                    </p:set>
                                    <p:anim calcmode="lin" valueType="num">
                                      <p:cBhvr additive="base">
                                        <p:cTn id="7" dur="500" fill="hold"/>
                                        <p:tgtEl>
                                          <p:spTgt spid="1607683"/>
                                        </p:tgtEl>
                                        <p:attrNameLst>
                                          <p:attrName>ppt_x</p:attrName>
                                        </p:attrNameLst>
                                      </p:cBhvr>
                                      <p:tavLst>
                                        <p:tav tm="0">
                                          <p:val>
                                            <p:strVal val="0-#ppt_w/2"/>
                                          </p:val>
                                        </p:tav>
                                        <p:tav tm="100000">
                                          <p:val>
                                            <p:strVal val="#ppt_x"/>
                                          </p:val>
                                        </p:tav>
                                      </p:tavLst>
                                    </p:anim>
                                    <p:anim calcmode="lin" valueType="num">
                                      <p:cBhvr additive="base">
                                        <p:cTn id="8" dur="500" fill="hold"/>
                                        <p:tgtEl>
                                          <p:spTgt spid="16076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1607684"/>
                                        </p:tgtEl>
                                        <p:attrNameLst>
                                          <p:attrName>style.visibility</p:attrName>
                                        </p:attrNameLst>
                                      </p:cBhvr>
                                      <p:to>
                                        <p:strVal val="visible"/>
                                      </p:to>
                                    </p:set>
                                    <p:animEffect transition="in" filter="barn(outVertical)">
                                      <p:cBhvr>
                                        <p:cTn id="13" dur="500"/>
                                        <p:tgtEl>
                                          <p:spTgt spid="160768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07685"/>
                                        </p:tgtEl>
                                        <p:attrNameLst>
                                          <p:attrName>style.visibility</p:attrName>
                                        </p:attrNameLst>
                                      </p:cBhvr>
                                      <p:to>
                                        <p:strVal val="visible"/>
                                      </p:to>
                                    </p:set>
                                    <p:animEffect transition="in" filter="dissolve">
                                      <p:cBhvr>
                                        <p:cTn id="18" dur="500"/>
                                        <p:tgtEl>
                                          <p:spTgt spid="160768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07693"/>
                                        </p:tgtEl>
                                        <p:attrNameLst>
                                          <p:attrName>style.visibility</p:attrName>
                                        </p:attrNameLst>
                                      </p:cBhvr>
                                      <p:to>
                                        <p:strVal val="visible"/>
                                      </p:to>
                                    </p:set>
                                    <p:anim calcmode="lin" valueType="num">
                                      <p:cBhvr additive="base">
                                        <p:cTn id="23" dur="500" fill="hold"/>
                                        <p:tgtEl>
                                          <p:spTgt spid="1607693"/>
                                        </p:tgtEl>
                                        <p:attrNameLst>
                                          <p:attrName>ppt_x</p:attrName>
                                        </p:attrNameLst>
                                      </p:cBhvr>
                                      <p:tavLst>
                                        <p:tav tm="0">
                                          <p:val>
                                            <p:strVal val="0-#ppt_w/2"/>
                                          </p:val>
                                        </p:tav>
                                        <p:tav tm="100000">
                                          <p:val>
                                            <p:strVal val="#ppt_x"/>
                                          </p:val>
                                        </p:tav>
                                      </p:tavLst>
                                    </p:anim>
                                    <p:anim calcmode="lin" valueType="num">
                                      <p:cBhvr additive="base">
                                        <p:cTn id="24" dur="500" fill="hold"/>
                                        <p:tgtEl>
                                          <p:spTgt spid="160769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1607686"/>
                                        </p:tgtEl>
                                        <p:attrNameLst>
                                          <p:attrName>style.visibility</p:attrName>
                                        </p:attrNameLst>
                                      </p:cBhvr>
                                      <p:to>
                                        <p:strVal val="visible"/>
                                      </p:to>
                                    </p:set>
                                    <p:animEffect transition="in" filter="barn(outVertical)">
                                      <p:cBhvr>
                                        <p:cTn id="29" dur="500"/>
                                        <p:tgtEl>
                                          <p:spTgt spid="1607686"/>
                                        </p:tgtEl>
                                      </p:cBhvr>
                                    </p:animEffect>
                                  </p:childTnLst>
                                </p:cTn>
                              </p:par>
                            </p:childTnLst>
                          </p:cTn>
                        </p:par>
                        <p:par>
                          <p:cTn id="30" fill="hold">
                            <p:stCondLst>
                              <p:cond delay="500"/>
                            </p:stCondLst>
                            <p:childTnLst>
                              <p:par>
                                <p:cTn id="31" presetID="23" presetClass="entr" presetSubtype="16" fill="hold" grpId="0" nodeType="afterEffect">
                                  <p:stCondLst>
                                    <p:cond delay="0"/>
                                  </p:stCondLst>
                                  <p:childTnLst>
                                    <p:set>
                                      <p:cBhvr>
                                        <p:cTn id="32" dur="1" fill="hold">
                                          <p:stCondLst>
                                            <p:cond delay="0"/>
                                          </p:stCondLst>
                                        </p:cTn>
                                        <p:tgtEl>
                                          <p:spTgt spid="1607692"/>
                                        </p:tgtEl>
                                        <p:attrNameLst>
                                          <p:attrName>style.visibility</p:attrName>
                                        </p:attrNameLst>
                                      </p:cBhvr>
                                      <p:to>
                                        <p:strVal val="visible"/>
                                      </p:to>
                                    </p:set>
                                    <p:anim calcmode="lin" valueType="num">
                                      <p:cBhvr>
                                        <p:cTn id="33" dur="500" fill="hold"/>
                                        <p:tgtEl>
                                          <p:spTgt spid="1607692"/>
                                        </p:tgtEl>
                                        <p:attrNameLst>
                                          <p:attrName>ppt_w</p:attrName>
                                        </p:attrNameLst>
                                      </p:cBhvr>
                                      <p:tavLst>
                                        <p:tav tm="0">
                                          <p:val>
                                            <p:fltVal val="0.000000"/>
                                          </p:val>
                                        </p:tav>
                                        <p:tav tm="100000">
                                          <p:val>
                                            <p:strVal val="#ppt_w"/>
                                          </p:val>
                                        </p:tav>
                                      </p:tavLst>
                                    </p:anim>
                                    <p:anim calcmode="lin" valueType="num">
                                      <p:cBhvr>
                                        <p:cTn id="34" dur="500" fill="hold"/>
                                        <p:tgtEl>
                                          <p:spTgt spid="1607692"/>
                                        </p:tgtEl>
                                        <p:attrNameLst>
                                          <p:attrName>ppt_h</p:attrName>
                                        </p:attrNameLst>
                                      </p:cBhvr>
                                      <p:tavLst>
                                        <p:tav tm="0">
                                          <p:val>
                                            <p:fltVal val="0.00000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607691"/>
                                        </p:tgtEl>
                                        <p:attrNameLst>
                                          <p:attrName>style.visibility</p:attrName>
                                        </p:attrNameLst>
                                      </p:cBhvr>
                                      <p:to>
                                        <p:strVal val="visible"/>
                                      </p:to>
                                    </p:set>
                                    <p:animEffect transition="in" filter="dissolve">
                                      <p:cBhvr>
                                        <p:cTn id="39" dur="500"/>
                                        <p:tgtEl>
                                          <p:spTgt spid="160769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607690"/>
                                        </p:tgtEl>
                                        <p:attrNameLst>
                                          <p:attrName>style.visibility</p:attrName>
                                        </p:attrNameLst>
                                      </p:cBhvr>
                                      <p:to>
                                        <p:strVal val="visible"/>
                                      </p:to>
                                    </p:set>
                                    <p:animEffect transition="in" filter="dissolve">
                                      <p:cBhvr>
                                        <p:cTn id="44" dur="500"/>
                                        <p:tgtEl>
                                          <p:spTgt spid="1607690"/>
                                        </p:tgtEl>
                                      </p:cBhvr>
                                    </p:animEffect>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1607694"/>
                                        </p:tgtEl>
                                        <p:attrNameLst>
                                          <p:attrName>style.visibility</p:attrName>
                                        </p:attrNameLst>
                                      </p:cBhvr>
                                      <p:to>
                                        <p:strVal val="visible"/>
                                      </p:to>
                                    </p:set>
                                    <p:anim calcmode="lin" valueType="num">
                                      <p:cBhvr>
                                        <p:cTn id="49" dur="500" fill="hold"/>
                                        <p:tgtEl>
                                          <p:spTgt spid="1607694"/>
                                        </p:tgtEl>
                                        <p:attrNameLst>
                                          <p:attrName>ppt_w</p:attrName>
                                        </p:attrNameLst>
                                      </p:cBhvr>
                                      <p:tavLst>
                                        <p:tav tm="0">
                                          <p:val>
                                            <p:fltVal val="0.000000"/>
                                          </p:val>
                                        </p:tav>
                                        <p:tav tm="100000">
                                          <p:val>
                                            <p:strVal val="#ppt_w"/>
                                          </p:val>
                                        </p:tav>
                                      </p:tavLst>
                                    </p:anim>
                                    <p:anim calcmode="lin" valueType="num">
                                      <p:cBhvr>
                                        <p:cTn id="50" dur="500" fill="hold"/>
                                        <p:tgtEl>
                                          <p:spTgt spid="1607694"/>
                                        </p:tgtEl>
                                        <p:attrNameLst>
                                          <p:attrName>ppt_h</p:attrName>
                                        </p:attrNameLst>
                                      </p:cBhvr>
                                      <p:tavLst>
                                        <p:tav tm="0">
                                          <p:val>
                                            <p:fltVal val="0.000000"/>
                                          </p:val>
                                        </p:tav>
                                        <p:tav tm="100000">
                                          <p:val>
                                            <p:strVal val="#ppt_h"/>
                                          </p:val>
                                        </p:tav>
                                      </p:tavLst>
                                    </p:anim>
                                  </p:childTnLst>
                                </p:cTn>
                              </p:par>
                            </p:childTnLst>
                          </p:cTn>
                        </p:par>
                        <p:par>
                          <p:cTn id="51" fill="hold">
                            <p:stCondLst>
                              <p:cond delay="500"/>
                            </p:stCondLst>
                            <p:childTnLst>
                              <p:par>
                                <p:cTn id="52" presetID="9" presetClass="entr" presetSubtype="0" fill="hold" grpId="0" nodeType="afterEffect">
                                  <p:stCondLst>
                                    <p:cond delay="1000"/>
                                  </p:stCondLst>
                                  <p:childTnLst>
                                    <p:set>
                                      <p:cBhvr>
                                        <p:cTn id="53" dur="1" fill="hold">
                                          <p:stCondLst>
                                            <p:cond delay="0"/>
                                          </p:stCondLst>
                                        </p:cTn>
                                        <p:tgtEl>
                                          <p:spTgt spid="1607689"/>
                                        </p:tgtEl>
                                        <p:attrNameLst>
                                          <p:attrName>style.visibility</p:attrName>
                                        </p:attrNameLst>
                                      </p:cBhvr>
                                      <p:to>
                                        <p:strVal val="visible"/>
                                      </p:to>
                                    </p:set>
                                    <p:animEffect transition="in" filter="dissolve">
                                      <p:cBhvr>
                                        <p:cTn id="54" dur="500"/>
                                        <p:tgtEl>
                                          <p:spTgt spid="1607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683" grpId="0"/>
      <p:bldP spid="1607684" grpId="0" bldLvl="0" animBg="1"/>
      <p:bldP spid="1607685" grpId="0" bldLvl="0" animBg="1"/>
      <p:bldP spid="1607686" grpId="0" bldLvl="0" animBg="1"/>
      <p:bldP spid="1607689" grpId="0" bldLvl="0" animBg="1"/>
      <p:bldP spid="1607690" grpId="0" bldLvl="0" animBg="1"/>
      <p:bldP spid="1607691" grpId="0" bldLvl="0" animBg="1"/>
      <p:bldP spid="1607692" grpId="0" bldLvl="0" animBg="1"/>
      <p:bldP spid="1607693" grpId="0"/>
      <p:bldP spid="160769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301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4301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09731" name="Rectangle 3"/>
          <p:cNvSpPr>
            <a:spLocks noGrp="1"/>
          </p:cNvSpPr>
          <p:nvPr>
            <p:ph idx="1"/>
          </p:nvPr>
        </p:nvSpPr>
        <p:spPr/>
        <p:txBody>
          <a:bodyPr vert="horz" wrap="square" lIns="91440" tIns="45720" rIns="91440" bIns="45720" anchor="t" anchorCtr="0"/>
          <a:p>
            <a:pPr marL="0" indent="0" algn="just">
              <a:lnSpc>
                <a:spcPct val="105000"/>
              </a:lnSpc>
              <a:spcBef>
                <a:spcPct val="0"/>
              </a:spcBef>
            </a:pPr>
            <a:r>
              <a:rPr lang="en-US" altLang="zh-CN" dirty="0">
                <a:latin typeface="宋体" panose="02010600030101010101" pitchFamily="2" charset="-122"/>
                <a:ea typeface="黑体" panose="02010609060101010101" pitchFamily="49" charset="-122"/>
                <a:cs typeface="+mn-cs"/>
              </a:rPr>
              <a:t>(3)</a:t>
            </a:r>
            <a:r>
              <a:rPr lang="zh-CN" altLang="zh-CN" dirty="0">
                <a:latin typeface="宋体" panose="02010600030101010101" pitchFamily="2" charset="-122"/>
                <a:ea typeface="华文楷体" panose="02010600040101010101" pitchFamily="2" charset="-122"/>
                <a:cs typeface="+mn-cs"/>
              </a:rPr>
              <a:t>用 </a:t>
            </a:r>
            <a:r>
              <a:rPr lang="zh-CN" altLang="zh-CN" dirty="0">
                <a:latin typeface="Times New Roman" panose="02020603050405020304" pitchFamily="18" charset="0"/>
                <a:ea typeface="华文楷体" panose="02010600040101010101" pitchFamily="2" charset="-122"/>
                <a:cs typeface="+mn-cs"/>
              </a:rPr>
              <a:t>“</a:t>
            </a:r>
            <a:r>
              <a:rPr lang="zh-CN" altLang="zh-CN" dirty="0">
                <a:latin typeface="宋体" panose="02010600030101010101" pitchFamily="2" charset="-122"/>
                <a:ea typeface="华文楷体" panose="02010600040101010101" pitchFamily="2" charset="-122"/>
                <a:cs typeface="+mn-cs"/>
              </a:rPr>
              <a:t>always</a:t>
            </a:r>
            <a:r>
              <a:rPr lang="zh-CN" altLang="zh-CN" dirty="0">
                <a:latin typeface="Times New Roman" panose="02020603050405020304" pitchFamily="18" charset="0"/>
                <a:ea typeface="华文楷体" panose="02010600040101010101" pitchFamily="2" charset="-122"/>
                <a:cs typeface="+mn-cs"/>
              </a:rPr>
              <a:t>”</a:t>
            </a:r>
            <a:r>
              <a:rPr lang="zh-CN" altLang="zh-CN" dirty="0">
                <a:latin typeface="宋体" panose="02010600030101010101" pitchFamily="2" charset="-122"/>
                <a:ea typeface="华文楷体" panose="02010600040101010101" pitchFamily="2" charset="-122"/>
                <a:cs typeface="+mn-cs"/>
              </a:rPr>
              <a:t> 块语句</a:t>
            </a:r>
            <a:endParaRPr lang="zh-CN" altLang="zh-CN" dirty="0">
              <a:latin typeface="宋体" panose="02010600030101010101" pitchFamily="2" charset="-122"/>
              <a:ea typeface="华文楷体" panose="02010600040101010101" pitchFamily="2" charset="-122"/>
              <a:cs typeface="+mn-cs"/>
            </a:endParaRPr>
          </a:p>
          <a:p>
            <a:pPr marL="0" indent="0" algn="just">
              <a:spcBef>
                <a:spcPct val="0"/>
              </a:spcBef>
            </a:pPr>
            <a:r>
              <a:rPr lang="zh-CN" altLang="en-US" dirty="0">
                <a:latin typeface="Times New Roman" panose="02020603050405020304" pitchFamily="18" charset="0"/>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always @(posedge clk) // </a:t>
            </a:r>
            <a:r>
              <a:rPr lang="zh-CN" altLang="en-US" dirty="0">
                <a:latin typeface="华文楷体" panose="02010600040101010101" pitchFamily="2" charset="-122"/>
                <a:ea typeface="华文楷体" panose="02010600040101010101" pitchFamily="2" charset="-122"/>
                <a:cs typeface="+mn-cs"/>
              </a:rPr>
              <a:t>每当时钟上升沿到来时执行一遍块内语句</a:t>
            </a:r>
            <a:endParaRPr lang="zh-CN" altLang="en-US" dirty="0">
              <a:latin typeface="华文楷体" panose="02010600040101010101" pitchFamily="2" charset="-122"/>
              <a:ea typeface="华文楷体" panose="02010600040101010101" pitchFamily="2" charset="-122"/>
              <a:cs typeface="+mn-cs"/>
            </a:endParaRPr>
          </a:p>
          <a:p>
            <a:pPr marL="0" indent="0" algn="just">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begin</a:t>
            </a:r>
            <a:endParaRPr lang="en-US" altLang="zh-CN" dirty="0">
              <a:latin typeface="华文楷体" panose="02010600040101010101" pitchFamily="2" charset="-122"/>
              <a:ea typeface="黑体" panose="02010609060101010101" pitchFamily="49" charset="-122"/>
              <a:cs typeface="+mn-cs"/>
            </a:endParaRPr>
          </a:p>
          <a:p>
            <a:pPr marL="0" indent="0" algn="just">
              <a:spcBef>
                <a:spcPct val="0"/>
              </a:spcBef>
            </a:pPr>
            <a:r>
              <a:rPr lang="en-US" altLang="zh-CN" dirty="0">
                <a:latin typeface="华文楷体" panose="02010600040101010101" pitchFamily="2" charset="-122"/>
                <a:ea typeface="黑体" panose="02010609060101010101" pitchFamily="49" charset="-122"/>
                <a:cs typeface="+mn-cs"/>
              </a:rPr>
              <a:t>	       if(load)</a:t>
            </a:r>
            <a:endParaRPr lang="en-US" altLang="zh-CN" dirty="0">
              <a:latin typeface="华文楷体" panose="02010600040101010101" pitchFamily="2" charset="-122"/>
              <a:ea typeface="黑体" panose="02010609060101010101" pitchFamily="49" charset="-122"/>
              <a:cs typeface="+mn-cs"/>
            </a:endParaRPr>
          </a:p>
          <a:p>
            <a:pPr marL="0" indent="0" algn="just">
              <a:spcBef>
                <a:spcPct val="0"/>
              </a:spcBef>
            </a:pPr>
            <a:r>
              <a:rPr lang="en-US" altLang="zh-CN" dirty="0">
                <a:latin typeface="华文楷体" panose="02010600040101010101" pitchFamily="2" charset="-122"/>
                <a:ea typeface="黑体" panose="02010609060101010101" pitchFamily="49" charset="-122"/>
                <a:cs typeface="+mn-cs"/>
              </a:rPr>
              <a:t>	          out = data;      // </a:t>
            </a:r>
            <a:r>
              <a:rPr lang="zh-CN" altLang="en-US" dirty="0">
                <a:latin typeface="华文楷体" panose="02010600040101010101" pitchFamily="2" charset="-122"/>
                <a:ea typeface="华文楷体" panose="02010600040101010101" pitchFamily="2" charset="-122"/>
                <a:cs typeface="+mn-cs"/>
              </a:rPr>
              <a:t>同步预置数据</a:t>
            </a:r>
            <a:endParaRPr lang="zh-CN" altLang="en-US" dirty="0">
              <a:latin typeface="华文楷体" panose="02010600040101010101" pitchFamily="2" charset="-122"/>
              <a:ea typeface="华文楷体" panose="02010600040101010101" pitchFamily="2" charset="-122"/>
              <a:cs typeface="+mn-cs"/>
            </a:endParaRPr>
          </a:p>
          <a:p>
            <a:pPr marL="0" indent="0" algn="just">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else</a:t>
            </a:r>
            <a:endParaRPr lang="en-US" altLang="zh-CN" dirty="0">
              <a:latin typeface="华文楷体" panose="02010600040101010101" pitchFamily="2" charset="-122"/>
              <a:ea typeface="黑体" panose="02010609060101010101" pitchFamily="49" charset="-122"/>
              <a:cs typeface="+mn-cs"/>
            </a:endParaRPr>
          </a:p>
          <a:p>
            <a:pPr marL="0" indent="0" algn="just">
              <a:spcBef>
                <a:spcPct val="0"/>
              </a:spcBef>
            </a:pPr>
            <a:r>
              <a:rPr lang="en-US" altLang="zh-CN" dirty="0">
                <a:latin typeface="华文楷体" panose="02010600040101010101" pitchFamily="2" charset="-122"/>
                <a:ea typeface="黑体" panose="02010609060101010101" pitchFamily="49" charset="-122"/>
                <a:cs typeface="+mn-cs"/>
              </a:rPr>
              <a:t>	          out = data + 1 + cin;  // </a:t>
            </a:r>
            <a:r>
              <a:rPr lang="zh-CN" altLang="en-US" dirty="0">
                <a:latin typeface="华文楷体" panose="02010600040101010101" pitchFamily="2" charset="-122"/>
                <a:ea typeface="华文楷体" panose="02010600040101010101" pitchFamily="2" charset="-122"/>
                <a:cs typeface="+mn-cs"/>
              </a:rPr>
              <a:t>加</a:t>
            </a:r>
            <a:r>
              <a:rPr lang="en-US" altLang="zh-CN" dirty="0">
                <a:latin typeface="华文楷体" panose="02010600040101010101" pitchFamily="2" charset="-122"/>
                <a:ea typeface="黑体" panose="02010609060101010101" pitchFamily="49" charset="-122"/>
                <a:cs typeface="+mn-cs"/>
              </a:rPr>
              <a:t>1</a:t>
            </a:r>
            <a:r>
              <a:rPr lang="zh-CN" altLang="en-US" dirty="0">
                <a:latin typeface="华文楷体" panose="02010600040101010101" pitchFamily="2" charset="-122"/>
                <a:ea typeface="华文楷体" panose="02010600040101010101" pitchFamily="2" charset="-122"/>
                <a:cs typeface="+mn-cs"/>
              </a:rPr>
              <a:t>计数</a:t>
            </a:r>
            <a:endParaRPr lang="zh-CN" altLang="en-US" dirty="0">
              <a:latin typeface="华文楷体" panose="02010600040101010101" pitchFamily="2" charset="-122"/>
              <a:ea typeface="华文楷体" panose="02010600040101010101" pitchFamily="2" charset="-122"/>
              <a:cs typeface="+mn-cs"/>
            </a:endParaRPr>
          </a:p>
          <a:p>
            <a:pPr marL="0" indent="0" algn="just">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end</a:t>
            </a:r>
            <a:endParaRPr lang="en-US" altLang="zh-CN" dirty="0">
              <a:latin typeface="华文楷体" panose="02010600040101010101" pitchFamily="2" charset="-122"/>
              <a:ea typeface="黑体" panose="02010609060101010101" pitchFamily="49" charset="-122"/>
              <a:cs typeface="+mn-cs"/>
            </a:endParaRPr>
          </a:p>
        </p:txBody>
      </p:sp>
      <p:sp>
        <p:nvSpPr>
          <p:cNvPr id="1609732" name="Text Box 4"/>
          <p:cNvSpPr txBox="1"/>
          <p:nvPr/>
        </p:nvSpPr>
        <p:spPr>
          <a:xfrm>
            <a:off x="3994150" y="984250"/>
            <a:ext cx="1828800" cy="396875"/>
          </a:xfrm>
          <a:prstGeom prst="rect">
            <a:avLst/>
          </a:prstGeom>
          <a:noFill/>
          <a:ln w="12700" cap="flat" cmpd="sng">
            <a:solidFill>
              <a:srgbClr val="89A4A7"/>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a:spcBef>
                <a:spcPct val="0"/>
              </a:spcBef>
              <a:buNone/>
            </a:pPr>
            <a:r>
              <a:rPr lang="zh-CN" altLang="zh-CN" b="1" dirty="0">
                <a:latin typeface="宋体" panose="02010600030101010101" pitchFamily="2" charset="-122"/>
                <a:ea typeface="宋体" panose="02010600030101010101" pitchFamily="2" charset="-122"/>
              </a:rPr>
              <a:t>结构说明语句</a:t>
            </a:r>
            <a:endParaRPr lang="zh-CN" altLang="en-US" b="1" dirty="0">
              <a:latin typeface="宋体" panose="02010600030101010101" pitchFamily="2" charset="-122"/>
              <a:ea typeface="宋体" panose="02010600030101010101" pitchFamily="2" charset="-122"/>
            </a:endParaRPr>
          </a:p>
        </p:txBody>
      </p:sp>
      <p:sp>
        <p:nvSpPr>
          <p:cNvPr id="1609733" name="AutoShape 5"/>
          <p:cNvSpPr/>
          <p:nvPr/>
        </p:nvSpPr>
        <p:spPr>
          <a:xfrm>
            <a:off x="539750" y="3349625"/>
            <a:ext cx="8135938" cy="3219450"/>
          </a:xfrm>
          <a:prstGeom prst="horizontalScroll">
            <a:avLst>
              <a:gd name="adj" fmla="val 12500"/>
            </a:avLst>
          </a:prstGeom>
          <a:noFill/>
          <a:ln w="12700" cap="flat" cmpd="sng">
            <a:solidFill>
              <a:srgbClr val="89A4A7"/>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lnSpc>
                <a:spcPct val="105000"/>
              </a:lnSpc>
              <a:spcBef>
                <a:spcPct val="0"/>
              </a:spcBef>
              <a:buClr>
                <a:srgbClr val="FF0066"/>
              </a:buClr>
              <a:buFont typeface="Wingdings" panose="05000000000000000000" pitchFamily="2" charset="2"/>
              <a:buChar char="v"/>
            </a:pPr>
            <a:r>
              <a:rPr lang="zh-CN" altLang="zh-CN" sz="2400" b="1" dirty="0">
                <a:solidFill>
                  <a:schemeClr val="tx2"/>
                </a:solidFill>
                <a:latin typeface="华文楷体" panose="02010600040101010101" pitchFamily="2" charset="-122"/>
                <a:ea typeface="华文楷体" panose="02010600040101010101" pitchFamily="2" charset="-122"/>
              </a:rPr>
              <a:t>注</a:t>
            </a:r>
            <a:r>
              <a:rPr lang="en-US" altLang="zh-CN" sz="2400" b="1" dirty="0">
                <a:solidFill>
                  <a:schemeClr val="tx2"/>
                </a:solidFill>
                <a:latin typeface="华文楷体" panose="02010600040101010101" pitchFamily="2" charset="-122"/>
                <a:ea typeface="华文楷体" panose="02010600040101010101" pitchFamily="2" charset="-122"/>
              </a:rPr>
              <a:t>1</a:t>
            </a:r>
            <a:r>
              <a:rPr lang="zh-CN" altLang="zh-CN" sz="2400" b="1" dirty="0">
                <a:solidFill>
                  <a:schemeClr val="tx2"/>
                </a:solidFill>
                <a:latin typeface="华文楷体" panose="02010600040101010101" pitchFamily="2" charset="-122"/>
                <a:ea typeface="华文楷体" panose="02010600040101010101" pitchFamily="2" charset="-122"/>
              </a:rPr>
              <a:t>：“always” 块语句</a:t>
            </a:r>
            <a:r>
              <a:rPr lang="zh-CN" altLang="en-US" sz="2400" b="1" dirty="0">
                <a:solidFill>
                  <a:schemeClr val="tx2"/>
                </a:solidFill>
                <a:latin typeface="华文楷体" panose="02010600040101010101" pitchFamily="2" charset="-122"/>
                <a:ea typeface="华文楷体" panose="02010600040101010101" pitchFamily="2" charset="-122"/>
              </a:rPr>
              <a:t>常用于描述</a:t>
            </a:r>
            <a:r>
              <a:rPr lang="zh-CN" altLang="en-US" sz="2400" b="1" dirty="0">
                <a:solidFill>
                  <a:srgbClr val="FF0066"/>
                </a:solidFill>
                <a:latin typeface="华文楷体" panose="02010600040101010101" pitchFamily="2" charset="-122"/>
                <a:ea typeface="华文楷体" panose="02010600040101010101" pitchFamily="2" charset="-122"/>
              </a:rPr>
              <a:t>时序</a:t>
            </a:r>
            <a:r>
              <a:rPr lang="zh-CN" altLang="en-US" sz="2400" b="1" dirty="0">
                <a:solidFill>
                  <a:schemeClr val="tx2"/>
                </a:solidFill>
                <a:latin typeface="华文楷体" panose="02010600040101010101" pitchFamily="2" charset="-122"/>
                <a:ea typeface="华文楷体" panose="02010600040101010101" pitchFamily="2" charset="-122"/>
              </a:rPr>
              <a:t>逻辑，也可描述</a:t>
            </a:r>
            <a:r>
              <a:rPr lang="zh-CN" altLang="en-US" sz="2400" b="1" dirty="0">
                <a:solidFill>
                  <a:srgbClr val="FF0066"/>
                </a:solidFill>
                <a:latin typeface="华文楷体" panose="02010600040101010101" pitchFamily="2" charset="-122"/>
                <a:ea typeface="华文楷体" panose="02010600040101010101" pitchFamily="2" charset="-122"/>
              </a:rPr>
              <a:t>组合</a:t>
            </a:r>
            <a:r>
              <a:rPr lang="zh-CN" altLang="en-US" sz="2400" b="1" dirty="0">
                <a:solidFill>
                  <a:schemeClr val="tx2"/>
                </a:solidFill>
                <a:latin typeface="华文楷体" panose="02010600040101010101" pitchFamily="2" charset="-122"/>
                <a:ea typeface="华文楷体" panose="02010600040101010101" pitchFamily="2" charset="-122"/>
              </a:rPr>
              <a:t>逻辑。</a:t>
            </a:r>
            <a:endParaRPr lang="zh-CN" altLang="en-US" sz="2400" b="1" dirty="0">
              <a:solidFill>
                <a:schemeClr val="tx2"/>
              </a:solidFill>
              <a:latin typeface="华文楷体" panose="02010600040101010101" pitchFamily="2" charset="-122"/>
              <a:ea typeface="华文楷体" panose="02010600040101010101" pitchFamily="2" charset="-122"/>
            </a:endParaRPr>
          </a:p>
          <a:p>
            <a:pPr marL="281305" lvl="0" indent="-281305" algn="just">
              <a:lnSpc>
                <a:spcPct val="105000"/>
              </a:lnSpc>
              <a:spcBef>
                <a:spcPct val="0"/>
              </a:spcBef>
              <a:buClr>
                <a:srgbClr val="FF0066"/>
              </a:buClr>
              <a:buFont typeface="Wingdings" panose="05000000000000000000" pitchFamily="2" charset="2"/>
              <a:buChar char="v"/>
            </a:pPr>
            <a:r>
              <a:rPr lang="zh-CN" altLang="zh-CN" sz="2400" b="1" dirty="0">
                <a:solidFill>
                  <a:schemeClr val="tx2"/>
                </a:solidFill>
                <a:latin typeface="华文楷体" panose="02010600040101010101" pitchFamily="2" charset="-122"/>
                <a:ea typeface="华文楷体" panose="02010600040101010101" pitchFamily="2" charset="-122"/>
              </a:rPr>
              <a:t>注</a:t>
            </a:r>
            <a:r>
              <a:rPr lang="en-US" altLang="zh-CN" sz="2400" b="1" dirty="0">
                <a:solidFill>
                  <a:schemeClr val="tx2"/>
                </a:solidFill>
                <a:latin typeface="华文楷体" panose="02010600040101010101" pitchFamily="2" charset="-122"/>
                <a:ea typeface="华文楷体" panose="02010600040101010101" pitchFamily="2" charset="-122"/>
              </a:rPr>
              <a:t>2</a:t>
            </a:r>
            <a:r>
              <a:rPr lang="zh-CN" altLang="zh-CN" sz="2400" b="1" dirty="0">
                <a:solidFill>
                  <a:schemeClr val="tx2"/>
                </a:solidFill>
                <a:latin typeface="华文楷体" panose="02010600040101010101" pitchFamily="2" charset="-122"/>
                <a:ea typeface="华文楷体" panose="02010600040101010101" pitchFamily="2" charset="-122"/>
              </a:rPr>
              <a:t>：“always” 块</a:t>
            </a:r>
            <a:r>
              <a:rPr lang="zh-CN" altLang="en-US" sz="2400" b="1" dirty="0">
                <a:solidFill>
                  <a:schemeClr val="tx2"/>
                </a:solidFill>
                <a:latin typeface="华文楷体" panose="02010600040101010101" pitchFamily="2" charset="-122"/>
                <a:ea typeface="华文楷体" panose="02010600040101010101" pitchFamily="2" charset="-122"/>
              </a:rPr>
              <a:t>可用多种手段来表达逻辑关系，如用</a:t>
            </a:r>
            <a:r>
              <a:rPr lang="en-US" altLang="zh-CN" sz="2400" b="1" dirty="0">
                <a:solidFill>
                  <a:srgbClr val="FF0066"/>
                </a:solidFill>
                <a:latin typeface="华文楷体" panose="02010600040101010101" pitchFamily="2" charset="-122"/>
                <a:ea typeface="华文楷体" panose="02010600040101010101" pitchFamily="2" charset="-122"/>
              </a:rPr>
              <a:t>if-else</a:t>
            </a:r>
            <a:r>
              <a:rPr lang="zh-CN" altLang="en-US" sz="2400" b="1" dirty="0">
                <a:solidFill>
                  <a:schemeClr val="tx2"/>
                </a:solidFill>
                <a:latin typeface="华文楷体" panose="02010600040101010101" pitchFamily="2" charset="-122"/>
                <a:ea typeface="华文楷体" panose="02010600040101010101" pitchFamily="2" charset="-122"/>
              </a:rPr>
              <a:t>语句或</a:t>
            </a:r>
            <a:r>
              <a:rPr lang="en-US" altLang="zh-CN" sz="2400" b="1" dirty="0">
                <a:solidFill>
                  <a:srgbClr val="FF0066"/>
                </a:solidFill>
                <a:latin typeface="华文楷体" panose="02010600040101010101" pitchFamily="2" charset="-122"/>
                <a:ea typeface="华文楷体" panose="02010600040101010101" pitchFamily="2" charset="-122"/>
              </a:rPr>
              <a:t>case</a:t>
            </a:r>
            <a:r>
              <a:rPr lang="zh-CN" altLang="en-US" sz="2400" b="1" dirty="0">
                <a:solidFill>
                  <a:schemeClr val="tx2"/>
                </a:solidFill>
                <a:latin typeface="华文楷体" panose="02010600040101010101" pitchFamily="2" charset="-122"/>
                <a:ea typeface="华文楷体" panose="02010600040101010101" pitchFamily="2" charset="-122"/>
              </a:rPr>
              <a:t>语句。</a:t>
            </a:r>
            <a:endParaRPr lang="zh-CN" altLang="en-US" sz="2400" b="1" dirty="0">
              <a:solidFill>
                <a:schemeClr val="tx2"/>
              </a:solidFill>
              <a:latin typeface="华文楷体" panose="02010600040101010101" pitchFamily="2" charset="-122"/>
              <a:ea typeface="华文楷体" panose="02010600040101010101" pitchFamily="2" charset="-122"/>
            </a:endParaRPr>
          </a:p>
          <a:p>
            <a:pPr marL="281305" lvl="0" indent="-281305" algn="just">
              <a:lnSpc>
                <a:spcPct val="105000"/>
              </a:lnSpc>
              <a:spcBef>
                <a:spcPct val="0"/>
              </a:spcBef>
              <a:buClr>
                <a:srgbClr val="FF0066"/>
              </a:buClr>
              <a:buFont typeface="Wingdings" panose="05000000000000000000" pitchFamily="2" charset="2"/>
              <a:buChar char="v"/>
            </a:pPr>
            <a:r>
              <a:rPr lang="zh-CN" altLang="en-US" sz="2400" b="1" dirty="0">
                <a:solidFill>
                  <a:schemeClr val="tx2"/>
                </a:solidFill>
                <a:latin typeface="华文楷体" panose="02010600040101010101" pitchFamily="2" charset="-122"/>
                <a:ea typeface="华文楷体" panose="02010600040101010101" pitchFamily="2" charset="-122"/>
              </a:rPr>
              <a:t>注</a:t>
            </a:r>
            <a:r>
              <a:rPr lang="en-US" altLang="zh-CN" sz="2400" b="1" dirty="0">
                <a:solidFill>
                  <a:schemeClr val="tx2"/>
                </a:solidFill>
                <a:latin typeface="华文楷体" panose="02010600040101010101" pitchFamily="2" charset="-122"/>
                <a:ea typeface="华文楷体" panose="02010600040101010101" pitchFamily="2" charset="-122"/>
              </a:rPr>
              <a:t>3</a:t>
            </a:r>
            <a:r>
              <a:rPr lang="zh-CN" altLang="en-US" sz="2400" b="1" dirty="0">
                <a:solidFill>
                  <a:schemeClr val="tx2"/>
                </a:solidFill>
                <a:latin typeface="华文楷体" panose="02010600040101010101" pitchFamily="2" charset="-122"/>
                <a:ea typeface="华文楷体" panose="02010600040101010101" pitchFamily="2" charset="-122"/>
              </a:rPr>
              <a:t>： </a:t>
            </a:r>
            <a:r>
              <a:rPr lang="zh-CN" altLang="zh-CN" sz="2400" b="1" dirty="0">
                <a:solidFill>
                  <a:schemeClr val="tx2"/>
                </a:solidFill>
                <a:latin typeface="华文楷体" panose="02010600040101010101" pitchFamily="2" charset="-122"/>
                <a:ea typeface="华文楷体" panose="02010600040101010101" pitchFamily="2" charset="-122"/>
              </a:rPr>
              <a:t>“always” 块语句与</a:t>
            </a:r>
            <a:r>
              <a:rPr lang="en-US" altLang="zh-CN" sz="2400" b="1" dirty="0">
                <a:solidFill>
                  <a:schemeClr val="tx2"/>
                </a:solidFill>
                <a:latin typeface="华文楷体" panose="02010600040101010101" pitchFamily="2" charset="-122"/>
                <a:ea typeface="华文楷体" panose="02010600040101010101" pitchFamily="2" charset="-122"/>
              </a:rPr>
              <a:t>assign</a:t>
            </a:r>
            <a:r>
              <a:rPr lang="zh-CN" altLang="en-US" sz="2400" b="1" dirty="0">
                <a:solidFill>
                  <a:schemeClr val="tx2"/>
                </a:solidFill>
                <a:latin typeface="华文楷体" panose="02010600040101010101" pitchFamily="2" charset="-122"/>
                <a:ea typeface="华文楷体" panose="02010600040101010101" pitchFamily="2" charset="-122"/>
              </a:rPr>
              <a:t>语句是并发执行的， </a:t>
            </a:r>
            <a:r>
              <a:rPr lang="en-US" altLang="zh-CN" sz="2400" b="1" dirty="0">
                <a:solidFill>
                  <a:schemeClr val="tx2"/>
                </a:solidFill>
                <a:latin typeface="华文楷体" panose="02010600040101010101" pitchFamily="2" charset="-122"/>
                <a:ea typeface="华文楷体" panose="02010600040101010101" pitchFamily="2" charset="-122"/>
              </a:rPr>
              <a:t>assign</a:t>
            </a:r>
            <a:r>
              <a:rPr lang="zh-CN" altLang="en-US" sz="2400" b="1" dirty="0">
                <a:solidFill>
                  <a:schemeClr val="tx2"/>
                </a:solidFill>
                <a:latin typeface="华文楷体" panose="02010600040101010101" pitchFamily="2" charset="-122"/>
                <a:ea typeface="华文楷体" panose="02010600040101010101" pitchFamily="2" charset="-122"/>
              </a:rPr>
              <a:t>语句一定要放在</a:t>
            </a:r>
            <a:r>
              <a:rPr lang="zh-CN" altLang="zh-CN" sz="2400" b="1" dirty="0">
                <a:solidFill>
                  <a:schemeClr val="tx2"/>
                </a:solidFill>
                <a:latin typeface="华文楷体" panose="02010600040101010101" pitchFamily="2" charset="-122"/>
                <a:ea typeface="华文楷体" panose="02010600040101010101" pitchFamily="2" charset="-122"/>
              </a:rPr>
              <a:t>“always” 块语句之外！</a:t>
            </a:r>
            <a:endParaRPr lang="zh-CN" altLang="en-US" sz="2400"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609731"/>
                                        </p:tgtEl>
                                        <p:attrNameLst>
                                          <p:attrName>style.visibility</p:attrName>
                                        </p:attrNameLst>
                                      </p:cBhvr>
                                      <p:to>
                                        <p:strVal val="visible"/>
                                      </p:to>
                                    </p:set>
                                    <p:anim calcmode="lin" valueType="num">
                                      <p:cBhvr additive="base">
                                        <p:cTn id="7" dur="500" fill="hold"/>
                                        <p:tgtEl>
                                          <p:spTgt spid="1609731"/>
                                        </p:tgtEl>
                                        <p:attrNameLst>
                                          <p:attrName>ppt_x</p:attrName>
                                        </p:attrNameLst>
                                      </p:cBhvr>
                                      <p:tavLst>
                                        <p:tav tm="0">
                                          <p:val>
                                            <p:strVal val="#ppt_x"/>
                                          </p:val>
                                        </p:tav>
                                        <p:tav tm="100000">
                                          <p:val>
                                            <p:strVal val="#ppt_x"/>
                                          </p:val>
                                        </p:tav>
                                      </p:tavLst>
                                    </p:anim>
                                    <p:anim calcmode="lin" valueType="num">
                                      <p:cBhvr additive="base">
                                        <p:cTn id="8" dur="500" fill="hold"/>
                                        <p:tgtEl>
                                          <p:spTgt spid="16097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09732"/>
                                        </p:tgtEl>
                                        <p:attrNameLst>
                                          <p:attrName>style.visibility</p:attrName>
                                        </p:attrNameLst>
                                      </p:cBhvr>
                                      <p:to>
                                        <p:strVal val="visible"/>
                                      </p:to>
                                    </p:set>
                                    <p:anim calcmode="lin" valueType="num">
                                      <p:cBhvr>
                                        <p:cTn id="13" dur="500" fill="hold"/>
                                        <p:tgtEl>
                                          <p:spTgt spid="1609732"/>
                                        </p:tgtEl>
                                        <p:attrNameLst>
                                          <p:attrName>ppt_w</p:attrName>
                                        </p:attrNameLst>
                                      </p:cBhvr>
                                      <p:tavLst>
                                        <p:tav tm="0">
                                          <p:val>
                                            <p:fltVal val="0.000000"/>
                                          </p:val>
                                        </p:tav>
                                        <p:tav tm="100000">
                                          <p:val>
                                            <p:strVal val="#ppt_w"/>
                                          </p:val>
                                        </p:tav>
                                      </p:tavLst>
                                    </p:anim>
                                    <p:anim calcmode="lin" valueType="num">
                                      <p:cBhvr>
                                        <p:cTn id="14" dur="500" fill="hold"/>
                                        <p:tgtEl>
                                          <p:spTgt spid="1609732"/>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1609733"/>
                                        </p:tgtEl>
                                        <p:attrNameLst>
                                          <p:attrName>style.visibility</p:attrName>
                                        </p:attrNameLst>
                                      </p:cBhvr>
                                      <p:to>
                                        <p:strVal val="visible"/>
                                      </p:to>
                                    </p:set>
                                    <p:animEffect transition="in" filter="barn(outVertical)">
                                      <p:cBhvr>
                                        <p:cTn id="19" dur="500"/>
                                        <p:tgtEl>
                                          <p:spTgt spid="1609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731" grpId="0"/>
      <p:bldP spid="1609732" grpId="0" bldLvl="0" animBg="1"/>
      <p:bldP spid="1609733"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505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055171" name="Rectangle 3"/>
          <p:cNvSpPr>
            <a:spLocks noGrp="1"/>
          </p:cNvSpPr>
          <p:nvPr>
            <p:ph idx="1"/>
          </p:nvPr>
        </p:nvSpPr>
        <p:spPr>
          <a:xfrm>
            <a:off x="539750" y="844550"/>
            <a:ext cx="7921625" cy="4973638"/>
          </a:xfrm>
        </p:spPr>
        <p:txBody>
          <a:bodyPr vert="horz" wrap="square" lIns="91440" tIns="45720" rIns="91440" bIns="45720" anchor="t" anchorCtr="0"/>
          <a:p>
            <a:pPr algn="just">
              <a:lnSpc>
                <a:spcPct val="105000"/>
              </a:lnSpc>
              <a:spcBef>
                <a:spcPct val="0"/>
              </a:spcBef>
              <a:buClr>
                <a:srgbClr val="FF0066"/>
              </a:buClr>
              <a:buFont typeface="Wingdings" panose="05000000000000000000" pitchFamily="2" charset="2"/>
              <a:buChar char="v"/>
            </a:pPr>
            <a:r>
              <a:rPr lang="zh-CN" altLang="zh-CN" dirty="0">
                <a:latin typeface="华文楷体" panose="02010600040101010101" pitchFamily="2" charset="-122"/>
                <a:ea typeface="华文楷体" panose="02010600040101010101" pitchFamily="2" charset="-122"/>
                <a:cs typeface="+mn-cs"/>
              </a:rPr>
              <a:t>Verilog </a:t>
            </a:r>
            <a:r>
              <a:rPr lang="en-US" altLang="zh-CN" dirty="0">
                <a:latin typeface="华文楷体" panose="02010600040101010101" pitchFamily="2" charset="-122"/>
                <a:ea typeface="黑体" panose="02010609060101010101" pitchFamily="49" charset="-122"/>
                <a:cs typeface="+mn-cs"/>
              </a:rPr>
              <a:t>HDL</a:t>
            </a:r>
            <a:r>
              <a:rPr lang="zh-CN" altLang="zh-CN" dirty="0">
                <a:latin typeface="华文楷体" panose="02010600040101010101" pitchFamily="2" charset="-122"/>
                <a:ea typeface="华文楷体" panose="02010600040101010101" pitchFamily="2" charset="-122"/>
                <a:cs typeface="+mn-cs"/>
              </a:rPr>
              <a:t>模块的模板（仅考虑用于逻辑综合的部分）</a:t>
            </a:r>
            <a:endParaRPr lang="zh-CN" altLang="zh-CN" dirty="0">
              <a:latin typeface="华文楷体" panose="02010600040101010101" pitchFamily="2" charset="-122"/>
              <a:ea typeface="华文楷体" panose="02010600040101010101" pitchFamily="2" charset="-122"/>
              <a:cs typeface="+mn-cs"/>
            </a:endParaRPr>
          </a:p>
        </p:txBody>
      </p:sp>
      <p:sp>
        <p:nvSpPr>
          <p:cNvPr id="2055181" name="Rectangle 13" descr="75%"/>
          <p:cNvSpPr/>
          <p:nvPr/>
        </p:nvSpPr>
        <p:spPr>
          <a:xfrm>
            <a:off x="1743075" y="1443038"/>
            <a:ext cx="5656263" cy="5075237"/>
          </a:xfrm>
          <a:prstGeom prst="rect">
            <a:avLst/>
          </a:prstGeom>
          <a:noFill/>
          <a:ln w="9525" cap="flat" cmpd="sng">
            <a:solidFill>
              <a:schemeClr val="bg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buClr>
                <a:srgbClr val="3333FF"/>
              </a:buClr>
              <a:buFont typeface="Wingdings" panose="05000000000000000000" pitchFamily="2" charset="2"/>
              <a:buNone/>
            </a:pPr>
            <a:r>
              <a:rPr lang="zh-CN" altLang="zh-CN" b="1" dirty="0">
                <a:latin typeface="Times New Roman" panose="02020603050405020304" pitchFamily="18" charset="0"/>
                <a:ea typeface="华文楷体" panose="02010600040101010101" pitchFamily="2" charset="-122"/>
              </a:rPr>
              <a:t>module </a:t>
            </a:r>
            <a:r>
              <a:rPr lang="en-US" altLang="zh-CN" b="1" dirty="0">
                <a:latin typeface="Times New Roman" panose="02020603050405020304" pitchFamily="18" charset="0"/>
                <a:ea typeface="华文楷体" panose="02010600040101010101" pitchFamily="2" charset="-122"/>
              </a:rPr>
              <a:t>&lt;</a:t>
            </a:r>
            <a:r>
              <a:rPr lang="zh-CN" altLang="en-US" b="1" dirty="0">
                <a:latin typeface="Times New Roman" panose="02020603050405020304" pitchFamily="18" charset="0"/>
                <a:ea typeface="华文楷体" panose="02010600040101010101" pitchFamily="2" charset="-122"/>
              </a:rPr>
              <a:t>顶层模块名</a:t>
            </a:r>
            <a:r>
              <a:rPr lang="en-US" altLang="zh-CN" b="1" dirty="0">
                <a:latin typeface="Times New Roman" panose="02020603050405020304" pitchFamily="18" charset="0"/>
                <a:ea typeface="华文楷体" panose="02010600040101010101" pitchFamily="2" charset="-122"/>
              </a:rPr>
              <a:t>&gt; (&lt; </a:t>
            </a:r>
            <a:r>
              <a:rPr lang="zh-CN" altLang="en-US" b="1" dirty="0">
                <a:latin typeface="Times New Roman" panose="02020603050405020304" pitchFamily="18" charset="0"/>
                <a:ea typeface="华文楷体" panose="02010600040101010101" pitchFamily="2" charset="-122"/>
              </a:rPr>
              <a:t>输入输出端口列表</a:t>
            </a:r>
            <a:r>
              <a:rPr lang="en-US" altLang="zh-CN" b="1" dirty="0">
                <a:latin typeface="Times New Roman" panose="02020603050405020304" pitchFamily="18" charset="0"/>
                <a:ea typeface="华文楷体" panose="02010600040101010101" pitchFamily="2" charset="-122"/>
              </a:rPr>
              <a:t>&gt;)</a:t>
            </a:r>
            <a:r>
              <a:rPr lang="zh-CN" altLang="zh-CN" b="1" dirty="0">
                <a:latin typeface="Times New Roman" panose="02020603050405020304" pitchFamily="18" charset="0"/>
                <a:ea typeface="华文楷体" panose="02010600040101010101" pitchFamily="2" charset="-122"/>
              </a:rPr>
              <a:t> ；</a:t>
            </a:r>
            <a:endParaRPr lang="zh-CN" altLang="zh-CN"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zh-CN" altLang="zh-CN" b="1" dirty="0">
                <a:latin typeface="Times New Roman" panose="02020603050405020304" pitchFamily="18" charset="0"/>
                <a:ea typeface="华文楷体" panose="02010600040101010101" pitchFamily="2" charset="-122"/>
              </a:rPr>
              <a:t>output</a:t>
            </a:r>
            <a:r>
              <a:rPr lang="en-US" altLang="zh-CN" b="1" dirty="0">
                <a:latin typeface="Times New Roman" panose="02020603050405020304" pitchFamily="18" charset="0"/>
                <a:ea typeface="华文楷体" panose="02010600040101010101" pitchFamily="2" charset="-122"/>
              </a:rPr>
              <a:t> </a:t>
            </a:r>
            <a:r>
              <a:rPr lang="zh-CN" altLang="en-US" b="1" dirty="0">
                <a:latin typeface="Times New Roman" panose="02020603050405020304" pitchFamily="18" charset="0"/>
                <a:ea typeface="华文楷体" panose="02010600040101010101" pitchFamily="2" charset="-122"/>
              </a:rPr>
              <a:t>输出端口列表；</a:t>
            </a:r>
            <a:endParaRPr lang="zh-CN" altLang="en-US"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zh-CN" altLang="zh-CN" b="1" dirty="0">
                <a:latin typeface="Times New Roman" panose="02020603050405020304" pitchFamily="18" charset="0"/>
                <a:ea typeface="华文楷体" panose="02010600040101010101" pitchFamily="2" charset="-122"/>
              </a:rPr>
              <a:t>input</a:t>
            </a:r>
            <a:r>
              <a:rPr lang="en-US" altLang="zh-CN" b="1" dirty="0">
                <a:latin typeface="Times New Roman" panose="02020603050405020304" pitchFamily="18" charset="0"/>
                <a:ea typeface="华文楷体" panose="02010600040101010101" pitchFamily="2" charset="-122"/>
              </a:rPr>
              <a:t> </a:t>
            </a:r>
            <a:r>
              <a:rPr lang="zh-CN" altLang="en-US" b="1" dirty="0">
                <a:latin typeface="Times New Roman" panose="02020603050405020304" pitchFamily="18" charset="0"/>
                <a:ea typeface="华文楷体" panose="02010600040101010101" pitchFamily="2" charset="-122"/>
              </a:rPr>
              <a:t>输入端口列表</a:t>
            </a:r>
            <a:r>
              <a:rPr lang="zh-CN" altLang="zh-CN" b="1" dirty="0">
                <a:latin typeface="Times New Roman" panose="02020603050405020304" pitchFamily="18" charset="0"/>
                <a:ea typeface="华文楷体" panose="02010600040101010101" pitchFamily="2" charset="-122"/>
              </a:rPr>
              <a:t>；</a:t>
            </a:r>
            <a:endParaRPr lang="zh-CN" altLang="zh-CN"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a:t>
            </a:r>
            <a:r>
              <a:rPr lang="en-US" altLang="zh-CN" b="1" dirty="0">
                <a:latin typeface="Times New Roman" panose="02020603050405020304" pitchFamily="18" charset="0"/>
                <a:ea typeface="华文楷体" panose="02010600040101010101" pitchFamily="2" charset="-122"/>
              </a:rPr>
              <a:t>1</a:t>
            </a:r>
            <a:r>
              <a:rPr lang="zh-CN" altLang="en-US" b="1" dirty="0">
                <a:latin typeface="Times New Roman" panose="02020603050405020304" pitchFamily="18" charset="0"/>
                <a:ea typeface="华文楷体" panose="02010600040101010101" pitchFamily="2" charset="-122"/>
              </a:rPr>
              <a:t>）使用</a:t>
            </a:r>
            <a:r>
              <a:rPr lang="en-US" altLang="zh-CN" b="1" dirty="0">
                <a:latin typeface="Times New Roman" panose="02020603050405020304" pitchFamily="18" charset="0"/>
                <a:ea typeface="华文楷体" panose="02010600040101010101" pitchFamily="2" charset="-122"/>
              </a:rPr>
              <a:t>assign</a:t>
            </a:r>
            <a:r>
              <a:rPr lang="zh-CN" altLang="en-US" b="1" dirty="0">
                <a:latin typeface="Times New Roman" panose="02020603050405020304" pitchFamily="18" charset="0"/>
                <a:ea typeface="华文楷体" panose="02010600040101010101" pitchFamily="2" charset="-122"/>
              </a:rPr>
              <a:t>语句定义逻辑功能</a:t>
            </a:r>
            <a:endParaRPr lang="zh-CN" altLang="zh-CN"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zh-CN" altLang="zh-CN" b="1" dirty="0">
                <a:latin typeface="Times New Roman" panose="02020603050405020304" pitchFamily="18" charset="0"/>
                <a:ea typeface="华文楷体" panose="02010600040101010101" pitchFamily="2" charset="-122"/>
              </a:rPr>
              <a:t>wire 结果信号名；</a:t>
            </a:r>
            <a:endParaRPr lang="zh-CN" altLang="zh-CN"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zh-CN" altLang="zh-CN" b="1" dirty="0">
                <a:latin typeface="Times New Roman" panose="02020603050405020304" pitchFamily="18" charset="0"/>
                <a:ea typeface="华文楷体" panose="02010600040101010101" pitchFamily="2" charset="-122"/>
              </a:rPr>
              <a:t>assign </a:t>
            </a:r>
            <a:r>
              <a:rPr lang="en-US" altLang="zh-CN" b="1" dirty="0">
                <a:latin typeface="Times New Roman" panose="02020603050405020304" pitchFamily="18" charset="0"/>
                <a:ea typeface="华文楷体" panose="02010600040101010101" pitchFamily="2" charset="-122"/>
              </a:rPr>
              <a:t>&lt;</a:t>
            </a:r>
            <a:r>
              <a:rPr lang="zh-CN" altLang="zh-CN" b="1" dirty="0">
                <a:latin typeface="Times New Roman" panose="02020603050405020304" pitchFamily="18" charset="0"/>
                <a:ea typeface="华文楷体" panose="02010600040101010101" pitchFamily="2" charset="-122"/>
              </a:rPr>
              <a:t>结果信号名</a:t>
            </a:r>
            <a:r>
              <a:rPr lang="en-US" altLang="zh-CN" b="1" dirty="0">
                <a:latin typeface="Times New Roman" panose="02020603050405020304" pitchFamily="18" charset="0"/>
                <a:ea typeface="华文楷体" panose="02010600040101010101" pitchFamily="2" charset="-122"/>
              </a:rPr>
              <a:t>&gt;</a:t>
            </a:r>
            <a:r>
              <a:rPr lang="zh-CN" altLang="zh-CN" b="1" dirty="0">
                <a:latin typeface="Times New Roman" panose="02020603050405020304" pitchFamily="18" charset="0"/>
                <a:ea typeface="华文楷体" panose="02010600040101010101" pitchFamily="2" charset="-122"/>
              </a:rPr>
              <a:t> = 表达式 ；  </a:t>
            </a:r>
            <a:endParaRPr lang="zh-CN" altLang="en-US"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zh-CN"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a:t>
            </a:r>
            <a:r>
              <a:rPr lang="en-US" altLang="zh-CN" b="1" dirty="0">
                <a:latin typeface="Times New Roman" panose="02020603050405020304" pitchFamily="18" charset="0"/>
                <a:ea typeface="华文楷体" panose="02010600040101010101" pitchFamily="2" charset="-122"/>
              </a:rPr>
              <a:t>2</a:t>
            </a:r>
            <a:r>
              <a:rPr lang="zh-CN" altLang="en-US" b="1" dirty="0">
                <a:latin typeface="Times New Roman" panose="02020603050405020304" pitchFamily="18" charset="0"/>
                <a:ea typeface="华文楷体" panose="02010600040101010101" pitchFamily="2" charset="-122"/>
              </a:rPr>
              <a:t>）使用</a:t>
            </a:r>
            <a:r>
              <a:rPr lang="en-US" altLang="zh-CN" b="1" dirty="0">
                <a:latin typeface="Times New Roman" panose="02020603050405020304" pitchFamily="18" charset="0"/>
                <a:ea typeface="华文楷体" panose="02010600040101010101" pitchFamily="2" charset="-122"/>
              </a:rPr>
              <a:t>always</a:t>
            </a:r>
            <a:r>
              <a:rPr lang="zh-CN" altLang="en-US" b="1" dirty="0">
                <a:latin typeface="Times New Roman" panose="02020603050405020304" pitchFamily="18" charset="0"/>
                <a:ea typeface="华文楷体" panose="02010600040101010101" pitchFamily="2" charset="-122"/>
              </a:rPr>
              <a:t>块定义逻辑功能</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always @(&lt;</a:t>
            </a:r>
            <a:r>
              <a:rPr lang="zh-CN" altLang="en-US" b="1" dirty="0">
                <a:latin typeface="Times New Roman" panose="02020603050405020304" pitchFamily="18" charset="0"/>
                <a:ea typeface="华文楷体" panose="02010600040101010101" pitchFamily="2" charset="-122"/>
              </a:rPr>
              <a:t>敏感信号表达式</a:t>
            </a:r>
            <a:r>
              <a:rPr lang="en-US" altLang="zh-CN" b="1" dirty="0">
                <a:latin typeface="Times New Roman" panose="02020603050405020304" pitchFamily="18" charset="0"/>
                <a:ea typeface="华文楷体" panose="02010600040101010101" pitchFamily="2" charset="-122"/>
              </a:rPr>
              <a:t>&gt;)</a:t>
            </a:r>
            <a:endParaRPr lang="en-US" altLang="zh-CN"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b="1" dirty="0">
                <a:latin typeface="Times New Roman" panose="02020603050405020304" pitchFamily="18" charset="0"/>
                <a:ea typeface="华文楷体" panose="02010600040101010101" pitchFamily="2" charset="-122"/>
              </a:rPr>
              <a:t>        begin</a:t>
            </a:r>
            <a:endParaRPr lang="en-US" altLang="zh-CN"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b="1" dirty="0">
                <a:latin typeface="Times New Roman" panose="02020603050405020304" pitchFamily="18" charset="0"/>
                <a:ea typeface="华文楷体" panose="02010600040101010101" pitchFamily="2" charset="-122"/>
              </a:rPr>
              <a:t>	       //</a:t>
            </a:r>
            <a:r>
              <a:rPr lang="zh-CN" altLang="en-US" b="1" dirty="0">
                <a:latin typeface="Times New Roman" panose="02020603050405020304" pitchFamily="18" charset="0"/>
                <a:ea typeface="华文楷体" panose="02010600040101010101" pitchFamily="2" charset="-122"/>
              </a:rPr>
              <a:t>过程赋值语句</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//if</a:t>
            </a:r>
            <a:r>
              <a:rPr lang="zh-CN" altLang="en-US" b="1" dirty="0">
                <a:latin typeface="Times New Roman" panose="02020603050405020304" pitchFamily="18" charset="0"/>
                <a:ea typeface="华文楷体" panose="02010600040101010101" pitchFamily="2" charset="-122"/>
              </a:rPr>
              <a:t>语句</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 case</a:t>
            </a:r>
            <a:r>
              <a:rPr lang="zh-CN" altLang="en-US" b="1" dirty="0">
                <a:latin typeface="Times New Roman" panose="02020603050405020304" pitchFamily="18" charset="0"/>
                <a:ea typeface="华文楷体" panose="02010600040101010101" pitchFamily="2" charset="-122"/>
              </a:rPr>
              <a:t>语句</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 while,repeat,for</a:t>
            </a:r>
            <a:r>
              <a:rPr lang="zh-CN" altLang="en-US" b="1" dirty="0">
                <a:latin typeface="Times New Roman" panose="02020603050405020304" pitchFamily="18" charset="0"/>
                <a:ea typeface="华文楷体" panose="02010600040101010101" pitchFamily="2" charset="-122"/>
              </a:rPr>
              <a:t>循环语句</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 task,function</a:t>
            </a:r>
            <a:r>
              <a:rPr lang="zh-CN" altLang="en-US" b="1" dirty="0">
                <a:latin typeface="Times New Roman" panose="02020603050405020304" pitchFamily="18" charset="0"/>
                <a:ea typeface="华文楷体" panose="02010600040101010101" pitchFamily="2" charset="-122"/>
              </a:rPr>
              <a:t>调用</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end</a:t>
            </a:r>
            <a:endParaRPr lang="en-US" altLang="zh-CN"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55171"/>
                                        </p:tgtEl>
                                        <p:attrNameLst>
                                          <p:attrName>style.visibility</p:attrName>
                                        </p:attrNameLst>
                                      </p:cBhvr>
                                      <p:to>
                                        <p:strVal val="visible"/>
                                      </p:to>
                                    </p:set>
                                    <p:anim calcmode="lin" valueType="num">
                                      <p:cBhvr additive="base">
                                        <p:cTn id="7" dur="500" fill="hold"/>
                                        <p:tgtEl>
                                          <p:spTgt spid="2055171"/>
                                        </p:tgtEl>
                                        <p:attrNameLst>
                                          <p:attrName>ppt_x</p:attrName>
                                        </p:attrNameLst>
                                      </p:cBhvr>
                                      <p:tavLst>
                                        <p:tav tm="0">
                                          <p:val>
                                            <p:strVal val="0-#ppt_w/2"/>
                                          </p:val>
                                        </p:tav>
                                        <p:tav tm="100000">
                                          <p:val>
                                            <p:strVal val="#ppt_x"/>
                                          </p:val>
                                        </p:tav>
                                      </p:tavLst>
                                    </p:anim>
                                    <p:anim calcmode="lin" valueType="num">
                                      <p:cBhvr additive="base">
                                        <p:cTn id="8" dur="500" fill="hold"/>
                                        <p:tgtEl>
                                          <p:spTgt spid="205517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055181"/>
                                        </p:tgtEl>
                                        <p:attrNameLst>
                                          <p:attrName>style.visibility</p:attrName>
                                        </p:attrNameLst>
                                      </p:cBhvr>
                                      <p:to>
                                        <p:strVal val="visible"/>
                                      </p:to>
                                    </p:set>
                                    <p:anim calcmode="lin" valueType="num">
                                      <p:cBhvr additive="base">
                                        <p:cTn id="12" dur="500" fill="hold"/>
                                        <p:tgtEl>
                                          <p:spTgt spid="2055181"/>
                                        </p:tgtEl>
                                        <p:attrNameLst>
                                          <p:attrName>ppt_x</p:attrName>
                                        </p:attrNameLst>
                                      </p:cBhvr>
                                      <p:tavLst>
                                        <p:tav tm="0">
                                          <p:val>
                                            <p:strVal val="#ppt_x"/>
                                          </p:val>
                                        </p:tav>
                                        <p:tav tm="100000">
                                          <p:val>
                                            <p:strVal val="#ppt_x"/>
                                          </p:val>
                                        </p:tav>
                                      </p:tavLst>
                                    </p:anim>
                                    <p:anim calcmode="lin" valueType="num">
                                      <p:cBhvr additive="base">
                                        <p:cTn id="13" dur="500" fill="hold"/>
                                        <p:tgtEl>
                                          <p:spTgt spid="20551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171" grpId="0"/>
      <p:bldP spid="205518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710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47107"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4710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053133" name="Rectangle 13" descr="75%"/>
          <p:cNvSpPr/>
          <p:nvPr/>
        </p:nvSpPr>
        <p:spPr>
          <a:xfrm>
            <a:off x="374650" y="2228850"/>
            <a:ext cx="8335963" cy="1560513"/>
          </a:xfrm>
          <a:prstGeom prst="rect">
            <a:avLst/>
          </a:prstGeom>
          <a:noFill/>
          <a:ln w="9525" cap="flat" cmpd="sng">
            <a:solidFill>
              <a:schemeClr val="accent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a:t>
            </a:r>
            <a:r>
              <a:rPr lang="zh-CN" altLang="en-US" b="1" dirty="0">
                <a:latin typeface="Times New Roman" panose="02020603050405020304" pitchFamily="18" charset="0"/>
                <a:ea typeface="华文楷体" panose="02010600040101010101" pitchFamily="2" charset="-122"/>
              </a:rPr>
              <a:t>（</a:t>
            </a:r>
            <a:r>
              <a:rPr lang="en-US" altLang="zh-CN" b="1" dirty="0">
                <a:latin typeface="Times New Roman" panose="02020603050405020304" pitchFamily="18" charset="0"/>
                <a:ea typeface="华文楷体" panose="02010600040101010101" pitchFamily="2" charset="-122"/>
              </a:rPr>
              <a:t>3</a:t>
            </a:r>
            <a:r>
              <a:rPr lang="zh-CN" altLang="en-US" b="1" dirty="0">
                <a:latin typeface="Times New Roman" panose="02020603050405020304" pitchFamily="18" charset="0"/>
                <a:ea typeface="华文楷体" panose="02010600040101010101" pitchFamily="2" charset="-122"/>
              </a:rPr>
              <a:t>）元件例化</a:t>
            </a:r>
            <a:endParaRPr lang="zh-CN" altLang="en-US" b="1" dirty="0">
              <a:latin typeface="Times New Roman" panose="02020603050405020304" pitchFamily="18" charset="0"/>
              <a:ea typeface="华文楷体" panose="02010600040101010101" pitchFamily="2" charset="-122"/>
            </a:endParaRPr>
          </a:p>
          <a:p>
            <a:pPr marL="0" lvl="0" indent="0" algn="just">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&lt; </a:t>
            </a:r>
            <a:r>
              <a:rPr lang="zh-CN" altLang="zh-CN" b="1" dirty="0">
                <a:latin typeface="Times New Roman" panose="02020603050405020304" pitchFamily="18" charset="0"/>
                <a:ea typeface="华文楷体" panose="02010600040101010101" pitchFamily="2" charset="-122"/>
              </a:rPr>
              <a:t>module</a:t>
            </a:r>
            <a:r>
              <a:rPr lang="en-US" altLang="zh-CN" b="1" dirty="0">
                <a:latin typeface="Times New Roman" panose="02020603050405020304" pitchFamily="18" charset="0"/>
                <a:ea typeface="华文楷体" panose="02010600040101010101" pitchFamily="2" charset="-122"/>
              </a:rPr>
              <a:t>_name</a:t>
            </a:r>
            <a:r>
              <a:rPr lang="zh-CN" altLang="zh-CN"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&gt; &lt; instance_name</a:t>
            </a:r>
            <a:r>
              <a:rPr lang="zh-CN" altLang="zh-CN"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&gt; (&lt;port_list&gt;);        // </a:t>
            </a:r>
            <a:r>
              <a:rPr lang="zh-CN" altLang="en-US" b="1" dirty="0">
                <a:latin typeface="Times New Roman" panose="02020603050405020304" pitchFamily="18" charset="0"/>
                <a:ea typeface="华文楷体" panose="02010600040101010101" pitchFamily="2" charset="-122"/>
              </a:rPr>
              <a:t>模块元件例化</a:t>
            </a:r>
            <a:endParaRPr lang="zh-CN" altLang="en-US"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&lt;gate_type_keyword&gt; &lt; instance_name</a:t>
            </a:r>
            <a:r>
              <a:rPr lang="zh-CN" altLang="zh-CN"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&gt; (&lt;port_list&gt;); // </a:t>
            </a:r>
            <a:r>
              <a:rPr lang="zh-CN" altLang="en-US" b="1" dirty="0">
                <a:latin typeface="Times New Roman" panose="02020603050405020304" pitchFamily="18" charset="0"/>
                <a:ea typeface="华文楷体" panose="02010600040101010101" pitchFamily="2" charset="-122"/>
              </a:rPr>
              <a:t>门元件例化</a:t>
            </a:r>
            <a:endParaRPr lang="zh-CN" altLang="en-US" b="1" dirty="0">
              <a:latin typeface="Times New Roman" panose="02020603050405020304" pitchFamily="18" charset="0"/>
              <a:ea typeface="华文楷体" panose="02010600040101010101" pitchFamily="2" charset="-122"/>
            </a:endParaRPr>
          </a:p>
          <a:p>
            <a:pPr marL="0" lvl="0" indent="0" eaLnBrk="1" hangingPunct="1">
              <a:buClr>
                <a:srgbClr val="3333FF"/>
              </a:buClr>
              <a:buFont typeface="Wingdings" panose="05000000000000000000" pitchFamily="2" charset="2"/>
              <a:buNone/>
            </a:pPr>
            <a:r>
              <a:rPr lang="zh-CN" altLang="zh-CN" b="1" dirty="0">
                <a:latin typeface="Times New Roman" panose="02020603050405020304" pitchFamily="18" charset="0"/>
                <a:ea typeface="华文楷体" panose="02010600040101010101" pitchFamily="2" charset="-122"/>
              </a:rPr>
              <a:t>endmodule</a:t>
            </a:r>
            <a:endParaRPr lang="en-US" altLang="zh-CN" b="1" dirty="0">
              <a:latin typeface="Times New Roman" panose="02020603050405020304" pitchFamily="18" charset="0"/>
              <a:ea typeface="华文楷体" panose="02010600040101010101" pitchFamily="2" charset="-122"/>
            </a:endParaRPr>
          </a:p>
        </p:txBody>
      </p:sp>
      <p:sp>
        <p:nvSpPr>
          <p:cNvPr id="2053135" name="AutoShape 15"/>
          <p:cNvSpPr/>
          <p:nvPr/>
        </p:nvSpPr>
        <p:spPr>
          <a:xfrm>
            <a:off x="4087813" y="4022725"/>
            <a:ext cx="1600200" cy="720725"/>
          </a:xfrm>
          <a:prstGeom prst="wedgeRoundRectCallout">
            <a:avLst>
              <a:gd name="adj1" fmla="val -60495"/>
              <a:gd name="adj2" fmla="val -190394"/>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例化元件名</a:t>
            </a:r>
            <a:r>
              <a:rPr lang="zh-CN" altLang="zh-CN" b="1" dirty="0">
                <a:latin typeface="华文楷体" panose="02010600040101010101" pitchFamily="2" charset="-122"/>
                <a:ea typeface="华文楷体" panose="02010600040101010101" pitchFamily="2" charset="-122"/>
              </a:rPr>
              <a:t>也可以省略！</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53133"/>
                                        </p:tgtEl>
                                        <p:attrNameLst>
                                          <p:attrName>style.visibility</p:attrName>
                                        </p:attrNameLst>
                                      </p:cBhvr>
                                      <p:to>
                                        <p:strVal val="visible"/>
                                      </p:to>
                                    </p:set>
                                    <p:anim calcmode="lin" valueType="num">
                                      <p:cBhvr additive="base">
                                        <p:cTn id="7" dur="500" fill="hold"/>
                                        <p:tgtEl>
                                          <p:spTgt spid="2053133"/>
                                        </p:tgtEl>
                                        <p:attrNameLst>
                                          <p:attrName>ppt_x</p:attrName>
                                        </p:attrNameLst>
                                      </p:cBhvr>
                                      <p:tavLst>
                                        <p:tav tm="0">
                                          <p:val>
                                            <p:strVal val="#ppt_x"/>
                                          </p:val>
                                        </p:tav>
                                        <p:tav tm="100000">
                                          <p:val>
                                            <p:strVal val="#ppt_x"/>
                                          </p:val>
                                        </p:tav>
                                      </p:tavLst>
                                    </p:anim>
                                    <p:anim calcmode="lin" valueType="num">
                                      <p:cBhvr additive="base">
                                        <p:cTn id="8" dur="500" fill="hold"/>
                                        <p:tgtEl>
                                          <p:spTgt spid="20531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053135"/>
                                        </p:tgtEl>
                                        <p:attrNameLst>
                                          <p:attrName>style.visibility</p:attrName>
                                        </p:attrNameLst>
                                      </p:cBhvr>
                                      <p:to>
                                        <p:strVal val="visible"/>
                                      </p:to>
                                    </p:set>
                                    <p:animEffect transition="in" filter="dissolve">
                                      <p:cBhvr>
                                        <p:cTn id="13" dur="500"/>
                                        <p:tgtEl>
                                          <p:spTgt spid="2053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133" grpId="0" bldLvl="0" animBg="1"/>
      <p:bldP spid="205313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915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4915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11779" name="Rectangle 3"/>
          <p:cNvSpPr>
            <a:spLocks noGrp="1"/>
          </p:cNvSpPr>
          <p:nvPr>
            <p:ph idx="1"/>
          </p:nvPr>
        </p:nvSpPr>
        <p:spPr/>
        <p:txBody>
          <a:bodyPr vert="horz" wrap="square" lIns="91440" tIns="45720" rIns="91440" bIns="45720" anchor="t" anchorCtr="0"/>
          <a:p>
            <a:pPr algn="just" eaLnBrk="1" hangingPunct="1"/>
            <a:r>
              <a:rPr lang="en-US" altLang="zh-CN" sz="2800" dirty="0">
                <a:latin typeface="宋体" panose="02010600030101010101" pitchFamily="2" charset="-122"/>
                <a:ea typeface="黑体" panose="02010609060101010101" pitchFamily="49" charset="-122"/>
                <a:cs typeface="+mn-cs"/>
              </a:rPr>
              <a:t>2.4 </a:t>
            </a:r>
            <a:r>
              <a:rPr lang="zh-CN" altLang="en-US" sz="2800" dirty="0">
                <a:latin typeface="宋体" panose="02010600030101010101" pitchFamily="2" charset="-122"/>
                <a:ea typeface="华文楷体" panose="02010600040101010101" pitchFamily="2" charset="-122"/>
                <a:cs typeface="+mn-cs"/>
              </a:rPr>
              <a:t>关键字</a:t>
            </a:r>
            <a:endParaRPr lang="zh-CN" altLang="en-US" sz="2800" dirty="0">
              <a:latin typeface="宋体" panose="02010600030101010101" pitchFamily="2" charset="-122"/>
              <a:ea typeface="华文楷体" panose="02010600040101010101" pitchFamily="2" charset="-122"/>
              <a:cs typeface="+mn-cs"/>
            </a:endParaRPr>
          </a:p>
          <a:p>
            <a:pPr algn="just" eaLnBrk="1" hangingPunct="1"/>
            <a:endParaRPr lang="zh-CN" altLang="en-US" sz="2800" dirty="0">
              <a:latin typeface="宋体" panose="02010600030101010101" pitchFamily="2" charset="-122"/>
              <a:ea typeface="华文楷体" panose="02010600040101010101" pitchFamily="2" charset="-122"/>
              <a:cs typeface="+mn-cs"/>
            </a:endParaRPr>
          </a:p>
          <a:p>
            <a:pPr algn="just" eaLnBrk="1" hangingPunct="1"/>
            <a:endParaRPr lang="zh-CN" altLang="en-US" sz="2800" dirty="0">
              <a:latin typeface="宋体" panose="02010600030101010101" pitchFamily="2" charset="-122"/>
              <a:ea typeface="华文楷体" panose="02010600040101010101" pitchFamily="2" charset="-122"/>
              <a:cs typeface="+mn-cs"/>
            </a:endParaRPr>
          </a:p>
          <a:p>
            <a:pPr eaLnBrk="1" hangingPunct="1">
              <a:lnSpc>
                <a:spcPct val="110000"/>
              </a:lnSpc>
              <a:spcBef>
                <a:spcPct val="10000"/>
              </a:spcBef>
            </a:pPr>
            <a:r>
              <a:rPr lang="zh-CN" altLang="en-US" dirty="0">
                <a:solidFill>
                  <a:srgbClr val="FF0066"/>
                </a:solidFill>
                <a:latin typeface="华文楷体" panose="02010600040101010101" pitchFamily="2" charset="-122"/>
                <a:ea typeface="华文楷体" panose="02010600040101010101" pitchFamily="2" charset="-122"/>
                <a:cs typeface="+mn-cs"/>
              </a:rPr>
              <a:t>关键字</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事先定义好的确认符，用来组织语言结构；或者用于定义</a:t>
            </a:r>
            <a:r>
              <a:rPr lang="en-US" altLang="zh-CN" dirty="0">
                <a:latin typeface="华文楷体" panose="02010600040101010101" pitchFamily="2" charset="-122"/>
                <a:ea typeface="黑体" panose="02010609060101010101" pitchFamily="49" charset="-122"/>
                <a:cs typeface="+mn-cs"/>
              </a:rPr>
              <a:t>Verilog HDL</a:t>
            </a:r>
            <a:r>
              <a:rPr lang="zh-CN" altLang="en-US" dirty="0">
                <a:latin typeface="华文楷体" panose="02010600040101010101" pitchFamily="2" charset="-122"/>
                <a:ea typeface="华文楷体" panose="02010600040101010101" pitchFamily="2" charset="-122"/>
                <a:cs typeface="+mn-cs"/>
              </a:rPr>
              <a:t>提供的门元件（如</a:t>
            </a:r>
            <a:r>
              <a:rPr lang="en-US" altLang="zh-CN" dirty="0">
                <a:latin typeface="华文楷体" panose="02010600040101010101" pitchFamily="2" charset="-122"/>
                <a:ea typeface="黑体" panose="02010609060101010101" pitchFamily="49" charset="-122"/>
                <a:cs typeface="+mn-cs"/>
              </a:rPr>
              <a:t>and</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not</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or</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buf</a:t>
            </a:r>
            <a:r>
              <a:rPr lang="zh-CN" altLang="en-US" dirty="0">
                <a:latin typeface="华文楷体" panose="02010600040101010101" pitchFamily="2" charset="-122"/>
                <a:ea typeface="华文楷体" panose="02010600040101010101" pitchFamily="2" charset="-122"/>
                <a:cs typeface="+mn-cs"/>
              </a:rPr>
              <a:t>）。</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110000"/>
              </a:lnSpc>
              <a:spcBef>
                <a:spcPct val="10000"/>
              </a:spcBef>
            </a:pPr>
            <a:r>
              <a:rPr lang="zh-CN" altLang="en-US" dirty="0">
                <a:latin typeface="华文楷体" panose="02010600040101010101" pitchFamily="2" charset="-122"/>
                <a:ea typeface="华文楷体" panose="02010600040101010101" pitchFamily="2" charset="-122"/>
                <a:cs typeface="+mn-cs"/>
              </a:rPr>
              <a:t>用</a:t>
            </a:r>
            <a:r>
              <a:rPr lang="zh-CN" altLang="en-US" dirty="0">
                <a:solidFill>
                  <a:srgbClr val="FF0066"/>
                </a:solidFill>
                <a:latin typeface="华文楷体" panose="02010600040101010101" pitchFamily="2" charset="-122"/>
                <a:ea typeface="华文楷体" panose="02010600040101010101" pitchFamily="2" charset="-122"/>
                <a:cs typeface="+mn-cs"/>
              </a:rPr>
              <a:t>小写</a:t>
            </a:r>
            <a:r>
              <a:rPr lang="zh-CN" altLang="en-US" dirty="0">
                <a:latin typeface="华文楷体" panose="02010600040101010101" pitchFamily="2" charset="-122"/>
                <a:ea typeface="华文楷体" panose="02010600040101010101" pitchFamily="2" charset="-122"/>
                <a:cs typeface="+mn-cs"/>
              </a:rPr>
              <a:t>字母定义！</a:t>
            </a:r>
            <a:endParaRPr lang="zh-CN" altLang="en-US" dirty="0">
              <a:latin typeface="华文楷体" panose="02010600040101010101" pitchFamily="2" charset="-122"/>
              <a:ea typeface="华文楷体" panose="02010600040101010101" pitchFamily="2" charset="-122"/>
              <a:cs typeface="+mn-cs"/>
            </a:endParaRPr>
          </a:p>
          <a:p>
            <a:pPr eaLnBrk="1" hangingPunct="1">
              <a:lnSpc>
                <a:spcPct val="110000"/>
              </a:lnSpc>
              <a:spcBef>
                <a:spcPct val="1000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如</a:t>
            </a:r>
            <a:r>
              <a:rPr lang="en-US" altLang="zh-CN" dirty="0">
                <a:latin typeface="华文楷体" panose="02010600040101010101" pitchFamily="2" charset="-122"/>
                <a:ea typeface="黑体" panose="02010609060101010101" pitchFamily="49" charset="-122"/>
                <a:cs typeface="+mn-cs"/>
              </a:rPr>
              <a:t>always</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assign</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begin</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case</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casex</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else</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end</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for</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function</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if</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input</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output</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repeat</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table</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time</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while</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wire</a:t>
            </a:r>
            <a:endParaRPr lang="zh-CN" altLang="en-US" dirty="0">
              <a:latin typeface="华文楷体" panose="02010600040101010101" pitchFamily="2" charset="-122"/>
              <a:ea typeface="华文楷体" panose="02010600040101010101" pitchFamily="2" charset="-122"/>
              <a:cs typeface="+mn-cs"/>
            </a:endParaRPr>
          </a:p>
          <a:p>
            <a:pPr algn="just">
              <a:lnSpc>
                <a:spcPct val="105000"/>
              </a:lnSpc>
              <a:spcBef>
                <a:spcPct val="0"/>
              </a:spcBef>
            </a:pPr>
            <a:endParaRPr lang="en-US" altLang="zh-CN" dirty="0">
              <a:latin typeface="华文楷体" panose="02010600040101010101" pitchFamily="2" charset="-122"/>
              <a:ea typeface="黑体" panose="02010609060101010101" pitchFamily="49" charset="-122"/>
              <a:cs typeface="+mn-cs"/>
            </a:endParaRPr>
          </a:p>
        </p:txBody>
      </p:sp>
      <p:sp>
        <p:nvSpPr>
          <p:cNvPr id="1611780" name="AutoShape 4"/>
          <p:cNvSpPr/>
          <p:nvPr/>
        </p:nvSpPr>
        <p:spPr>
          <a:xfrm rot="-479700">
            <a:off x="4456113" y="889000"/>
            <a:ext cx="4071937" cy="1450975"/>
          </a:xfrm>
          <a:prstGeom prst="star16">
            <a:avLst>
              <a:gd name="adj" fmla="val 37500"/>
            </a:avLst>
          </a:prstGeom>
          <a:noFill/>
          <a:ln w="12700" cap="flat" cmpd="sng">
            <a:solidFill>
              <a:srgbClr val="89A4A7"/>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spcBef>
                <a:spcPct val="0"/>
              </a:spcBef>
              <a:buNone/>
            </a:pPr>
            <a:r>
              <a:rPr lang="zh-CN" altLang="en-US" b="1" dirty="0">
                <a:latin typeface="华文新魏" panose="02010800040101010101" pitchFamily="2" charset="-122"/>
                <a:ea typeface="华文新魏" panose="02010800040101010101" pitchFamily="2" charset="-122"/>
              </a:rPr>
              <a:t>用户程序中的</a:t>
            </a:r>
            <a:r>
              <a:rPr lang="zh-CN" altLang="en-US" b="1" dirty="0">
                <a:solidFill>
                  <a:srgbClr val="CC0000"/>
                </a:solidFill>
                <a:latin typeface="华文新魏" panose="02010800040101010101" pitchFamily="2" charset="-122"/>
                <a:ea typeface="华文新魏" panose="02010800040101010101" pitchFamily="2" charset="-122"/>
              </a:rPr>
              <a:t>变量、节点等</a:t>
            </a:r>
            <a:r>
              <a:rPr lang="zh-CN" altLang="en-US" b="1" dirty="0">
                <a:latin typeface="华文新魏" panose="02010800040101010101" pitchFamily="2" charset="-122"/>
                <a:ea typeface="华文新魏" panose="02010800040101010101" pitchFamily="2" charset="-122"/>
              </a:rPr>
              <a:t>名称不能与</a:t>
            </a:r>
            <a:r>
              <a:rPr lang="zh-CN" altLang="en-US" b="1" dirty="0">
                <a:solidFill>
                  <a:srgbClr val="CC0000"/>
                </a:solidFill>
                <a:latin typeface="华文新魏" panose="02010800040101010101" pitchFamily="2" charset="-122"/>
                <a:ea typeface="华文新魏" panose="02010800040101010101" pitchFamily="2" charset="-122"/>
              </a:rPr>
              <a:t>关键字</a:t>
            </a:r>
            <a:r>
              <a:rPr lang="zh-CN" altLang="en-US" b="1" dirty="0">
                <a:latin typeface="华文新魏" panose="02010800040101010101" pitchFamily="2" charset="-122"/>
                <a:ea typeface="华文新魏" panose="02010800040101010101" pitchFamily="2" charset="-122"/>
              </a:rPr>
              <a:t>同名！</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11779"/>
                                        </p:tgtEl>
                                        <p:attrNameLst>
                                          <p:attrName>style.visibility</p:attrName>
                                        </p:attrNameLst>
                                      </p:cBhvr>
                                      <p:to>
                                        <p:strVal val="visible"/>
                                      </p:to>
                                    </p:set>
                                    <p:anim calcmode="lin" valueType="num">
                                      <p:cBhvr additive="base">
                                        <p:cTn id="7" dur="500" fill="hold"/>
                                        <p:tgtEl>
                                          <p:spTgt spid="1611779"/>
                                        </p:tgtEl>
                                        <p:attrNameLst>
                                          <p:attrName>ppt_x</p:attrName>
                                        </p:attrNameLst>
                                      </p:cBhvr>
                                      <p:tavLst>
                                        <p:tav tm="0">
                                          <p:val>
                                            <p:strVal val="0-#ppt_w/2"/>
                                          </p:val>
                                        </p:tav>
                                        <p:tav tm="100000">
                                          <p:val>
                                            <p:strVal val="#ppt_x"/>
                                          </p:val>
                                        </p:tav>
                                      </p:tavLst>
                                    </p:anim>
                                    <p:anim calcmode="lin" valueType="num">
                                      <p:cBhvr additive="base">
                                        <p:cTn id="8" dur="500" fill="hold"/>
                                        <p:tgtEl>
                                          <p:spTgt spid="16117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11780"/>
                                        </p:tgtEl>
                                        <p:attrNameLst>
                                          <p:attrName>style.visibility</p:attrName>
                                        </p:attrNameLst>
                                      </p:cBhvr>
                                      <p:to>
                                        <p:strVal val="visible"/>
                                      </p:to>
                                    </p:set>
                                    <p:anim calcmode="lin" valueType="num">
                                      <p:cBhvr>
                                        <p:cTn id="13" dur="500" fill="hold"/>
                                        <p:tgtEl>
                                          <p:spTgt spid="1611780"/>
                                        </p:tgtEl>
                                        <p:attrNameLst>
                                          <p:attrName>ppt_w</p:attrName>
                                        </p:attrNameLst>
                                      </p:cBhvr>
                                      <p:tavLst>
                                        <p:tav tm="0">
                                          <p:val>
                                            <p:fltVal val="0.000000"/>
                                          </p:val>
                                        </p:tav>
                                        <p:tav tm="100000">
                                          <p:val>
                                            <p:strVal val="#ppt_w"/>
                                          </p:val>
                                        </p:tav>
                                      </p:tavLst>
                                    </p:anim>
                                    <p:anim calcmode="lin" valueType="num">
                                      <p:cBhvr>
                                        <p:cTn id="14" dur="500" fill="hold"/>
                                        <p:tgtEl>
                                          <p:spTgt spid="1611780"/>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1779" grpId="0"/>
      <p:bldP spid="161178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0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5120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081795" name="Rectangle 3"/>
          <p:cNvSpPr>
            <a:spLocks noGrp="1"/>
          </p:cNvSpPr>
          <p:nvPr>
            <p:ph idx="1"/>
          </p:nvPr>
        </p:nvSpPr>
        <p:spPr/>
        <p:txBody>
          <a:bodyPr vert="horz" wrap="square" lIns="91440" tIns="45720" rIns="91440" bIns="45720" anchor="t" anchorCtr="0"/>
          <a:p>
            <a:pPr algn="just" eaLnBrk="1" hangingPunct="1"/>
            <a:r>
              <a:rPr lang="en-US" altLang="zh-CN" dirty="0">
                <a:latin typeface="华文楷体" panose="02010600040101010101" pitchFamily="2" charset="-122"/>
                <a:ea typeface="黑体" panose="02010609060101010101" pitchFamily="49" charset="-122"/>
                <a:cs typeface="+mn-cs"/>
              </a:rPr>
              <a:t>Verilog HDL</a:t>
            </a:r>
            <a:r>
              <a:rPr lang="zh-CN" altLang="en-US" dirty="0">
                <a:solidFill>
                  <a:srgbClr val="FF0000"/>
                </a:solidFill>
                <a:latin typeface="华文楷体" panose="02010600040101010101" pitchFamily="2" charset="-122"/>
                <a:ea typeface="华文楷体" panose="02010600040101010101" pitchFamily="2" charset="-122"/>
                <a:cs typeface="+mn-cs"/>
              </a:rPr>
              <a:t>关键字</a:t>
            </a:r>
            <a:endParaRPr lang="zh-CN" altLang="en-US" dirty="0">
              <a:solidFill>
                <a:srgbClr val="FF0000"/>
              </a:solidFill>
              <a:latin typeface="华文楷体" panose="02010600040101010101" pitchFamily="2" charset="-122"/>
              <a:ea typeface="华文楷体" panose="02010600040101010101" pitchFamily="2" charset="-122"/>
              <a:cs typeface="+mn-cs"/>
            </a:endParaRPr>
          </a:p>
        </p:txBody>
      </p:sp>
      <p:sp>
        <p:nvSpPr>
          <p:cNvPr id="51205" name="Rectangle 5"/>
          <p:cNvSpPr/>
          <p:nvPr/>
        </p:nvSpPr>
        <p:spPr>
          <a:xfrm>
            <a:off x="2560638" y="1509713"/>
            <a:ext cx="1782762" cy="49291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edge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else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endcase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endfunction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endprimitive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endmodule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endspecify</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endtable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endtask</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event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for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force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forever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fork</a:t>
            </a:r>
            <a:endParaRPr lang="en-US" altLang="zh-CN" b="1" dirty="0">
              <a:ea typeface="宋体" panose="02010600030101010101" pitchFamily="2" charset="-122"/>
            </a:endParaRPr>
          </a:p>
        </p:txBody>
      </p:sp>
      <p:sp>
        <p:nvSpPr>
          <p:cNvPr id="51206" name="Rectangle 6"/>
          <p:cNvSpPr/>
          <p:nvPr/>
        </p:nvSpPr>
        <p:spPr>
          <a:xfrm>
            <a:off x="4481513" y="1516063"/>
            <a:ext cx="1909762" cy="49291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function highz0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highz1 </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if</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ifnone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initial</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inout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input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integer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join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large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macromodule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medium</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module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nand</a:t>
            </a:r>
            <a:endParaRPr lang="en-US" altLang="zh-CN" b="1" dirty="0">
              <a:ea typeface="宋体" panose="02010600030101010101" pitchFamily="2" charset="-122"/>
            </a:endParaRPr>
          </a:p>
        </p:txBody>
      </p:sp>
      <p:sp>
        <p:nvSpPr>
          <p:cNvPr id="51207" name="Rectangle 7"/>
          <p:cNvSpPr/>
          <p:nvPr/>
        </p:nvSpPr>
        <p:spPr>
          <a:xfrm>
            <a:off x="6572250" y="1519238"/>
            <a:ext cx="1530350" cy="49291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negedge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nor not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notif0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notif1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nmos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or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output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parameter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posedge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primitive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pulldown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pullup</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pull0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pull1</a:t>
            </a:r>
            <a:endParaRPr lang="en-US" altLang="zh-CN" b="1" dirty="0">
              <a:ea typeface="宋体" panose="02010600030101010101" pitchFamily="2" charset="-122"/>
            </a:endParaRPr>
          </a:p>
        </p:txBody>
      </p:sp>
      <p:sp>
        <p:nvSpPr>
          <p:cNvPr id="51208" name="Rectangle 9"/>
          <p:cNvSpPr/>
          <p:nvPr/>
        </p:nvSpPr>
        <p:spPr>
          <a:xfrm>
            <a:off x="869950" y="1522413"/>
            <a:ext cx="1873250" cy="49291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and</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always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assign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begin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buf</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bufif0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bufif1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case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casex</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casez</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cmos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deassign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default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defparam</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disable</a:t>
            </a:r>
            <a:endParaRPr lang="en-US" altLang="zh-CN" b="1" dirty="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81795"/>
                                        </p:tgtEl>
                                        <p:attrNameLst>
                                          <p:attrName>style.visibility</p:attrName>
                                        </p:attrNameLst>
                                      </p:cBhvr>
                                      <p:to>
                                        <p:strVal val="visible"/>
                                      </p:to>
                                    </p:set>
                                    <p:anim calcmode="lin" valueType="num">
                                      <p:cBhvr additive="base">
                                        <p:cTn id="7" dur="500" fill="hold"/>
                                        <p:tgtEl>
                                          <p:spTgt spid="2081795"/>
                                        </p:tgtEl>
                                        <p:attrNameLst>
                                          <p:attrName>ppt_x</p:attrName>
                                        </p:attrNameLst>
                                      </p:cBhvr>
                                      <p:tavLst>
                                        <p:tav tm="0">
                                          <p:val>
                                            <p:strVal val="0-#ppt_w/2"/>
                                          </p:val>
                                        </p:tav>
                                        <p:tav tm="100000">
                                          <p:val>
                                            <p:strVal val="#ppt_x"/>
                                          </p:val>
                                        </p:tav>
                                      </p:tavLst>
                                    </p:anim>
                                    <p:anim calcmode="lin" valueType="num">
                                      <p:cBhvr additive="base">
                                        <p:cTn id="8" dur="500" fill="hold"/>
                                        <p:tgtEl>
                                          <p:spTgt spid="2081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1795"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325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5325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2083843" name="Rectangle 3"/>
          <p:cNvSpPr>
            <a:spLocks noGrp="1"/>
          </p:cNvSpPr>
          <p:nvPr>
            <p:ph idx="1"/>
          </p:nvPr>
        </p:nvSpPr>
        <p:spPr/>
        <p:txBody>
          <a:bodyPr vert="horz" wrap="square" lIns="91440" tIns="45720" rIns="91440" bIns="45720" anchor="t" anchorCtr="0"/>
          <a:p>
            <a:pPr algn="just" eaLnBrk="1" hangingPunct="1"/>
            <a:r>
              <a:rPr lang="en-US" altLang="zh-CN" dirty="0">
                <a:latin typeface="Times New Roman" panose="02020603050405020304" pitchFamily="18" charset="0"/>
                <a:ea typeface="黑体" panose="02010609060101010101" pitchFamily="49" charset="-122"/>
                <a:cs typeface="+mn-cs"/>
              </a:rPr>
              <a:t>Verilog HDL</a:t>
            </a:r>
            <a:r>
              <a:rPr lang="zh-CN" altLang="en-US" dirty="0">
                <a:solidFill>
                  <a:srgbClr val="FF0000"/>
                </a:solidFill>
                <a:latin typeface="宋体" panose="02010600030101010101" pitchFamily="2" charset="-122"/>
                <a:ea typeface="华文楷体" panose="02010600040101010101" pitchFamily="2" charset="-122"/>
                <a:cs typeface="+mn-cs"/>
              </a:rPr>
              <a:t>关键字</a:t>
            </a:r>
            <a:r>
              <a:rPr lang="zh-CN" altLang="en-US" dirty="0">
                <a:latin typeface="Times New Roman" panose="02020603050405020304" pitchFamily="18" charset="0"/>
                <a:ea typeface="华文楷体" panose="02010600040101010101" pitchFamily="2" charset="-122"/>
                <a:cs typeface="+mn-cs"/>
              </a:rPr>
              <a:t>（续）</a:t>
            </a:r>
            <a:endParaRPr lang="zh-CN" altLang="en-US" dirty="0">
              <a:latin typeface="Times New Roman" panose="02020603050405020304" pitchFamily="18" charset="0"/>
              <a:ea typeface="华文楷体" panose="02010600040101010101" pitchFamily="2" charset="-122"/>
              <a:cs typeface="+mn-cs"/>
            </a:endParaRPr>
          </a:p>
        </p:txBody>
      </p:sp>
      <p:sp>
        <p:nvSpPr>
          <p:cNvPr id="53253" name="Rectangle 8"/>
          <p:cNvSpPr/>
          <p:nvPr/>
        </p:nvSpPr>
        <p:spPr>
          <a:xfrm>
            <a:off x="5511800" y="1509713"/>
            <a:ext cx="1279525" cy="382905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tri1 vectored</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wait</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wand</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weak0</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weak1</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while</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wire</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wor</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xnor</a:t>
            </a:r>
            <a:endParaRPr lang="en-US" altLang="zh-CN" b="1" dirty="0">
              <a:ea typeface="宋体" panose="02010600030101010101" pitchFamily="2" charset="-122"/>
            </a:endParaRPr>
          </a:p>
          <a:p>
            <a:pPr marL="0" lvl="0" indent="0" eaLnBrk="1" hangingPunct="1">
              <a:spcBef>
                <a:spcPct val="0"/>
              </a:spcBef>
              <a:buNone/>
            </a:pPr>
            <a:r>
              <a:rPr lang="en-US" altLang="zh-CN" b="1" dirty="0">
                <a:ea typeface="宋体" panose="02010600030101010101" pitchFamily="2" charset="-122"/>
              </a:rPr>
              <a:t>xor</a:t>
            </a:r>
            <a:endParaRPr lang="en-US" altLang="zh-CN" b="1" dirty="0">
              <a:ea typeface="宋体" panose="02010600030101010101" pitchFamily="2" charset="-122"/>
            </a:endParaRPr>
          </a:p>
        </p:txBody>
      </p:sp>
      <p:sp>
        <p:nvSpPr>
          <p:cNvPr id="53254" name="Rectangle 9"/>
          <p:cNvSpPr/>
          <p:nvPr/>
        </p:nvSpPr>
        <p:spPr>
          <a:xfrm>
            <a:off x="1471613" y="1487488"/>
            <a:ext cx="1668462" cy="49291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rcmos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real</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realtime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reg</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release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repeat</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rnmos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rpmos</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rtran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rtranif0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rtranif1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scalared</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small</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specify</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specparam</a:t>
            </a:r>
            <a:endParaRPr lang="en-US" altLang="zh-CN" b="1" dirty="0">
              <a:ea typeface="宋体" panose="02010600030101010101" pitchFamily="2" charset="-122"/>
            </a:endParaRPr>
          </a:p>
        </p:txBody>
      </p:sp>
      <p:sp>
        <p:nvSpPr>
          <p:cNvPr id="53255" name="Rectangle 10"/>
          <p:cNvSpPr/>
          <p:nvPr/>
        </p:nvSpPr>
        <p:spPr>
          <a:xfrm>
            <a:off x="3573463" y="1466850"/>
            <a:ext cx="1235075" cy="49291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strength</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strong0 strong1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supply0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supply1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table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task</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tran</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tranif0</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tranif1</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time</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triand</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trior</a:t>
            </a:r>
            <a:endParaRPr lang="en-US" altLang="zh-CN" b="1" dirty="0">
              <a:ea typeface="宋体" panose="02010600030101010101" pitchFamily="2" charset="-122"/>
            </a:endParaRPr>
          </a:p>
          <a:p>
            <a:pPr marL="0" lvl="0" indent="0" eaLnBrk="1" hangingPunct="1">
              <a:lnSpc>
                <a:spcPct val="105000"/>
              </a:lnSpc>
              <a:spcBef>
                <a:spcPct val="0"/>
              </a:spcBef>
              <a:buClr>
                <a:srgbClr val="3333FF"/>
              </a:buClr>
              <a:buFont typeface="Wingdings" panose="05000000000000000000" pitchFamily="2" charset="2"/>
              <a:buNone/>
            </a:pPr>
            <a:r>
              <a:rPr lang="en-US" altLang="zh-CN" b="1" dirty="0">
                <a:ea typeface="宋体" panose="02010600030101010101" pitchFamily="2" charset="-122"/>
              </a:rPr>
              <a:t>trireg</a:t>
            </a:r>
            <a:endParaRPr lang="en-US" altLang="zh-CN" b="1" dirty="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83843"/>
                                        </p:tgtEl>
                                        <p:attrNameLst>
                                          <p:attrName>style.visibility</p:attrName>
                                        </p:attrNameLst>
                                      </p:cBhvr>
                                      <p:to>
                                        <p:strVal val="visible"/>
                                      </p:to>
                                    </p:set>
                                    <p:anim calcmode="lin" valueType="num">
                                      <p:cBhvr additive="base">
                                        <p:cTn id="7" dur="500" fill="hold"/>
                                        <p:tgtEl>
                                          <p:spTgt spid="2083843"/>
                                        </p:tgtEl>
                                        <p:attrNameLst>
                                          <p:attrName>ppt_x</p:attrName>
                                        </p:attrNameLst>
                                      </p:cBhvr>
                                      <p:tavLst>
                                        <p:tav tm="0">
                                          <p:val>
                                            <p:strVal val="0-#ppt_w/2"/>
                                          </p:val>
                                        </p:tav>
                                        <p:tav tm="100000">
                                          <p:val>
                                            <p:strVal val="#ppt_x"/>
                                          </p:val>
                                        </p:tav>
                                      </p:tavLst>
                                    </p:anim>
                                    <p:anim calcmode="lin" valueType="num">
                                      <p:cBhvr additive="base">
                                        <p:cTn id="8" dur="500" fill="hold"/>
                                        <p:tgtEl>
                                          <p:spTgt spid="2083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3843"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52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5529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2  Verilog HDL</a:t>
            </a:r>
            <a:r>
              <a:rPr lang="zh-CN" altLang="en-US" dirty="0">
                <a:latin typeface="华文楷体" panose="02010600040101010101" pitchFamily="2" charset="-122"/>
                <a:ea typeface="黑体" panose="02010609060101010101" pitchFamily="49" charset="-122"/>
                <a:cs typeface="+mj-cs"/>
              </a:rPr>
              <a:t>基本结构</a:t>
            </a:r>
            <a:endParaRPr lang="zh-CN" altLang="en-US" dirty="0">
              <a:latin typeface="华文楷体" panose="02010600040101010101" pitchFamily="2" charset="-122"/>
              <a:ea typeface="黑体" panose="02010609060101010101" pitchFamily="49" charset="-122"/>
              <a:cs typeface="+mj-cs"/>
            </a:endParaRPr>
          </a:p>
        </p:txBody>
      </p:sp>
      <p:sp>
        <p:nvSpPr>
          <p:cNvPr id="1613827" name="Rectangle 3"/>
          <p:cNvSpPr>
            <a:spLocks noGrp="1"/>
          </p:cNvSpPr>
          <p:nvPr>
            <p:ph idx="1"/>
          </p:nvPr>
        </p:nvSpPr>
        <p:spPr/>
        <p:txBody>
          <a:bodyPr vert="horz" wrap="square" lIns="91440" tIns="45720" rIns="91440" bIns="45720" anchor="t" anchorCtr="0"/>
          <a:p>
            <a:pPr marL="281305" indent="-281305" algn="just">
              <a:lnSpc>
                <a:spcPct val="110000"/>
              </a:lnSpc>
            </a:pPr>
            <a:r>
              <a:rPr lang="en-US" altLang="zh-CN" sz="2800" dirty="0">
                <a:latin typeface="华文楷体" panose="02010600040101010101" pitchFamily="2" charset="-122"/>
                <a:ea typeface="黑体" panose="02010609060101010101" pitchFamily="49" charset="-122"/>
                <a:cs typeface="+mn-cs"/>
              </a:rPr>
              <a:t>2.5 </a:t>
            </a:r>
            <a:r>
              <a:rPr lang="zh-CN" altLang="en-US" sz="2800" dirty="0">
                <a:latin typeface="华文楷体" panose="02010600040101010101" pitchFamily="2" charset="-122"/>
                <a:ea typeface="华文楷体" panose="02010600040101010101" pitchFamily="2" charset="-122"/>
                <a:cs typeface="+mn-cs"/>
              </a:rPr>
              <a:t>标识符</a:t>
            </a:r>
            <a:r>
              <a:rPr lang="zh-CN" altLang="en-US" sz="2200" dirty="0">
                <a:latin typeface="华文楷体" panose="02010600040101010101" pitchFamily="2" charset="-122"/>
                <a:ea typeface="华文楷体" panose="02010600040101010101" pitchFamily="2" charset="-122"/>
                <a:cs typeface="+mn-cs"/>
              </a:rPr>
              <a:t> </a:t>
            </a:r>
            <a:endParaRPr lang="zh-CN" altLang="en-US" sz="2200" dirty="0">
              <a:latin typeface="华文楷体" panose="02010600040101010101" pitchFamily="2" charset="-122"/>
              <a:ea typeface="华文楷体" panose="02010600040101010101" pitchFamily="2" charset="-122"/>
              <a:cs typeface="+mn-cs"/>
            </a:endParaRPr>
          </a:p>
          <a:p>
            <a:pPr marL="281305" indent="-281305" algn="just">
              <a:lnSpc>
                <a:spcPct val="110000"/>
              </a:lnSpc>
            </a:pPr>
            <a:r>
              <a:rPr lang="zh-CN" altLang="zh-CN" sz="2200" dirty="0">
                <a:latin typeface="华文楷体" panose="02010600040101010101" pitchFamily="2" charset="-122"/>
                <a:ea typeface="华文楷体" panose="02010600040101010101" pitchFamily="2" charset="-122"/>
                <a:cs typeface="+mn-cs"/>
              </a:rPr>
              <a:t>任何用Verilog </a:t>
            </a:r>
            <a:r>
              <a:rPr lang="en-US" altLang="zh-CN" sz="2200" dirty="0">
                <a:latin typeface="华文楷体" panose="02010600040101010101" pitchFamily="2" charset="-122"/>
                <a:ea typeface="黑体" panose="02010609060101010101" pitchFamily="49" charset="-122"/>
                <a:cs typeface="+mn-cs"/>
              </a:rPr>
              <a:t>HDL</a:t>
            </a:r>
            <a:r>
              <a:rPr lang="zh-CN" altLang="en-US" sz="2200" dirty="0">
                <a:latin typeface="华文楷体" panose="02010600040101010101" pitchFamily="2" charset="-122"/>
                <a:ea typeface="华文楷体" panose="02010600040101010101" pitchFamily="2" charset="-122"/>
                <a:cs typeface="+mn-cs"/>
              </a:rPr>
              <a:t>语言描述的“东西”都通过其名字来识别，这个名字被称为</a:t>
            </a:r>
            <a:r>
              <a:rPr lang="zh-CN" altLang="en-US" sz="2200" dirty="0">
                <a:solidFill>
                  <a:srgbClr val="FF0066"/>
                </a:solidFill>
                <a:latin typeface="华文楷体" panose="02010600040101010101" pitchFamily="2" charset="-122"/>
                <a:ea typeface="华文楷体" panose="02010600040101010101" pitchFamily="2" charset="-122"/>
                <a:cs typeface="+mn-cs"/>
              </a:rPr>
              <a:t>标识符</a:t>
            </a:r>
            <a:r>
              <a:rPr lang="zh-CN" altLang="en-US" sz="2200" dirty="0">
                <a:latin typeface="华文楷体" panose="02010600040101010101" pitchFamily="2" charset="-122"/>
                <a:ea typeface="华文楷体" panose="02010600040101010101" pitchFamily="2" charset="-122"/>
                <a:cs typeface="+mn-cs"/>
              </a:rPr>
              <a:t>。</a:t>
            </a:r>
            <a:endParaRPr lang="zh-CN" altLang="en-US" sz="2200" dirty="0">
              <a:latin typeface="华文楷体" panose="02010600040101010101" pitchFamily="2" charset="-122"/>
              <a:ea typeface="华文楷体" panose="02010600040101010101" pitchFamily="2" charset="-122"/>
              <a:cs typeface="+mn-cs"/>
            </a:endParaRPr>
          </a:p>
          <a:p>
            <a:pPr marL="281305" indent="-281305" algn="just">
              <a:lnSpc>
                <a:spcPct val="110000"/>
              </a:lnSpc>
            </a:pPr>
            <a:r>
              <a:rPr lang="zh-CN" altLang="zh-CN" sz="2200" dirty="0">
                <a:latin typeface="华文楷体" panose="02010600040101010101" pitchFamily="2" charset="-122"/>
                <a:ea typeface="华文楷体" panose="02010600040101010101" pitchFamily="2" charset="-122"/>
                <a:cs typeface="+mn-cs"/>
              </a:rPr>
              <a:t>如源文件名、模块名、端口名、变量名、常量名、实例名等。</a:t>
            </a:r>
            <a:endParaRPr lang="zh-CN" altLang="en-US" sz="2200" dirty="0">
              <a:latin typeface="华文楷体" panose="02010600040101010101" pitchFamily="2" charset="-122"/>
              <a:ea typeface="华文楷体" panose="02010600040101010101" pitchFamily="2" charset="-122"/>
              <a:cs typeface="+mn-cs"/>
            </a:endParaRPr>
          </a:p>
          <a:p>
            <a:pPr marL="281305" indent="-281305" algn="just">
              <a:lnSpc>
                <a:spcPct val="110000"/>
              </a:lnSpc>
            </a:pPr>
            <a:r>
              <a:rPr lang="zh-CN" altLang="zh-CN" sz="2200" dirty="0">
                <a:latin typeface="华文楷体" panose="02010600040101010101" pitchFamily="2" charset="-122"/>
                <a:ea typeface="华文楷体" panose="02010600040101010101" pitchFamily="2" charset="-122"/>
                <a:cs typeface="+mn-cs"/>
              </a:rPr>
              <a:t>标识符可由字母、数字、下划线和</a:t>
            </a:r>
            <a:r>
              <a:rPr lang="en-US" altLang="zh-CN" sz="2200" dirty="0">
                <a:latin typeface="华文楷体" panose="02010600040101010101" pitchFamily="2" charset="-122"/>
                <a:ea typeface="黑体" panose="02010609060101010101" pitchFamily="49" charset="-122"/>
                <a:cs typeface="+mn-cs"/>
              </a:rPr>
              <a:t>$</a:t>
            </a:r>
            <a:r>
              <a:rPr lang="zh-CN" altLang="en-US" sz="2200" dirty="0">
                <a:latin typeface="华文楷体" panose="02010600040101010101" pitchFamily="2" charset="-122"/>
                <a:ea typeface="华文楷体" panose="02010600040101010101" pitchFamily="2" charset="-122"/>
                <a:cs typeface="+mn-cs"/>
              </a:rPr>
              <a:t>符号构成；</a:t>
            </a:r>
            <a:r>
              <a:rPr lang="zh-CN" altLang="en-US" sz="2200" dirty="0">
                <a:solidFill>
                  <a:srgbClr val="CC0000"/>
                </a:solidFill>
                <a:latin typeface="华文楷体" panose="02010600040101010101" pitchFamily="2" charset="-122"/>
                <a:ea typeface="华文楷体" panose="02010600040101010101" pitchFamily="2" charset="-122"/>
                <a:cs typeface="+mn-cs"/>
              </a:rPr>
              <a:t>但第一个字符必须是字母或下划线，不能是数字或</a:t>
            </a:r>
            <a:r>
              <a:rPr lang="en-US" altLang="zh-CN" sz="2200" dirty="0">
                <a:solidFill>
                  <a:srgbClr val="CC0000"/>
                </a:solidFill>
                <a:latin typeface="华文楷体" panose="02010600040101010101" pitchFamily="2" charset="-122"/>
                <a:ea typeface="黑体" panose="02010609060101010101" pitchFamily="49" charset="-122"/>
                <a:cs typeface="+mn-cs"/>
              </a:rPr>
              <a:t>$</a:t>
            </a:r>
            <a:r>
              <a:rPr lang="zh-CN" altLang="en-US" sz="2200" dirty="0">
                <a:solidFill>
                  <a:srgbClr val="CC0000"/>
                </a:solidFill>
                <a:latin typeface="华文楷体" panose="02010600040101010101" pitchFamily="2" charset="-122"/>
                <a:ea typeface="华文楷体" panose="02010600040101010101" pitchFamily="2" charset="-122"/>
                <a:cs typeface="+mn-cs"/>
              </a:rPr>
              <a:t>符号</a:t>
            </a:r>
            <a:r>
              <a:rPr lang="zh-CN" altLang="en-US" sz="2200" dirty="0">
                <a:latin typeface="华文楷体" panose="02010600040101010101" pitchFamily="2" charset="-122"/>
                <a:ea typeface="华文楷体" panose="02010600040101010101" pitchFamily="2" charset="-122"/>
                <a:cs typeface="+mn-cs"/>
              </a:rPr>
              <a:t>！</a:t>
            </a:r>
            <a:endParaRPr lang="zh-CN" altLang="en-US" sz="2200" dirty="0">
              <a:latin typeface="华文楷体" panose="02010600040101010101" pitchFamily="2" charset="-122"/>
              <a:ea typeface="华文楷体" panose="02010600040101010101" pitchFamily="2" charset="-122"/>
              <a:cs typeface="+mn-cs"/>
            </a:endParaRPr>
          </a:p>
          <a:p>
            <a:pPr marL="281305" indent="-281305" algn="just">
              <a:lnSpc>
                <a:spcPct val="110000"/>
              </a:lnSpc>
            </a:pPr>
            <a:r>
              <a:rPr lang="zh-CN" altLang="en-US" sz="2200" dirty="0">
                <a:latin typeface="华文楷体" panose="02010600040101010101" pitchFamily="2" charset="-122"/>
                <a:ea typeface="华文楷体" panose="02010600040101010101" pitchFamily="2" charset="-122"/>
                <a:cs typeface="+mn-cs"/>
              </a:rPr>
              <a:t>在</a:t>
            </a:r>
            <a:r>
              <a:rPr lang="zh-CN" altLang="zh-CN" sz="2200" dirty="0">
                <a:latin typeface="华文楷体" panose="02010600040101010101" pitchFamily="2" charset="-122"/>
                <a:ea typeface="华文楷体" panose="02010600040101010101" pitchFamily="2" charset="-122"/>
                <a:cs typeface="+mn-cs"/>
              </a:rPr>
              <a:t>Verilog </a:t>
            </a:r>
            <a:r>
              <a:rPr lang="en-US" altLang="zh-CN" sz="2200" dirty="0">
                <a:latin typeface="华文楷体" panose="02010600040101010101" pitchFamily="2" charset="-122"/>
                <a:ea typeface="黑体" panose="02010609060101010101" pitchFamily="49" charset="-122"/>
                <a:cs typeface="+mn-cs"/>
              </a:rPr>
              <a:t>HDL</a:t>
            </a:r>
            <a:r>
              <a:rPr lang="zh-CN" altLang="zh-CN" sz="2200" dirty="0">
                <a:latin typeface="华文楷体" panose="02010600040101010101" pitchFamily="2" charset="-122"/>
                <a:ea typeface="华文楷体" panose="02010600040101010101" pitchFamily="2" charset="-122"/>
                <a:cs typeface="+mn-cs"/>
              </a:rPr>
              <a:t>中变量名是区分大小写的！</a:t>
            </a:r>
            <a:endParaRPr lang="zh-CN" altLang="en-US" sz="2200" dirty="0">
              <a:latin typeface="华文楷体" panose="02010600040101010101" pitchFamily="2" charset="-122"/>
              <a:ea typeface="华文楷体" panose="02010600040101010101" pitchFamily="2" charset="-122"/>
              <a:cs typeface="+mn-cs"/>
            </a:endParaRPr>
          </a:p>
          <a:p>
            <a:pPr marL="281305" indent="-281305" algn="just">
              <a:lnSpc>
                <a:spcPct val="110000"/>
              </a:lnSpc>
            </a:pPr>
            <a:r>
              <a:rPr lang="zh-CN" altLang="en-US" sz="2200" dirty="0">
                <a:solidFill>
                  <a:srgbClr val="FF33CC"/>
                </a:solidFill>
                <a:latin typeface="华文楷体" panose="02010600040101010101" pitchFamily="2" charset="-122"/>
                <a:ea typeface="华文楷体" panose="02010600040101010101" pitchFamily="2" charset="-122"/>
                <a:cs typeface="+mn-cs"/>
              </a:rPr>
              <a:t>合法</a:t>
            </a:r>
            <a:r>
              <a:rPr lang="zh-CN" altLang="en-US" sz="2200" dirty="0">
                <a:latin typeface="华文楷体" panose="02010600040101010101" pitchFamily="2" charset="-122"/>
                <a:ea typeface="华文楷体" panose="02010600040101010101" pitchFamily="2" charset="-122"/>
                <a:cs typeface="+mn-cs"/>
              </a:rPr>
              <a:t>的名字：</a:t>
            </a:r>
            <a:endParaRPr lang="zh-CN" altLang="en-US" sz="2200" dirty="0">
              <a:latin typeface="华文楷体" panose="02010600040101010101" pitchFamily="2" charset="-122"/>
              <a:ea typeface="华文楷体" panose="02010600040101010101" pitchFamily="2" charset="-122"/>
              <a:cs typeface="+mn-cs"/>
            </a:endParaRPr>
          </a:p>
          <a:p>
            <a:pPr marL="765175" lvl="1" indent="-293370" algn="just">
              <a:lnSpc>
                <a:spcPct val="110000"/>
              </a:lnSpc>
            </a:pPr>
            <a:r>
              <a:rPr lang="en-US" altLang="zh-CN" sz="2200" dirty="0">
                <a:latin typeface="华文楷体" panose="02010600040101010101" pitchFamily="2" charset="-122"/>
                <a:ea typeface="黑体" panose="02010609060101010101" pitchFamily="49" charset="-122"/>
              </a:rPr>
              <a:t>A_99_Z</a:t>
            </a:r>
            <a:endParaRPr lang="en-US" altLang="zh-CN" sz="2200" dirty="0">
              <a:latin typeface="华文楷体" panose="02010600040101010101" pitchFamily="2" charset="-122"/>
              <a:ea typeface="黑体" panose="02010609060101010101" pitchFamily="49" charset="-122"/>
            </a:endParaRPr>
          </a:p>
          <a:p>
            <a:pPr marL="765175" lvl="1" indent="-293370" algn="just">
              <a:lnSpc>
                <a:spcPct val="110000"/>
              </a:lnSpc>
            </a:pPr>
            <a:r>
              <a:rPr lang="en-US" altLang="zh-CN" sz="2200" dirty="0">
                <a:latin typeface="华文楷体" panose="02010600040101010101" pitchFamily="2" charset="-122"/>
                <a:ea typeface="黑体" panose="02010609060101010101" pitchFamily="49" charset="-122"/>
              </a:rPr>
              <a:t>Reset</a:t>
            </a:r>
            <a:endParaRPr lang="en-US" altLang="zh-CN" sz="2200" dirty="0">
              <a:latin typeface="华文楷体" panose="02010600040101010101" pitchFamily="2" charset="-122"/>
              <a:ea typeface="黑体" panose="02010609060101010101" pitchFamily="49" charset="-122"/>
            </a:endParaRPr>
          </a:p>
          <a:p>
            <a:pPr marL="765175" lvl="1" indent="-293370" algn="just">
              <a:lnSpc>
                <a:spcPct val="110000"/>
              </a:lnSpc>
            </a:pPr>
            <a:r>
              <a:rPr lang="en-US" altLang="zh-CN" sz="2200" dirty="0">
                <a:latin typeface="华文楷体" panose="02010600040101010101" pitchFamily="2" charset="-122"/>
                <a:ea typeface="黑体" panose="02010609060101010101" pitchFamily="49" charset="-122"/>
              </a:rPr>
              <a:t>_54MHz_Clock$</a:t>
            </a:r>
            <a:endParaRPr lang="en-US" altLang="zh-CN" sz="2200" dirty="0">
              <a:latin typeface="华文楷体" panose="02010600040101010101" pitchFamily="2" charset="-122"/>
              <a:ea typeface="黑体" panose="02010609060101010101" pitchFamily="49" charset="-122"/>
            </a:endParaRPr>
          </a:p>
          <a:p>
            <a:pPr marL="765175" lvl="1" indent="-293370" algn="just">
              <a:lnSpc>
                <a:spcPct val="110000"/>
              </a:lnSpc>
            </a:pPr>
            <a:r>
              <a:rPr lang="en-US" altLang="zh-CN" sz="2200" dirty="0">
                <a:latin typeface="华文楷体" panose="02010600040101010101" pitchFamily="2" charset="-122"/>
                <a:ea typeface="黑体" panose="02010609060101010101" pitchFamily="49" charset="-122"/>
              </a:rPr>
              <a:t>Module</a:t>
            </a:r>
            <a:r>
              <a:rPr lang="zh-CN" altLang="zh-CN" sz="2200" dirty="0">
                <a:latin typeface="华文楷体" panose="02010600040101010101" pitchFamily="2" charset="-122"/>
                <a:ea typeface="华文楷体" panose="02010600040101010101" pitchFamily="2" charset="-122"/>
              </a:rPr>
              <a:t> </a:t>
            </a:r>
            <a:endParaRPr lang="en-US" altLang="zh-CN" sz="2200" dirty="0">
              <a:latin typeface="华文楷体" panose="02010600040101010101" pitchFamily="2" charset="-122"/>
              <a:ea typeface="黑体" panose="02010609060101010101" pitchFamily="49" charset="-122"/>
            </a:endParaRPr>
          </a:p>
        </p:txBody>
      </p:sp>
      <p:sp>
        <p:nvSpPr>
          <p:cNvPr id="1613828" name="Text Box 4"/>
          <p:cNvSpPr txBox="1"/>
          <p:nvPr/>
        </p:nvSpPr>
        <p:spPr>
          <a:xfrm>
            <a:off x="4070350" y="4098925"/>
            <a:ext cx="2667000" cy="2219325"/>
          </a:xfrm>
          <a:prstGeom prst="rect">
            <a:avLst/>
          </a:prstGeom>
          <a:noFill/>
          <a:ln w="9525"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buClr>
                <a:srgbClr val="3333FF"/>
              </a:buClr>
              <a:buFont typeface="Wingdings" panose="05000000000000000000" pitchFamily="2" charset="2"/>
              <a:buNone/>
            </a:pPr>
            <a:r>
              <a:rPr lang="zh-CN" altLang="en-US" sz="2200" b="1" dirty="0">
                <a:solidFill>
                  <a:srgbClr val="FF33CC"/>
                </a:solidFill>
                <a:latin typeface="华文楷体" panose="02010600040101010101" pitchFamily="2" charset="-122"/>
                <a:ea typeface="华文楷体" panose="02010600040101010101" pitchFamily="2" charset="-122"/>
              </a:rPr>
              <a:t>不合法</a:t>
            </a:r>
            <a:r>
              <a:rPr lang="zh-CN" altLang="en-US" sz="2200" b="1" dirty="0">
                <a:latin typeface="华文楷体" panose="02010600040101010101" pitchFamily="2" charset="-122"/>
                <a:ea typeface="华文楷体" panose="02010600040101010101" pitchFamily="2" charset="-122"/>
              </a:rPr>
              <a:t>的名字：</a:t>
            </a:r>
            <a:endParaRPr lang="zh-CN" altLang="en-US" sz="2200" b="1" dirty="0">
              <a:latin typeface="华文楷体" panose="02010600040101010101" pitchFamily="2" charset="-122"/>
              <a:ea typeface="华文楷体" panose="02010600040101010101" pitchFamily="2" charset="-122"/>
            </a:endParaRPr>
          </a:p>
          <a:p>
            <a:pPr marL="471805" lvl="1" indent="293370" algn="just">
              <a:lnSpc>
                <a:spcPct val="110000"/>
              </a:lnSpc>
              <a:buClr>
                <a:srgbClr val="FF0000"/>
              </a:buClr>
              <a:buSzPct val="80000"/>
              <a:buFont typeface="Wingdings" panose="05000000000000000000" pitchFamily="2" charset="2"/>
              <a:buChar char="Ø"/>
            </a:pPr>
            <a:r>
              <a:rPr lang="en-US" altLang="zh-CN" sz="2200" b="1" dirty="0">
                <a:latin typeface="华文楷体" panose="02010600040101010101" pitchFamily="2" charset="-122"/>
                <a:ea typeface="华文楷体" panose="02010600040101010101" pitchFamily="2" charset="-122"/>
              </a:rPr>
              <a:t>123a</a:t>
            </a:r>
            <a:endParaRPr lang="en-US" altLang="zh-CN" sz="2200" b="1" dirty="0">
              <a:latin typeface="华文楷体" panose="02010600040101010101" pitchFamily="2" charset="-122"/>
              <a:ea typeface="华文楷体" panose="02010600040101010101" pitchFamily="2" charset="-122"/>
            </a:endParaRPr>
          </a:p>
          <a:p>
            <a:pPr marL="471805" lvl="1" indent="293370" algn="just">
              <a:lnSpc>
                <a:spcPct val="110000"/>
              </a:lnSpc>
              <a:buClr>
                <a:srgbClr val="FF0000"/>
              </a:buClr>
              <a:buSzPct val="80000"/>
              <a:buFont typeface="Wingdings" panose="05000000000000000000" pitchFamily="2" charset="2"/>
              <a:buChar char="Ø"/>
            </a:pPr>
            <a:r>
              <a:rPr lang="en-US" altLang="zh-CN" sz="2200" b="1" dirty="0">
                <a:latin typeface="华文楷体" panose="02010600040101010101" pitchFamily="2" charset="-122"/>
                <a:ea typeface="华文楷体" panose="02010600040101010101" pitchFamily="2" charset="-122"/>
              </a:rPr>
              <a:t>$data</a:t>
            </a:r>
            <a:endParaRPr lang="en-US" altLang="zh-CN" sz="2200" b="1" dirty="0">
              <a:latin typeface="华文楷体" panose="02010600040101010101" pitchFamily="2" charset="-122"/>
              <a:ea typeface="华文楷体" panose="02010600040101010101" pitchFamily="2" charset="-122"/>
            </a:endParaRPr>
          </a:p>
          <a:p>
            <a:pPr marL="471805" lvl="1" indent="293370" algn="just">
              <a:lnSpc>
                <a:spcPct val="110000"/>
              </a:lnSpc>
              <a:buClr>
                <a:srgbClr val="FF0000"/>
              </a:buClr>
              <a:buSzPct val="80000"/>
              <a:buFont typeface="Wingdings" panose="05000000000000000000" pitchFamily="2" charset="2"/>
              <a:buChar char="Ø"/>
            </a:pPr>
            <a:r>
              <a:rPr lang="en-US" altLang="zh-CN" sz="2200" b="1" dirty="0">
                <a:latin typeface="华文楷体" panose="02010600040101010101" pitchFamily="2" charset="-122"/>
                <a:ea typeface="华文楷体" panose="02010600040101010101" pitchFamily="2" charset="-122"/>
              </a:rPr>
              <a:t>module</a:t>
            </a:r>
            <a:endParaRPr lang="en-US" altLang="zh-CN" sz="2200" b="1" dirty="0">
              <a:latin typeface="华文楷体" panose="02010600040101010101" pitchFamily="2" charset="-122"/>
              <a:ea typeface="华文楷体" panose="02010600040101010101" pitchFamily="2" charset="-122"/>
            </a:endParaRPr>
          </a:p>
          <a:p>
            <a:pPr marL="471805" lvl="1" indent="293370" algn="just">
              <a:lnSpc>
                <a:spcPct val="110000"/>
              </a:lnSpc>
              <a:buClr>
                <a:srgbClr val="FF0000"/>
              </a:buClr>
              <a:buSzPct val="80000"/>
              <a:buFont typeface="Wingdings" panose="05000000000000000000" pitchFamily="2" charset="2"/>
              <a:buChar char="Ø"/>
            </a:pPr>
            <a:r>
              <a:rPr lang="en-US" altLang="zh-CN" sz="2200" b="1" dirty="0">
                <a:latin typeface="华文楷体" panose="02010600040101010101" pitchFamily="2" charset="-122"/>
                <a:ea typeface="华文楷体" panose="02010600040101010101" pitchFamily="2" charset="-122"/>
              </a:rPr>
              <a:t>7seg.v</a:t>
            </a:r>
            <a:endParaRPr lang="en-US" altLang="zh-CN" sz="2400" b="1" dirty="0">
              <a:latin typeface="华文楷体" panose="02010600040101010101" pitchFamily="2" charset="-122"/>
              <a:ea typeface="华文楷体" panose="02010600040101010101" pitchFamily="2" charset="-122"/>
            </a:endParaRPr>
          </a:p>
        </p:txBody>
      </p:sp>
      <p:sp>
        <p:nvSpPr>
          <p:cNvPr id="1613829" name="AutoShape 5"/>
          <p:cNvSpPr/>
          <p:nvPr/>
        </p:nvSpPr>
        <p:spPr>
          <a:xfrm rot="-479700">
            <a:off x="3940175" y="427038"/>
            <a:ext cx="3490913" cy="1182687"/>
          </a:xfrm>
          <a:prstGeom prst="star16">
            <a:avLst>
              <a:gd name="adj" fmla="val 37500"/>
            </a:avLst>
          </a:prstGeom>
          <a:noFill/>
          <a:ln w="9525" cap="flat" cmpd="sng">
            <a:solidFill>
              <a:schemeClr val="accent1"/>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spcBef>
                <a:spcPct val="0"/>
              </a:spcBef>
              <a:buNone/>
            </a:pPr>
            <a:r>
              <a:rPr lang="zh-CN" altLang="en-US" b="1" dirty="0">
                <a:solidFill>
                  <a:srgbClr val="CC0000"/>
                </a:solidFill>
                <a:latin typeface="华文新魏" panose="02010800040101010101" pitchFamily="2" charset="-122"/>
                <a:ea typeface="华文新魏" panose="02010800040101010101" pitchFamily="2" charset="-122"/>
              </a:rPr>
              <a:t>标识符</a:t>
            </a:r>
            <a:r>
              <a:rPr lang="zh-CN" altLang="en-US" b="1" dirty="0">
                <a:latin typeface="华文新魏" panose="02010800040101010101" pitchFamily="2" charset="-122"/>
                <a:ea typeface="华文新魏" panose="02010800040101010101" pitchFamily="2" charset="-122"/>
              </a:rPr>
              <a:t>不能与</a:t>
            </a:r>
            <a:r>
              <a:rPr lang="zh-CN" altLang="en-US" b="1" dirty="0">
                <a:solidFill>
                  <a:srgbClr val="CC0000"/>
                </a:solidFill>
                <a:latin typeface="华文新魏" panose="02010800040101010101" pitchFamily="2" charset="-122"/>
                <a:ea typeface="华文新魏" panose="02010800040101010101" pitchFamily="2" charset="-122"/>
              </a:rPr>
              <a:t>关键字</a:t>
            </a:r>
            <a:r>
              <a:rPr lang="zh-CN" altLang="en-US" b="1" dirty="0">
                <a:latin typeface="华文新魏" panose="02010800040101010101" pitchFamily="2" charset="-122"/>
                <a:ea typeface="华文新魏" panose="02010800040101010101" pitchFamily="2" charset="-122"/>
              </a:rPr>
              <a:t>同名！</a:t>
            </a:r>
            <a:endParaRPr lang="zh-CN" altLang="en-US" b="1" dirty="0">
              <a:latin typeface="华文新魏" panose="02010800040101010101" pitchFamily="2" charset="-122"/>
              <a:ea typeface="华文新魏" panose="020108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13827"/>
                                        </p:tgtEl>
                                        <p:attrNameLst>
                                          <p:attrName>style.visibility</p:attrName>
                                        </p:attrNameLst>
                                      </p:cBhvr>
                                      <p:to>
                                        <p:strVal val="visible"/>
                                      </p:to>
                                    </p:set>
                                    <p:anim calcmode="lin" valueType="num">
                                      <p:cBhvr additive="base">
                                        <p:cTn id="7" dur="500" fill="hold"/>
                                        <p:tgtEl>
                                          <p:spTgt spid="1613827"/>
                                        </p:tgtEl>
                                        <p:attrNameLst>
                                          <p:attrName>ppt_x</p:attrName>
                                        </p:attrNameLst>
                                      </p:cBhvr>
                                      <p:tavLst>
                                        <p:tav tm="0">
                                          <p:val>
                                            <p:strVal val="0-#ppt_w/2"/>
                                          </p:val>
                                        </p:tav>
                                        <p:tav tm="100000">
                                          <p:val>
                                            <p:strVal val="#ppt_x"/>
                                          </p:val>
                                        </p:tav>
                                      </p:tavLst>
                                    </p:anim>
                                    <p:anim calcmode="lin" valueType="num">
                                      <p:cBhvr additive="base">
                                        <p:cTn id="8" dur="500" fill="hold"/>
                                        <p:tgtEl>
                                          <p:spTgt spid="16138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13829"/>
                                        </p:tgtEl>
                                        <p:attrNameLst>
                                          <p:attrName>style.visibility</p:attrName>
                                        </p:attrNameLst>
                                      </p:cBhvr>
                                      <p:to>
                                        <p:strVal val="visible"/>
                                      </p:to>
                                    </p:set>
                                    <p:anim calcmode="lin" valueType="num">
                                      <p:cBhvr>
                                        <p:cTn id="13" dur="500" fill="hold"/>
                                        <p:tgtEl>
                                          <p:spTgt spid="1613829"/>
                                        </p:tgtEl>
                                        <p:attrNameLst>
                                          <p:attrName>ppt_w</p:attrName>
                                        </p:attrNameLst>
                                      </p:cBhvr>
                                      <p:tavLst>
                                        <p:tav tm="0">
                                          <p:val>
                                            <p:fltVal val="0.000000"/>
                                          </p:val>
                                        </p:tav>
                                        <p:tav tm="100000">
                                          <p:val>
                                            <p:strVal val="#ppt_w"/>
                                          </p:val>
                                        </p:tav>
                                      </p:tavLst>
                                    </p:anim>
                                    <p:anim calcmode="lin" valueType="num">
                                      <p:cBhvr>
                                        <p:cTn id="14" dur="500" fill="hold"/>
                                        <p:tgtEl>
                                          <p:spTgt spid="1613829"/>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613828"/>
                                        </p:tgtEl>
                                        <p:attrNameLst>
                                          <p:attrName>style.visibility</p:attrName>
                                        </p:attrNameLst>
                                      </p:cBhvr>
                                      <p:to>
                                        <p:strVal val="visible"/>
                                      </p:to>
                                    </p:set>
                                    <p:anim calcmode="lin" valueType="num">
                                      <p:cBhvr>
                                        <p:cTn id="19" dur="500" fill="hold"/>
                                        <p:tgtEl>
                                          <p:spTgt spid="1613828"/>
                                        </p:tgtEl>
                                        <p:attrNameLst>
                                          <p:attrName>ppt_w</p:attrName>
                                        </p:attrNameLst>
                                      </p:cBhvr>
                                      <p:tavLst>
                                        <p:tav tm="0">
                                          <p:val>
                                            <p:fltVal val="0.000000"/>
                                          </p:val>
                                        </p:tav>
                                        <p:tav tm="100000">
                                          <p:val>
                                            <p:strVal val="#ppt_w"/>
                                          </p:val>
                                        </p:tav>
                                      </p:tavLst>
                                    </p:anim>
                                    <p:anim calcmode="lin" valueType="num">
                                      <p:cBhvr>
                                        <p:cTn id="20" dur="500" fill="hold"/>
                                        <p:tgtEl>
                                          <p:spTgt spid="161382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3827" grpId="0"/>
      <p:bldP spid="1613828" grpId="0" bldLvl="0" animBg="1"/>
      <p:bldP spid="1613829"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73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8786"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2038787" name="Rectangle 3"/>
          <p:cNvSpPr>
            <a:spLocks noGrp="1"/>
          </p:cNvSpPr>
          <p:nvPr>
            <p:ph idx="1"/>
          </p:nvPr>
        </p:nvSpPr>
        <p:spPr/>
        <p:txBody>
          <a:bodyPr vert="horz" wrap="square" lIns="91440" tIns="45720" rIns="91440" bIns="45720" anchor="t" anchorCtr="0"/>
          <a:p>
            <a:pPr eaLnBrk="1" hangingPunct="1">
              <a:lnSpc>
                <a:spcPct val="110000"/>
              </a:lnSpc>
            </a:pPr>
            <a:r>
              <a:rPr lang="en-US" altLang="zh-CN" sz="2800" dirty="0">
                <a:latin typeface="华文楷体" panose="02010600040101010101" pitchFamily="2" charset="-122"/>
                <a:ea typeface="华文楷体" panose="02010600040101010101" pitchFamily="2" charset="-122"/>
                <a:cs typeface="+mn-cs"/>
              </a:rPr>
              <a:t>3.1 </a:t>
            </a:r>
            <a:r>
              <a:rPr lang="zh-CN" altLang="en-US" sz="2800" dirty="0">
                <a:latin typeface="华文楷体" panose="02010600040101010101" pitchFamily="2" charset="-122"/>
                <a:ea typeface="华文楷体" panose="02010600040101010101" pitchFamily="2" charset="-122"/>
                <a:cs typeface="+mn-cs"/>
              </a:rPr>
              <a:t>数据类型</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1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3.2 </a:t>
            </a:r>
            <a:r>
              <a:rPr lang="zh-CN" altLang="en-US" sz="2800" dirty="0">
                <a:latin typeface="华文楷体" panose="02010600040101010101" pitchFamily="2" charset="-122"/>
                <a:ea typeface="华文楷体" panose="02010600040101010101" pitchFamily="2" charset="-122"/>
                <a:cs typeface="+mn-cs"/>
              </a:rPr>
              <a:t>常量</a:t>
            </a:r>
            <a:endParaRPr lang="zh-CN" altLang="en-US" sz="2800" dirty="0">
              <a:latin typeface="华文楷体" panose="02010600040101010101" pitchFamily="2" charset="-122"/>
              <a:ea typeface="华文楷体" panose="02010600040101010101" pitchFamily="2" charset="-122"/>
              <a:cs typeface="+mn-cs"/>
            </a:endParaRPr>
          </a:p>
          <a:p>
            <a:pPr eaLnBrk="1" hangingPunct="1"/>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3.3 </a:t>
            </a:r>
            <a:r>
              <a:rPr lang="zh-CN" altLang="en-US" sz="2800" dirty="0">
                <a:latin typeface="华文楷体" panose="02010600040101010101" pitchFamily="2" charset="-122"/>
                <a:ea typeface="华文楷体" panose="02010600040101010101" pitchFamily="2" charset="-122"/>
                <a:cs typeface="+mn-cs"/>
              </a:rPr>
              <a:t>变量 </a:t>
            </a:r>
            <a:endParaRPr lang="zh-CN" altLang="en-US" sz="2800"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38786"/>
                                        </p:tgtEl>
                                        <p:attrNameLst>
                                          <p:attrName>style.visibility</p:attrName>
                                        </p:attrNameLst>
                                      </p:cBhvr>
                                      <p:to>
                                        <p:strVal val="visible"/>
                                      </p:to>
                                    </p:set>
                                    <p:anim calcmode="lin" valueType="num">
                                      <p:cBhvr additive="base">
                                        <p:cTn id="7" dur="500" fill="hold"/>
                                        <p:tgtEl>
                                          <p:spTgt spid="2038786"/>
                                        </p:tgtEl>
                                        <p:attrNameLst>
                                          <p:attrName>ppt_x</p:attrName>
                                        </p:attrNameLst>
                                      </p:cBhvr>
                                      <p:tavLst>
                                        <p:tav tm="0">
                                          <p:val>
                                            <p:strVal val="#ppt_x"/>
                                          </p:val>
                                        </p:tav>
                                        <p:tav tm="100000">
                                          <p:val>
                                            <p:strVal val="#ppt_x"/>
                                          </p:val>
                                        </p:tav>
                                      </p:tavLst>
                                    </p:anim>
                                    <p:anim calcmode="lin" valueType="num">
                                      <p:cBhvr additive="base">
                                        <p:cTn id="8" dur="500" fill="hold"/>
                                        <p:tgtEl>
                                          <p:spTgt spid="203878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038787"/>
                                        </p:tgtEl>
                                        <p:attrNameLst>
                                          <p:attrName>style.visibility</p:attrName>
                                        </p:attrNameLst>
                                      </p:cBhvr>
                                      <p:to>
                                        <p:strVal val="visible"/>
                                      </p:to>
                                    </p:set>
                                    <p:anim calcmode="lin" valueType="num">
                                      <p:cBhvr additive="base">
                                        <p:cTn id="12" dur="500" fill="hold"/>
                                        <p:tgtEl>
                                          <p:spTgt spid="2038787"/>
                                        </p:tgtEl>
                                        <p:attrNameLst>
                                          <p:attrName>ppt_x</p:attrName>
                                        </p:attrNameLst>
                                      </p:cBhvr>
                                      <p:tavLst>
                                        <p:tav tm="0">
                                          <p:val>
                                            <p:strVal val="#ppt_x"/>
                                          </p:val>
                                        </p:tav>
                                        <p:tav tm="100000">
                                          <p:val>
                                            <p:strVal val="#ppt_x"/>
                                          </p:val>
                                        </p:tav>
                                      </p:tavLst>
                                    </p:anim>
                                    <p:anim calcmode="lin" valueType="num">
                                      <p:cBhvr additive="base">
                                        <p:cTn id="13" dur="500" fill="hold"/>
                                        <p:tgtEl>
                                          <p:spTgt spid="203878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786" grpId="0"/>
      <p:bldP spid="203878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837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5837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16899"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华文楷体" panose="02010600040101010101" pitchFamily="2" charset="-122"/>
                <a:ea typeface="黑体" panose="02010609060101010101" pitchFamily="49" charset="-122"/>
                <a:cs typeface="+mn-cs"/>
              </a:rPr>
              <a:t>3.1 </a:t>
            </a:r>
            <a:r>
              <a:rPr lang="zh-CN" altLang="en-US" dirty="0">
                <a:solidFill>
                  <a:schemeClr val="tx2"/>
                </a:solidFill>
                <a:latin typeface="华文楷体" panose="02010600040101010101" pitchFamily="2" charset="-122"/>
                <a:ea typeface="华文楷体" panose="02010600040101010101" pitchFamily="2" charset="-122"/>
                <a:cs typeface="+mn-cs"/>
              </a:rPr>
              <a:t>数据类型</a:t>
            </a:r>
            <a:endParaRPr lang="zh-CN" altLang="en-US" dirty="0">
              <a:solidFill>
                <a:schemeClr val="tx2"/>
              </a:solidFill>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数据类型是用来表示数字电路中的数据存储和传送单元。</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Verilog </a:t>
            </a:r>
            <a:r>
              <a:rPr lang="en-US" altLang="zh-CN" dirty="0">
                <a:latin typeface="Times New Roman" panose="02020603050405020304" pitchFamily="18" charset="0"/>
                <a:ea typeface="黑体" panose="02010609060101010101" pitchFamily="49" charset="-122"/>
                <a:cs typeface="+mn-cs"/>
              </a:rPr>
              <a:t>HDL</a:t>
            </a:r>
            <a:r>
              <a:rPr lang="zh-CN" altLang="zh-CN" dirty="0">
                <a:latin typeface="Times New Roman" panose="02020603050405020304" pitchFamily="18" charset="0"/>
                <a:ea typeface="华文楷体" panose="02010600040101010101" pitchFamily="2" charset="-122"/>
                <a:cs typeface="+mn-cs"/>
              </a:rPr>
              <a:t>中共有</a:t>
            </a:r>
            <a:r>
              <a:rPr lang="en-US" altLang="zh-CN" dirty="0">
                <a:solidFill>
                  <a:srgbClr val="FF0066"/>
                </a:solidFill>
                <a:latin typeface="Times New Roman" panose="02020603050405020304" pitchFamily="18" charset="0"/>
                <a:ea typeface="黑体" panose="02010609060101010101" pitchFamily="49" charset="-122"/>
                <a:cs typeface="+mn-cs"/>
              </a:rPr>
              <a:t>19</a:t>
            </a:r>
            <a:r>
              <a:rPr lang="zh-CN" altLang="zh-CN" dirty="0">
                <a:latin typeface="Times New Roman" panose="02020603050405020304" pitchFamily="18" charset="0"/>
                <a:ea typeface="华文楷体" panose="02010600040101010101" pitchFamily="2" charset="-122"/>
                <a:cs typeface="+mn-cs"/>
              </a:rPr>
              <a:t>种数据类型；</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其中</a:t>
            </a:r>
            <a:r>
              <a:rPr lang="en-US" altLang="zh-CN" dirty="0">
                <a:solidFill>
                  <a:srgbClr val="FF0066"/>
                </a:solidFill>
                <a:latin typeface="Times New Roman" panose="02020603050405020304" pitchFamily="18" charset="0"/>
                <a:ea typeface="黑体" panose="02010609060101010101" pitchFamily="49" charset="-122"/>
                <a:cs typeface="+mn-cs"/>
              </a:rPr>
              <a:t>4</a:t>
            </a:r>
            <a:r>
              <a:rPr lang="zh-CN" altLang="en-US" dirty="0">
                <a:latin typeface="Times New Roman" panose="02020603050405020304" pitchFamily="18" charset="0"/>
                <a:ea typeface="华文楷体" panose="02010600040101010101" pitchFamily="2" charset="-122"/>
                <a:cs typeface="+mn-cs"/>
              </a:rPr>
              <a:t>个最基本的数据类型为：</a:t>
            </a:r>
            <a:endParaRPr lang="zh-CN" altLang="en-US" dirty="0">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integer</a:t>
            </a:r>
            <a:r>
              <a:rPr lang="zh-CN" altLang="en-US" dirty="0">
                <a:latin typeface="Times New Roman" panose="02020603050405020304" pitchFamily="18" charset="0"/>
                <a:ea typeface="华文楷体" panose="02010600040101010101" pitchFamily="2" charset="-122"/>
              </a:rPr>
              <a:t>型</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parameter</a:t>
            </a:r>
            <a:r>
              <a:rPr lang="zh-CN" altLang="en-US" dirty="0">
                <a:latin typeface="Times New Roman" panose="02020603050405020304" pitchFamily="18" charset="0"/>
                <a:ea typeface="华文楷体" panose="02010600040101010101" pitchFamily="2" charset="-122"/>
              </a:rPr>
              <a:t>型</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reg</a:t>
            </a:r>
            <a:r>
              <a:rPr lang="zh-CN" altLang="en-US" dirty="0">
                <a:latin typeface="Times New Roman" panose="02020603050405020304" pitchFamily="18" charset="0"/>
                <a:ea typeface="华文楷体" panose="02010600040101010101" pitchFamily="2" charset="-122"/>
              </a:rPr>
              <a:t>型</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wire</a:t>
            </a:r>
            <a:r>
              <a:rPr lang="zh-CN" altLang="en-US" dirty="0">
                <a:latin typeface="Times New Roman" panose="02020603050405020304" pitchFamily="18" charset="0"/>
                <a:ea typeface="华文楷体" panose="02010600040101010101" pitchFamily="2" charset="-122"/>
              </a:rPr>
              <a:t>型</a:t>
            </a:r>
            <a:endParaRPr lang="zh-CN" altLang="en-US" dirty="0">
              <a:latin typeface="Times New Roman" panose="02020603050405020304" pitchFamily="18" charset="0"/>
              <a:ea typeface="华文楷体" panose="02010600040101010101" pitchFamily="2" charset="-122"/>
            </a:endParaRPr>
          </a:p>
          <a:p>
            <a:pPr eaLnBrk="1" hangingPunct="1"/>
            <a:r>
              <a:rPr lang="zh-CN" altLang="en-US" sz="1400" dirty="0">
                <a:latin typeface="宋体" panose="02010600030101010101" pitchFamily="2" charset="-122"/>
                <a:ea typeface="华文楷体" panose="02010600040101010101" pitchFamily="2" charset="-122"/>
                <a:cs typeface="+mn-cs"/>
              </a:rPr>
              <a:t>	 </a:t>
            </a:r>
            <a:endParaRPr lang="zh-CN" altLang="en-US" sz="1400" dirty="0">
              <a:latin typeface="宋体" panose="02010600030101010101" pitchFamily="2" charset="-122"/>
              <a:ea typeface="华文楷体" panose="02010600040101010101" pitchFamily="2" charset="-122"/>
              <a:cs typeface="+mn-cs"/>
            </a:endParaRPr>
          </a:p>
        </p:txBody>
      </p:sp>
      <p:sp>
        <p:nvSpPr>
          <p:cNvPr id="1616900" name="Text Box 4"/>
          <p:cNvSpPr txBox="1"/>
          <p:nvPr/>
        </p:nvSpPr>
        <p:spPr>
          <a:xfrm>
            <a:off x="5424488" y="1917700"/>
            <a:ext cx="3036887" cy="241300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05000"/>
              </a:lnSpc>
              <a:spcBef>
                <a:spcPct val="0"/>
              </a:spcBef>
              <a:buClr>
                <a:srgbClr val="3333FF"/>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其它数据类型：</a:t>
            </a:r>
            <a:r>
              <a:rPr lang="en-US" altLang="zh-CN" dirty="0">
                <a:latin typeface="Times New Roman" panose="02020603050405020304" pitchFamily="18" charset="0"/>
                <a:ea typeface="华文楷体" panose="02010600040101010101" pitchFamily="2" charset="-122"/>
              </a:rPr>
              <a:t>large</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medium</a:t>
            </a:r>
            <a:r>
              <a:rPr lang="zh-CN" altLang="en-US" dirty="0">
                <a:latin typeface="Times New Roman" panose="02020603050405020304" pitchFamily="18" charset="0"/>
                <a:ea typeface="华文楷体" panose="02010600040101010101" pitchFamily="2" charset="-122"/>
              </a:rPr>
              <a:t>型、 </a:t>
            </a:r>
            <a:r>
              <a:rPr lang="en-US" altLang="zh-CN" dirty="0">
                <a:latin typeface="Times New Roman" panose="02020603050405020304" pitchFamily="18" charset="0"/>
                <a:ea typeface="华文楷体" panose="02010600040101010101" pitchFamily="2" charset="-122"/>
              </a:rPr>
              <a:t>scalared</a:t>
            </a:r>
            <a:r>
              <a:rPr lang="zh-CN" altLang="en-US" dirty="0">
                <a:latin typeface="Times New Roman" panose="02020603050405020304" pitchFamily="18" charset="0"/>
                <a:ea typeface="华文楷体" panose="02010600040101010101" pitchFamily="2" charset="-122"/>
              </a:rPr>
              <a:t>型、 </a:t>
            </a:r>
            <a:r>
              <a:rPr lang="en-US" altLang="zh-CN" dirty="0">
                <a:latin typeface="Times New Roman" panose="02020603050405020304" pitchFamily="18" charset="0"/>
                <a:ea typeface="华文楷体" panose="02010600040101010101" pitchFamily="2" charset="-122"/>
              </a:rPr>
              <a:t>small</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time</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tri0</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tri1</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triand</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trior</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trireg</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vectored</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wand</a:t>
            </a:r>
            <a:r>
              <a:rPr lang="zh-CN" altLang="en-US" dirty="0">
                <a:latin typeface="Times New Roman" panose="02020603050405020304" pitchFamily="18" charset="0"/>
                <a:ea typeface="华文楷体" panose="02010600040101010101" pitchFamily="2" charset="-122"/>
              </a:rPr>
              <a:t>型、</a:t>
            </a:r>
            <a:r>
              <a:rPr lang="en-US" altLang="zh-CN" dirty="0">
                <a:latin typeface="Times New Roman" panose="02020603050405020304" pitchFamily="18" charset="0"/>
                <a:ea typeface="华文楷体" panose="02010600040101010101" pitchFamily="2" charset="-122"/>
              </a:rPr>
              <a:t>wor</a:t>
            </a:r>
            <a:r>
              <a:rPr lang="zh-CN" altLang="en-US" dirty="0">
                <a:latin typeface="Times New Roman" panose="02020603050405020304" pitchFamily="18" charset="0"/>
                <a:ea typeface="华文楷体" panose="02010600040101010101" pitchFamily="2" charset="-122"/>
              </a:rPr>
              <a:t>型等</a:t>
            </a:r>
            <a:endParaRPr lang="zh-CN" altLang="en-US" dirty="0">
              <a:latin typeface="Times New Roman" panose="02020603050405020304" pitchFamily="18" charset="0"/>
              <a:ea typeface="华文楷体" panose="02010600040101010101" pitchFamily="2" charset="-122"/>
            </a:endParaRPr>
          </a:p>
        </p:txBody>
      </p:sp>
      <p:sp>
        <p:nvSpPr>
          <p:cNvPr id="1616901" name="Rectangle 5"/>
          <p:cNvSpPr/>
          <p:nvPr/>
        </p:nvSpPr>
        <p:spPr>
          <a:xfrm>
            <a:off x="569913" y="4330700"/>
            <a:ext cx="7759700" cy="2271713"/>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dirty="0">
                <a:solidFill>
                  <a:schemeClr val="tx2"/>
                </a:solidFill>
                <a:latin typeface="Times New Roman" panose="02020603050405020304" pitchFamily="18" charset="0"/>
                <a:ea typeface="华文楷体" panose="02010600040101010101" pitchFamily="2" charset="-122"/>
              </a:rPr>
              <a:t>3.2 常量</a:t>
            </a:r>
            <a:endParaRPr lang="en-US" altLang="zh-CN" dirty="0">
              <a:solidFill>
                <a:schemeClr val="tx2"/>
              </a:solidFill>
              <a:latin typeface="Times New Roman" panose="02020603050405020304" pitchFamily="18" charset="0"/>
              <a:ea typeface="华文楷体" panose="02010600040101010101" pitchFamily="2" charset="-122"/>
            </a:endParaRPr>
          </a:p>
          <a:p>
            <a:pPr marL="0" lvl="0" indent="0" algn="just">
              <a:lnSpc>
                <a:spcPct val="110000"/>
              </a:lnSpc>
              <a:spcBef>
                <a:spcPct val="0"/>
              </a:spcBef>
              <a:buClr>
                <a:srgbClr val="3333FF"/>
              </a:buClr>
              <a:buFont typeface="Wingdings" panose="05000000000000000000" pitchFamily="2" charset="2"/>
              <a:buNone/>
            </a:pPr>
            <a:r>
              <a:rPr lang="zh-CN" altLang="zh-CN" sz="2400" b="1" dirty="0">
                <a:latin typeface="Times New Roman" panose="02020603050405020304" pitchFamily="18" charset="0"/>
                <a:ea typeface="华文楷体" panose="02010600040101010101" pitchFamily="2" charset="-122"/>
              </a:rPr>
              <a:t>在程序运行过程中，其值不能被改变的量，称为</a:t>
            </a:r>
            <a:r>
              <a:rPr lang="zh-CN" altLang="zh-CN" sz="2400" b="1" dirty="0">
                <a:solidFill>
                  <a:schemeClr val="hlink"/>
                </a:solidFill>
                <a:latin typeface="Times New Roman" panose="02020603050405020304" pitchFamily="18" charset="0"/>
                <a:ea typeface="华文楷体" panose="02010600040101010101" pitchFamily="2" charset="-122"/>
              </a:rPr>
              <a:t>常量</a:t>
            </a:r>
            <a:r>
              <a:rPr lang="zh-CN" altLang="zh-CN" sz="2400" b="1" dirty="0">
                <a:latin typeface="Times New Roman" panose="02020603050405020304" pitchFamily="18" charset="0"/>
                <a:ea typeface="华文楷体" panose="02010600040101010101" pitchFamily="2" charset="-122"/>
              </a:rPr>
              <a:t>。 </a:t>
            </a:r>
            <a:endParaRPr lang="zh-CN" altLang="en-US" sz="24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数字（包括整数，</a:t>
            </a:r>
            <a:r>
              <a:rPr lang="en-US" altLang="zh-CN" sz="2400" b="1" dirty="0">
                <a:latin typeface="Times New Roman" panose="02020603050405020304" pitchFamily="18" charset="0"/>
                <a:ea typeface="华文楷体" panose="02010600040101010101" pitchFamily="2" charset="-122"/>
              </a:rPr>
              <a:t>x</a:t>
            </a:r>
            <a:r>
              <a:rPr lang="zh-CN" altLang="en-US" sz="2400" b="1" dirty="0">
                <a:latin typeface="Times New Roman" panose="02020603050405020304" pitchFamily="18" charset="0"/>
                <a:ea typeface="华文楷体" panose="02010600040101010101" pitchFamily="2" charset="-122"/>
              </a:rPr>
              <a:t>和</a:t>
            </a:r>
            <a:r>
              <a:rPr lang="en-US" altLang="zh-CN" sz="2400" b="1" dirty="0">
                <a:latin typeface="Times New Roman" panose="02020603050405020304" pitchFamily="18" charset="0"/>
                <a:ea typeface="华文楷体" panose="02010600040101010101" pitchFamily="2" charset="-122"/>
              </a:rPr>
              <a:t>z</a:t>
            </a:r>
            <a:r>
              <a:rPr lang="zh-CN" altLang="en-US" sz="2400" b="1" dirty="0">
                <a:latin typeface="Times New Roman" panose="02020603050405020304" pitchFamily="18" charset="0"/>
                <a:ea typeface="华文楷体" panose="02010600040101010101" pitchFamily="2" charset="-122"/>
              </a:rPr>
              <a:t>值，负数）</a:t>
            </a:r>
            <a:endParaRPr lang="zh-CN" altLang="en-US" sz="24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en-US" altLang="zh-CN" sz="2400" b="1" dirty="0">
                <a:latin typeface="Times New Roman" panose="02020603050405020304" pitchFamily="18" charset="0"/>
                <a:ea typeface="华文楷体" panose="02010600040101010101" pitchFamily="2" charset="-122"/>
              </a:rPr>
              <a:t>parameter</a:t>
            </a:r>
            <a:r>
              <a:rPr lang="zh-CN" altLang="en-US" sz="2400" b="1" dirty="0">
                <a:latin typeface="Times New Roman" panose="02020603050405020304" pitchFamily="18" charset="0"/>
                <a:ea typeface="华文楷体" panose="02010600040101010101" pitchFamily="2" charset="-122"/>
              </a:rPr>
              <a:t>常量（或称符号常量）</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16899"/>
                                        </p:tgtEl>
                                        <p:attrNameLst>
                                          <p:attrName>style.visibility</p:attrName>
                                        </p:attrNameLst>
                                      </p:cBhvr>
                                      <p:to>
                                        <p:strVal val="visible"/>
                                      </p:to>
                                    </p:set>
                                    <p:anim calcmode="lin" valueType="num">
                                      <p:cBhvr additive="base">
                                        <p:cTn id="7" dur="500" fill="hold"/>
                                        <p:tgtEl>
                                          <p:spTgt spid="1616899"/>
                                        </p:tgtEl>
                                        <p:attrNameLst>
                                          <p:attrName>ppt_x</p:attrName>
                                        </p:attrNameLst>
                                      </p:cBhvr>
                                      <p:tavLst>
                                        <p:tav tm="0">
                                          <p:val>
                                            <p:strVal val="0-#ppt_w/2"/>
                                          </p:val>
                                        </p:tav>
                                        <p:tav tm="100000">
                                          <p:val>
                                            <p:strVal val="#ppt_x"/>
                                          </p:val>
                                        </p:tav>
                                      </p:tavLst>
                                    </p:anim>
                                    <p:anim calcmode="lin" valueType="num">
                                      <p:cBhvr additive="base">
                                        <p:cTn id="8" dur="500" fill="hold"/>
                                        <p:tgtEl>
                                          <p:spTgt spid="16168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16900"/>
                                        </p:tgtEl>
                                        <p:attrNameLst>
                                          <p:attrName>style.visibility</p:attrName>
                                        </p:attrNameLst>
                                      </p:cBhvr>
                                      <p:to>
                                        <p:strVal val="visible"/>
                                      </p:to>
                                    </p:set>
                                    <p:anim calcmode="lin" valueType="num">
                                      <p:cBhvr>
                                        <p:cTn id="13" dur="500" fill="hold"/>
                                        <p:tgtEl>
                                          <p:spTgt spid="1616900"/>
                                        </p:tgtEl>
                                        <p:attrNameLst>
                                          <p:attrName>ppt_w</p:attrName>
                                        </p:attrNameLst>
                                      </p:cBhvr>
                                      <p:tavLst>
                                        <p:tav tm="0">
                                          <p:val>
                                            <p:fltVal val="0.000000"/>
                                          </p:val>
                                        </p:tav>
                                        <p:tav tm="100000">
                                          <p:val>
                                            <p:strVal val="#ppt_w"/>
                                          </p:val>
                                        </p:tav>
                                      </p:tavLst>
                                    </p:anim>
                                    <p:anim calcmode="lin" valueType="num">
                                      <p:cBhvr>
                                        <p:cTn id="14" dur="500" fill="hold"/>
                                        <p:tgtEl>
                                          <p:spTgt spid="1616900"/>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16901"/>
                                        </p:tgtEl>
                                        <p:attrNameLst>
                                          <p:attrName>style.visibility</p:attrName>
                                        </p:attrNameLst>
                                      </p:cBhvr>
                                      <p:to>
                                        <p:strVal val="visible"/>
                                      </p:to>
                                    </p:set>
                                    <p:anim calcmode="lin" valueType="num">
                                      <p:cBhvr additive="base">
                                        <p:cTn id="19" dur="500" fill="hold"/>
                                        <p:tgtEl>
                                          <p:spTgt spid="1616901"/>
                                        </p:tgtEl>
                                        <p:attrNameLst>
                                          <p:attrName>ppt_x</p:attrName>
                                        </p:attrNameLst>
                                      </p:cBhvr>
                                      <p:tavLst>
                                        <p:tav tm="0">
                                          <p:val>
                                            <p:strVal val="0-#ppt_w/2"/>
                                          </p:val>
                                        </p:tav>
                                        <p:tav tm="100000">
                                          <p:val>
                                            <p:strVal val="#ppt_x"/>
                                          </p:val>
                                        </p:tav>
                                      </p:tavLst>
                                    </p:anim>
                                    <p:anim calcmode="lin" valueType="num">
                                      <p:cBhvr additive="base">
                                        <p:cTn id="20" dur="500" fill="hold"/>
                                        <p:tgtEl>
                                          <p:spTgt spid="16169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6899" grpId="0"/>
      <p:bldP spid="1616900" grpId="0" bldLvl="0" animBg="1"/>
      <p:bldP spid="1616901"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041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6041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20995" name="Rectangle 3"/>
          <p:cNvSpPr>
            <a:spLocks noGrp="1"/>
          </p:cNvSpPr>
          <p:nvPr>
            <p:ph idx="1"/>
          </p:nvPr>
        </p:nvSpPr>
        <p:spPr/>
        <p:txBody>
          <a:bodyPr vert="horz" wrap="square" lIns="91440" tIns="45720" rIns="91440" bIns="45720" anchor="t" anchorCtr="0"/>
          <a:p>
            <a:pPr eaLnBrk="1" hangingPunct="1">
              <a:lnSpc>
                <a:spcPct val="90000"/>
              </a:lnSpc>
            </a:pPr>
            <a:endParaRPr lang="en-US" altLang="zh-CN" sz="1600" dirty="0">
              <a:latin typeface="宋体" panose="02010600030101010101" pitchFamily="2" charset="-122"/>
              <a:ea typeface="黑体" panose="02010609060101010101" pitchFamily="49" charset="-122"/>
              <a:cs typeface="+mn-cs"/>
            </a:endParaRPr>
          </a:p>
          <a:p>
            <a:pPr algn="just">
              <a:lnSpc>
                <a:spcPct val="105000"/>
              </a:lnSpc>
              <a:spcBef>
                <a:spcPct val="0"/>
              </a:spcBef>
            </a:pPr>
            <a:r>
              <a:rPr lang="zh-CN" altLang="en-US" dirty="0">
                <a:latin typeface="宋体" panose="02010600030101010101" pitchFamily="2" charset="-122"/>
                <a:ea typeface="华文楷体" panose="02010600040101010101" pitchFamily="2" charset="-122"/>
                <a:cs typeface="+mn-cs"/>
              </a:rPr>
              <a:t>    整常数的</a:t>
            </a:r>
            <a:r>
              <a:rPr lang="en-US" altLang="zh-CN" dirty="0">
                <a:solidFill>
                  <a:srgbClr val="FF0066"/>
                </a:solidFill>
                <a:latin typeface="Times New Roman" panose="02020603050405020304" pitchFamily="18" charset="0"/>
                <a:ea typeface="华文楷体" panose="02010600040101010101" pitchFamily="2" charset="-122"/>
                <a:cs typeface="+mn-cs"/>
              </a:rPr>
              <a:t>3</a:t>
            </a:r>
            <a:r>
              <a:rPr lang="zh-CN" altLang="en-US" dirty="0">
                <a:latin typeface="宋体" panose="02010600030101010101" pitchFamily="2" charset="-122"/>
                <a:ea typeface="华文楷体" panose="02010600040101010101" pitchFamily="2" charset="-122"/>
                <a:cs typeface="+mn-cs"/>
              </a:rPr>
              <a:t>种表达方式：</a:t>
            </a:r>
            <a:endParaRPr lang="zh-CN" altLang="en-US" dirty="0">
              <a:latin typeface="宋体" panose="02010600030101010101" pitchFamily="2" charset="-122"/>
              <a:ea typeface="华文楷体" panose="02010600040101010101" pitchFamily="2" charset="-122"/>
              <a:cs typeface="+mn-cs"/>
            </a:endParaRPr>
          </a:p>
        </p:txBody>
      </p:sp>
      <p:graphicFrame>
        <p:nvGraphicFramePr>
          <p:cNvPr id="67589" name="表格 67588"/>
          <p:cNvGraphicFramePr/>
          <p:nvPr/>
        </p:nvGraphicFramePr>
        <p:xfrm>
          <a:off x="819150" y="3168650"/>
          <a:ext cx="7507288" cy="2638425"/>
        </p:xfrm>
        <a:graphic>
          <a:graphicData uri="http://schemas.openxmlformats.org/drawingml/2006/table">
            <a:tbl>
              <a:tblPr/>
              <a:tblGrid>
                <a:gridCol w="2894013"/>
                <a:gridCol w="2776537"/>
                <a:gridCol w="1836738"/>
              </a:tblGrid>
              <a:tr h="533528">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rgbClr val="3333FF"/>
                        </a:buClr>
                        <a:buFont typeface="Wingdings" panose="05000000000000000000" pitchFamily="2" charset="2"/>
                        <a:buNone/>
                      </a:pPr>
                      <a:r>
                        <a:rPr lang="zh-CN" altLang="en-US" sz="2000" dirty="0">
                          <a:solidFill>
                            <a:schemeClr val="tx1"/>
                          </a:solidFill>
                          <a:latin typeface="Times New Roman" panose="02020603050405020304" pitchFamily="18" charset="0"/>
                          <a:ea typeface="华文楷体" panose="02010600040101010101" pitchFamily="2" charset="-122"/>
                        </a:rPr>
                        <a:t>表 达 方 式</a:t>
                      </a:r>
                      <a:endParaRPr lang="zh-CN" altLang="en-US" sz="2000" dirty="0">
                        <a:solidFill>
                          <a:schemeClr val="tx1"/>
                        </a:solidFill>
                        <a:latin typeface="Times New Roman" panose="02020603050405020304" pitchFamily="18" charset="0"/>
                        <a:ea typeface="华文楷体" panose="02010600040101010101" pitchFamily="2" charset="-122"/>
                      </a:endParaRPr>
                    </a:p>
                  </a:txBody>
                  <a:tcPr marT="45731" marB="45731">
                    <a:lnL w="19050"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rgbClr val="3333FF"/>
                        </a:buClr>
                        <a:buFont typeface="Wingdings" panose="05000000000000000000" pitchFamily="2" charset="2"/>
                        <a:buNone/>
                      </a:pPr>
                      <a:r>
                        <a:rPr lang="zh-CN" altLang="en-US" sz="2000" dirty="0">
                          <a:solidFill>
                            <a:schemeClr val="tx1"/>
                          </a:solidFill>
                          <a:latin typeface="Times New Roman" panose="02020603050405020304" pitchFamily="18" charset="0"/>
                          <a:ea typeface="华文楷体" panose="02010600040101010101" pitchFamily="2" charset="-122"/>
                        </a:rPr>
                        <a:t>说  明 </a:t>
                      </a:r>
                      <a:endParaRPr lang="zh-CN" altLang="en-US" sz="200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9050"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eaLnBrk="1" hangingPunct="1">
                        <a:spcBef>
                          <a:spcPct val="20000"/>
                        </a:spcBef>
                        <a:buClr>
                          <a:srgbClr val="3333FF"/>
                        </a:buClr>
                        <a:buFont typeface="Wingdings" panose="05000000000000000000" pitchFamily="2" charset="2"/>
                        <a:buNone/>
                      </a:pPr>
                      <a:r>
                        <a:rPr lang="zh-CN" altLang="en-US" sz="2000" dirty="0">
                          <a:solidFill>
                            <a:schemeClr val="tx1"/>
                          </a:solidFill>
                          <a:latin typeface="Times New Roman" panose="02020603050405020304" pitchFamily="18" charset="0"/>
                          <a:ea typeface="华文楷体" panose="02010600040101010101" pitchFamily="2" charset="-122"/>
                        </a:rPr>
                        <a:t>举  例</a:t>
                      </a:r>
                      <a:endParaRPr lang="zh-CN" altLang="en-US" sz="200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9050" cap="flat" cmpd="sng">
                      <a:solidFill>
                        <a:schemeClr val="accent2"/>
                      </a:solidFill>
                      <a:prstDash val="solid"/>
                      <a:headEnd type="none" w="med" len="med"/>
                      <a:tailEnd type="none" w="med" len="med"/>
                    </a:lnR>
                    <a:lnT w="19050"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701844">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None/>
                      </a:pPr>
                      <a:r>
                        <a:rPr lang="en-US" altLang="zh-CN" sz="2000" dirty="0">
                          <a:solidFill>
                            <a:srgbClr val="CC0066"/>
                          </a:solidFill>
                          <a:latin typeface="Times New Roman" panose="02020603050405020304" pitchFamily="18" charset="0"/>
                          <a:ea typeface="华文楷体" panose="02010600040101010101" pitchFamily="2" charset="-122"/>
                        </a:rPr>
                        <a:t>&lt;</a:t>
                      </a:r>
                      <a:r>
                        <a:rPr lang="zh-CN" altLang="en-US" sz="2000" dirty="0">
                          <a:solidFill>
                            <a:srgbClr val="CC0066"/>
                          </a:solidFill>
                          <a:latin typeface="Times New Roman" panose="02020603050405020304" pitchFamily="18" charset="0"/>
                          <a:ea typeface="华文楷体" panose="02010600040101010101" pitchFamily="2" charset="-122"/>
                        </a:rPr>
                        <a:t>位宽</a:t>
                      </a:r>
                      <a:r>
                        <a:rPr lang="en-US" altLang="zh-CN" sz="2000" dirty="0">
                          <a:solidFill>
                            <a:srgbClr val="CC0066"/>
                          </a:solidFill>
                          <a:latin typeface="Times New Roman" panose="02020603050405020304" pitchFamily="18" charset="0"/>
                          <a:ea typeface="华文楷体" panose="02010600040101010101" pitchFamily="2" charset="-122"/>
                        </a:rPr>
                        <a:t>&gt; ’&lt;</a:t>
                      </a:r>
                      <a:r>
                        <a:rPr lang="zh-CN" altLang="en-US" sz="2000" dirty="0">
                          <a:solidFill>
                            <a:srgbClr val="CC0066"/>
                          </a:solidFill>
                          <a:latin typeface="Times New Roman" panose="02020603050405020304" pitchFamily="18" charset="0"/>
                          <a:ea typeface="华文楷体" panose="02010600040101010101" pitchFamily="2" charset="-122"/>
                        </a:rPr>
                        <a:t>进制</a:t>
                      </a:r>
                      <a:r>
                        <a:rPr lang="en-US" altLang="zh-CN" sz="2000" dirty="0">
                          <a:solidFill>
                            <a:srgbClr val="CC0066"/>
                          </a:solidFill>
                          <a:latin typeface="Times New Roman" panose="02020603050405020304" pitchFamily="18" charset="0"/>
                          <a:ea typeface="华文楷体" panose="02010600040101010101" pitchFamily="2" charset="-122"/>
                        </a:rPr>
                        <a:t>&gt; &lt;</a:t>
                      </a:r>
                      <a:r>
                        <a:rPr lang="zh-CN" altLang="en-US" sz="2000" dirty="0">
                          <a:solidFill>
                            <a:srgbClr val="CC0066"/>
                          </a:solidFill>
                          <a:latin typeface="Times New Roman" panose="02020603050405020304" pitchFamily="18" charset="0"/>
                          <a:ea typeface="华文楷体" panose="02010600040101010101" pitchFamily="2" charset="-122"/>
                        </a:rPr>
                        <a:t>数字</a:t>
                      </a:r>
                      <a:r>
                        <a:rPr lang="en-US" altLang="zh-CN" sz="2000" dirty="0">
                          <a:solidFill>
                            <a:srgbClr val="CC0066"/>
                          </a:solidFill>
                          <a:latin typeface="Times New Roman" panose="02020603050405020304" pitchFamily="18" charset="0"/>
                          <a:ea typeface="华文楷体" panose="02010600040101010101" pitchFamily="2" charset="-122"/>
                        </a:rPr>
                        <a:t>&gt;</a:t>
                      </a:r>
                      <a:endParaRPr lang="en-US" altLang="zh-CN" sz="2000" dirty="0">
                        <a:solidFill>
                          <a:srgbClr val="CC0066"/>
                        </a:solidFill>
                        <a:latin typeface="Times New Roman" panose="02020603050405020304" pitchFamily="18" charset="0"/>
                        <a:ea typeface="华文楷体" panose="02010600040101010101" pitchFamily="2" charset="-122"/>
                      </a:endParaRPr>
                    </a:p>
                  </a:txBody>
                  <a:tcPr marT="45731" marB="45731">
                    <a:lnL w="19050"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Clr>
                          <a:srgbClr val="3333FF"/>
                        </a:buClr>
                        <a:buFont typeface="Wingdings" panose="05000000000000000000" pitchFamily="2" charset="2"/>
                        <a:buNone/>
                      </a:pPr>
                      <a:r>
                        <a:rPr lang="zh-CN" altLang="en-US" sz="2000" b="0" dirty="0">
                          <a:solidFill>
                            <a:schemeClr val="tx1"/>
                          </a:solidFill>
                          <a:latin typeface="Times New Roman" panose="02020603050405020304" pitchFamily="18" charset="0"/>
                          <a:ea typeface="华文楷体" panose="02010600040101010101" pitchFamily="2" charset="-122"/>
                        </a:rPr>
                        <a:t>完整的表达方式</a:t>
                      </a:r>
                      <a:endParaRPr lang="zh-CN" altLang="en-US"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ea typeface="华文楷体" panose="02010600040101010101" pitchFamily="2" charset="-122"/>
                        </a:rPr>
                        <a:t>8’b11000101</a:t>
                      </a:r>
                      <a:r>
                        <a:rPr lang="zh-CN" altLang="en-US" sz="2000" b="0" dirty="0">
                          <a:solidFill>
                            <a:schemeClr val="tx1"/>
                          </a:solidFill>
                          <a:latin typeface="Times New Roman" panose="02020603050405020304" pitchFamily="18" charset="0"/>
                          <a:ea typeface="华文楷体" panose="02010600040101010101" pitchFamily="2" charset="-122"/>
                        </a:rPr>
                        <a:t>或</a:t>
                      </a:r>
                      <a:r>
                        <a:rPr lang="en-US" altLang="zh-CN" sz="2000" b="0" dirty="0">
                          <a:solidFill>
                            <a:schemeClr val="tx1"/>
                          </a:solidFill>
                          <a:latin typeface="Times New Roman" panose="02020603050405020304" pitchFamily="18" charset="0"/>
                          <a:ea typeface="华文楷体" panose="02010600040101010101" pitchFamily="2" charset="-122"/>
                        </a:rPr>
                        <a:t>8 ’hc5</a:t>
                      </a:r>
                      <a:endParaRPr lang="en-US" altLang="zh-CN"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9050"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701209">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None/>
                      </a:pPr>
                      <a:r>
                        <a:rPr lang="en-US" altLang="zh-CN" sz="2000" dirty="0">
                          <a:solidFill>
                            <a:schemeClr val="tx1"/>
                          </a:solidFill>
                          <a:latin typeface="Times New Roman" panose="02020603050405020304" pitchFamily="18" charset="0"/>
                          <a:ea typeface="华文楷体" panose="02010600040101010101" pitchFamily="2" charset="-122"/>
                        </a:rPr>
                        <a:t>&lt;</a:t>
                      </a:r>
                      <a:r>
                        <a:rPr lang="zh-CN" altLang="en-US" sz="2000" dirty="0">
                          <a:solidFill>
                            <a:schemeClr val="tx1"/>
                          </a:solidFill>
                          <a:latin typeface="Times New Roman" panose="02020603050405020304" pitchFamily="18" charset="0"/>
                          <a:ea typeface="华文楷体" panose="02010600040101010101" pitchFamily="2" charset="-122"/>
                        </a:rPr>
                        <a:t>进制</a:t>
                      </a:r>
                      <a:r>
                        <a:rPr lang="en-US" altLang="zh-CN" sz="2000" dirty="0">
                          <a:solidFill>
                            <a:schemeClr val="tx1"/>
                          </a:solidFill>
                          <a:latin typeface="Times New Roman" panose="02020603050405020304" pitchFamily="18" charset="0"/>
                          <a:ea typeface="华文楷体" panose="02010600040101010101" pitchFamily="2" charset="-122"/>
                        </a:rPr>
                        <a:t>&gt; &lt;</a:t>
                      </a:r>
                      <a:r>
                        <a:rPr lang="zh-CN" altLang="en-US" sz="2000" dirty="0">
                          <a:solidFill>
                            <a:schemeClr val="tx1"/>
                          </a:solidFill>
                          <a:latin typeface="Times New Roman" panose="02020603050405020304" pitchFamily="18" charset="0"/>
                          <a:ea typeface="华文楷体" panose="02010600040101010101" pitchFamily="2" charset="-122"/>
                        </a:rPr>
                        <a:t>数字</a:t>
                      </a:r>
                      <a:r>
                        <a:rPr lang="en-US" altLang="zh-CN" sz="2000" dirty="0">
                          <a:solidFill>
                            <a:schemeClr val="tx1"/>
                          </a:solidFill>
                          <a:latin typeface="Times New Roman" panose="02020603050405020304" pitchFamily="18" charset="0"/>
                          <a:ea typeface="华文楷体" panose="02010600040101010101" pitchFamily="2" charset="-122"/>
                        </a:rPr>
                        <a:t>&gt;</a:t>
                      </a:r>
                      <a:endParaRPr lang="en-US" altLang="zh-CN" sz="2000" dirty="0">
                        <a:solidFill>
                          <a:schemeClr val="tx1"/>
                        </a:solidFill>
                        <a:latin typeface="Times New Roman" panose="02020603050405020304" pitchFamily="18" charset="0"/>
                        <a:ea typeface="华文楷体" panose="02010600040101010101" pitchFamily="2" charset="-122"/>
                      </a:endParaRPr>
                    </a:p>
                  </a:txBody>
                  <a:tcPr marT="45731" marB="45731">
                    <a:lnL w="19050"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Clr>
                          <a:srgbClr val="3333FF"/>
                        </a:buClr>
                        <a:buFont typeface="Wingdings" panose="05000000000000000000" pitchFamily="2" charset="2"/>
                        <a:buNone/>
                      </a:pPr>
                      <a:r>
                        <a:rPr lang="zh-CN" altLang="en-US" sz="2000" b="0" dirty="0">
                          <a:solidFill>
                            <a:schemeClr val="tx1"/>
                          </a:solidFill>
                          <a:latin typeface="Times New Roman" panose="02020603050405020304" pitchFamily="18" charset="0"/>
                          <a:ea typeface="华文楷体" panose="02010600040101010101" pitchFamily="2" charset="-122"/>
                        </a:rPr>
                        <a:t>缺省位宽，则位宽由机器系统决定，至少</a:t>
                      </a:r>
                      <a:r>
                        <a:rPr lang="en-US" altLang="zh-CN" sz="2000" b="0" dirty="0">
                          <a:solidFill>
                            <a:schemeClr val="tx1"/>
                          </a:solidFill>
                          <a:latin typeface="Times New Roman" panose="02020603050405020304" pitchFamily="18" charset="0"/>
                          <a:ea typeface="华文楷体" panose="02010600040101010101" pitchFamily="2" charset="-122"/>
                        </a:rPr>
                        <a:t>32</a:t>
                      </a:r>
                      <a:r>
                        <a:rPr lang="zh-CN" altLang="en-US" sz="2000" b="0" dirty="0">
                          <a:solidFill>
                            <a:schemeClr val="tx1"/>
                          </a:solidFill>
                          <a:latin typeface="Times New Roman" panose="02020603050405020304" pitchFamily="18" charset="0"/>
                          <a:ea typeface="华文楷体" panose="02010600040101010101" pitchFamily="2" charset="-122"/>
                        </a:rPr>
                        <a:t>位</a:t>
                      </a:r>
                      <a:endParaRPr lang="zh-CN" altLang="en-US"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ea typeface="华文楷体" panose="02010600040101010101" pitchFamily="2" charset="-122"/>
                        </a:rPr>
                        <a:t>hc5</a:t>
                      </a:r>
                      <a:endParaRPr lang="en-US" altLang="zh-CN"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9050"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701844">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None/>
                      </a:pPr>
                      <a:r>
                        <a:rPr lang="en-US" altLang="zh-CN" sz="2000" dirty="0">
                          <a:solidFill>
                            <a:schemeClr val="tx1"/>
                          </a:solidFill>
                          <a:latin typeface="Times New Roman" panose="02020603050405020304" pitchFamily="18" charset="0"/>
                          <a:ea typeface="华文楷体" panose="02010600040101010101" pitchFamily="2" charset="-122"/>
                        </a:rPr>
                        <a:t>&lt;</a:t>
                      </a:r>
                      <a:r>
                        <a:rPr lang="zh-CN" altLang="en-US" sz="2000" dirty="0">
                          <a:solidFill>
                            <a:schemeClr val="tx1"/>
                          </a:solidFill>
                          <a:latin typeface="Times New Roman" panose="02020603050405020304" pitchFamily="18" charset="0"/>
                          <a:ea typeface="华文楷体" panose="02010600040101010101" pitchFamily="2" charset="-122"/>
                        </a:rPr>
                        <a:t>数字</a:t>
                      </a:r>
                      <a:r>
                        <a:rPr lang="en-US" altLang="zh-CN" sz="2000" dirty="0">
                          <a:solidFill>
                            <a:schemeClr val="tx1"/>
                          </a:solidFill>
                          <a:latin typeface="Times New Roman" panose="02020603050405020304" pitchFamily="18" charset="0"/>
                          <a:ea typeface="华文楷体" panose="02010600040101010101" pitchFamily="2" charset="-122"/>
                        </a:rPr>
                        <a:t>&gt;</a:t>
                      </a:r>
                      <a:endParaRPr lang="en-US" altLang="zh-CN" sz="2000" dirty="0">
                        <a:solidFill>
                          <a:schemeClr val="tx1"/>
                        </a:solidFill>
                        <a:latin typeface="Times New Roman" panose="02020603050405020304" pitchFamily="18" charset="0"/>
                        <a:ea typeface="华文楷体" panose="02010600040101010101" pitchFamily="2" charset="-122"/>
                      </a:endParaRPr>
                    </a:p>
                  </a:txBody>
                  <a:tcPr marT="45731" marB="45731">
                    <a:lnL w="19050"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accent2"/>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0" hangingPunct="0">
                        <a:buClr>
                          <a:srgbClr val="3333FF"/>
                        </a:buClr>
                        <a:buFont typeface="Wingdings" panose="05000000000000000000" pitchFamily="2" charset="2"/>
                        <a:buNone/>
                      </a:pPr>
                      <a:r>
                        <a:rPr lang="zh-CN" altLang="en-US" sz="2000" b="0" dirty="0">
                          <a:solidFill>
                            <a:schemeClr val="tx1"/>
                          </a:solidFill>
                          <a:latin typeface="Times New Roman" panose="02020603050405020304" pitchFamily="18" charset="0"/>
                          <a:ea typeface="华文楷体" panose="02010600040101010101" pitchFamily="2" charset="-122"/>
                        </a:rPr>
                        <a:t>缺省进制为十进制，位宽默认为</a:t>
                      </a:r>
                      <a:r>
                        <a:rPr lang="en-US" altLang="zh-CN" sz="2000" b="0" dirty="0">
                          <a:solidFill>
                            <a:schemeClr val="tx1"/>
                          </a:solidFill>
                          <a:latin typeface="Times New Roman" panose="02020603050405020304" pitchFamily="18" charset="0"/>
                          <a:ea typeface="华文楷体" panose="02010600040101010101" pitchFamily="2" charset="-122"/>
                        </a:rPr>
                        <a:t>32</a:t>
                      </a:r>
                      <a:r>
                        <a:rPr lang="zh-CN" altLang="en-US" sz="2000" b="0" dirty="0">
                          <a:solidFill>
                            <a:schemeClr val="tx1"/>
                          </a:solidFill>
                          <a:latin typeface="Times New Roman" panose="02020603050405020304" pitchFamily="18" charset="0"/>
                          <a:ea typeface="华文楷体" panose="02010600040101010101" pitchFamily="2" charset="-122"/>
                        </a:rPr>
                        <a:t>位</a:t>
                      </a:r>
                      <a:endParaRPr lang="zh-CN" altLang="en-US"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accent2"/>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ea typeface="华文楷体" panose="02010600040101010101" pitchFamily="2" charset="-122"/>
                        </a:rPr>
                        <a:t>197</a:t>
                      </a:r>
                      <a:endParaRPr lang="en-US" altLang="zh-CN" sz="2000" b="0" dirty="0">
                        <a:solidFill>
                          <a:schemeClr val="tx1"/>
                        </a:solidFill>
                        <a:latin typeface="Times New Roman" panose="02020603050405020304" pitchFamily="18" charset="0"/>
                        <a:ea typeface="华文楷体" panose="02010600040101010101" pitchFamily="2" charset="-122"/>
                      </a:endParaRPr>
                    </a:p>
                  </a:txBody>
                  <a:tcPr marT="45731" marB="45731">
                    <a:lnL w="12700" cap="flat" cmpd="sng">
                      <a:solidFill>
                        <a:schemeClr val="tx1"/>
                      </a:solidFill>
                      <a:prstDash val="solid"/>
                      <a:headEnd type="none" w="med" len="med"/>
                      <a:tailEnd type="none" w="med" len="med"/>
                    </a:lnL>
                    <a:lnR w="19050"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9050" cap="flat" cmpd="sng">
                      <a:solidFill>
                        <a:schemeClr val="accent2"/>
                      </a:solidFill>
                      <a:prstDash val="solid"/>
                      <a:headEnd type="none" w="med" len="med"/>
                      <a:tailEnd type="none" w="med" len="med"/>
                    </a:lnB>
                    <a:lnTlToBr>
                      <a:noFill/>
                    </a:lnTlToBr>
                    <a:lnBlToTr>
                      <a:noFill/>
                    </a:lnBlToTr>
                    <a:solidFill>
                      <a:srgbClr val="CCCCFF"/>
                    </a:solidFill>
                  </a:tcPr>
                </a:tc>
              </a:tr>
            </a:tbl>
          </a:graphicData>
        </a:graphic>
      </p:graphicFrame>
      <p:sp>
        <p:nvSpPr>
          <p:cNvPr id="1621018" name="Rectangle 26"/>
          <p:cNvSpPr/>
          <p:nvPr/>
        </p:nvSpPr>
        <p:spPr>
          <a:xfrm>
            <a:off x="711200" y="881063"/>
            <a:ext cx="7673975" cy="2078037"/>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rgbClr val="3333FF"/>
              </a:buClr>
              <a:buFont typeface="Wingdings" panose="05000000000000000000" pitchFamily="2" charset="2"/>
              <a:buNone/>
            </a:pPr>
            <a:r>
              <a:rPr lang="en-US" altLang="zh-CN" sz="2400" b="1" dirty="0">
                <a:solidFill>
                  <a:schemeClr val="tx2"/>
                </a:solidFill>
                <a:latin typeface="Times New Roman" panose="02020603050405020304" pitchFamily="18" charset="0"/>
                <a:ea typeface="华文楷体" panose="02010600040101010101" pitchFamily="2" charset="-122"/>
              </a:rPr>
              <a:t>(1)</a:t>
            </a:r>
            <a:r>
              <a:rPr lang="zh-CN" altLang="en-US" sz="2400" b="1" dirty="0">
                <a:solidFill>
                  <a:schemeClr val="tx2"/>
                </a:solidFill>
                <a:latin typeface="Times New Roman" panose="02020603050405020304" pitchFamily="18" charset="0"/>
                <a:ea typeface="华文楷体" panose="02010600040101010101" pitchFamily="2" charset="-122"/>
              </a:rPr>
              <a:t>整数型常量</a:t>
            </a:r>
            <a:r>
              <a:rPr lang="zh-CN" altLang="en-US" sz="2400" b="1" dirty="0">
                <a:latin typeface="Times New Roman" panose="02020603050405020304" pitchFamily="18" charset="0"/>
                <a:ea typeface="华文楷体" panose="02010600040101010101" pitchFamily="2" charset="-122"/>
              </a:rPr>
              <a:t>（即</a:t>
            </a:r>
            <a:r>
              <a:rPr lang="zh-CN" altLang="en-US" sz="2400" b="1" dirty="0">
                <a:solidFill>
                  <a:srgbClr val="FF0066"/>
                </a:solidFill>
                <a:latin typeface="Times New Roman" panose="02020603050405020304" pitchFamily="18" charset="0"/>
                <a:ea typeface="华文楷体" panose="02010600040101010101" pitchFamily="2" charset="-122"/>
              </a:rPr>
              <a:t>整常数</a:t>
            </a:r>
            <a:r>
              <a:rPr lang="zh-CN" altLang="en-US" sz="2400" b="1" dirty="0">
                <a:latin typeface="Times New Roman" panose="02020603050405020304" pitchFamily="18" charset="0"/>
                <a:ea typeface="华文楷体" panose="02010600040101010101" pitchFamily="2" charset="-122"/>
              </a:rPr>
              <a:t>）的</a:t>
            </a:r>
            <a:r>
              <a:rPr lang="en-US" altLang="zh-CN" sz="2400" b="1" dirty="0">
                <a:latin typeface="Times New Roman" panose="02020603050405020304" pitchFamily="18" charset="0"/>
                <a:ea typeface="华文楷体" panose="02010600040101010101" pitchFamily="2" charset="-122"/>
              </a:rPr>
              <a:t>4</a:t>
            </a:r>
            <a:r>
              <a:rPr lang="zh-CN" altLang="en-US" sz="2400" b="1" dirty="0">
                <a:latin typeface="Times New Roman" panose="02020603050405020304" pitchFamily="18" charset="0"/>
                <a:ea typeface="华文楷体" panose="02010600040101010101" pitchFamily="2" charset="-122"/>
              </a:rPr>
              <a:t>种进制表示形式：</a:t>
            </a:r>
            <a:endParaRPr lang="zh-CN" altLang="en-US" sz="24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endParaRPr lang="zh-CN" altLang="en-US" sz="20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二进制整数（</a:t>
            </a:r>
            <a:r>
              <a:rPr lang="en-US" altLang="zh-CN" sz="2000" b="1" dirty="0">
                <a:latin typeface="Times New Roman" panose="02020603050405020304" pitchFamily="18" charset="0"/>
                <a:ea typeface="华文楷体" panose="02010600040101010101" pitchFamily="2" charset="-122"/>
              </a:rPr>
              <a:t>b</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B</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十进制整数（</a:t>
            </a:r>
            <a:r>
              <a:rPr lang="en-US" altLang="zh-CN" sz="2000" b="1" dirty="0">
                <a:latin typeface="Times New Roman" panose="02020603050405020304" pitchFamily="18" charset="0"/>
                <a:ea typeface="华文楷体" panose="02010600040101010101" pitchFamily="2" charset="-122"/>
              </a:rPr>
              <a:t>d</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D</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十六进制整数（</a:t>
            </a:r>
            <a:r>
              <a:rPr lang="en-US" altLang="zh-CN" sz="2000" b="1" dirty="0">
                <a:latin typeface="Times New Roman" panose="02020603050405020304" pitchFamily="18" charset="0"/>
                <a:ea typeface="华文楷体" panose="02010600040101010101" pitchFamily="2" charset="-122"/>
              </a:rPr>
              <a:t>h</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H</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八进制整数（</a:t>
            </a:r>
            <a:r>
              <a:rPr lang="en-US" altLang="zh-CN" sz="2000" b="1" dirty="0">
                <a:latin typeface="Times New Roman" panose="02020603050405020304" pitchFamily="18" charset="0"/>
                <a:ea typeface="华文楷体" panose="02010600040101010101" pitchFamily="2" charset="-122"/>
              </a:rPr>
              <a:t>o</a:t>
            </a:r>
            <a:r>
              <a:rPr lang="zh-CN" altLang="en-US" sz="2000" b="1" dirty="0">
                <a:latin typeface="Times New Roman" panose="02020603050405020304" pitchFamily="18" charset="0"/>
                <a:ea typeface="华文楷体" panose="02010600040101010101" pitchFamily="2" charset="-122"/>
              </a:rPr>
              <a:t>或</a:t>
            </a:r>
            <a:r>
              <a:rPr lang="en-US" altLang="zh-CN" sz="2000" b="1" dirty="0">
                <a:latin typeface="Times New Roman" panose="02020603050405020304" pitchFamily="18" charset="0"/>
                <a:ea typeface="华文楷体" panose="02010600040101010101" pitchFamily="2" charset="-122"/>
              </a:rPr>
              <a:t>O</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p:txBody>
      </p:sp>
      <p:sp>
        <p:nvSpPr>
          <p:cNvPr id="1621019" name="AutoShape 27"/>
          <p:cNvSpPr/>
          <p:nvPr/>
        </p:nvSpPr>
        <p:spPr>
          <a:xfrm>
            <a:off x="1522413" y="5805488"/>
            <a:ext cx="5956300" cy="636587"/>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lnSpc>
                <a:spcPct val="105000"/>
              </a:lnSpc>
              <a:spcBef>
                <a:spcPct val="0"/>
              </a:spcBef>
              <a:buClr>
                <a:srgbClr val="FF0066"/>
              </a:buClr>
              <a:buFont typeface="Wingdings" panose="05000000000000000000" pitchFamily="2" charset="2"/>
              <a:buChar char="v"/>
            </a:pPr>
            <a:r>
              <a:rPr lang="zh-CN" altLang="zh-CN" sz="2400" b="1" dirty="0">
                <a:solidFill>
                  <a:schemeClr val="tx2"/>
                </a:solidFill>
                <a:latin typeface="华文楷体" panose="02010600040101010101" pitchFamily="2" charset="-122"/>
                <a:ea typeface="华文楷体" panose="02010600040101010101" pitchFamily="2" charset="-122"/>
              </a:rPr>
              <a:t>注：</a:t>
            </a:r>
            <a:r>
              <a:rPr lang="zh-CN" altLang="en-US" sz="2400" b="1" dirty="0">
                <a:solidFill>
                  <a:schemeClr val="tx2"/>
                </a:solidFill>
                <a:latin typeface="华文楷体" panose="02010600040101010101" pitchFamily="2" charset="-122"/>
                <a:ea typeface="华文楷体" panose="02010600040101010101" pitchFamily="2" charset="-122"/>
              </a:rPr>
              <a:t>这里位宽指对应二进制数的宽度。</a:t>
            </a:r>
            <a:endParaRPr lang="zh-CN" altLang="en-US" sz="2400"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1018"/>
                                        </p:tgtEl>
                                        <p:attrNameLst>
                                          <p:attrName>style.visibility</p:attrName>
                                        </p:attrNameLst>
                                      </p:cBhvr>
                                      <p:to>
                                        <p:strVal val="visible"/>
                                      </p:to>
                                    </p:set>
                                    <p:anim calcmode="lin" valueType="num">
                                      <p:cBhvr additive="base">
                                        <p:cTn id="7" dur="500" fill="hold"/>
                                        <p:tgtEl>
                                          <p:spTgt spid="1621018"/>
                                        </p:tgtEl>
                                        <p:attrNameLst>
                                          <p:attrName>ppt_x</p:attrName>
                                        </p:attrNameLst>
                                      </p:cBhvr>
                                      <p:tavLst>
                                        <p:tav tm="0">
                                          <p:val>
                                            <p:strVal val="0-#ppt_w/2"/>
                                          </p:val>
                                        </p:tav>
                                        <p:tav tm="100000">
                                          <p:val>
                                            <p:strVal val="#ppt_x"/>
                                          </p:val>
                                        </p:tav>
                                      </p:tavLst>
                                    </p:anim>
                                    <p:anim calcmode="lin" valueType="num">
                                      <p:cBhvr additive="base">
                                        <p:cTn id="8" dur="500" fill="hold"/>
                                        <p:tgtEl>
                                          <p:spTgt spid="16210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20995">
                                            <p:txEl>
                                              <p:charRg st="1" end="17"/>
                                            </p:txEl>
                                          </p:spTgt>
                                        </p:tgtEl>
                                        <p:attrNameLst>
                                          <p:attrName>style.visibility</p:attrName>
                                        </p:attrNameLst>
                                      </p:cBhvr>
                                      <p:to>
                                        <p:strVal val="visible"/>
                                      </p:to>
                                    </p:set>
                                    <p:anim calcmode="lin" valueType="num">
                                      <p:cBhvr additive="base">
                                        <p:cTn id="13" dur="500" fill="hold"/>
                                        <p:tgtEl>
                                          <p:spTgt spid="1620995">
                                            <p:txEl>
                                              <p:charRg st="1" end="17"/>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20995">
                                            <p:txEl>
                                              <p:charRg st="1" end="17"/>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12" fill="hold" nodeType="afterEffect">
                                  <p:stCondLst>
                                    <p:cond delay="0"/>
                                  </p:stCondLst>
                                  <p:childTnLst>
                                    <p:set>
                                      <p:cBhvr>
                                        <p:cTn id="17" dur="1" fill="hold">
                                          <p:stCondLst>
                                            <p:cond delay="0"/>
                                          </p:stCondLst>
                                        </p:cTn>
                                        <p:tgtEl>
                                          <p:spTgt spid="67589"/>
                                        </p:tgtEl>
                                        <p:attrNameLst>
                                          <p:attrName>style.visibility</p:attrName>
                                        </p:attrNameLst>
                                      </p:cBhvr>
                                      <p:to>
                                        <p:strVal val="visible"/>
                                      </p:to>
                                    </p:set>
                                    <p:anim calcmode="lin" valueType="num">
                                      <p:cBhvr additive="base">
                                        <p:cTn id="18" dur="500" fill="hold"/>
                                        <p:tgtEl>
                                          <p:spTgt spid="67589"/>
                                        </p:tgtEl>
                                        <p:attrNameLst>
                                          <p:attrName>ppt_x</p:attrName>
                                        </p:attrNameLst>
                                      </p:cBhvr>
                                      <p:tavLst>
                                        <p:tav tm="0">
                                          <p:val>
                                            <p:strVal val="0-#ppt_w/2"/>
                                          </p:val>
                                        </p:tav>
                                        <p:tav tm="100000">
                                          <p:val>
                                            <p:strVal val="#ppt_x"/>
                                          </p:val>
                                        </p:tav>
                                      </p:tavLst>
                                    </p:anim>
                                    <p:anim calcmode="lin" valueType="num">
                                      <p:cBhvr additive="base">
                                        <p:cTn id="19" dur="500" fill="hold"/>
                                        <p:tgtEl>
                                          <p:spTgt spid="6758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1621019"/>
                                        </p:tgtEl>
                                        <p:attrNameLst>
                                          <p:attrName>style.visibility</p:attrName>
                                        </p:attrNameLst>
                                      </p:cBhvr>
                                      <p:to>
                                        <p:strVal val="visible"/>
                                      </p:to>
                                    </p:set>
                                    <p:animEffect transition="in" filter="barn(outVertical)">
                                      <p:cBhvr>
                                        <p:cTn id="24" dur="500"/>
                                        <p:tgtEl>
                                          <p:spTgt spid="162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0995" grpId="0" build="p"/>
      <p:bldP spid="1621018" grpId="0"/>
      <p:bldP spid="162101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246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6246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23043"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solidFill>
                  <a:schemeClr val="tx2"/>
                </a:solidFill>
                <a:latin typeface="Times New Roman" panose="02020603050405020304" pitchFamily="18" charset="0"/>
                <a:ea typeface="黑体" panose="02010609060101010101" pitchFamily="49" charset="-122"/>
                <a:cs typeface="+mn-cs"/>
              </a:rPr>
              <a:t>(2)x</a:t>
            </a:r>
            <a:r>
              <a:rPr lang="zh-CN" altLang="en-US" dirty="0">
                <a:solidFill>
                  <a:schemeClr val="tx2"/>
                </a:solidFill>
                <a:latin typeface="Times New Roman" panose="02020603050405020304" pitchFamily="18" charset="0"/>
                <a:ea typeface="华文楷体" panose="02010600040101010101" pitchFamily="2" charset="-122"/>
                <a:cs typeface="+mn-cs"/>
              </a:rPr>
              <a:t>和</a:t>
            </a:r>
            <a:r>
              <a:rPr lang="en-US" altLang="zh-CN" dirty="0">
                <a:solidFill>
                  <a:schemeClr val="tx2"/>
                </a:solidFill>
                <a:latin typeface="Times New Roman" panose="02020603050405020304" pitchFamily="18" charset="0"/>
                <a:ea typeface="黑体" panose="02010609060101010101" pitchFamily="49" charset="-122"/>
                <a:cs typeface="+mn-cs"/>
              </a:rPr>
              <a:t>z</a:t>
            </a:r>
            <a:r>
              <a:rPr lang="zh-CN" altLang="en-US" dirty="0">
                <a:solidFill>
                  <a:schemeClr val="tx2"/>
                </a:solidFill>
                <a:latin typeface="Times New Roman" panose="02020603050405020304" pitchFamily="18" charset="0"/>
                <a:ea typeface="华文楷体" panose="02010600040101010101" pitchFamily="2" charset="-122"/>
                <a:cs typeface="+mn-cs"/>
              </a:rPr>
              <a:t>值</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endParaRPr lang="zh-CN" altLang="en-US" dirty="0">
              <a:solidFill>
                <a:srgbClr val="009900"/>
              </a:solidFill>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x</a:t>
            </a:r>
            <a:r>
              <a:rPr lang="zh-CN" altLang="en-US" dirty="0">
                <a:latin typeface="Times New Roman" panose="02020603050405020304" pitchFamily="18" charset="0"/>
                <a:ea typeface="华文楷体" panose="02010600040101010101" pitchFamily="2" charset="-122"/>
              </a:rPr>
              <a:t>表示不定值，</a:t>
            </a:r>
            <a:r>
              <a:rPr lang="en-US" altLang="zh-CN" dirty="0">
                <a:latin typeface="Times New Roman" panose="02020603050405020304" pitchFamily="18" charset="0"/>
                <a:ea typeface="黑体" panose="02010609060101010101" pitchFamily="49" charset="-122"/>
              </a:rPr>
              <a:t>z</a:t>
            </a:r>
            <a:r>
              <a:rPr lang="zh-CN" altLang="en-US" dirty="0">
                <a:latin typeface="Times New Roman" panose="02020603050405020304" pitchFamily="18" charset="0"/>
                <a:ea typeface="华文楷体" panose="02010600040101010101" pitchFamily="2" charset="-122"/>
              </a:rPr>
              <a:t>表示高阻值；</a:t>
            </a:r>
            <a:endParaRPr lang="zh-CN" altLang="en-US" dirty="0">
              <a:latin typeface="Times New Roman" panose="02020603050405020304" pitchFamily="18" charset="0"/>
              <a:ea typeface="华文楷体" panose="02010600040101010101" pitchFamily="2" charset="-122"/>
            </a:endParaRPr>
          </a:p>
        </p:txBody>
      </p:sp>
      <p:sp>
        <p:nvSpPr>
          <p:cNvPr id="1623044" name="AutoShape 4"/>
          <p:cNvSpPr/>
          <p:nvPr/>
        </p:nvSpPr>
        <p:spPr>
          <a:xfrm>
            <a:off x="2174875" y="895350"/>
            <a:ext cx="1752600" cy="685800"/>
          </a:xfrm>
          <a:prstGeom prst="wedgeRoundRectCallout">
            <a:avLst>
              <a:gd name="adj1" fmla="val -52356"/>
              <a:gd name="adj2" fmla="val 84722"/>
              <a:gd name="adj3" fmla="val 16667"/>
            </a:avLst>
          </a:prstGeom>
          <a:noFill/>
          <a:ln w="12700" cap="flat" cmpd="sng">
            <a:solidFill>
              <a:srgbClr val="89A4A7"/>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dirty="0">
                <a:latin typeface="Times New Roman" panose="02020603050405020304" pitchFamily="18" charset="0"/>
                <a:ea typeface="华文楷体" panose="02010600040101010101" pitchFamily="2" charset="-122"/>
              </a:rPr>
              <a:t>8’b1001xxxx</a:t>
            </a:r>
            <a:r>
              <a:rPr lang="zh-CN" altLang="en-US" dirty="0">
                <a:latin typeface="Times New Roman" panose="02020603050405020304" pitchFamily="18" charset="0"/>
                <a:ea typeface="华文楷体" panose="02010600040101010101" pitchFamily="2" charset="-122"/>
              </a:rPr>
              <a:t>或</a:t>
            </a:r>
            <a:r>
              <a:rPr lang="en-US" altLang="zh-CN" dirty="0">
                <a:latin typeface="Times New Roman" panose="02020603050405020304" pitchFamily="18" charset="0"/>
                <a:ea typeface="华文楷体" panose="02010600040101010101" pitchFamily="2" charset="-122"/>
              </a:rPr>
              <a:t>8 ’h9x</a:t>
            </a:r>
            <a:endParaRPr lang="en-US" altLang="zh-CN" dirty="0">
              <a:latin typeface="Times New Roman" panose="02020603050405020304" pitchFamily="18" charset="0"/>
              <a:ea typeface="华文楷体" panose="02010600040101010101" pitchFamily="2" charset="-122"/>
            </a:endParaRPr>
          </a:p>
        </p:txBody>
      </p:sp>
      <p:sp>
        <p:nvSpPr>
          <p:cNvPr id="1623045" name="AutoShape 5"/>
          <p:cNvSpPr/>
          <p:nvPr/>
        </p:nvSpPr>
        <p:spPr>
          <a:xfrm>
            <a:off x="4437063" y="896938"/>
            <a:ext cx="1752600" cy="685800"/>
          </a:xfrm>
          <a:prstGeom prst="wedgeRoundRectCallout">
            <a:avLst>
              <a:gd name="adj1" fmla="val -71375"/>
              <a:gd name="adj2" fmla="val 88194"/>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dirty="0">
                <a:latin typeface="Times New Roman" panose="02020603050405020304" pitchFamily="18" charset="0"/>
                <a:ea typeface="华文楷体" panose="02010600040101010101" pitchFamily="2" charset="-122"/>
              </a:rPr>
              <a:t>8’b1010zzzz</a:t>
            </a:r>
            <a:r>
              <a:rPr lang="zh-CN" altLang="en-US" dirty="0">
                <a:latin typeface="Times New Roman" panose="02020603050405020304" pitchFamily="18" charset="0"/>
                <a:ea typeface="华文楷体" panose="02010600040101010101" pitchFamily="2" charset="-122"/>
              </a:rPr>
              <a:t>或</a:t>
            </a:r>
            <a:r>
              <a:rPr lang="en-US" altLang="zh-CN" dirty="0">
                <a:latin typeface="Times New Roman" panose="02020603050405020304" pitchFamily="18" charset="0"/>
                <a:ea typeface="华文楷体" panose="02010600040101010101" pitchFamily="2" charset="-122"/>
              </a:rPr>
              <a:t>8 ’haz</a:t>
            </a:r>
            <a:endParaRPr lang="en-US" altLang="zh-CN" dirty="0">
              <a:latin typeface="Times New Roman" panose="02020603050405020304" pitchFamily="18" charset="0"/>
              <a:ea typeface="华文楷体" panose="02010600040101010101" pitchFamily="2" charset="-122"/>
            </a:endParaRPr>
          </a:p>
        </p:txBody>
      </p:sp>
      <p:sp>
        <p:nvSpPr>
          <p:cNvPr id="1623046" name="Rectangle 6"/>
          <p:cNvSpPr/>
          <p:nvPr/>
        </p:nvSpPr>
        <p:spPr>
          <a:xfrm>
            <a:off x="228600" y="2279650"/>
            <a:ext cx="8701088" cy="4135438"/>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742950" lvl="1" indent="-285750" algn="just">
              <a:lnSpc>
                <a:spcPct val="110000"/>
              </a:lnSpc>
              <a:spcBef>
                <a:spcPct val="0"/>
              </a:spcBef>
              <a:buClr>
                <a:srgbClr val="FF0000"/>
              </a:buClr>
              <a:buSzPct val="80000"/>
              <a:buFont typeface="Wingdings" panose="05000000000000000000" pitchFamily="2" charset="2"/>
              <a:buChar char="Ø"/>
            </a:pPr>
            <a:r>
              <a:rPr lang="en-US" altLang="en-US" sz="2000" b="1" dirty="0">
                <a:latin typeface="Times New Roman" panose="02020603050405020304" pitchFamily="18" charset="0"/>
                <a:ea typeface="华文楷体" panose="02010600040101010101" pitchFamily="2" charset="-122"/>
                <a:sym typeface="+mn-ea"/>
              </a:rPr>
              <a:t>每个字符代表的二进制数的宽度取决于所用的进制；</a:t>
            </a:r>
            <a:endParaRPr lang="en-US" altLang="en-US" sz="2000" b="1" dirty="0">
              <a:latin typeface="Times New Roman" panose="02020603050405020304" pitchFamily="18" charset="0"/>
              <a:ea typeface="华文楷体" panose="02010600040101010101" pitchFamily="2" charset="-122"/>
              <a:sym typeface="+mn-ea"/>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en-US" altLang="en-US" sz="2000" b="1" dirty="0">
                <a:latin typeface="Times New Roman" panose="02020603050405020304" pitchFamily="18" charset="0"/>
                <a:ea typeface="华文楷体" panose="02010600040101010101" pitchFamily="2" charset="-122"/>
                <a:sym typeface="+mn-ea"/>
              </a:rPr>
              <a:t>当用二进制表示时，已标明位宽的数若用</a:t>
            </a:r>
            <a:r>
              <a:rPr lang="en-US" altLang="zh-CN" sz="2000" b="1" dirty="0">
                <a:latin typeface="Times New Roman" panose="02020603050405020304" pitchFamily="18" charset="0"/>
                <a:ea typeface="华文楷体" panose="02010600040101010101" pitchFamily="2" charset="-122"/>
                <a:sym typeface="+mn-ea"/>
              </a:rPr>
              <a:t>x</a:t>
            </a:r>
            <a:r>
              <a:rPr lang="en-US" altLang="en-US" sz="2000" b="1" dirty="0">
                <a:latin typeface="Times New Roman" panose="02020603050405020304" pitchFamily="18" charset="0"/>
                <a:ea typeface="华文楷体" panose="02010600040101010101" pitchFamily="2" charset="-122"/>
                <a:sym typeface="+mn-ea"/>
              </a:rPr>
              <a:t>或</a:t>
            </a:r>
            <a:r>
              <a:rPr lang="en-US" altLang="zh-CN" sz="2000" b="1" dirty="0">
                <a:latin typeface="Times New Roman" panose="02020603050405020304" pitchFamily="18" charset="0"/>
                <a:ea typeface="华文楷体" panose="02010600040101010101" pitchFamily="2" charset="-122"/>
                <a:sym typeface="+mn-ea"/>
              </a:rPr>
              <a:t>z</a:t>
            </a:r>
            <a:r>
              <a:rPr lang="en-US" altLang="en-US" sz="2000" b="1" dirty="0">
                <a:latin typeface="Times New Roman" panose="02020603050405020304" pitchFamily="18" charset="0"/>
                <a:ea typeface="华文楷体" panose="02010600040101010101" pitchFamily="2" charset="-122"/>
                <a:sym typeface="+mn-ea"/>
              </a:rPr>
              <a:t>表示某些位，则只有在</a:t>
            </a:r>
            <a:r>
              <a:rPr lang="en-US" altLang="en-US" sz="2000" b="1" dirty="0">
                <a:solidFill>
                  <a:srgbClr val="FF0066"/>
                </a:solidFill>
                <a:latin typeface="Times New Roman" panose="02020603050405020304" pitchFamily="18" charset="0"/>
                <a:ea typeface="华文楷体" panose="02010600040101010101" pitchFamily="2" charset="-122"/>
                <a:sym typeface="+mn-ea"/>
              </a:rPr>
              <a:t>最左边</a:t>
            </a:r>
            <a:r>
              <a:rPr lang="en-US" altLang="en-US" sz="2000" b="1" dirty="0">
                <a:latin typeface="Times New Roman" panose="02020603050405020304" pitchFamily="18" charset="0"/>
                <a:ea typeface="华文楷体" panose="02010600040101010101" pitchFamily="2" charset="-122"/>
                <a:sym typeface="+mn-ea"/>
              </a:rPr>
              <a:t>的</a:t>
            </a:r>
            <a:r>
              <a:rPr lang="en-US" altLang="zh-CN" sz="2000" b="1" dirty="0">
                <a:latin typeface="Times New Roman" panose="02020603050405020304" pitchFamily="18" charset="0"/>
                <a:ea typeface="华文楷体" panose="02010600040101010101" pitchFamily="2" charset="-122"/>
                <a:sym typeface="+mn-ea"/>
              </a:rPr>
              <a:t>x</a:t>
            </a:r>
            <a:r>
              <a:rPr lang="en-US" altLang="en-US" sz="2000" b="1" dirty="0">
                <a:latin typeface="Times New Roman" panose="02020603050405020304" pitchFamily="18" charset="0"/>
                <a:ea typeface="华文楷体" panose="02010600040101010101" pitchFamily="2" charset="-122"/>
                <a:sym typeface="+mn-ea"/>
              </a:rPr>
              <a:t>或</a:t>
            </a:r>
            <a:r>
              <a:rPr lang="en-US" altLang="zh-CN" sz="2000" b="1" dirty="0">
                <a:latin typeface="Times New Roman" panose="02020603050405020304" pitchFamily="18" charset="0"/>
                <a:ea typeface="华文楷体" panose="02010600040101010101" pitchFamily="2" charset="-122"/>
                <a:sym typeface="+mn-ea"/>
              </a:rPr>
              <a:t>z</a:t>
            </a:r>
            <a:r>
              <a:rPr lang="en-US" altLang="en-US" sz="2000" b="1" dirty="0">
                <a:latin typeface="Times New Roman" panose="02020603050405020304" pitchFamily="18" charset="0"/>
                <a:ea typeface="华文楷体" panose="02010600040101010101" pitchFamily="2" charset="-122"/>
                <a:sym typeface="+mn-ea"/>
              </a:rPr>
              <a:t>具有</a:t>
            </a:r>
            <a:r>
              <a:rPr lang="en-US" altLang="en-US" sz="2000" b="1" dirty="0">
                <a:solidFill>
                  <a:srgbClr val="FF0066"/>
                </a:solidFill>
                <a:latin typeface="Times New Roman" panose="02020603050405020304" pitchFamily="18" charset="0"/>
                <a:ea typeface="华文楷体" panose="02010600040101010101" pitchFamily="2" charset="-122"/>
                <a:sym typeface="+mn-ea"/>
              </a:rPr>
              <a:t>扩展性</a:t>
            </a:r>
            <a:r>
              <a:rPr lang="en-US" altLang="en-US" sz="2000" b="1" dirty="0">
                <a:latin typeface="Times New Roman" panose="02020603050405020304" pitchFamily="18" charset="0"/>
                <a:ea typeface="华文楷体" panose="02010600040101010101" pitchFamily="2" charset="-122"/>
                <a:sym typeface="+mn-ea"/>
              </a:rPr>
              <a:t>！为清晰可见，最好直接写出每一位的值！</a:t>
            </a:r>
            <a:endParaRPr lang="en-US" altLang="en-US"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a:t>
            </a:r>
            <a:r>
              <a:rPr lang="en-US" altLang="en-US" sz="2000" b="1" dirty="0">
                <a:solidFill>
                  <a:srgbClr val="FF0066"/>
                </a:solidFill>
                <a:latin typeface="Times New Roman" panose="02020603050405020304" pitchFamily="18" charset="0"/>
                <a:ea typeface="华文楷体" panose="02010600040101010101" pitchFamily="2" charset="-122"/>
                <a:sym typeface="+mn-ea"/>
              </a:rPr>
              <a:t>例</a:t>
            </a:r>
            <a:r>
              <a:rPr lang="en-US" altLang="zh-CN" sz="2000" b="1" dirty="0">
                <a:latin typeface="Times New Roman" panose="02020603050405020304" pitchFamily="18" charset="0"/>
                <a:ea typeface="华文楷体" panose="02010600040101010101" pitchFamily="2" charset="-122"/>
                <a:sym typeface="+mn-ea"/>
              </a:rPr>
              <a:t>]8’bzx = 8’bzzzz_zzzx </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a:t>
            </a:r>
            <a:r>
              <a:rPr lang="en-US" altLang="en-US" sz="2000" b="1" dirty="0">
                <a:solidFill>
                  <a:srgbClr val="FF0066"/>
                </a:solidFill>
                <a:latin typeface="Times New Roman" panose="02020603050405020304" pitchFamily="18" charset="0"/>
                <a:ea typeface="华文楷体" panose="02010600040101010101" pitchFamily="2" charset="-122"/>
                <a:sym typeface="+mn-ea"/>
              </a:rPr>
              <a:t>例</a:t>
            </a:r>
            <a:r>
              <a:rPr lang="en-US" altLang="zh-CN" sz="2000" b="1" dirty="0">
                <a:latin typeface="Times New Roman" panose="02020603050405020304" pitchFamily="18" charset="0"/>
                <a:ea typeface="华文楷体" panose="02010600040101010101" pitchFamily="2" charset="-122"/>
                <a:sym typeface="+mn-ea"/>
              </a:rPr>
              <a:t>]8’b1x = 8’b0000_001x</a:t>
            </a:r>
            <a:endParaRPr lang="en-US" altLang="zh-CN" sz="2000" b="1" dirty="0">
              <a:latin typeface="Times New Roman" panose="02020603050405020304" pitchFamily="18" charset="0"/>
              <a:ea typeface="华文楷体" panose="02010600040101010101" pitchFamily="2" charset="-122"/>
              <a:sym typeface="+mn-ea"/>
            </a:endParaRPr>
          </a:p>
          <a:p>
            <a:pPr marL="742950" lvl="1" indent="-285750" algn="just">
              <a:lnSpc>
                <a:spcPct val="110000"/>
              </a:lnSpc>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sym typeface="+mn-ea"/>
              </a:rPr>
              <a:t>“</a:t>
            </a:r>
            <a:r>
              <a:rPr lang="en-US" altLang="en-US" sz="2000" b="1" dirty="0">
                <a:solidFill>
                  <a:srgbClr val="FF0066"/>
                </a:solidFill>
                <a:latin typeface="Times New Roman" panose="02020603050405020304" pitchFamily="18" charset="0"/>
                <a:ea typeface="华文楷体" panose="02010600040101010101" pitchFamily="2" charset="-122"/>
                <a:sym typeface="+mn-ea"/>
              </a:rPr>
              <a:t>？</a:t>
            </a:r>
            <a:r>
              <a:rPr lang="en-US" altLang="en-US" sz="2000" b="1" dirty="0">
                <a:latin typeface="Times New Roman" panose="02020603050405020304" pitchFamily="18" charset="0"/>
                <a:ea typeface="华文楷体" panose="02010600040101010101" pitchFamily="2" charset="-122"/>
                <a:sym typeface="+mn-ea"/>
              </a:rPr>
              <a:t>”是</a:t>
            </a:r>
            <a:r>
              <a:rPr lang="en-US" altLang="zh-CN" sz="2000" b="1" dirty="0">
                <a:latin typeface="Times New Roman" panose="02020603050405020304" pitchFamily="18" charset="0"/>
                <a:ea typeface="华文楷体" panose="02010600040101010101" pitchFamily="2" charset="-122"/>
                <a:sym typeface="+mn-ea"/>
              </a:rPr>
              <a:t>z</a:t>
            </a:r>
            <a:r>
              <a:rPr lang="en-US" altLang="en-US" sz="2000" b="1" dirty="0">
                <a:latin typeface="Times New Roman" panose="02020603050405020304" pitchFamily="18" charset="0"/>
                <a:ea typeface="华文楷体" panose="02010600040101010101" pitchFamily="2" charset="-122"/>
                <a:sym typeface="+mn-ea"/>
              </a:rPr>
              <a:t>的另一种表示符号，建议在</a:t>
            </a:r>
            <a:r>
              <a:rPr lang="en-US" altLang="zh-CN" sz="2000" b="1" dirty="0">
                <a:latin typeface="Times New Roman" panose="02020603050405020304" pitchFamily="18" charset="0"/>
                <a:ea typeface="华文楷体" panose="02010600040101010101" pitchFamily="2" charset="-122"/>
                <a:sym typeface="+mn-ea"/>
              </a:rPr>
              <a:t>case</a:t>
            </a:r>
            <a:r>
              <a:rPr lang="en-US" altLang="en-US" sz="2000" b="1" dirty="0">
                <a:latin typeface="Times New Roman" panose="02020603050405020304" pitchFamily="18" charset="0"/>
                <a:ea typeface="华文楷体" panose="02010600040101010101" pitchFamily="2" charset="-122"/>
                <a:sym typeface="+mn-ea"/>
              </a:rPr>
              <a:t>语句中使用</a:t>
            </a:r>
            <a:r>
              <a:rPr lang="en-US" altLang="en-US" sz="2000" b="1" dirty="0">
                <a:solidFill>
                  <a:srgbClr val="FF0066"/>
                </a:solidFill>
                <a:latin typeface="Times New Roman" panose="02020603050405020304" pitchFamily="18" charset="0"/>
                <a:ea typeface="华文楷体" panose="02010600040101010101" pitchFamily="2" charset="-122"/>
                <a:sym typeface="+mn-ea"/>
              </a:rPr>
              <a:t>？</a:t>
            </a:r>
            <a:r>
              <a:rPr lang="en-US" altLang="en-US" sz="2000" b="1" dirty="0">
                <a:latin typeface="Times New Roman" panose="02020603050405020304" pitchFamily="18" charset="0"/>
                <a:ea typeface="华文楷体" panose="02010600040101010101" pitchFamily="2" charset="-122"/>
                <a:sym typeface="+mn-ea"/>
              </a:rPr>
              <a:t>表示高阻态</a:t>
            </a:r>
            <a:r>
              <a:rPr lang="en-US" altLang="zh-CN" sz="2000" b="1" dirty="0">
                <a:solidFill>
                  <a:srgbClr val="FF0066"/>
                </a:solidFill>
                <a:latin typeface="Times New Roman" panose="02020603050405020304" pitchFamily="18" charset="0"/>
                <a:ea typeface="华文楷体" panose="02010600040101010101" pitchFamily="2" charset="-122"/>
                <a:sym typeface="+mn-ea"/>
              </a:rPr>
              <a:t>z</a:t>
            </a:r>
            <a:endParaRPr lang="en-US" altLang="zh-CN" sz="2000" b="1" dirty="0">
              <a:solidFill>
                <a:srgbClr val="FF0066"/>
              </a:solidFill>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a:t>
            </a:r>
            <a:r>
              <a:rPr lang="en-US" altLang="en-US" sz="2000" b="1" dirty="0">
                <a:solidFill>
                  <a:srgbClr val="FF0066"/>
                </a:solidFill>
                <a:latin typeface="Times New Roman" panose="02020603050405020304" pitchFamily="18" charset="0"/>
                <a:ea typeface="华文楷体" panose="02010600040101010101" pitchFamily="2" charset="-122"/>
                <a:sym typeface="+mn-ea"/>
              </a:rPr>
              <a:t>例</a:t>
            </a:r>
            <a:r>
              <a:rPr lang="en-US" altLang="zh-CN" sz="2000" b="1" dirty="0">
                <a:latin typeface="Times New Roman" panose="02020603050405020304" pitchFamily="18" charset="0"/>
                <a:ea typeface="华文楷体" panose="02010600040101010101" pitchFamily="2" charset="-122"/>
                <a:sym typeface="+mn-ea"/>
              </a:rPr>
              <a:t>] casez (select)</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         4’b???1: out = a;</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         4’b??1?: out = b;</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         4’b?1??: out = c;</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         4’b1???: out = d;</a:t>
            </a:r>
            <a:endParaRPr lang="en-US" altLang="zh-CN" sz="2000" b="1" dirty="0">
              <a:latin typeface="Times New Roman" panose="02020603050405020304" pitchFamily="18" charset="0"/>
              <a:ea typeface="华文楷体" panose="02010600040101010101" pitchFamily="2" charset="-122"/>
              <a:sym typeface="+mn-ea"/>
            </a:endParaRPr>
          </a:p>
          <a:p>
            <a:pPr marL="914400" lvl="2" indent="0" algn="just">
              <a:lnSpc>
                <a:spcPct val="110000"/>
              </a:lnSpc>
              <a:spcBef>
                <a:spcPct val="0"/>
              </a:spcBef>
              <a:buClr>
                <a:srgbClr val="FF9900"/>
              </a:buClr>
              <a:buNone/>
            </a:pPr>
            <a:r>
              <a:rPr lang="en-US" altLang="zh-CN" sz="2000" b="1" dirty="0">
                <a:latin typeface="Times New Roman" panose="02020603050405020304" pitchFamily="18" charset="0"/>
                <a:ea typeface="华文楷体" panose="02010600040101010101" pitchFamily="2" charset="-122"/>
                <a:sym typeface="+mn-ea"/>
              </a:rPr>
              <a:t>       endcase</a:t>
            </a:r>
            <a:endParaRPr lang="en-US" altLang="zh-CN" sz="2000" b="1" dirty="0">
              <a:latin typeface="Times New Roman" panose="02020603050405020304" pitchFamily="18" charset="0"/>
              <a:ea typeface="华文楷体" panose="02010600040101010101" pitchFamily="2" charset="-122"/>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3043"/>
                                        </p:tgtEl>
                                        <p:attrNameLst>
                                          <p:attrName>style.visibility</p:attrName>
                                        </p:attrNameLst>
                                      </p:cBhvr>
                                      <p:to>
                                        <p:strVal val="visible"/>
                                      </p:to>
                                    </p:set>
                                    <p:anim calcmode="lin" valueType="num">
                                      <p:cBhvr additive="base">
                                        <p:cTn id="7" dur="500" fill="hold"/>
                                        <p:tgtEl>
                                          <p:spTgt spid="1623043"/>
                                        </p:tgtEl>
                                        <p:attrNameLst>
                                          <p:attrName>ppt_x</p:attrName>
                                        </p:attrNameLst>
                                      </p:cBhvr>
                                      <p:tavLst>
                                        <p:tav tm="0">
                                          <p:val>
                                            <p:strVal val="0-#ppt_w/2"/>
                                          </p:val>
                                        </p:tav>
                                        <p:tav tm="100000">
                                          <p:val>
                                            <p:strVal val="#ppt_x"/>
                                          </p:val>
                                        </p:tav>
                                      </p:tavLst>
                                    </p:anim>
                                    <p:anim calcmode="lin" valueType="num">
                                      <p:cBhvr additive="base">
                                        <p:cTn id="8" dur="500" fill="hold"/>
                                        <p:tgtEl>
                                          <p:spTgt spid="16230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23044"/>
                                        </p:tgtEl>
                                        <p:attrNameLst>
                                          <p:attrName>style.visibility</p:attrName>
                                        </p:attrNameLst>
                                      </p:cBhvr>
                                      <p:to>
                                        <p:strVal val="visible"/>
                                      </p:to>
                                    </p:set>
                                    <p:animEffect transition="in" filter="dissolve">
                                      <p:cBhvr>
                                        <p:cTn id="13" dur="500"/>
                                        <p:tgtEl>
                                          <p:spTgt spid="162304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23045"/>
                                        </p:tgtEl>
                                        <p:attrNameLst>
                                          <p:attrName>style.visibility</p:attrName>
                                        </p:attrNameLst>
                                      </p:cBhvr>
                                      <p:to>
                                        <p:strVal val="visible"/>
                                      </p:to>
                                    </p:set>
                                    <p:animEffect transition="in" filter="dissolve">
                                      <p:cBhvr>
                                        <p:cTn id="18" dur="500"/>
                                        <p:tgtEl>
                                          <p:spTgt spid="162304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23046">
                                            <p:txEl>
                                              <p:charRg st="0" end="24"/>
                                            </p:txEl>
                                          </p:spTgt>
                                        </p:tgtEl>
                                        <p:attrNameLst>
                                          <p:attrName>style.visibility</p:attrName>
                                        </p:attrNameLst>
                                      </p:cBhvr>
                                      <p:to>
                                        <p:strVal val="visible"/>
                                      </p:to>
                                    </p:set>
                                    <p:anim calcmode="lin" valueType="num">
                                      <p:cBhvr additive="base">
                                        <p:cTn id="23" dur="500" fill="hold"/>
                                        <p:tgtEl>
                                          <p:spTgt spid="1623046">
                                            <p:txEl>
                                              <p:charRg st="0" end="2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23046">
                                            <p:txEl>
                                              <p:charRg st="0" end="2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23046">
                                            <p:txEl>
                                              <p:charRg st="24" end="87"/>
                                            </p:txEl>
                                          </p:spTgt>
                                        </p:tgtEl>
                                        <p:attrNameLst>
                                          <p:attrName>style.visibility</p:attrName>
                                        </p:attrNameLst>
                                      </p:cBhvr>
                                      <p:to>
                                        <p:strVal val="visible"/>
                                      </p:to>
                                    </p:set>
                                    <p:anim calcmode="lin" valueType="num">
                                      <p:cBhvr additive="base">
                                        <p:cTn id="29" dur="500" fill="hold"/>
                                        <p:tgtEl>
                                          <p:spTgt spid="1623046">
                                            <p:txEl>
                                              <p:charRg st="24" end="87"/>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23046">
                                            <p:txEl>
                                              <p:charRg st="24" end="87"/>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23046">
                                            <p:txEl>
                                              <p:charRg st="87" end="112"/>
                                            </p:txEl>
                                          </p:spTgt>
                                        </p:tgtEl>
                                        <p:attrNameLst>
                                          <p:attrName>style.visibility</p:attrName>
                                        </p:attrNameLst>
                                      </p:cBhvr>
                                      <p:to>
                                        <p:strVal val="visible"/>
                                      </p:to>
                                    </p:set>
                                    <p:anim calcmode="lin" valueType="num">
                                      <p:cBhvr additive="base">
                                        <p:cTn id="33" dur="500" fill="hold"/>
                                        <p:tgtEl>
                                          <p:spTgt spid="1623046">
                                            <p:txEl>
                                              <p:charRg st="87" end="112"/>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23046">
                                            <p:txEl>
                                              <p:charRg st="87" end="112"/>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623046">
                                            <p:txEl>
                                              <p:charRg st="112" end="136"/>
                                            </p:txEl>
                                          </p:spTgt>
                                        </p:tgtEl>
                                        <p:attrNameLst>
                                          <p:attrName>style.visibility</p:attrName>
                                        </p:attrNameLst>
                                      </p:cBhvr>
                                      <p:to>
                                        <p:strVal val="visible"/>
                                      </p:to>
                                    </p:set>
                                    <p:anim calcmode="lin" valueType="num">
                                      <p:cBhvr additive="base">
                                        <p:cTn id="37" dur="500" fill="hold"/>
                                        <p:tgtEl>
                                          <p:spTgt spid="1623046">
                                            <p:txEl>
                                              <p:charRg st="112" end="13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23046">
                                            <p:txEl>
                                              <p:charRg st="112" end="13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23046">
                                            <p:txEl>
                                              <p:charRg st="136" end="170"/>
                                            </p:txEl>
                                          </p:spTgt>
                                        </p:tgtEl>
                                        <p:attrNameLst>
                                          <p:attrName>style.visibility</p:attrName>
                                        </p:attrNameLst>
                                      </p:cBhvr>
                                      <p:to>
                                        <p:strVal val="visible"/>
                                      </p:to>
                                    </p:set>
                                    <p:anim calcmode="lin" valueType="num">
                                      <p:cBhvr additive="base">
                                        <p:cTn id="43" dur="500" fill="hold"/>
                                        <p:tgtEl>
                                          <p:spTgt spid="1623046">
                                            <p:txEl>
                                              <p:charRg st="136" end="170"/>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23046">
                                            <p:txEl>
                                              <p:charRg st="136" end="170"/>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623046">
                                            <p:txEl>
                                              <p:charRg st="170" end="189"/>
                                            </p:txEl>
                                          </p:spTgt>
                                        </p:tgtEl>
                                        <p:attrNameLst>
                                          <p:attrName>style.visibility</p:attrName>
                                        </p:attrNameLst>
                                      </p:cBhvr>
                                      <p:to>
                                        <p:strVal val="visible"/>
                                      </p:to>
                                    </p:set>
                                    <p:anim calcmode="lin" valueType="num">
                                      <p:cBhvr additive="base">
                                        <p:cTn id="47" dur="500" fill="hold"/>
                                        <p:tgtEl>
                                          <p:spTgt spid="1623046">
                                            <p:txEl>
                                              <p:charRg st="170" end="189"/>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623046">
                                            <p:txEl>
                                              <p:charRg st="170" end="189"/>
                                            </p:tx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623046">
                                            <p:txEl>
                                              <p:charRg st="189" end="216"/>
                                            </p:txEl>
                                          </p:spTgt>
                                        </p:tgtEl>
                                        <p:attrNameLst>
                                          <p:attrName>style.visibility</p:attrName>
                                        </p:attrNameLst>
                                      </p:cBhvr>
                                      <p:to>
                                        <p:strVal val="visible"/>
                                      </p:to>
                                    </p:set>
                                    <p:anim calcmode="lin" valueType="num">
                                      <p:cBhvr additive="base">
                                        <p:cTn id="51" dur="500" fill="hold"/>
                                        <p:tgtEl>
                                          <p:spTgt spid="1623046">
                                            <p:txEl>
                                              <p:charRg st="189" end="216"/>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1623046">
                                            <p:txEl>
                                              <p:charRg st="189" end="216"/>
                                            </p:tx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623046">
                                            <p:txEl>
                                              <p:charRg st="216" end="243"/>
                                            </p:txEl>
                                          </p:spTgt>
                                        </p:tgtEl>
                                        <p:attrNameLst>
                                          <p:attrName>style.visibility</p:attrName>
                                        </p:attrNameLst>
                                      </p:cBhvr>
                                      <p:to>
                                        <p:strVal val="visible"/>
                                      </p:to>
                                    </p:set>
                                    <p:anim calcmode="lin" valueType="num">
                                      <p:cBhvr additive="base">
                                        <p:cTn id="55" dur="500" fill="hold"/>
                                        <p:tgtEl>
                                          <p:spTgt spid="1623046">
                                            <p:txEl>
                                              <p:charRg st="216" end="243"/>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623046">
                                            <p:txEl>
                                              <p:charRg st="216" end="243"/>
                                            </p:txEl>
                                          </p:spTgt>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623046">
                                            <p:txEl>
                                              <p:charRg st="243" end="270"/>
                                            </p:txEl>
                                          </p:spTgt>
                                        </p:tgtEl>
                                        <p:attrNameLst>
                                          <p:attrName>style.visibility</p:attrName>
                                        </p:attrNameLst>
                                      </p:cBhvr>
                                      <p:to>
                                        <p:strVal val="visible"/>
                                      </p:to>
                                    </p:set>
                                    <p:anim calcmode="lin" valueType="num">
                                      <p:cBhvr additive="base">
                                        <p:cTn id="59" dur="500" fill="hold"/>
                                        <p:tgtEl>
                                          <p:spTgt spid="1623046">
                                            <p:txEl>
                                              <p:charRg st="243" end="27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1623046">
                                            <p:txEl>
                                              <p:charRg st="243" end="270"/>
                                            </p:txEl>
                                          </p:spTgt>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623046">
                                            <p:txEl>
                                              <p:charRg st="270" end="297"/>
                                            </p:txEl>
                                          </p:spTgt>
                                        </p:tgtEl>
                                        <p:attrNameLst>
                                          <p:attrName>style.visibility</p:attrName>
                                        </p:attrNameLst>
                                      </p:cBhvr>
                                      <p:to>
                                        <p:strVal val="visible"/>
                                      </p:to>
                                    </p:set>
                                    <p:anim calcmode="lin" valueType="num">
                                      <p:cBhvr additive="base">
                                        <p:cTn id="63" dur="500" fill="hold"/>
                                        <p:tgtEl>
                                          <p:spTgt spid="1623046">
                                            <p:txEl>
                                              <p:charRg st="270" end="297"/>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1623046">
                                            <p:txEl>
                                              <p:charRg st="270" end="297"/>
                                            </p:txEl>
                                          </p:spTgt>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623046">
                                            <p:txEl>
                                              <p:charRg st="297" end="312"/>
                                            </p:txEl>
                                          </p:spTgt>
                                        </p:tgtEl>
                                        <p:attrNameLst>
                                          <p:attrName>style.visibility</p:attrName>
                                        </p:attrNameLst>
                                      </p:cBhvr>
                                      <p:to>
                                        <p:strVal val="visible"/>
                                      </p:to>
                                    </p:set>
                                    <p:anim calcmode="lin" valueType="num">
                                      <p:cBhvr additive="base">
                                        <p:cTn id="67" dur="500" fill="hold"/>
                                        <p:tgtEl>
                                          <p:spTgt spid="1623046">
                                            <p:txEl>
                                              <p:charRg st="297" end="312"/>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623046">
                                            <p:txEl>
                                              <p:charRg st="297" end="3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3043" grpId="0"/>
      <p:bldP spid="1623044" grpId="0" bldLvl="0" animBg="1"/>
      <p:bldP spid="1623045" grpId="0" bldLvl="0" animBg="1"/>
      <p:bldP spid="1623046" grpId="0" bldLvl="2"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451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6451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25091" name="Rectangle 3"/>
          <p:cNvSpPr>
            <a:spLocks noGrp="1"/>
          </p:cNvSpPr>
          <p:nvPr>
            <p:ph idx="1"/>
          </p:nvPr>
        </p:nvSpPr>
        <p:spPr>
          <a:xfrm>
            <a:off x="539750" y="620713"/>
            <a:ext cx="7921625" cy="5184775"/>
          </a:xfrm>
        </p:spPr>
        <p:txBody>
          <a:bodyPr vert="horz" wrap="square" lIns="91440" tIns="45720" rIns="91440" bIns="45720" anchor="t" anchorCtr="0"/>
          <a:p>
            <a:pPr lvl="1" algn="just">
              <a:lnSpc>
                <a:spcPct val="110000"/>
              </a:lnSpc>
              <a:spcBef>
                <a:spcPct val="0"/>
              </a:spcBef>
            </a:pPr>
            <a:endParaRPr lang="en-US" altLang="zh-CN" dirty="0">
              <a:latin typeface="宋体" panose="02010600030101010101" pitchFamily="2" charset="-122"/>
              <a:ea typeface="黑体" panose="02010609060101010101" pitchFamily="49" charset="-122"/>
            </a:endParaRPr>
          </a:p>
          <a:p>
            <a:pPr algn="just">
              <a:lnSpc>
                <a:spcPct val="110000"/>
              </a:lnSpc>
              <a:spcBef>
                <a:spcPct val="0"/>
              </a:spcBef>
            </a:pPr>
            <a:r>
              <a:rPr lang="en-US" altLang="zh-CN" dirty="0">
                <a:solidFill>
                  <a:schemeClr val="tx2"/>
                </a:solidFill>
                <a:latin typeface="Times New Roman" panose="02020603050405020304" pitchFamily="18" charset="0"/>
                <a:ea typeface="黑体" panose="02010609060101010101" pitchFamily="49" charset="-122"/>
                <a:cs typeface="+mn-cs"/>
              </a:rPr>
              <a:t>(3)</a:t>
            </a:r>
            <a:r>
              <a:rPr lang="zh-CN" altLang="en-US" dirty="0">
                <a:solidFill>
                  <a:schemeClr val="tx2"/>
                </a:solidFill>
                <a:latin typeface="Times New Roman" panose="02020603050405020304" pitchFamily="18" charset="0"/>
                <a:ea typeface="华文楷体" panose="02010600040101010101" pitchFamily="2" charset="-122"/>
                <a:cs typeface="+mn-cs"/>
              </a:rPr>
              <a:t>负数</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在位宽前加一个减号，即表示负数</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如：</a:t>
            </a:r>
            <a:r>
              <a:rPr lang="en-US" altLang="zh-CN" dirty="0">
                <a:latin typeface="Times New Roman" panose="02020603050405020304" pitchFamily="18" charset="0"/>
                <a:ea typeface="黑体" panose="02010609060101010101" pitchFamily="49" charset="-122"/>
              </a:rPr>
              <a:t>-8’d5    //5</a:t>
            </a:r>
            <a:r>
              <a:rPr lang="zh-CN" altLang="en-US" dirty="0">
                <a:latin typeface="Times New Roman" panose="02020603050405020304" pitchFamily="18" charset="0"/>
                <a:ea typeface="华文楷体" panose="02010600040101010101" pitchFamily="2" charset="-122"/>
              </a:rPr>
              <a:t>的补数，</a:t>
            </a:r>
            <a:r>
              <a:rPr lang="en-US" altLang="zh-CN" dirty="0">
                <a:latin typeface="Times New Roman" panose="02020603050405020304" pitchFamily="18" charset="0"/>
                <a:ea typeface="黑体" panose="02010609060101010101" pitchFamily="49" charset="-122"/>
              </a:rPr>
              <a:t>= 8‘b11111011</a:t>
            </a:r>
            <a:endParaRPr lang="en-US" altLang="zh-CN" dirty="0">
              <a:latin typeface="Times New Roman" panose="02020603050405020304" pitchFamily="18" charset="0"/>
              <a:ea typeface="黑体" panose="02010609060101010101" pitchFamily="49" charset="-122"/>
            </a:endParaRPr>
          </a:p>
          <a:p>
            <a:pPr lvl="1" algn="just">
              <a:lnSpc>
                <a:spcPct val="110000"/>
              </a:lnSpc>
              <a:spcBef>
                <a:spcPct val="0"/>
              </a:spcBef>
            </a:pPr>
            <a:r>
              <a:rPr lang="zh-CN" altLang="en-US" dirty="0">
                <a:solidFill>
                  <a:srgbClr val="CC0000"/>
                </a:solidFill>
                <a:latin typeface="Times New Roman" panose="02020603050405020304" pitchFamily="18" charset="0"/>
                <a:ea typeface="华文楷体" panose="02010600040101010101" pitchFamily="2" charset="-122"/>
              </a:rPr>
              <a:t>减号不能放在位宽与进制之间，也不能放在进制与数字之间！</a:t>
            </a:r>
            <a:endParaRPr lang="zh-CN" altLang="en-US" dirty="0">
              <a:solidFill>
                <a:srgbClr val="CC0000"/>
              </a:solidFill>
              <a:latin typeface="Times New Roman" panose="02020603050405020304" pitchFamily="18" charset="0"/>
              <a:ea typeface="华文楷体" panose="02010600040101010101" pitchFamily="2" charset="-122"/>
            </a:endParaRPr>
          </a:p>
          <a:p>
            <a:pPr lvl="1" algn="just">
              <a:lnSpc>
                <a:spcPct val="110000"/>
              </a:lnSpc>
              <a:spcBef>
                <a:spcPct val="0"/>
              </a:spcBef>
            </a:pPr>
            <a:r>
              <a:rPr lang="en-US" altLang="zh-CN" dirty="0">
                <a:latin typeface="Times New Roman" panose="02020603050405020304" pitchFamily="18" charset="0"/>
                <a:ea typeface="黑体" panose="02010609060101010101" pitchFamily="49" charset="-122"/>
              </a:rPr>
              <a:t>8 ’ d-5    //</a:t>
            </a:r>
            <a:r>
              <a:rPr lang="zh-CN" altLang="en-US" dirty="0">
                <a:latin typeface="Times New Roman" panose="02020603050405020304" pitchFamily="18" charset="0"/>
                <a:ea typeface="华文楷体" panose="02010600040101010101" pitchFamily="2" charset="-122"/>
              </a:rPr>
              <a:t>非法格式</a:t>
            </a:r>
            <a:endParaRPr lang="zh-CN" altLang="en-US" dirty="0">
              <a:latin typeface="Times New Roman" panose="02020603050405020304" pitchFamily="18" charset="0"/>
              <a:ea typeface="华文楷体" panose="02010600040101010101" pitchFamily="2" charset="-122"/>
            </a:endParaRPr>
          </a:p>
        </p:txBody>
      </p:sp>
      <p:sp>
        <p:nvSpPr>
          <p:cNvPr id="1625092" name="AutoShape 4"/>
          <p:cNvSpPr/>
          <p:nvPr/>
        </p:nvSpPr>
        <p:spPr>
          <a:xfrm>
            <a:off x="887413" y="2595563"/>
            <a:ext cx="7369175" cy="3238500"/>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marR="0" lvl="0" indent="287655" algn="just" defTabSz="914400" rtl="0" eaLnBrk="0" fontAlgn="base" latinLnBrk="0" hangingPunct="0">
              <a:lnSpc>
                <a:spcPct val="105000"/>
              </a:lnSpc>
              <a:spcBef>
                <a:spcPct val="0"/>
              </a:spcBef>
              <a:spcAft>
                <a:spcPct val="0"/>
              </a:spcAft>
              <a:buClr>
                <a:srgbClr val="FF0066"/>
              </a:buClr>
              <a:buSzTx/>
              <a:buFont typeface="Wingdings" panose="05000000000000000000" pitchFamily="2" charset="2"/>
              <a:buChar char="v"/>
              <a:defRPr/>
            </a:pP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为提高可读性，在较长的数字之间可用下划线</a:t>
            </a:r>
            <a:r>
              <a:rPr kumimoji="0" lang="en-US" altLang="zh-CN" sz="20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_</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隔开！但不可以用在</a:t>
            </a:r>
            <a:r>
              <a:rPr kumimoji="0" lang="en-US" altLang="zh-CN"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&lt;</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进制</a:t>
            </a:r>
            <a:r>
              <a:rPr kumimoji="0" lang="en-US" altLang="zh-CN"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&gt;</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和</a:t>
            </a:r>
            <a:r>
              <a:rPr kumimoji="0" lang="en-US" altLang="zh-CN"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&lt;</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数字</a:t>
            </a:r>
            <a:r>
              <a:rPr kumimoji="0" lang="en-US" altLang="zh-CN"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&gt;</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之间。</a:t>
            </a:r>
            <a:endPar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如：</a:t>
            </a: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16‘b1010_1011_1100_1111 //</a:t>
            </a: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合法</a:t>
            </a:r>
            <a:endPar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8‘b</a:t>
            </a:r>
            <a:r>
              <a:rPr kumimoji="0" lang="en-US" altLang="zh-CN" sz="2000" b="1" i="0" u="none" strike="noStrike" kern="1200" cap="none" spc="0" normalizeH="0" baseline="0" noProof="1">
                <a:ln>
                  <a:noFill/>
                </a:ln>
                <a:solidFill>
                  <a:srgbClr val="CC0000"/>
                </a:solidFill>
                <a:effectLst/>
                <a:uLnTx/>
                <a:uFillTx/>
                <a:latin typeface="Times New Roman" panose="02020603050405020304" pitchFamily="18" charset="0"/>
                <a:ea typeface="华文楷体" panose="02010600040101010101" pitchFamily="2" charset="-122"/>
                <a:cs typeface="+mn-cs"/>
                <a:sym typeface="+mn-ea"/>
              </a:rPr>
              <a:t>_</a:t>
            </a: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0011_1010 //</a:t>
            </a:r>
            <a:r>
              <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非法</a:t>
            </a:r>
            <a:endParaRPr kumimoji="0" lang="zh-CN" altLang="en-US"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287655" algn="just" defTabSz="914400" rtl="0" eaLnBrk="0" fontAlgn="base" latinLnBrk="0" hangingPunct="0">
              <a:lnSpc>
                <a:spcPct val="110000"/>
              </a:lnSpc>
              <a:spcBef>
                <a:spcPct val="0"/>
              </a:spcBef>
              <a:spcAft>
                <a:spcPct val="0"/>
              </a:spcAft>
              <a:buClr>
                <a:srgbClr val="FF0066"/>
              </a:buClr>
              <a:buSzPct val="80000"/>
              <a:buFont typeface="Wingdings" panose="05000000000000000000" pitchFamily="2" charset="2"/>
              <a:buChar char="v"/>
              <a:defRPr/>
            </a:pP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当常量未指明位宽时，默认为</a:t>
            </a:r>
            <a:r>
              <a:rPr kumimoji="0" lang="en-US" altLang="zh-CN" sz="20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32</a:t>
            </a:r>
            <a:r>
              <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rPr>
              <a:t>位。</a:t>
            </a:r>
            <a:endParaRPr kumimoji="0" lang="zh-CN" altLang="en-US"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endParaRPr>
          </a:p>
          <a:p>
            <a:pPr marL="482600" marR="0" lvl="1" indent="0" algn="just" defTabSz="914400" rtl="0" eaLnBrk="0" fontAlgn="base" latinLnBrk="0" hangingPunct="0">
              <a:lnSpc>
                <a:spcPct val="110000"/>
              </a:lnSpc>
              <a:spcBef>
                <a:spcPct val="0"/>
              </a:spcBef>
              <a:spcAft>
                <a:spcPct val="0"/>
              </a:spcAft>
              <a:buClr>
                <a:srgbClr val="FF0000"/>
              </a:buClr>
              <a:buSzPct val="80000"/>
              <a:buFont typeface="Wingdings" panose="05000000000000000000" pitchFamily="2" charset="2"/>
              <a:buChar char="Ø"/>
              <a:defRPr/>
            </a:pP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10 = 32‘d10 = 32’b1010</a:t>
            </a:r>
            <a:endPar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482600" marR="0" lvl="1" indent="0" algn="just" defTabSz="914400" rtl="0" eaLnBrk="0" fontAlgn="base" latinLnBrk="0" hangingPunct="0">
              <a:lnSpc>
                <a:spcPct val="110000"/>
              </a:lnSpc>
              <a:spcBef>
                <a:spcPct val="0"/>
              </a:spcBef>
              <a:spcAft>
                <a:spcPct val="0"/>
              </a:spcAft>
              <a:buClr>
                <a:srgbClr val="FF0000"/>
              </a:buClr>
              <a:buSzPct val="80000"/>
              <a:buFont typeface="Wingdings" panose="05000000000000000000" pitchFamily="2" charset="2"/>
              <a:buChar char="Ø"/>
              <a:defRPr/>
            </a:pPr>
            <a:r>
              <a:rPr kumimoji="0" lang="en-US" altLang="zh-CN" sz="20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-1 = -32’d1 = 32’b1111……1111 = 32’hFFFFFFFF</a:t>
            </a:r>
            <a:endParaRPr kumimoji="0" lang="en-US" altLang="zh-CN" sz="2000" b="1" i="0" u="none" strike="noStrike" kern="1200" cap="none" spc="0" normalizeH="0" baseline="0" noProof="1">
              <a:ln>
                <a:noFill/>
              </a:ln>
              <a:solidFill>
                <a:schemeClr val="tx2"/>
              </a:solidFill>
              <a:effectLst/>
              <a:uLnTx/>
              <a:uFillTx/>
              <a:latin typeface="Times New Roman" panose="02020603050405020304" pitchFamily="18" charset="0"/>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5091"/>
                                        </p:tgtEl>
                                        <p:attrNameLst>
                                          <p:attrName>style.visibility</p:attrName>
                                        </p:attrNameLst>
                                      </p:cBhvr>
                                      <p:to>
                                        <p:strVal val="visible"/>
                                      </p:to>
                                    </p:set>
                                    <p:anim calcmode="lin" valueType="num">
                                      <p:cBhvr additive="base">
                                        <p:cTn id="7" dur="500" fill="hold"/>
                                        <p:tgtEl>
                                          <p:spTgt spid="1625091"/>
                                        </p:tgtEl>
                                        <p:attrNameLst>
                                          <p:attrName>ppt_x</p:attrName>
                                        </p:attrNameLst>
                                      </p:cBhvr>
                                      <p:tavLst>
                                        <p:tav tm="0">
                                          <p:val>
                                            <p:strVal val="0-#ppt_w/2"/>
                                          </p:val>
                                        </p:tav>
                                        <p:tav tm="100000">
                                          <p:val>
                                            <p:strVal val="#ppt_x"/>
                                          </p:val>
                                        </p:tav>
                                      </p:tavLst>
                                    </p:anim>
                                    <p:anim calcmode="lin" valueType="num">
                                      <p:cBhvr additive="base">
                                        <p:cTn id="8" dur="500" fill="hold"/>
                                        <p:tgtEl>
                                          <p:spTgt spid="16250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25092"/>
                                        </p:tgtEl>
                                        <p:attrNameLst>
                                          <p:attrName>style.visibility</p:attrName>
                                        </p:attrNameLst>
                                      </p:cBhvr>
                                      <p:to>
                                        <p:strVal val="visible"/>
                                      </p:to>
                                    </p:set>
                                    <p:anim calcmode="lin" valueType="num">
                                      <p:cBhvr>
                                        <p:cTn id="13" dur="500" fill="hold"/>
                                        <p:tgtEl>
                                          <p:spTgt spid="1625092"/>
                                        </p:tgtEl>
                                        <p:attrNameLst>
                                          <p:attrName>ppt_w</p:attrName>
                                        </p:attrNameLst>
                                      </p:cBhvr>
                                      <p:tavLst>
                                        <p:tav tm="0">
                                          <p:val>
                                            <p:fltVal val="0.000000"/>
                                          </p:val>
                                        </p:tav>
                                        <p:tav tm="100000">
                                          <p:val>
                                            <p:strVal val="#ppt_w"/>
                                          </p:val>
                                        </p:tav>
                                      </p:tavLst>
                                    </p:anim>
                                    <p:anim calcmode="lin" valueType="num">
                                      <p:cBhvr>
                                        <p:cTn id="14" dur="500" fill="hold"/>
                                        <p:tgtEl>
                                          <p:spTgt spid="162509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5091" grpId="0"/>
      <p:bldP spid="1625092"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656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6656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27139"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solidFill>
                  <a:schemeClr val="tx2"/>
                </a:solidFill>
                <a:latin typeface="Times New Roman" panose="02020603050405020304" pitchFamily="18" charset="0"/>
                <a:ea typeface="黑体" panose="02010609060101010101" pitchFamily="49" charset="-122"/>
                <a:cs typeface="+mn-cs"/>
              </a:rPr>
              <a:t>(4)parameter</a:t>
            </a:r>
            <a:r>
              <a:rPr lang="zh-CN" altLang="en-US" dirty="0">
                <a:solidFill>
                  <a:schemeClr val="tx2"/>
                </a:solidFill>
                <a:latin typeface="Times New Roman" panose="02020603050405020304" pitchFamily="18" charset="0"/>
                <a:ea typeface="华文楷体" panose="02010600040101010101" pitchFamily="2" charset="-122"/>
                <a:cs typeface="+mn-cs"/>
              </a:rPr>
              <a:t>常量（符号常量）</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用</a:t>
            </a:r>
            <a:r>
              <a:rPr lang="en-US" altLang="zh-CN" dirty="0">
                <a:latin typeface="Times New Roman" panose="02020603050405020304" pitchFamily="18" charset="0"/>
                <a:ea typeface="黑体" panose="02010609060101010101" pitchFamily="49" charset="-122"/>
              </a:rPr>
              <a:t>parameter</a:t>
            </a:r>
            <a:r>
              <a:rPr lang="zh-CN" altLang="en-US" dirty="0">
                <a:latin typeface="Times New Roman" panose="02020603050405020304" pitchFamily="18" charset="0"/>
                <a:ea typeface="华文楷体" panose="02010600040101010101" pitchFamily="2" charset="-122"/>
              </a:rPr>
              <a:t>来定义一个标识符，代表一个常量</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华文楷体" panose="02010600040101010101" pitchFamily="2" charset="-122"/>
              </a:rPr>
              <a:t>称为</a:t>
            </a:r>
            <a:r>
              <a:rPr lang="zh-CN" altLang="en-US" dirty="0">
                <a:solidFill>
                  <a:srgbClr val="FF0066"/>
                </a:solidFill>
                <a:latin typeface="Times New Roman" panose="02020603050405020304" pitchFamily="18" charset="0"/>
                <a:ea typeface="华文楷体" panose="02010600040101010101" pitchFamily="2" charset="-122"/>
              </a:rPr>
              <a:t>符号</a:t>
            </a:r>
            <a:r>
              <a:rPr lang="zh-CN" altLang="en-US" dirty="0">
                <a:latin typeface="Times New Roman" panose="02020603050405020304" pitchFamily="18" charset="0"/>
                <a:ea typeface="华文楷体" panose="02010600040101010101" pitchFamily="2" charset="-122"/>
              </a:rPr>
              <a:t>常量</a:t>
            </a:r>
            <a:endParaRPr lang="zh-CN" altLang="en-US" dirty="0">
              <a:latin typeface="Times New Roman" panose="02020603050405020304" pitchFamily="18" charset="0"/>
              <a:ea typeface="华文楷体" panose="02010600040101010101" pitchFamily="2" charset="-122"/>
            </a:endParaRPr>
          </a:p>
        </p:txBody>
      </p:sp>
      <p:sp>
        <p:nvSpPr>
          <p:cNvPr id="1627140" name="AutoShape 4"/>
          <p:cNvSpPr/>
          <p:nvPr/>
        </p:nvSpPr>
        <p:spPr>
          <a:xfrm>
            <a:off x="1597025" y="2609850"/>
            <a:ext cx="1600200" cy="685800"/>
          </a:xfrm>
          <a:prstGeom prst="wedgeRoundRectCallout">
            <a:avLst>
              <a:gd name="adj1" fmla="val -49208"/>
              <a:gd name="adj2" fmla="val -83796"/>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参数型数据的确认符</a:t>
            </a:r>
            <a:endParaRPr lang="zh-CN" altLang="en-US" dirty="0">
              <a:latin typeface="华文楷体" panose="02010600040101010101" pitchFamily="2" charset="-122"/>
              <a:ea typeface="华文楷体" panose="02010600040101010101" pitchFamily="2" charset="-122"/>
            </a:endParaRPr>
          </a:p>
        </p:txBody>
      </p:sp>
      <p:sp>
        <p:nvSpPr>
          <p:cNvPr id="1627141" name="Text Box 5"/>
          <p:cNvSpPr txBox="1"/>
          <p:nvPr/>
        </p:nvSpPr>
        <p:spPr>
          <a:xfrm>
            <a:off x="1325563" y="1966913"/>
            <a:ext cx="6716712"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parameter</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参数名</a:t>
            </a:r>
            <a:r>
              <a:rPr lang="en-US" altLang="zh-CN" b="1" dirty="0">
                <a:latin typeface="宋体" panose="02010600030101010101" pitchFamily="2" charset="-122"/>
                <a:ea typeface="宋体" panose="02010600030101010101" pitchFamily="2" charset="-122"/>
              </a:rPr>
              <a:t>1 = </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参数名</a:t>
            </a:r>
            <a:r>
              <a:rPr lang="en-US" altLang="zh-CN" b="1" dirty="0">
                <a:latin typeface="宋体" panose="02010600030101010101" pitchFamily="2" charset="-122"/>
                <a:ea typeface="宋体" panose="02010600030101010101" pitchFamily="2" charset="-122"/>
              </a:rPr>
              <a:t>2 = </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627143" name="Text Box 7"/>
          <p:cNvSpPr txBox="1"/>
          <p:nvPr/>
        </p:nvSpPr>
        <p:spPr>
          <a:xfrm>
            <a:off x="434975" y="3316288"/>
            <a:ext cx="7729538" cy="31384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563880" lvl="1" indent="-282575"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每个赋值语句的右边必须为</a:t>
            </a:r>
            <a:r>
              <a:rPr lang="zh-CN" altLang="en-US" sz="2000" b="1" dirty="0">
                <a:solidFill>
                  <a:srgbClr val="FF33CC"/>
                </a:solidFill>
                <a:latin typeface="Times New Roman" panose="02020603050405020304" pitchFamily="18" charset="0"/>
                <a:ea typeface="华文楷体" panose="02010600040101010101" pitchFamily="2" charset="-122"/>
              </a:rPr>
              <a:t>常数</a:t>
            </a:r>
            <a:r>
              <a:rPr lang="zh-CN" altLang="en-US" sz="2000" b="1" dirty="0">
                <a:latin typeface="Times New Roman" panose="02020603050405020304" pitchFamily="18" charset="0"/>
                <a:ea typeface="华文楷体" panose="02010600040101010101" pitchFamily="2" charset="-122"/>
              </a:rPr>
              <a:t>表达式，即只能包含数字或先前定义过的符号常量！</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Font typeface="Wingdings" panose="05000000000000000000" pitchFamily="2" charset="2"/>
              <a:buNone/>
            </a:pPr>
            <a:r>
              <a:rPr lang="zh-CN" altLang="en-US" sz="2000" b="1" dirty="0">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parameter addrwidth = 16</a:t>
            </a:r>
            <a:r>
              <a:rPr lang="zh-CN" altLang="en-US" sz="2000" b="1" dirty="0">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合法格式</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Font typeface="Wingdings" panose="05000000000000000000" pitchFamily="2" charset="2"/>
              <a:buNone/>
            </a:pPr>
            <a:r>
              <a:rPr lang="zh-CN" altLang="en-US" sz="2000" b="1" dirty="0">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parameter addrwidth = datawidth*2</a:t>
            </a:r>
            <a:r>
              <a:rPr lang="zh-CN" altLang="en-US" sz="2000" b="1" dirty="0">
                <a:latin typeface="Times New Roman" panose="02020603050405020304" pitchFamily="18" charset="0"/>
                <a:ea typeface="华文楷体" panose="02010600040101010101" pitchFamily="2" charset="-122"/>
              </a:rPr>
              <a:t>； </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非法格式</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常用参数来定义</a:t>
            </a:r>
            <a:r>
              <a:rPr lang="zh-CN" altLang="en-US" sz="2000" b="1" dirty="0">
                <a:solidFill>
                  <a:srgbClr val="FF33CC"/>
                </a:solidFill>
                <a:latin typeface="Times New Roman" panose="02020603050405020304" pitchFamily="18" charset="0"/>
                <a:ea typeface="华文楷体" panose="02010600040101010101" pitchFamily="2" charset="-122"/>
              </a:rPr>
              <a:t>延迟时间</a:t>
            </a:r>
            <a:r>
              <a:rPr lang="zh-CN" altLang="en-US" sz="2000" b="1" dirty="0">
                <a:latin typeface="Times New Roman" panose="02020603050405020304" pitchFamily="18" charset="0"/>
                <a:ea typeface="华文楷体" panose="02010600040101010101" pitchFamily="2" charset="-122"/>
              </a:rPr>
              <a:t>和</a:t>
            </a:r>
            <a:r>
              <a:rPr lang="zh-CN" altLang="en-US" sz="2000" b="1" dirty="0">
                <a:solidFill>
                  <a:srgbClr val="FF33CC"/>
                </a:solidFill>
                <a:latin typeface="Times New Roman" panose="02020603050405020304" pitchFamily="18" charset="0"/>
                <a:ea typeface="华文楷体" panose="02010600040101010101" pitchFamily="2" charset="-122"/>
              </a:rPr>
              <a:t>变量宽度</a:t>
            </a:r>
            <a:r>
              <a:rPr lang="zh-CN" altLang="en-US" sz="2000" b="1" dirty="0">
                <a:latin typeface="Times New Roman" panose="02020603050405020304" pitchFamily="18" charset="0"/>
                <a:ea typeface="华文楷体" panose="02010600040101010101" pitchFamily="2" charset="-122"/>
              </a:rPr>
              <a:t>。</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可用字符串表示的任何地方</a:t>
            </a: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都可以用定义的参数来代替。</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参数是</a:t>
            </a:r>
            <a:r>
              <a:rPr lang="zh-CN" altLang="en-US" sz="2000" b="1" dirty="0">
                <a:solidFill>
                  <a:srgbClr val="FF33CC"/>
                </a:solidFill>
                <a:latin typeface="Times New Roman" panose="02020603050405020304" pitchFamily="18" charset="0"/>
                <a:ea typeface="华文楷体" panose="02010600040101010101" pitchFamily="2" charset="-122"/>
              </a:rPr>
              <a:t>本地</a:t>
            </a:r>
            <a:r>
              <a:rPr lang="zh-CN" altLang="en-US" sz="2000" b="1" dirty="0">
                <a:latin typeface="Times New Roman" panose="02020603050405020304" pitchFamily="18" charset="0"/>
                <a:ea typeface="华文楷体" panose="02010600040101010101" pitchFamily="2" charset="-122"/>
              </a:rPr>
              <a:t>的，其定义只在本模块内有效。</a:t>
            </a:r>
            <a:endParaRPr lang="zh-CN" altLang="en-US" sz="20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0000"/>
              </a:buClr>
              <a:buSzPct val="80000"/>
              <a:buFont typeface="Wingdings" panose="05000000000000000000" pitchFamily="2" charset="2"/>
              <a:buChar char="Ø"/>
            </a:pPr>
            <a:r>
              <a:rPr lang="zh-CN" altLang="en-US" sz="2000" b="1" dirty="0">
                <a:latin typeface="Times New Roman" panose="02020603050405020304" pitchFamily="18" charset="0"/>
                <a:ea typeface="华文楷体" panose="02010600040101010101" pitchFamily="2" charset="-122"/>
              </a:rPr>
              <a:t>在模块或实例引用时，可通过</a:t>
            </a:r>
            <a:r>
              <a:rPr lang="zh-CN" altLang="en-US" sz="2000" b="1" dirty="0">
                <a:solidFill>
                  <a:srgbClr val="FF33CC"/>
                </a:solidFill>
                <a:latin typeface="Times New Roman" panose="02020603050405020304" pitchFamily="18" charset="0"/>
                <a:ea typeface="华文楷体" panose="02010600040101010101" pitchFamily="2" charset="-122"/>
              </a:rPr>
              <a:t>参数传递</a:t>
            </a:r>
            <a:r>
              <a:rPr lang="zh-CN" altLang="en-US" sz="2000" b="1" dirty="0">
                <a:latin typeface="Times New Roman" panose="02020603050405020304" pitchFamily="18" charset="0"/>
                <a:ea typeface="华文楷体" panose="02010600040101010101" pitchFamily="2" charset="-122"/>
              </a:rPr>
              <a:t>改变在被引用模块或实例中已定义的参数！</a:t>
            </a:r>
            <a:endParaRPr lang="zh-CN" altLang="en-US" sz="2000" b="1" dirty="0">
              <a:solidFill>
                <a:srgbClr val="FF33CC"/>
              </a:solidFill>
              <a:latin typeface="Times New Roman" panose="02020603050405020304" pitchFamily="18" charset="0"/>
              <a:ea typeface="华文楷体" panose="02010600040101010101" pitchFamily="2" charset="-122"/>
            </a:endParaRPr>
          </a:p>
        </p:txBody>
      </p:sp>
      <p:grpSp>
        <p:nvGrpSpPr>
          <p:cNvPr id="2" name="Group 13"/>
          <p:cNvGrpSpPr/>
          <p:nvPr/>
        </p:nvGrpSpPr>
        <p:grpSpPr>
          <a:xfrm>
            <a:off x="2813050" y="2349500"/>
            <a:ext cx="4908550" cy="966788"/>
            <a:chOff x="2082" y="1612"/>
            <a:chExt cx="3092" cy="609"/>
          </a:xfrm>
        </p:grpSpPr>
        <p:sp>
          <p:nvSpPr>
            <p:cNvPr id="66569" name="AutoShape 9"/>
            <p:cNvSpPr/>
            <p:nvPr/>
          </p:nvSpPr>
          <p:spPr>
            <a:xfrm>
              <a:off x="3572" y="1981"/>
              <a:ext cx="1008" cy="240"/>
            </a:xfrm>
            <a:prstGeom prst="wedgeRoundRectCallout">
              <a:avLst>
                <a:gd name="adj1" fmla="val -50296"/>
                <a:gd name="adj2" fmla="val -124167"/>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5C1F"/>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赋值语句表</a:t>
              </a:r>
              <a:endParaRPr lang="zh-CN" altLang="en-US" dirty="0">
                <a:latin typeface="华文楷体" panose="02010600040101010101" pitchFamily="2" charset="-122"/>
                <a:ea typeface="华文楷体" panose="02010600040101010101" pitchFamily="2" charset="-122"/>
              </a:endParaRPr>
            </a:p>
          </p:txBody>
        </p:sp>
        <p:sp>
          <p:nvSpPr>
            <p:cNvPr id="66570" name="AutoShape 10"/>
            <p:cNvSpPr/>
            <p:nvPr/>
          </p:nvSpPr>
          <p:spPr>
            <a:xfrm rot="5355780">
              <a:off x="3531" y="163"/>
              <a:ext cx="194" cy="3092"/>
            </a:xfrm>
            <a:prstGeom prst="rightBrace">
              <a:avLst>
                <a:gd name="adj1" fmla="val 132079"/>
                <a:gd name="adj2" fmla="val 51616"/>
              </a:avLst>
            </a:prstGeom>
            <a:noFill/>
            <a:ln w="25400" cap="sq" cmpd="sng">
              <a:solidFill>
                <a:srgbClr val="FF0066"/>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7139">
                                            <p:txEl>
                                              <p:charRg st="0" end="21"/>
                                            </p:txEl>
                                          </p:spTgt>
                                        </p:tgtEl>
                                        <p:attrNameLst>
                                          <p:attrName>style.visibility</p:attrName>
                                        </p:attrNameLst>
                                      </p:cBhvr>
                                      <p:to>
                                        <p:strVal val="visible"/>
                                      </p:to>
                                    </p:set>
                                    <p:anim calcmode="lin" valueType="num">
                                      <p:cBhvr additive="base">
                                        <p:cTn id="7" dur="500" fill="hold"/>
                                        <p:tgtEl>
                                          <p:spTgt spid="1627139">
                                            <p:txEl>
                                              <p:charRg st="0" end="2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27139">
                                            <p:txEl>
                                              <p:charRg st="0" end="2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27139">
                                            <p:txEl>
                                              <p:charRg st="21" end="55"/>
                                            </p:txEl>
                                          </p:spTgt>
                                        </p:tgtEl>
                                        <p:attrNameLst>
                                          <p:attrName>style.visibility</p:attrName>
                                        </p:attrNameLst>
                                      </p:cBhvr>
                                      <p:to>
                                        <p:strVal val="visible"/>
                                      </p:to>
                                    </p:set>
                                    <p:anim calcmode="lin" valueType="num">
                                      <p:cBhvr additive="base">
                                        <p:cTn id="11" dur="500" fill="hold"/>
                                        <p:tgtEl>
                                          <p:spTgt spid="1627139">
                                            <p:txEl>
                                              <p:charRg st="21" end="55"/>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27139">
                                            <p:txEl>
                                              <p:charRg st="21" end="55"/>
                                            </p:txEl>
                                          </p:spTgt>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1627141"/>
                                        </p:tgtEl>
                                        <p:attrNameLst>
                                          <p:attrName>style.visibility</p:attrName>
                                        </p:attrNameLst>
                                      </p:cBhvr>
                                      <p:to>
                                        <p:strVal val="visible"/>
                                      </p:to>
                                    </p:set>
                                    <p:anim calcmode="lin" valueType="num">
                                      <p:cBhvr additive="base">
                                        <p:cTn id="16" dur="500" fill="hold"/>
                                        <p:tgtEl>
                                          <p:spTgt spid="1627141"/>
                                        </p:tgtEl>
                                        <p:attrNameLst>
                                          <p:attrName>ppt_x</p:attrName>
                                        </p:attrNameLst>
                                      </p:cBhvr>
                                      <p:tavLst>
                                        <p:tav tm="0">
                                          <p:val>
                                            <p:strVal val="1+#ppt_w/2"/>
                                          </p:val>
                                        </p:tav>
                                        <p:tav tm="100000">
                                          <p:val>
                                            <p:strVal val="#ppt_x"/>
                                          </p:val>
                                        </p:tav>
                                      </p:tavLst>
                                    </p:anim>
                                    <p:anim calcmode="lin" valueType="num">
                                      <p:cBhvr additive="base">
                                        <p:cTn id="17" dur="500" fill="hold"/>
                                        <p:tgtEl>
                                          <p:spTgt spid="162714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27140"/>
                                        </p:tgtEl>
                                        <p:attrNameLst>
                                          <p:attrName>style.visibility</p:attrName>
                                        </p:attrNameLst>
                                      </p:cBhvr>
                                      <p:to>
                                        <p:strVal val="visible"/>
                                      </p:to>
                                    </p:set>
                                    <p:animEffect transition="in" filter="dissolve">
                                      <p:cBhvr>
                                        <p:cTn id="22" dur="500"/>
                                        <p:tgtEl>
                                          <p:spTgt spid="162714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627143"/>
                                        </p:tgtEl>
                                        <p:attrNameLst>
                                          <p:attrName>style.visibility</p:attrName>
                                        </p:attrNameLst>
                                      </p:cBhvr>
                                      <p:to>
                                        <p:strVal val="visible"/>
                                      </p:to>
                                    </p:set>
                                    <p:anim calcmode="lin" valueType="num">
                                      <p:cBhvr additive="base">
                                        <p:cTn id="32" dur="500" fill="hold"/>
                                        <p:tgtEl>
                                          <p:spTgt spid="1627143"/>
                                        </p:tgtEl>
                                        <p:attrNameLst>
                                          <p:attrName>ppt_x</p:attrName>
                                        </p:attrNameLst>
                                      </p:cBhvr>
                                      <p:tavLst>
                                        <p:tav tm="0">
                                          <p:val>
                                            <p:strVal val="#ppt_x"/>
                                          </p:val>
                                        </p:tav>
                                        <p:tav tm="100000">
                                          <p:val>
                                            <p:strVal val="#ppt_x"/>
                                          </p:val>
                                        </p:tav>
                                      </p:tavLst>
                                    </p:anim>
                                    <p:anim calcmode="lin" valueType="num">
                                      <p:cBhvr additive="base">
                                        <p:cTn id="33" dur="500" fill="hold"/>
                                        <p:tgtEl>
                                          <p:spTgt spid="1627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7139" grpId="0" advAuto="1000" build="p"/>
      <p:bldP spid="1627140" grpId="0" bldLvl="0" animBg="1"/>
      <p:bldP spid="1627141" grpId="0" bldLvl="0" animBg="1"/>
      <p:bldP spid="1627143"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861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6861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29187" name="Rectangle 3"/>
          <p:cNvSpPr>
            <a:spLocks noGrp="1"/>
          </p:cNvSpPr>
          <p:nvPr>
            <p:ph idx="1"/>
          </p:nvPr>
        </p:nvSpPr>
        <p:spPr/>
        <p:txBody>
          <a:bodyPr vert="horz" wrap="square" lIns="91440" tIns="45720" rIns="91440" bIns="45720" anchor="t" anchorCtr="0"/>
          <a:p>
            <a:pPr lvl="1" algn="just">
              <a:lnSpc>
                <a:spcPct val="110000"/>
              </a:lnSpc>
              <a:spcBef>
                <a:spcPct val="0"/>
              </a:spcBef>
            </a:pPr>
            <a:r>
              <a:rPr lang="zh-CN" altLang="en-US" dirty="0">
                <a:latin typeface="华文楷体" panose="02010600040101010101" pitchFamily="2" charset="-122"/>
                <a:ea typeface="华文楷体" panose="02010600040101010101" pitchFamily="2" charset="-122"/>
              </a:rPr>
              <a:t>模块实例引用时参数的传递</a:t>
            </a:r>
            <a:r>
              <a:rPr lang="en-US" altLang="zh-CN" dirty="0">
                <a:latin typeface="华文楷体" panose="02010600040101010101" pitchFamily="2" charset="-122"/>
                <a:ea typeface="黑体" panose="02010609060101010101" pitchFamily="49" charset="-122"/>
              </a:rPr>
              <a:t>——</a:t>
            </a:r>
            <a:r>
              <a:rPr lang="zh-CN" altLang="en-US" dirty="0">
                <a:solidFill>
                  <a:srgbClr val="CC0000"/>
                </a:solidFill>
                <a:latin typeface="华文楷体" panose="02010600040101010101" pitchFamily="2" charset="-122"/>
                <a:ea typeface="华文楷体" panose="02010600040101010101" pitchFamily="2" charset="-122"/>
              </a:rPr>
              <a:t>方法之一</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1629199" name="Rectangle 15"/>
          <p:cNvSpPr/>
          <p:nvPr/>
        </p:nvSpPr>
        <p:spPr>
          <a:xfrm>
            <a:off x="1323975" y="1928813"/>
            <a:ext cx="4616450" cy="430212"/>
          </a:xfrm>
          <a:prstGeom prst="rect">
            <a:avLst/>
          </a:prstGeom>
          <a:noFill/>
          <a:ln w="9525" cap="flat" cmpd="sng">
            <a:solidFill>
              <a:schemeClr val="bg1"/>
            </a:solidFill>
            <a:prstDash val="solid"/>
            <a:round/>
            <a:headEnd type="none" w="med" len="med"/>
            <a:tailEnd type="none" w="med" len="med"/>
          </a:ln>
          <a:effectLst>
            <a:prstShdw prst="shdw13" dist="53882" dir="13499999">
              <a:srgbClr val="808080"/>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2200" b="1" dirty="0">
                <a:latin typeface="Times New Roman" panose="02020603050405020304" pitchFamily="18" charset="0"/>
                <a:ea typeface="华文楷体" panose="02010600040101010101" pitchFamily="2" charset="-122"/>
              </a:rPr>
              <a:t>利用</a:t>
            </a:r>
            <a:r>
              <a:rPr lang="en-US" altLang="zh-CN" sz="2200" b="1" dirty="0">
                <a:solidFill>
                  <a:schemeClr val="hlink"/>
                </a:solidFill>
                <a:latin typeface="Times New Roman" panose="02020603050405020304" pitchFamily="18" charset="0"/>
                <a:ea typeface="华文楷体" panose="02010600040101010101" pitchFamily="2" charset="-122"/>
              </a:rPr>
              <a:t>defparam</a:t>
            </a:r>
            <a:r>
              <a:rPr lang="zh-CN" altLang="en-US" sz="2200" b="1" dirty="0">
                <a:latin typeface="Times New Roman" panose="02020603050405020304" pitchFamily="18" charset="0"/>
                <a:ea typeface="华文楷体" panose="02010600040101010101" pitchFamily="2" charset="-122"/>
              </a:rPr>
              <a:t>定义参数声明语句！</a:t>
            </a:r>
            <a:endParaRPr lang="zh-CN" altLang="en-US" sz="2200" b="1" dirty="0">
              <a:latin typeface="Times New Roman" panose="02020603050405020304" pitchFamily="18" charset="0"/>
              <a:ea typeface="华文楷体" panose="02010600040101010101" pitchFamily="2" charset="-122"/>
            </a:endParaRPr>
          </a:p>
        </p:txBody>
      </p:sp>
      <p:sp>
        <p:nvSpPr>
          <p:cNvPr id="1629202" name="Text Box 18"/>
          <p:cNvSpPr txBox="1"/>
          <p:nvPr/>
        </p:nvSpPr>
        <p:spPr>
          <a:xfrm>
            <a:off x="1323975" y="2595563"/>
            <a:ext cx="6745288" cy="8286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sz="2200" b="1" dirty="0">
                <a:solidFill>
                  <a:schemeClr val="hlink"/>
                </a:solidFill>
                <a:latin typeface="Times New Roman" panose="02020603050405020304" pitchFamily="18" charset="0"/>
                <a:ea typeface="宋体" panose="02010600030101010101" pitchFamily="2" charset="-122"/>
              </a:rPr>
              <a:t>defparam </a:t>
            </a:r>
            <a:r>
              <a:rPr lang="zh-CN" altLang="en-US" sz="2200" b="1" dirty="0">
                <a:latin typeface="Tahoma" panose="020B0604030504040204" pitchFamily="34" charset="0"/>
                <a:ea typeface="宋体" panose="02010600030101010101" pitchFamily="2" charset="-122"/>
              </a:rPr>
              <a:t>例化模块名</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参数名</a:t>
            </a:r>
            <a:r>
              <a:rPr lang="en-US" altLang="zh-CN" sz="2200" b="1" dirty="0">
                <a:latin typeface="Times New Roman" panose="02020603050405020304" pitchFamily="18" charset="0"/>
                <a:ea typeface="宋体" panose="02010600030101010101" pitchFamily="2" charset="-122"/>
              </a:rPr>
              <a:t>1 = </a:t>
            </a:r>
            <a:r>
              <a:rPr lang="zh-CN" altLang="en-US" sz="2200" b="1" dirty="0">
                <a:solidFill>
                  <a:schemeClr val="hlink"/>
                </a:solidFill>
                <a:latin typeface="Times New Roman" panose="02020603050405020304" pitchFamily="18" charset="0"/>
                <a:ea typeface="宋体" panose="02010600030101010101" pitchFamily="2" charset="-122"/>
              </a:rPr>
              <a:t>常数</a:t>
            </a:r>
            <a:r>
              <a:rPr lang="zh-CN" altLang="en-US" sz="2200" b="1" dirty="0">
                <a:latin typeface="宋体" panose="02010600030101010101" pitchFamily="2" charset="-122"/>
                <a:ea typeface="宋体" panose="02010600030101010101" pitchFamily="2" charset="-122"/>
              </a:rPr>
              <a:t>表达式</a:t>
            </a:r>
            <a:r>
              <a:rPr lang="en-US" altLang="zh-CN" sz="2200" b="1" dirty="0">
                <a:latin typeface="Times New Roman" panose="02020603050405020304" pitchFamily="18" charset="0"/>
                <a:ea typeface="宋体" panose="02010600030101010101" pitchFamily="2" charset="-122"/>
              </a:rPr>
              <a:t>,</a:t>
            </a:r>
            <a:endParaRPr lang="en-US" altLang="zh-CN" sz="2200" b="1" dirty="0">
              <a:latin typeface="Times New Roman" panose="02020603050405020304" pitchFamily="18" charset="0"/>
              <a:ea typeface="宋体" panose="02010600030101010101" pitchFamily="2" charset="-122"/>
            </a:endParaRPr>
          </a:p>
          <a:p>
            <a:pPr marL="0" lvl="0" indent="0" algn="just">
              <a:lnSpc>
                <a:spcPct val="110000"/>
              </a:lnSpc>
              <a:spcBef>
                <a:spcPct val="0"/>
              </a:spcBef>
              <a:buNone/>
            </a:pPr>
            <a:r>
              <a:rPr lang="en-US" altLang="zh-CN" sz="2200" b="1" dirty="0">
                <a:latin typeface="Times New Roman" panose="02020603050405020304" pitchFamily="18" charset="0"/>
                <a:ea typeface="宋体" panose="02010600030101010101" pitchFamily="2" charset="-122"/>
              </a:rPr>
              <a:t>                  </a:t>
            </a:r>
            <a:r>
              <a:rPr lang="zh-CN" altLang="en-US" sz="2200" b="1" dirty="0">
                <a:latin typeface="Tahoma" panose="020B0604030504040204" pitchFamily="34" charset="0"/>
                <a:ea typeface="宋体" panose="02010600030101010101" pitchFamily="2" charset="-122"/>
              </a:rPr>
              <a:t>例化模块名</a:t>
            </a:r>
            <a:r>
              <a:rPr lang="en-US" altLang="zh-CN" sz="2200" b="1" dirty="0">
                <a:latin typeface="Times New Roman" panose="02020603050405020304" pitchFamily="18" charset="0"/>
                <a:ea typeface="宋体" panose="02010600030101010101" pitchFamily="2" charset="-122"/>
              </a:rPr>
              <a:t>.</a:t>
            </a:r>
            <a:r>
              <a:rPr lang="zh-CN" altLang="en-US" sz="2200" b="1" dirty="0">
                <a:latin typeface="Times New Roman" panose="02020603050405020304" pitchFamily="18" charset="0"/>
                <a:ea typeface="宋体" panose="02010600030101010101" pitchFamily="2" charset="-122"/>
              </a:rPr>
              <a:t>参数名</a:t>
            </a:r>
            <a:r>
              <a:rPr lang="en-US" altLang="zh-CN" sz="2200" b="1" dirty="0">
                <a:latin typeface="Times New Roman" panose="02020603050405020304" pitchFamily="18" charset="0"/>
                <a:ea typeface="宋体" panose="02010600030101010101" pitchFamily="2" charset="-122"/>
              </a:rPr>
              <a:t>2 = </a:t>
            </a:r>
            <a:r>
              <a:rPr lang="zh-CN" altLang="en-US" sz="2200" b="1" dirty="0">
                <a:solidFill>
                  <a:schemeClr val="hlink"/>
                </a:solidFill>
                <a:latin typeface="Times New Roman" panose="02020603050405020304" pitchFamily="18" charset="0"/>
                <a:ea typeface="宋体" panose="02010600030101010101" pitchFamily="2" charset="-122"/>
              </a:rPr>
              <a:t>常数</a:t>
            </a:r>
            <a:r>
              <a:rPr lang="zh-CN" altLang="en-US" sz="2200" b="1" dirty="0">
                <a:latin typeface="宋体" panose="02010600030101010101" pitchFamily="2" charset="-122"/>
                <a:ea typeface="宋体" panose="02010600030101010101" pitchFamily="2" charset="-122"/>
              </a:rPr>
              <a:t>表达式</a:t>
            </a:r>
            <a:r>
              <a:rPr lang="en-US" altLang="zh-CN" sz="2200" b="1" dirty="0">
                <a:latin typeface="Times New Roman" panose="02020603050405020304" pitchFamily="18" charset="0"/>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629207" name="Text Box 23"/>
          <p:cNvSpPr txBox="1"/>
          <p:nvPr/>
        </p:nvSpPr>
        <p:spPr>
          <a:xfrm>
            <a:off x="735013" y="3768725"/>
            <a:ext cx="7729537" cy="17145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563880" lvl="1" indent="-282575" algn="just">
              <a:lnSpc>
                <a:spcPct val="110000"/>
              </a:lnSpc>
              <a:spcBef>
                <a:spcPct val="0"/>
              </a:spcBef>
              <a:buClr>
                <a:srgbClr val="FF9900"/>
              </a:buClr>
              <a:buFont typeface="Arial" panose="020B0604020202020204" pitchFamily="34" charset="0"/>
              <a:buChar char="•"/>
            </a:pPr>
            <a:r>
              <a:rPr lang="en-US" altLang="zh-CN" sz="2400" b="1" dirty="0">
                <a:solidFill>
                  <a:schemeClr val="hlink"/>
                </a:solidFill>
                <a:latin typeface="Times New Roman" panose="02020603050405020304" pitchFamily="18" charset="0"/>
                <a:ea typeface="华文楷体" panose="02010600040101010101" pitchFamily="2" charset="-122"/>
              </a:rPr>
              <a:t>defparam</a:t>
            </a:r>
            <a:r>
              <a:rPr lang="zh-CN" altLang="en-US" sz="2400" b="1" dirty="0">
                <a:latin typeface="Times New Roman" panose="02020603050405020304" pitchFamily="18" charset="0"/>
                <a:ea typeface="华文楷体" panose="02010600040101010101" pitchFamily="2" charset="-122"/>
              </a:rPr>
              <a:t>语句在编译时可重新定义参数值。</a:t>
            </a:r>
            <a:endParaRPr lang="zh-CN" altLang="en-US" sz="24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9900"/>
              </a:buClr>
              <a:buFont typeface="Arial" panose="020B0604020202020204" pitchFamily="34" charset="0"/>
              <a:buChar char="•"/>
            </a:pPr>
            <a:r>
              <a:rPr lang="zh-CN" altLang="en-US" sz="2400" b="1" dirty="0">
                <a:latin typeface="Times New Roman" panose="02020603050405020304" pitchFamily="18" charset="0"/>
                <a:ea typeface="华文楷体" panose="02010600040101010101" pitchFamily="2" charset="-122"/>
              </a:rPr>
              <a:t>可综合性问题：一般情况下是不可综合的。</a:t>
            </a:r>
            <a:endParaRPr lang="zh-CN" altLang="en-US" sz="2400" b="1" dirty="0">
              <a:latin typeface="Times New Roman" panose="02020603050405020304" pitchFamily="18" charset="0"/>
              <a:ea typeface="华文楷体" panose="02010600040101010101" pitchFamily="2" charset="-122"/>
            </a:endParaRPr>
          </a:p>
          <a:p>
            <a:pPr marL="563880" lvl="1" indent="-282575" algn="just">
              <a:lnSpc>
                <a:spcPct val="110000"/>
              </a:lnSpc>
              <a:spcBef>
                <a:spcPct val="0"/>
              </a:spcBef>
              <a:buClr>
                <a:srgbClr val="FF9900"/>
              </a:buClr>
              <a:buFont typeface="Arial" panose="020B0604020202020204" pitchFamily="34" charset="0"/>
              <a:buChar char="•"/>
            </a:pPr>
            <a:r>
              <a:rPr lang="zh-CN" altLang="en-US" sz="2400" b="1" dirty="0">
                <a:latin typeface="Times New Roman" panose="02020603050405020304" pitchFamily="18" charset="0"/>
                <a:ea typeface="华文楷体" panose="02010600040101010101" pitchFamily="2" charset="-122"/>
              </a:rPr>
              <a:t>提示：不要使用</a:t>
            </a:r>
            <a:r>
              <a:rPr lang="en-US" altLang="zh-CN" sz="2400" b="1" dirty="0">
                <a:latin typeface="Times New Roman" panose="02020603050405020304" pitchFamily="18" charset="0"/>
                <a:ea typeface="华文楷体" panose="02010600040101010101" pitchFamily="2" charset="-122"/>
              </a:rPr>
              <a:t>defparam</a:t>
            </a:r>
            <a:r>
              <a:rPr lang="zh-CN" altLang="en-US" sz="2400" b="1" dirty="0">
                <a:latin typeface="Times New Roman" panose="02020603050405020304" pitchFamily="18" charset="0"/>
                <a:ea typeface="华文楷体" panose="02010600040101010101" pitchFamily="2" charset="-122"/>
              </a:rPr>
              <a:t>语句！在模块的实例引用时可用“</a:t>
            </a:r>
            <a:r>
              <a:rPr lang="en-US" altLang="zh-CN" sz="2400" b="1" dirty="0">
                <a:solidFill>
                  <a:schemeClr val="hlink"/>
                </a:solidFill>
                <a:latin typeface="Times New Roman" panose="02020603050405020304" pitchFamily="18" charset="0"/>
                <a:ea typeface="华文楷体" panose="02010600040101010101" pitchFamily="2" charset="-122"/>
              </a:rPr>
              <a:t>#</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号后跟参数的语法来重新定义参数。</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29187"/>
                                        </p:tgtEl>
                                        <p:attrNameLst>
                                          <p:attrName>style.visibility</p:attrName>
                                        </p:attrNameLst>
                                      </p:cBhvr>
                                      <p:to>
                                        <p:strVal val="visible"/>
                                      </p:to>
                                    </p:set>
                                    <p:anim calcmode="lin" valueType="num">
                                      <p:cBhvr additive="base">
                                        <p:cTn id="7" dur="500" fill="hold"/>
                                        <p:tgtEl>
                                          <p:spTgt spid="1629187"/>
                                        </p:tgtEl>
                                        <p:attrNameLst>
                                          <p:attrName>ppt_x</p:attrName>
                                        </p:attrNameLst>
                                      </p:cBhvr>
                                      <p:tavLst>
                                        <p:tav tm="0">
                                          <p:val>
                                            <p:strVal val="0-#ppt_w/2"/>
                                          </p:val>
                                        </p:tav>
                                        <p:tav tm="100000">
                                          <p:val>
                                            <p:strVal val="#ppt_x"/>
                                          </p:val>
                                        </p:tav>
                                      </p:tavLst>
                                    </p:anim>
                                    <p:anim calcmode="lin" valueType="num">
                                      <p:cBhvr additive="base">
                                        <p:cTn id="8" dur="500" fill="hold"/>
                                        <p:tgtEl>
                                          <p:spTgt spid="16291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29199"/>
                                        </p:tgtEl>
                                        <p:attrNameLst>
                                          <p:attrName>style.visibility</p:attrName>
                                        </p:attrNameLst>
                                      </p:cBhvr>
                                      <p:to>
                                        <p:strVal val="visible"/>
                                      </p:to>
                                    </p:set>
                                    <p:anim calcmode="lin" valueType="num">
                                      <p:cBhvr>
                                        <p:cTn id="13" dur="500" fill="hold"/>
                                        <p:tgtEl>
                                          <p:spTgt spid="1629199"/>
                                        </p:tgtEl>
                                        <p:attrNameLst>
                                          <p:attrName>ppt_w</p:attrName>
                                        </p:attrNameLst>
                                      </p:cBhvr>
                                      <p:tavLst>
                                        <p:tav tm="0">
                                          <p:val>
                                            <p:fltVal val="0.000000"/>
                                          </p:val>
                                        </p:tav>
                                        <p:tav tm="100000">
                                          <p:val>
                                            <p:strVal val="#ppt_w"/>
                                          </p:val>
                                        </p:tav>
                                      </p:tavLst>
                                    </p:anim>
                                    <p:anim calcmode="lin" valueType="num">
                                      <p:cBhvr>
                                        <p:cTn id="14" dur="500" fill="hold"/>
                                        <p:tgtEl>
                                          <p:spTgt spid="1629199"/>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2" fill="hold" grpId="0" nodeType="afterEffect">
                                  <p:stCondLst>
                                    <p:cond delay="0"/>
                                  </p:stCondLst>
                                  <p:childTnLst>
                                    <p:set>
                                      <p:cBhvr>
                                        <p:cTn id="17" dur="1" fill="hold">
                                          <p:stCondLst>
                                            <p:cond delay="0"/>
                                          </p:stCondLst>
                                        </p:cTn>
                                        <p:tgtEl>
                                          <p:spTgt spid="1629202"/>
                                        </p:tgtEl>
                                        <p:attrNameLst>
                                          <p:attrName>style.visibility</p:attrName>
                                        </p:attrNameLst>
                                      </p:cBhvr>
                                      <p:to>
                                        <p:strVal val="visible"/>
                                      </p:to>
                                    </p:set>
                                    <p:anim calcmode="lin" valueType="num">
                                      <p:cBhvr additive="base">
                                        <p:cTn id="18" dur="500" fill="hold"/>
                                        <p:tgtEl>
                                          <p:spTgt spid="1629202"/>
                                        </p:tgtEl>
                                        <p:attrNameLst>
                                          <p:attrName>ppt_x</p:attrName>
                                        </p:attrNameLst>
                                      </p:cBhvr>
                                      <p:tavLst>
                                        <p:tav tm="0">
                                          <p:val>
                                            <p:strVal val="1+#ppt_w/2"/>
                                          </p:val>
                                        </p:tav>
                                        <p:tav tm="100000">
                                          <p:val>
                                            <p:strVal val="#ppt_x"/>
                                          </p:val>
                                        </p:tav>
                                      </p:tavLst>
                                    </p:anim>
                                    <p:anim calcmode="lin" valueType="num">
                                      <p:cBhvr additive="base">
                                        <p:cTn id="19" dur="500" fill="hold"/>
                                        <p:tgtEl>
                                          <p:spTgt spid="162920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629207"/>
                                        </p:tgtEl>
                                        <p:attrNameLst>
                                          <p:attrName>style.visibility</p:attrName>
                                        </p:attrNameLst>
                                      </p:cBhvr>
                                      <p:to>
                                        <p:strVal val="visible"/>
                                      </p:to>
                                    </p:set>
                                    <p:anim calcmode="lin" valueType="num">
                                      <p:cBhvr additive="base">
                                        <p:cTn id="24" dur="500" fill="hold"/>
                                        <p:tgtEl>
                                          <p:spTgt spid="1629207"/>
                                        </p:tgtEl>
                                        <p:attrNameLst>
                                          <p:attrName>ppt_x</p:attrName>
                                        </p:attrNameLst>
                                      </p:cBhvr>
                                      <p:tavLst>
                                        <p:tav tm="0">
                                          <p:val>
                                            <p:strVal val="#ppt_x"/>
                                          </p:val>
                                        </p:tav>
                                        <p:tav tm="100000">
                                          <p:val>
                                            <p:strVal val="#ppt_x"/>
                                          </p:val>
                                        </p:tav>
                                      </p:tavLst>
                                    </p:anim>
                                    <p:anim calcmode="lin" valueType="num">
                                      <p:cBhvr additive="base">
                                        <p:cTn id="25" dur="500" fill="hold"/>
                                        <p:tgtEl>
                                          <p:spTgt spid="1629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9187" grpId="0"/>
      <p:bldP spid="1629199" grpId="0" bldLvl="0" animBg="1"/>
      <p:bldP spid="1629202" grpId="0" bldLvl="0" animBg="1"/>
      <p:bldP spid="1629207"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065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70659" name="内容占位符 4"/>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161666" name="Text Box 2"/>
          <p:cNvSpPr txBox="1"/>
          <p:nvPr/>
        </p:nvSpPr>
        <p:spPr>
          <a:xfrm>
            <a:off x="312738" y="1635125"/>
            <a:ext cx="8631237" cy="39687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a:t>
            </a:r>
            <a:r>
              <a:rPr lang="zh-CN" altLang="en-US" b="1" dirty="0">
                <a:solidFill>
                  <a:srgbClr val="FF0066"/>
                </a:solidFill>
                <a:latin typeface="Times New Roman" panose="02020603050405020304" pitchFamily="18" charset="0"/>
                <a:ea typeface="华文楷体" panose="02010600040101010101" pitchFamily="2" charset="-122"/>
              </a:rPr>
              <a:t>例</a:t>
            </a:r>
            <a:r>
              <a:rPr lang="en-US" altLang="zh-CN" b="1" dirty="0">
                <a:latin typeface="Times New Roman" panose="02020603050405020304" pitchFamily="18" charset="0"/>
                <a:ea typeface="华文楷体" panose="02010600040101010101" pitchFamily="2" charset="-122"/>
              </a:rPr>
              <a:t>]</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module mod ( out, ina, inb);</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parameter cycle = 8, real_constant = 2.039,</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file = “/user1/jmdong/design/mem_file.dat”;</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endmodule</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module test;</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      mod mk(out,ina,inb);        // </a:t>
            </a:r>
            <a:r>
              <a:rPr lang="zh-CN" altLang="en-US" b="1" dirty="0">
                <a:latin typeface="Times New Roman" panose="02020603050405020304" pitchFamily="18" charset="0"/>
                <a:ea typeface="华文楷体" panose="02010600040101010101" pitchFamily="2" charset="-122"/>
              </a:rPr>
              <a:t>对模块</a:t>
            </a:r>
            <a:r>
              <a:rPr lang="en-US" altLang="zh-CN" b="1" dirty="0">
                <a:latin typeface="Times New Roman" panose="02020603050405020304" pitchFamily="18" charset="0"/>
                <a:ea typeface="华文楷体" panose="02010600040101010101" pitchFamily="2" charset="-122"/>
              </a:rPr>
              <a:t>mod</a:t>
            </a:r>
            <a:r>
              <a:rPr lang="zh-CN" altLang="en-US" b="1" dirty="0">
                <a:latin typeface="Times New Roman" panose="02020603050405020304" pitchFamily="18" charset="0"/>
                <a:ea typeface="华文楷体" panose="02010600040101010101" pitchFamily="2" charset="-122"/>
              </a:rPr>
              <a:t>的实例引用</a:t>
            </a:r>
            <a:endParaRPr lang="zh-CN" altLang="en-US"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solidFill>
                  <a:schemeClr val="hlink"/>
                </a:solidFill>
                <a:latin typeface="Times New Roman" panose="02020603050405020304" pitchFamily="18" charset="0"/>
                <a:ea typeface="华文楷体" panose="02010600040101010101" pitchFamily="2" charset="-122"/>
              </a:rPr>
              <a:t>defparam</a:t>
            </a:r>
            <a:r>
              <a:rPr lang="en-US" altLang="zh-CN" b="1" dirty="0">
                <a:latin typeface="Times New Roman" panose="02020603050405020304" pitchFamily="18" charset="0"/>
                <a:ea typeface="华文楷体" panose="02010600040101010101" pitchFamily="2" charset="-122"/>
              </a:rPr>
              <a:t>  mk.cycle = </a:t>
            </a:r>
            <a:r>
              <a:rPr lang="en-US" altLang="zh-CN" b="1" dirty="0">
                <a:solidFill>
                  <a:schemeClr val="hlink"/>
                </a:solidFill>
                <a:latin typeface="Times New Roman" panose="02020603050405020304" pitchFamily="18" charset="0"/>
                <a:ea typeface="华文楷体" panose="02010600040101010101" pitchFamily="2" charset="-122"/>
              </a:rPr>
              <a:t>6</a:t>
            </a:r>
            <a:r>
              <a:rPr lang="en-US" altLang="zh-CN" b="1" dirty="0">
                <a:latin typeface="Times New Roman" panose="02020603050405020304" pitchFamily="18" charset="0"/>
                <a:ea typeface="华文楷体" panose="02010600040101010101" pitchFamily="2" charset="-122"/>
              </a:rPr>
              <a:t>, mk.file = </a:t>
            </a:r>
            <a:r>
              <a:rPr lang="en-US" altLang="zh-CN" b="1" dirty="0">
                <a:solidFill>
                  <a:schemeClr val="hlink"/>
                </a:solidFill>
                <a:latin typeface="Times New Roman" panose="02020603050405020304" pitchFamily="18" charset="0"/>
                <a:ea typeface="华文楷体" panose="02010600040101010101" pitchFamily="2" charset="-122"/>
              </a:rPr>
              <a:t>“../my_mem.dat”</a:t>
            </a:r>
            <a:r>
              <a:rPr lang="en-US" altLang="zh-CN" b="1" dirty="0">
                <a:latin typeface="Times New Roman" panose="02020603050405020304" pitchFamily="18" charset="0"/>
                <a:ea typeface="华文楷体" panose="02010600040101010101" pitchFamily="2" charset="-122"/>
              </a:rPr>
              <a:t>;   // </a:t>
            </a:r>
            <a:r>
              <a:rPr lang="zh-CN" altLang="en-US" b="1" dirty="0">
                <a:latin typeface="Times New Roman" panose="02020603050405020304" pitchFamily="18" charset="0"/>
                <a:ea typeface="华文楷体" panose="02010600040101010101" pitchFamily="2" charset="-122"/>
              </a:rPr>
              <a:t>参数的传递</a:t>
            </a:r>
            <a:endParaRPr lang="zh-CN" altLang="en-US"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a:t>
            </a:r>
            <a:endParaRPr lang="en-US" altLang="zh-CN"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华文楷体" panose="02010600040101010101" pitchFamily="2" charset="-122"/>
              </a:rPr>
              <a:t>endmodule</a:t>
            </a:r>
            <a:endParaRPr lang="en-US" altLang="zh-CN" b="1" dirty="0">
              <a:latin typeface="Times New Roman" panose="02020603050405020304" pitchFamily="18" charset="0"/>
              <a:ea typeface="华文楷体" panose="02010600040101010101" pitchFamily="2" charset="-122"/>
            </a:endParaRPr>
          </a:p>
        </p:txBody>
      </p:sp>
      <p:sp>
        <p:nvSpPr>
          <p:cNvPr id="70661" name="Rectangle 3"/>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grpSp>
        <p:nvGrpSpPr>
          <p:cNvPr id="2" name="Group 5"/>
          <p:cNvGrpSpPr/>
          <p:nvPr/>
        </p:nvGrpSpPr>
        <p:grpSpPr>
          <a:xfrm>
            <a:off x="6753225" y="2043113"/>
            <a:ext cx="2057400" cy="1447800"/>
            <a:chOff x="4128" y="1728"/>
            <a:chExt cx="1296" cy="912"/>
          </a:xfrm>
        </p:grpSpPr>
        <p:sp>
          <p:nvSpPr>
            <p:cNvPr id="70670" name="AutoShape 6"/>
            <p:cNvSpPr/>
            <p:nvPr/>
          </p:nvSpPr>
          <p:spPr>
            <a:xfrm>
              <a:off x="4416" y="2352"/>
              <a:ext cx="1008" cy="240"/>
            </a:xfrm>
            <a:prstGeom prst="wedgeRoundRectCallout">
              <a:avLst>
                <a:gd name="adj1" fmla="val -50296"/>
                <a:gd name="adj2" fmla="val -124167"/>
                <a:gd name="adj3" fmla="val 16667"/>
              </a:avLst>
            </a:prstGeom>
            <a:noFill/>
            <a:ln w="9525" cap="flat" cmpd="sng">
              <a:solidFill>
                <a:schemeClr val="tx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被引用模块</a:t>
              </a:r>
              <a:endParaRPr lang="zh-CN" altLang="en-US" dirty="0">
                <a:latin typeface="Tahoma" panose="020B0604030504040204" pitchFamily="34" charset="0"/>
                <a:ea typeface="宋体" panose="02010600030101010101" pitchFamily="2" charset="-122"/>
              </a:endParaRPr>
            </a:p>
          </p:txBody>
        </p:sp>
        <p:sp>
          <p:nvSpPr>
            <p:cNvPr id="70671" name="AutoShape 7"/>
            <p:cNvSpPr/>
            <p:nvPr/>
          </p:nvSpPr>
          <p:spPr>
            <a:xfrm>
              <a:off x="4128" y="1728"/>
              <a:ext cx="192" cy="912"/>
            </a:xfrm>
            <a:prstGeom prst="rightBrace">
              <a:avLst>
                <a:gd name="adj1" fmla="val 3936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grpSp>
        <p:nvGrpSpPr>
          <p:cNvPr id="3" name="Group 8"/>
          <p:cNvGrpSpPr/>
          <p:nvPr/>
        </p:nvGrpSpPr>
        <p:grpSpPr>
          <a:xfrm>
            <a:off x="2689225" y="4999038"/>
            <a:ext cx="1492250" cy="1020762"/>
            <a:chOff x="1536" y="3504"/>
            <a:chExt cx="816" cy="643"/>
          </a:xfrm>
        </p:grpSpPr>
        <p:sp>
          <p:nvSpPr>
            <p:cNvPr id="70667" name="Line 9"/>
            <p:cNvSpPr/>
            <p:nvPr/>
          </p:nvSpPr>
          <p:spPr>
            <a:xfrm>
              <a:off x="1536" y="3504"/>
              <a:ext cx="413" cy="381"/>
            </a:xfrm>
            <a:prstGeom prst="line">
              <a:avLst/>
            </a:prstGeom>
            <a:ln w="19050" cap="flat" cmpd="sng">
              <a:solidFill>
                <a:schemeClr val="hlink"/>
              </a:solidFill>
              <a:prstDash val="solid"/>
              <a:headEnd type="none" w="med" len="med"/>
              <a:tailEnd type="triangle" w="med" len="med"/>
            </a:ln>
          </p:spPr>
        </p:sp>
        <p:sp>
          <p:nvSpPr>
            <p:cNvPr id="70668" name="Text Box 10"/>
            <p:cNvSpPr txBox="1"/>
            <p:nvPr/>
          </p:nvSpPr>
          <p:spPr>
            <a:xfrm>
              <a:off x="1824" y="3897"/>
              <a:ext cx="528"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latin typeface="Tahoma" panose="020B0604030504040204" pitchFamily="34" charset="0"/>
                  <a:ea typeface="宋体" panose="02010600030101010101" pitchFamily="2" charset="-122"/>
                </a:rPr>
                <a:t>参数名</a:t>
              </a:r>
              <a:endParaRPr lang="zh-CN" altLang="en-US" b="1" dirty="0">
                <a:latin typeface="Tahoma" panose="020B0604030504040204" pitchFamily="34" charset="0"/>
                <a:ea typeface="宋体" panose="02010600030101010101" pitchFamily="2" charset="-122"/>
              </a:endParaRPr>
            </a:p>
          </p:txBody>
        </p:sp>
        <p:sp>
          <p:nvSpPr>
            <p:cNvPr id="70669" name="Line 11"/>
            <p:cNvSpPr/>
            <p:nvPr/>
          </p:nvSpPr>
          <p:spPr>
            <a:xfrm flipH="1">
              <a:off x="2077" y="3564"/>
              <a:ext cx="131" cy="333"/>
            </a:xfrm>
            <a:prstGeom prst="line">
              <a:avLst/>
            </a:prstGeom>
            <a:ln w="19050" cap="flat" cmpd="sng">
              <a:solidFill>
                <a:schemeClr val="hlink"/>
              </a:solidFill>
              <a:prstDash val="solid"/>
              <a:headEnd type="none" w="med" len="med"/>
              <a:tailEnd type="triangle" w="med" len="med"/>
            </a:ln>
          </p:spPr>
        </p:sp>
      </p:grpSp>
      <p:grpSp>
        <p:nvGrpSpPr>
          <p:cNvPr id="4" name="Group 12"/>
          <p:cNvGrpSpPr/>
          <p:nvPr/>
        </p:nvGrpSpPr>
        <p:grpSpPr>
          <a:xfrm>
            <a:off x="1419225" y="4999038"/>
            <a:ext cx="1524000" cy="1006475"/>
            <a:chOff x="768" y="3552"/>
            <a:chExt cx="960" cy="634"/>
          </a:xfrm>
        </p:grpSpPr>
        <p:sp>
          <p:nvSpPr>
            <p:cNvPr id="70665" name="Text Box 13"/>
            <p:cNvSpPr txBox="1"/>
            <p:nvPr/>
          </p:nvSpPr>
          <p:spPr>
            <a:xfrm>
              <a:off x="768" y="3936"/>
              <a:ext cx="960"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Tahoma" panose="020B0604030504040204" pitchFamily="34" charset="0"/>
                  <a:ea typeface="宋体" panose="02010600030101010101" pitchFamily="2" charset="-122"/>
                </a:rPr>
                <a:t>例化模块名</a:t>
              </a:r>
              <a:endParaRPr lang="zh-CN" altLang="en-US" b="1" dirty="0">
                <a:latin typeface="Tahoma" panose="020B0604030504040204" pitchFamily="34" charset="0"/>
                <a:ea typeface="宋体" panose="02010600030101010101" pitchFamily="2" charset="-122"/>
              </a:endParaRPr>
            </a:p>
          </p:txBody>
        </p:sp>
        <p:sp>
          <p:nvSpPr>
            <p:cNvPr id="70666" name="Line 14"/>
            <p:cNvSpPr/>
            <p:nvPr/>
          </p:nvSpPr>
          <p:spPr>
            <a:xfrm>
              <a:off x="1200" y="3552"/>
              <a:ext cx="0" cy="336"/>
            </a:xfrm>
            <a:prstGeom prst="line">
              <a:avLst/>
            </a:prstGeom>
            <a:ln w="19050" cap="flat" cmpd="sng">
              <a:solidFill>
                <a:schemeClr val="hlink"/>
              </a:solidFill>
              <a:prstDash val="solid"/>
              <a:headEnd type="none" w="med" len="med"/>
              <a:tailEnd type="triangle" w="med" len="med"/>
            </a:ln>
          </p:spPr>
        </p:sp>
      </p:gr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2161666"/>
                                        </p:tgtEl>
                                        <p:attrNameLst>
                                          <p:attrName>style.visibility</p:attrName>
                                        </p:attrNameLst>
                                      </p:cBhvr>
                                      <p:to>
                                        <p:strVal val="visible"/>
                                      </p:to>
                                    </p:set>
                                    <p:anim calcmode="lin" valueType="num">
                                      <p:cBhvr additive="base">
                                        <p:cTn id="7" dur="500" fill="hold"/>
                                        <p:tgtEl>
                                          <p:spTgt spid="2161666"/>
                                        </p:tgtEl>
                                        <p:attrNameLst>
                                          <p:attrName>ppt_x</p:attrName>
                                        </p:attrNameLst>
                                      </p:cBhvr>
                                      <p:tavLst>
                                        <p:tav tm="0">
                                          <p:val>
                                            <p:strVal val="0-#ppt_w/2"/>
                                          </p:val>
                                        </p:tav>
                                        <p:tav tm="100000">
                                          <p:val>
                                            <p:strVal val="#ppt_x"/>
                                          </p:val>
                                        </p:tav>
                                      </p:tavLst>
                                    </p:anim>
                                    <p:anim calcmode="lin" valueType="num">
                                      <p:cBhvr additive="base">
                                        <p:cTn id="8" dur="500" fill="hold"/>
                                        <p:tgtEl>
                                          <p:spTgt spid="21616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66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270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31245" name="Text Box 13"/>
          <p:cNvSpPr txBox="1"/>
          <p:nvPr/>
        </p:nvSpPr>
        <p:spPr>
          <a:xfrm>
            <a:off x="169863" y="2538413"/>
            <a:ext cx="8888412" cy="3692525"/>
          </a:xfrm>
          <a:prstGeom prst="rect">
            <a:avLst/>
          </a:prstGeom>
          <a:noFill/>
          <a:ln w="12700">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a:t>
            </a:r>
            <a:r>
              <a:rPr lang="zh-CN" altLang="en-US" b="1" dirty="0">
                <a:solidFill>
                  <a:srgbClr val="FF0066"/>
                </a:solidFill>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module mod ( out, ina, inb);</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parameter cycle = 8, real_constant = 2.039,</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file = “/user1/jmdong/design/mem_file.dat”;</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endmodule</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module test;</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      mod </a:t>
            </a:r>
            <a:r>
              <a:rPr lang="en-US" altLang="zh-CN" b="1" dirty="0">
                <a:solidFill>
                  <a:schemeClr val="hlink"/>
                </a:solidFill>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 (5, 20, “../my_mem.dat”)  mk(out,ina,inb);</a:t>
            </a:r>
            <a:r>
              <a:rPr lang="en-US" altLang="zh-CN" sz="1400"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华文楷体" panose="02010600040101010101" pitchFamily="2" charset="-122"/>
              </a:rPr>
              <a:t>对模块</a:t>
            </a:r>
            <a:r>
              <a:rPr lang="en-US" altLang="zh-CN" b="1" dirty="0">
                <a:latin typeface="Times New Roman" panose="02020603050405020304" pitchFamily="18" charset="0"/>
                <a:ea typeface="华文楷体" panose="02010600040101010101" pitchFamily="2" charset="-122"/>
              </a:rPr>
              <a:t>mod</a:t>
            </a:r>
            <a:r>
              <a:rPr lang="zh-CN" altLang="en-US" b="1" dirty="0">
                <a:latin typeface="Times New Roman" panose="02020603050405020304" pitchFamily="18" charset="0"/>
                <a:ea typeface="华文楷体" panose="02010600040101010101" pitchFamily="2" charset="-122"/>
              </a:rPr>
              <a:t>的实例引用</a:t>
            </a:r>
            <a:endParaRPr lang="zh-CN" altLang="en-US" b="1" dirty="0">
              <a:latin typeface="Times New Roman" panose="02020603050405020304" pitchFamily="18" charset="0"/>
              <a:ea typeface="华文楷体" panose="02010600040101010101" pitchFamily="2" charset="-122"/>
            </a:endParaRPr>
          </a:p>
          <a:p>
            <a:pPr marL="0" lvl="0" indent="0">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marL="0" lvl="0" indent="0">
              <a:lnSpc>
                <a:spcPct val="90000"/>
              </a:lnSpc>
              <a:spcBef>
                <a:spcPct val="0"/>
              </a:spcBef>
              <a:buNone/>
            </a:pPr>
            <a:r>
              <a:rPr lang="en-US" altLang="zh-CN" b="1" dirty="0">
                <a:latin typeface="Times New Roman" panose="02020603050405020304" pitchFamily="18" charset="0"/>
                <a:ea typeface="宋体" panose="02010600030101010101" pitchFamily="2" charset="-122"/>
              </a:rPr>
              <a:t>endmodule</a:t>
            </a:r>
            <a:endParaRPr lang="en-US" altLang="zh-CN" b="1" dirty="0">
              <a:latin typeface="Times New Roman" panose="02020603050405020304" pitchFamily="18" charset="0"/>
              <a:ea typeface="宋体" panose="02010600030101010101" pitchFamily="2" charset="-122"/>
            </a:endParaRPr>
          </a:p>
        </p:txBody>
      </p:sp>
      <p:sp>
        <p:nvSpPr>
          <p:cNvPr id="7270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31235" name="Rectangle 3"/>
          <p:cNvSpPr>
            <a:spLocks noGrp="1"/>
          </p:cNvSpPr>
          <p:nvPr>
            <p:ph idx="1"/>
          </p:nvPr>
        </p:nvSpPr>
        <p:spPr/>
        <p:txBody>
          <a:bodyPr vert="horz" wrap="square" lIns="91440" tIns="45720" rIns="91440" bIns="45720" anchor="t" anchorCtr="0"/>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模块实例引用时参数的传递</a:t>
            </a:r>
            <a:r>
              <a:rPr lang="en-US" altLang="zh-CN" dirty="0">
                <a:latin typeface="Times New Roman" panose="02020603050405020304" pitchFamily="18" charset="0"/>
                <a:ea typeface="黑体" panose="02010609060101010101" pitchFamily="49" charset="-122"/>
              </a:rPr>
              <a:t>——</a:t>
            </a:r>
            <a:r>
              <a:rPr lang="zh-CN" altLang="en-US" dirty="0">
                <a:solidFill>
                  <a:srgbClr val="CC0000"/>
                </a:solidFill>
                <a:latin typeface="Times New Roman" panose="02020603050405020304" pitchFamily="18" charset="0"/>
                <a:ea typeface="华文楷体" panose="02010600040101010101" pitchFamily="2" charset="-122"/>
              </a:rPr>
              <a:t>方法之二</a:t>
            </a:r>
            <a:r>
              <a:rPr lang="zh-CN" altLang="en-US" dirty="0">
                <a:latin typeface="Times New Roman" panose="02020603050405020304" pitchFamily="18" charset="0"/>
                <a:ea typeface="华文楷体" panose="02010600040101010101" pitchFamily="2" charset="-122"/>
              </a:rPr>
              <a:t>：利用特殊符号“</a:t>
            </a:r>
            <a:r>
              <a:rPr lang="en-US" altLang="zh-CN" dirty="0">
                <a:solidFill>
                  <a:schemeClr val="hlink"/>
                </a:solidFill>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a:t>
            </a:r>
            <a:r>
              <a:rPr lang="en-US" altLang="zh-CN" sz="1800" dirty="0">
                <a:latin typeface="Times New Roman" panose="02020603050405020304" pitchFamily="18" charset="0"/>
                <a:ea typeface="黑体" panose="02010609060101010101" pitchFamily="49" charset="-122"/>
              </a:rPr>
              <a:t> </a:t>
            </a:r>
            <a:endParaRPr lang="en-US" altLang="zh-CN" sz="1800" dirty="0">
              <a:latin typeface="Times New Roman" panose="02020603050405020304" pitchFamily="18" charset="0"/>
              <a:ea typeface="黑体" panose="02010609060101010101" pitchFamily="49" charset="-122"/>
            </a:endParaRPr>
          </a:p>
        </p:txBody>
      </p:sp>
      <p:grpSp>
        <p:nvGrpSpPr>
          <p:cNvPr id="2" name="Group 4"/>
          <p:cNvGrpSpPr/>
          <p:nvPr/>
        </p:nvGrpSpPr>
        <p:grpSpPr>
          <a:xfrm>
            <a:off x="6553200" y="2895600"/>
            <a:ext cx="2057400" cy="1447800"/>
            <a:chOff x="4128" y="1728"/>
            <a:chExt cx="1296" cy="912"/>
          </a:xfrm>
        </p:grpSpPr>
        <p:sp>
          <p:nvSpPr>
            <p:cNvPr id="72716" name="AutoShape 5"/>
            <p:cNvSpPr/>
            <p:nvPr/>
          </p:nvSpPr>
          <p:spPr>
            <a:xfrm>
              <a:off x="4416" y="2352"/>
              <a:ext cx="1008" cy="240"/>
            </a:xfrm>
            <a:prstGeom prst="wedgeRoundRectCallout">
              <a:avLst>
                <a:gd name="adj1" fmla="val -50296"/>
                <a:gd name="adj2" fmla="val -124167"/>
                <a:gd name="adj3" fmla="val 16667"/>
              </a:avLst>
            </a:prstGeom>
            <a:noFill/>
            <a:ln w="9525" cap="flat" cmpd="sng">
              <a:solidFill>
                <a:schemeClr val="tx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被引用模块</a:t>
              </a:r>
              <a:endParaRPr lang="zh-CN" altLang="en-US" dirty="0">
                <a:latin typeface="Tahoma" panose="020B0604030504040204" pitchFamily="34" charset="0"/>
                <a:ea typeface="宋体" panose="02010600030101010101" pitchFamily="2" charset="-122"/>
              </a:endParaRPr>
            </a:p>
          </p:txBody>
        </p:sp>
        <p:sp>
          <p:nvSpPr>
            <p:cNvPr id="72717" name="AutoShape 6"/>
            <p:cNvSpPr/>
            <p:nvPr/>
          </p:nvSpPr>
          <p:spPr>
            <a:xfrm>
              <a:off x="4128" y="1728"/>
              <a:ext cx="192" cy="912"/>
            </a:xfrm>
            <a:prstGeom prst="rightBrace">
              <a:avLst>
                <a:gd name="adj1" fmla="val 3936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grpSp>
        <p:nvGrpSpPr>
          <p:cNvPr id="3" name="Group 7"/>
          <p:cNvGrpSpPr/>
          <p:nvPr/>
        </p:nvGrpSpPr>
        <p:grpSpPr>
          <a:xfrm>
            <a:off x="1219200" y="5622925"/>
            <a:ext cx="2895600" cy="854075"/>
            <a:chOff x="720" y="3360"/>
            <a:chExt cx="1824" cy="538"/>
          </a:xfrm>
        </p:grpSpPr>
        <p:sp>
          <p:nvSpPr>
            <p:cNvPr id="72714" name="Text Box 8"/>
            <p:cNvSpPr txBox="1"/>
            <p:nvPr/>
          </p:nvSpPr>
          <p:spPr>
            <a:xfrm>
              <a:off x="1200" y="3648"/>
              <a:ext cx="960" cy="2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参数的传递</a:t>
              </a:r>
              <a:endParaRPr lang="zh-CN" altLang="en-US" b="1" dirty="0">
                <a:latin typeface="华文楷体" panose="02010600040101010101" pitchFamily="2" charset="-122"/>
                <a:ea typeface="华文楷体" panose="02010600040101010101" pitchFamily="2" charset="-122"/>
              </a:endParaRPr>
            </a:p>
          </p:txBody>
        </p:sp>
        <p:sp>
          <p:nvSpPr>
            <p:cNvPr id="72715" name="AutoShape 9"/>
            <p:cNvSpPr/>
            <p:nvPr/>
          </p:nvSpPr>
          <p:spPr>
            <a:xfrm rot="5400000">
              <a:off x="1512" y="2568"/>
              <a:ext cx="240" cy="1824"/>
            </a:xfrm>
            <a:prstGeom prst="rightBrace">
              <a:avLst>
                <a:gd name="adj1" fmla="val 62981"/>
                <a:gd name="adj2" fmla="val 50000"/>
              </a:avLst>
            </a:prstGeom>
            <a:no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sp>
        <p:nvSpPr>
          <p:cNvPr id="1631244" name="AutoShape 12"/>
          <p:cNvSpPr/>
          <p:nvPr/>
        </p:nvSpPr>
        <p:spPr>
          <a:xfrm>
            <a:off x="3581400" y="6080125"/>
            <a:ext cx="4724400" cy="457200"/>
          </a:xfrm>
          <a:prstGeom prst="wedgeRectCallout">
            <a:avLst>
              <a:gd name="adj1" fmla="val -43648"/>
              <a:gd name="adj2" fmla="val -149306"/>
            </a:avLst>
          </a:prstGeom>
          <a:noFill/>
          <a:ln w="9525" cap="flat" cmpd="sng">
            <a:solidFill>
              <a:schemeClr val="accent1"/>
            </a:solidFill>
            <a:prstDash val="solid"/>
            <a:round/>
            <a:headEnd type="none" w="med" len="med"/>
            <a:tailEnd type="none" w="med" len="med"/>
          </a:ln>
          <a:effectLst>
            <a:prstShdw prst="shdw17" dist="17961" dir="2699999">
              <a:srgbClr val="995C99"/>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381000" eaLnBrk="1" hangingPunct="1">
              <a:lnSpc>
                <a:spcPct val="110000"/>
              </a:lnSpc>
              <a:spcBef>
                <a:spcPct val="10000"/>
              </a:spcBef>
              <a:buClr>
                <a:schemeClr val="folHlink"/>
              </a:buClr>
              <a:buSzPct val="60000"/>
              <a:buFont typeface="Wingdings" panose="05000000000000000000" pitchFamily="2" charset="2"/>
              <a:buChar char="•"/>
            </a:pPr>
            <a:r>
              <a:rPr lang="zh-CN" altLang="en-US" b="1" dirty="0">
                <a:solidFill>
                  <a:srgbClr val="000000"/>
                </a:solidFill>
                <a:latin typeface="华文楷体" panose="02010600040101010101" pitchFamily="2" charset="-122"/>
                <a:ea typeface="华文楷体" panose="02010600040101010101" pitchFamily="2" charset="-122"/>
              </a:rPr>
              <a:t>必须与被引用模块中的参数一一对应！</a:t>
            </a:r>
            <a:endParaRPr lang="zh-CN" altLang="en-US" b="1" dirty="0">
              <a:solidFill>
                <a:srgbClr val="000000"/>
              </a:solidFill>
              <a:latin typeface="华文楷体" panose="02010600040101010101" pitchFamily="2" charset="-122"/>
              <a:ea typeface="华文楷体" panose="02010600040101010101" pitchFamily="2" charset="-122"/>
            </a:endParaRPr>
          </a:p>
        </p:txBody>
      </p:sp>
      <p:sp>
        <p:nvSpPr>
          <p:cNvPr id="1631247" name="Text Box 15"/>
          <p:cNvSpPr txBox="1"/>
          <p:nvPr/>
        </p:nvSpPr>
        <p:spPr>
          <a:xfrm>
            <a:off x="982663" y="1735138"/>
            <a:ext cx="7323137" cy="4603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zh-CN" altLang="en-US" b="1" dirty="0">
                <a:solidFill>
                  <a:srgbClr val="000000"/>
                </a:solidFill>
                <a:latin typeface="华文楷体" panose="02010600040101010101" pitchFamily="2" charset="-122"/>
                <a:ea typeface="华文楷体" panose="02010600040101010101" pitchFamily="2" charset="-122"/>
              </a:rPr>
              <a:t>被引用模块名 </a:t>
            </a:r>
            <a:r>
              <a:rPr lang="en-US" altLang="zh-CN" b="1" dirty="0">
                <a:solidFill>
                  <a:schemeClr val="hlink"/>
                </a:solidFill>
                <a:latin typeface="华文新魏" panose="02010800040101010101" pitchFamily="2" charset="-122"/>
                <a:ea typeface="华文新魏" panose="02010800040101010101" pitchFamily="2" charset="-122"/>
              </a:rPr>
              <a:t># </a:t>
            </a:r>
            <a:r>
              <a:rPr lang="zh-CN" altLang="en-US" b="1" dirty="0">
                <a:latin typeface="Tahoma" panose="020B0604030504040204" pitchFamily="34"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参数</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参数</a:t>
            </a: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a:t>
            </a:r>
            <a:r>
              <a:rPr lang="zh-CN" altLang="en-US" b="1" dirty="0">
                <a:latin typeface="Tahoma" panose="020B0604030504040204" pitchFamily="34" charset="0"/>
                <a:ea typeface="宋体" panose="02010600030101010101" pitchFamily="2" charset="-122"/>
              </a:rPr>
              <a:t>例化模块名（端口列表）</a:t>
            </a:r>
            <a:r>
              <a:rPr lang="zh-CN" altLang="en-US"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1235"/>
                                        </p:tgtEl>
                                        <p:attrNameLst>
                                          <p:attrName>style.visibility</p:attrName>
                                        </p:attrNameLst>
                                      </p:cBhvr>
                                      <p:to>
                                        <p:strVal val="visible"/>
                                      </p:to>
                                    </p:set>
                                    <p:anim calcmode="lin" valueType="num">
                                      <p:cBhvr additive="base">
                                        <p:cTn id="7" dur="500" fill="hold"/>
                                        <p:tgtEl>
                                          <p:spTgt spid="1631235"/>
                                        </p:tgtEl>
                                        <p:attrNameLst>
                                          <p:attrName>ppt_x</p:attrName>
                                        </p:attrNameLst>
                                      </p:cBhvr>
                                      <p:tavLst>
                                        <p:tav tm="0">
                                          <p:val>
                                            <p:strVal val="0-#ppt_w/2"/>
                                          </p:val>
                                        </p:tav>
                                        <p:tav tm="100000">
                                          <p:val>
                                            <p:strVal val="#ppt_x"/>
                                          </p:val>
                                        </p:tav>
                                      </p:tavLst>
                                    </p:anim>
                                    <p:anim calcmode="lin" valueType="num">
                                      <p:cBhvr additive="base">
                                        <p:cTn id="8" dur="500" fill="hold"/>
                                        <p:tgtEl>
                                          <p:spTgt spid="16312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631247"/>
                                        </p:tgtEl>
                                        <p:attrNameLst>
                                          <p:attrName>style.visibility</p:attrName>
                                        </p:attrNameLst>
                                      </p:cBhvr>
                                      <p:to>
                                        <p:strVal val="visible"/>
                                      </p:to>
                                    </p:set>
                                    <p:anim calcmode="lin" valueType="num">
                                      <p:cBhvr additive="base">
                                        <p:cTn id="12" dur="500" fill="hold"/>
                                        <p:tgtEl>
                                          <p:spTgt spid="1631247"/>
                                        </p:tgtEl>
                                        <p:attrNameLst>
                                          <p:attrName>ppt_x</p:attrName>
                                        </p:attrNameLst>
                                      </p:cBhvr>
                                      <p:tavLst>
                                        <p:tav tm="0">
                                          <p:val>
                                            <p:strVal val="1+#ppt_w/2"/>
                                          </p:val>
                                        </p:tav>
                                        <p:tav tm="100000">
                                          <p:val>
                                            <p:strVal val="#ppt_x"/>
                                          </p:val>
                                        </p:tav>
                                      </p:tavLst>
                                    </p:anim>
                                    <p:anim calcmode="lin" valueType="num">
                                      <p:cBhvr additive="base">
                                        <p:cTn id="13" dur="500" fill="hold"/>
                                        <p:tgtEl>
                                          <p:spTgt spid="163124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12" fill="hold" grpId="0" nodeType="afterEffect">
                                  <p:stCondLst>
                                    <p:cond delay="0"/>
                                  </p:stCondLst>
                                  <p:childTnLst>
                                    <p:set>
                                      <p:cBhvr>
                                        <p:cTn id="16" dur="1" fill="hold">
                                          <p:stCondLst>
                                            <p:cond delay="0"/>
                                          </p:stCondLst>
                                        </p:cTn>
                                        <p:tgtEl>
                                          <p:spTgt spid="1631245"/>
                                        </p:tgtEl>
                                        <p:attrNameLst>
                                          <p:attrName>style.visibility</p:attrName>
                                        </p:attrNameLst>
                                      </p:cBhvr>
                                      <p:to>
                                        <p:strVal val="visible"/>
                                      </p:to>
                                    </p:set>
                                    <p:anim calcmode="lin" valueType="num">
                                      <p:cBhvr additive="base">
                                        <p:cTn id="17" dur="500" fill="hold"/>
                                        <p:tgtEl>
                                          <p:spTgt spid="1631245"/>
                                        </p:tgtEl>
                                        <p:attrNameLst>
                                          <p:attrName>ppt_x</p:attrName>
                                        </p:attrNameLst>
                                      </p:cBhvr>
                                      <p:tavLst>
                                        <p:tav tm="0">
                                          <p:val>
                                            <p:strVal val="0-#ppt_w/2"/>
                                          </p:val>
                                        </p:tav>
                                        <p:tav tm="100000">
                                          <p:val>
                                            <p:strVal val="#ppt_x"/>
                                          </p:val>
                                        </p:tav>
                                      </p:tavLst>
                                    </p:anim>
                                    <p:anim calcmode="lin" valueType="num">
                                      <p:cBhvr additive="base">
                                        <p:cTn id="18" dur="500" fill="hold"/>
                                        <p:tgtEl>
                                          <p:spTgt spid="163124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31244"/>
                                        </p:tgtEl>
                                        <p:attrNameLst>
                                          <p:attrName>style.visibility</p:attrName>
                                        </p:attrNameLst>
                                      </p:cBhvr>
                                      <p:to>
                                        <p:strVal val="visible"/>
                                      </p:to>
                                    </p:set>
                                    <p:anim calcmode="lin" valueType="num">
                                      <p:cBhvr additive="base">
                                        <p:cTn id="33" dur="500" fill="hold"/>
                                        <p:tgtEl>
                                          <p:spTgt spid="1631244"/>
                                        </p:tgtEl>
                                        <p:attrNameLst>
                                          <p:attrName>ppt_x</p:attrName>
                                        </p:attrNameLst>
                                      </p:cBhvr>
                                      <p:tavLst>
                                        <p:tav tm="0">
                                          <p:val>
                                            <p:strVal val="#ppt_x"/>
                                          </p:val>
                                        </p:tav>
                                        <p:tav tm="100000">
                                          <p:val>
                                            <p:strVal val="#ppt_x"/>
                                          </p:val>
                                        </p:tav>
                                      </p:tavLst>
                                    </p:anim>
                                    <p:anim calcmode="lin" valueType="num">
                                      <p:cBhvr additive="base">
                                        <p:cTn id="34" dur="500" fill="hold"/>
                                        <p:tgtEl>
                                          <p:spTgt spid="163124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3124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1245" grpId="0" bldLvl="0" animBg="1"/>
      <p:bldP spid="1631235" grpId="0"/>
      <p:bldP spid="1631244" grpId="0" bldLvl="0" animBg="1"/>
      <p:bldP spid="1631247"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475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7475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33283" name="Rectangle 3"/>
          <p:cNvSpPr>
            <a:spLocks noGrp="1"/>
          </p:cNvSpPr>
          <p:nvPr>
            <p:ph idx="1"/>
          </p:nvPr>
        </p:nvSpPr>
        <p:spPr/>
        <p:txBody>
          <a:bodyPr vert="horz" wrap="square" lIns="91440" tIns="45720" rIns="91440" bIns="45720" anchor="t" anchorCtr="0"/>
          <a:p>
            <a:pPr algn="just" eaLnBrk="1" hangingPunct="1">
              <a:lnSpc>
                <a:spcPct val="90000"/>
              </a:lnSpc>
            </a:pPr>
            <a:r>
              <a:rPr lang="en-US" altLang="zh-CN" dirty="0">
                <a:solidFill>
                  <a:schemeClr val="tx2"/>
                </a:solidFill>
                <a:latin typeface="Times New Roman" panose="02020603050405020304" pitchFamily="18" charset="0"/>
                <a:ea typeface="黑体" panose="02010609060101010101" pitchFamily="49" charset="-122"/>
                <a:cs typeface="+mn-cs"/>
              </a:rPr>
              <a:t>3.3 </a:t>
            </a:r>
            <a:r>
              <a:rPr lang="zh-CN" altLang="en-US" dirty="0">
                <a:solidFill>
                  <a:schemeClr val="tx2"/>
                </a:solidFill>
                <a:latin typeface="Times New Roman" panose="02020603050405020304" pitchFamily="18" charset="0"/>
                <a:ea typeface="华文楷体" panose="02010600040101010101" pitchFamily="2" charset="-122"/>
                <a:cs typeface="+mn-cs"/>
              </a:rPr>
              <a:t>变量</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在程序运行过程中，其值可以改变的量，称为</a:t>
            </a:r>
            <a:r>
              <a:rPr lang="zh-CN" altLang="zh-CN" dirty="0">
                <a:solidFill>
                  <a:schemeClr val="hlink"/>
                </a:solidFill>
                <a:latin typeface="Times New Roman" panose="02020603050405020304" pitchFamily="18" charset="0"/>
                <a:ea typeface="华文楷体" panose="02010600040101010101" pitchFamily="2" charset="-122"/>
                <a:cs typeface="+mn-cs"/>
              </a:rPr>
              <a:t>变量</a:t>
            </a:r>
            <a:r>
              <a:rPr lang="zh-CN" altLang="zh-CN" dirty="0">
                <a:latin typeface="Times New Roman" panose="02020603050405020304" pitchFamily="18" charset="0"/>
                <a:ea typeface="华文楷体" panose="02010600040101010101" pitchFamily="2" charset="-122"/>
                <a:cs typeface="+mn-cs"/>
              </a:rPr>
              <a:t>。</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其数据类型有</a:t>
            </a:r>
            <a:r>
              <a:rPr lang="en-US" altLang="zh-CN" dirty="0">
                <a:solidFill>
                  <a:srgbClr val="FF33CC"/>
                </a:solidFill>
                <a:latin typeface="Times New Roman" panose="02020603050405020304" pitchFamily="18" charset="0"/>
                <a:ea typeface="黑体" panose="02010609060101010101" pitchFamily="49" charset="-122"/>
                <a:cs typeface="+mn-cs"/>
              </a:rPr>
              <a:t>19</a:t>
            </a:r>
            <a:r>
              <a:rPr lang="zh-CN" altLang="zh-CN" dirty="0">
                <a:latin typeface="Times New Roman" panose="02020603050405020304" pitchFamily="18" charset="0"/>
                <a:ea typeface="华文楷体" panose="02010600040101010101" pitchFamily="2" charset="-122"/>
                <a:cs typeface="+mn-cs"/>
              </a:rPr>
              <a:t>种，常用的有</a:t>
            </a:r>
            <a:r>
              <a:rPr lang="en-US" altLang="zh-CN" dirty="0">
                <a:solidFill>
                  <a:srgbClr val="FF33CC"/>
                </a:solidFill>
                <a:latin typeface="Times New Roman" panose="02020603050405020304" pitchFamily="18" charset="0"/>
                <a:ea typeface="黑体" panose="02010609060101010101" pitchFamily="49" charset="-122"/>
                <a:cs typeface="+mn-cs"/>
              </a:rPr>
              <a:t>3</a:t>
            </a:r>
            <a:r>
              <a:rPr lang="zh-CN" altLang="en-US" dirty="0">
                <a:latin typeface="Times New Roman" panose="02020603050405020304" pitchFamily="18" charset="0"/>
                <a:ea typeface="华文楷体" panose="02010600040101010101" pitchFamily="2" charset="-122"/>
                <a:cs typeface="+mn-cs"/>
              </a:rPr>
              <a:t>种：</a:t>
            </a:r>
            <a:endParaRPr lang="zh-CN" altLang="en-US" dirty="0">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网络型（</a:t>
            </a:r>
            <a:r>
              <a:rPr lang="en-US" altLang="zh-CN" dirty="0">
                <a:latin typeface="Times New Roman" panose="02020603050405020304" pitchFamily="18" charset="0"/>
                <a:ea typeface="黑体" panose="02010609060101010101" pitchFamily="49" charset="-122"/>
              </a:rPr>
              <a:t>nets type</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寄存器型（</a:t>
            </a:r>
            <a:r>
              <a:rPr lang="en-US" altLang="zh-CN" dirty="0">
                <a:latin typeface="Times New Roman" panose="02020603050405020304" pitchFamily="18" charset="0"/>
                <a:ea typeface="黑体" panose="02010609060101010101" pitchFamily="49" charset="-122"/>
              </a:rPr>
              <a:t>register type </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lvl="1" algn="just">
              <a:lnSpc>
                <a:spcPct val="110000"/>
              </a:lnSpc>
              <a:spcBef>
                <a:spcPct val="0"/>
              </a:spcBef>
            </a:pPr>
            <a:r>
              <a:rPr lang="zh-CN" altLang="en-US" dirty="0">
                <a:latin typeface="Times New Roman" panose="02020603050405020304" pitchFamily="18" charset="0"/>
                <a:ea typeface="华文楷体" panose="02010600040101010101" pitchFamily="2" charset="-122"/>
              </a:rPr>
              <a:t>数组（</a:t>
            </a:r>
            <a:r>
              <a:rPr lang="en-US" altLang="zh-CN" dirty="0">
                <a:latin typeface="Times New Roman" panose="02020603050405020304" pitchFamily="18" charset="0"/>
                <a:ea typeface="黑体" panose="02010609060101010101" pitchFamily="49" charset="-122"/>
              </a:rPr>
              <a:t>memory type</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1633285" name="Text Box 5"/>
          <p:cNvSpPr txBox="1"/>
          <p:nvPr/>
        </p:nvSpPr>
        <p:spPr>
          <a:xfrm>
            <a:off x="334963" y="3513138"/>
            <a:ext cx="2374900" cy="457200"/>
          </a:xfrm>
          <a:prstGeom prst="rect">
            <a:avLst/>
          </a:prstGeom>
          <a:noFill/>
          <a:ln w="9525" cap="flat" cmpd="sng">
            <a:solidFill>
              <a:schemeClr val="accent1"/>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85000"/>
              </a:lnSpc>
              <a:spcBef>
                <a:spcPct val="50000"/>
              </a:spcBef>
              <a:buNone/>
            </a:pPr>
            <a:r>
              <a:rPr lang="en-US" altLang="zh-CN" sz="2800" b="1" dirty="0">
                <a:solidFill>
                  <a:schemeClr val="tx2"/>
                </a:solidFill>
                <a:latin typeface="华文楷体" panose="02010600040101010101" pitchFamily="2" charset="-122"/>
                <a:ea typeface="华文楷体" panose="02010600040101010101" pitchFamily="2" charset="-122"/>
              </a:rPr>
              <a:t>1. nets</a:t>
            </a:r>
            <a:r>
              <a:rPr lang="zh-CN" altLang="en-US" sz="2800" b="1" dirty="0">
                <a:solidFill>
                  <a:schemeClr val="tx2"/>
                </a:solidFill>
                <a:latin typeface="华文楷体" panose="02010600040101010101" pitchFamily="2" charset="-122"/>
                <a:ea typeface="华文楷体" panose="02010600040101010101" pitchFamily="2" charset="-122"/>
              </a:rPr>
              <a:t>型变量</a:t>
            </a:r>
            <a:endParaRPr lang="zh-CN" altLang="en-US" sz="2800" b="1" dirty="0">
              <a:solidFill>
                <a:schemeClr val="tx2"/>
              </a:solidFill>
              <a:latin typeface="华文楷体" panose="02010600040101010101" pitchFamily="2" charset="-122"/>
              <a:ea typeface="华文楷体" panose="02010600040101010101" pitchFamily="2" charset="-122"/>
            </a:endParaRPr>
          </a:p>
        </p:txBody>
      </p:sp>
      <p:sp>
        <p:nvSpPr>
          <p:cNvPr id="1633286" name="Rectangle 6"/>
          <p:cNvSpPr/>
          <p:nvPr/>
        </p:nvSpPr>
        <p:spPr>
          <a:xfrm>
            <a:off x="452438" y="3590925"/>
            <a:ext cx="7173912" cy="3070225"/>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05000"/>
              </a:lnSpc>
              <a:spcBef>
                <a:spcPct val="0"/>
              </a:spcBef>
              <a:buClr>
                <a:srgbClr val="3333FF"/>
              </a:buClr>
              <a:buFont typeface="Wingdings" panose="05000000000000000000" pitchFamily="2" charset="2"/>
              <a:buChar char="•"/>
            </a:pPr>
            <a:endParaRPr lang="en-US" altLang="zh-CN" b="1" dirty="0">
              <a:latin typeface="宋体" panose="02010600030101010101" pitchFamily="2" charset="-122"/>
              <a:ea typeface="宋体" panose="02010600030101010101" pitchFamily="2" charset="-122"/>
            </a:endParaRPr>
          </a:p>
          <a:p>
            <a:pPr marL="342900" lvl="0" indent="-342900" algn="just">
              <a:spcBef>
                <a:spcPct val="0"/>
              </a:spcBef>
              <a:buClr>
                <a:srgbClr val="3333FF"/>
              </a:buClr>
              <a:buFont typeface="Wingdings" panose="05000000000000000000" pitchFamily="2" charset="2"/>
              <a:buChar char="§"/>
            </a:pPr>
            <a:r>
              <a:rPr lang="zh-CN" altLang="en-US" sz="2400" b="1" dirty="0">
                <a:solidFill>
                  <a:srgbClr val="FF0066"/>
                </a:solidFill>
                <a:latin typeface="Times New Roman" panose="02020603050405020304" pitchFamily="18" charset="0"/>
                <a:ea typeface="华文楷体" panose="02010600040101010101" pitchFamily="2" charset="-122"/>
              </a:rPr>
              <a:t>定义</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输出始终随输入的变化而变化的变量。 </a:t>
            </a:r>
            <a:r>
              <a:rPr lang="zh-CN" altLang="en-US" b="1" dirty="0">
                <a:latin typeface="Times New Roman" panose="02020603050405020304" pitchFamily="18" charset="0"/>
                <a:ea typeface="华文楷体" panose="02010600040101010101" pitchFamily="2" charset="-122"/>
              </a:rPr>
              <a:t>               表示结构实体（如门）之间的</a:t>
            </a:r>
            <a:r>
              <a:rPr lang="zh-CN" altLang="en-US" b="1" dirty="0">
                <a:solidFill>
                  <a:srgbClr val="FF33CC"/>
                </a:solidFill>
                <a:latin typeface="Times New Roman" panose="02020603050405020304" pitchFamily="18" charset="0"/>
                <a:ea typeface="华文楷体" panose="02010600040101010101" pitchFamily="2" charset="-122"/>
              </a:rPr>
              <a:t>物理</a:t>
            </a:r>
            <a:r>
              <a:rPr lang="zh-CN" altLang="en-US" b="1" dirty="0">
                <a:latin typeface="Times New Roman" panose="02020603050405020304" pitchFamily="18" charset="0"/>
                <a:ea typeface="华文楷体" panose="02010600040101010101" pitchFamily="2" charset="-122"/>
              </a:rPr>
              <a:t>连接。</a:t>
            </a:r>
            <a:endParaRPr lang="zh-CN" altLang="en-US" b="1" dirty="0">
              <a:latin typeface="Times New Roman" panose="02020603050405020304" pitchFamily="18" charset="0"/>
              <a:ea typeface="华文楷体" panose="02010600040101010101" pitchFamily="2" charset="-122"/>
            </a:endParaRPr>
          </a:p>
          <a:p>
            <a:pPr marL="342900" lvl="0" indent="-342900" algn="just">
              <a:spcBef>
                <a:spcPct val="0"/>
              </a:spcBef>
              <a:buClr>
                <a:srgbClr val="3333FF"/>
              </a:buClr>
              <a:buFont typeface="Wingdings" panose="05000000000000000000" pitchFamily="2" charset="2"/>
              <a:buChar char="§"/>
            </a:pPr>
            <a:r>
              <a:rPr lang="zh-CN" altLang="en-US" b="1" dirty="0">
                <a:latin typeface="Times New Roman" panose="02020603050405020304" pitchFamily="18" charset="0"/>
                <a:ea typeface="华文楷体" panose="02010600040101010101" pitchFamily="2" charset="-122"/>
              </a:rPr>
              <a:t>常用</a:t>
            </a:r>
            <a:r>
              <a:rPr lang="en-US" altLang="zh-CN" b="1" dirty="0">
                <a:latin typeface="Times New Roman" panose="02020603050405020304" pitchFamily="18" charset="0"/>
                <a:ea typeface="华文楷体" panose="02010600040101010101" pitchFamily="2" charset="-122"/>
              </a:rPr>
              <a:t>nets</a:t>
            </a:r>
            <a:r>
              <a:rPr lang="zh-CN" altLang="en-US" b="1" dirty="0">
                <a:latin typeface="Times New Roman" panose="02020603050405020304" pitchFamily="18" charset="0"/>
                <a:ea typeface="华文楷体" panose="02010600040101010101" pitchFamily="2" charset="-122"/>
              </a:rPr>
              <a:t>型变量：</a:t>
            </a:r>
            <a:endParaRPr lang="zh-CN" altLang="en-US" b="1" dirty="0">
              <a:latin typeface="Times New Roman" panose="02020603050405020304" pitchFamily="18" charset="0"/>
              <a:ea typeface="华文楷体" panose="02010600040101010101" pitchFamily="2" charset="-122"/>
            </a:endParaRPr>
          </a:p>
          <a:p>
            <a:pPr marL="742950" lvl="1" indent="-285750" algn="just">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rPr>
              <a:t>wire</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tri</a:t>
            </a:r>
            <a:r>
              <a:rPr lang="zh-CN" altLang="en-US" sz="2000" b="1" dirty="0">
                <a:latin typeface="Times New Roman" panose="02020603050405020304" pitchFamily="18" charset="0"/>
                <a:ea typeface="华文楷体" panose="02010600040101010101" pitchFamily="2" charset="-122"/>
              </a:rPr>
              <a:t>：连线类型（两者功能一致）</a:t>
            </a:r>
            <a:endParaRPr lang="zh-CN" altLang="en-US" sz="2000" b="1" dirty="0">
              <a:latin typeface="Times New Roman" panose="02020603050405020304" pitchFamily="18" charset="0"/>
              <a:ea typeface="华文楷体" panose="02010600040101010101" pitchFamily="2" charset="-122"/>
            </a:endParaRPr>
          </a:p>
          <a:p>
            <a:pPr marL="742950" lvl="1" indent="-285750" algn="just">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rPr>
              <a:t>wor</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trior</a:t>
            </a:r>
            <a:r>
              <a:rPr lang="zh-CN" altLang="en-US" sz="2000" b="1" dirty="0">
                <a:latin typeface="Times New Roman" panose="02020603050405020304" pitchFamily="18" charset="0"/>
                <a:ea typeface="华文楷体" panose="02010600040101010101" pitchFamily="2" charset="-122"/>
              </a:rPr>
              <a:t>：具有线或特性的连线（两者功能一致）</a:t>
            </a:r>
            <a:endParaRPr lang="zh-CN" altLang="en-US" sz="2000" b="1" dirty="0">
              <a:latin typeface="Times New Roman" panose="02020603050405020304" pitchFamily="18" charset="0"/>
              <a:ea typeface="华文楷体" panose="02010600040101010101" pitchFamily="2" charset="-122"/>
            </a:endParaRPr>
          </a:p>
          <a:p>
            <a:pPr marL="742950" lvl="1" indent="-285750" algn="just">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rPr>
              <a:t>wand</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triand</a:t>
            </a:r>
            <a:r>
              <a:rPr lang="zh-CN" altLang="en-US" sz="2000" b="1" dirty="0">
                <a:latin typeface="Times New Roman" panose="02020603050405020304" pitchFamily="18" charset="0"/>
                <a:ea typeface="华文楷体" panose="02010600040101010101" pitchFamily="2" charset="-122"/>
              </a:rPr>
              <a:t>：具有线与特性的连线（两者功能一致）</a:t>
            </a:r>
            <a:endParaRPr lang="zh-CN" altLang="en-US" sz="2000" b="1" dirty="0">
              <a:latin typeface="Times New Roman" panose="02020603050405020304" pitchFamily="18" charset="0"/>
              <a:ea typeface="华文楷体" panose="02010600040101010101" pitchFamily="2" charset="-122"/>
            </a:endParaRPr>
          </a:p>
          <a:p>
            <a:pPr marL="742950" lvl="1" indent="-285750" algn="just">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rPr>
              <a:t>tri1</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tri0</a:t>
            </a:r>
            <a:r>
              <a:rPr lang="zh-CN" altLang="en-US" sz="2000" b="1" dirty="0">
                <a:latin typeface="Times New Roman" panose="02020603050405020304" pitchFamily="18" charset="0"/>
                <a:ea typeface="华文楷体" panose="02010600040101010101" pitchFamily="2" charset="-122"/>
              </a:rPr>
              <a:t>：上拉电阻和下拉电阻</a:t>
            </a:r>
            <a:endParaRPr lang="zh-CN" altLang="en-US" sz="2000" b="1" dirty="0">
              <a:latin typeface="Times New Roman" panose="02020603050405020304" pitchFamily="18" charset="0"/>
              <a:ea typeface="华文楷体" panose="02010600040101010101" pitchFamily="2" charset="-122"/>
            </a:endParaRPr>
          </a:p>
          <a:p>
            <a:pPr marL="742950" lvl="1" indent="-285750" algn="just">
              <a:spcBef>
                <a:spcPct val="0"/>
              </a:spcBef>
              <a:buClr>
                <a:srgbClr val="FF0000"/>
              </a:buClr>
              <a:buSzPct val="80000"/>
              <a:buFont typeface="Wingdings" panose="05000000000000000000" pitchFamily="2" charset="2"/>
              <a:buChar char="Ø"/>
            </a:pPr>
            <a:r>
              <a:rPr lang="en-US" altLang="zh-CN" sz="2000" b="1" dirty="0">
                <a:latin typeface="Times New Roman" panose="02020603050405020304" pitchFamily="18" charset="0"/>
                <a:ea typeface="华文楷体" panose="02010600040101010101" pitchFamily="2" charset="-122"/>
              </a:rPr>
              <a:t>supply1</a:t>
            </a:r>
            <a:r>
              <a:rPr lang="zh-CN" altLang="en-US" sz="2000" b="1" dirty="0">
                <a:latin typeface="Times New Roman" panose="02020603050405020304" pitchFamily="18" charset="0"/>
                <a:ea typeface="华文楷体" panose="02010600040101010101" pitchFamily="2" charset="-122"/>
              </a:rPr>
              <a:t>，</a:t>
            </a:r>
            <a:r>
              <a:rPr lang="en-US" altLang="zh-CN" sz="2000" b="1" dirty="0">
                <a:latin typeface="Times New Roman" panose="02020603050405020304" pitchFamily="18" charset="0"/>
                <a:ea typeface="华文楷体" panose="02010600040101010101" pitchFamily="2" charset="-122"/>
              </a:rPr>
              <a:t>supply0</a:t>
            </a:r>
            <a:r>
              <a:rPr lang="zh-CN" altLang="en-US" sz="2000" b="1" dirty="0">
                <a:latin typeface="Times New Roman" panose="02020603050405020304" pitchFamily="18" charset="0"/>
                <a:ea typeface="华文楷体" panose="02010600040101010101" pitchFamily="2" charset="-122"/>
              </a:rPr>
              <a:t>：电源（逻辑</a:t>
            </a:r>
            <a:r>
              <a:rPr lang="en-US" altLang="zh-CN" sz="2000" b="1" dirty="0">
                <a:latin typeface="Times New Roman" panose="02020603050405020304" pitchFamily="18" charset="0"/>
                <a:ea typeface="华文楷体" panose="02010600040101010101" pitchFamily="2" charset="-122"/>
              </a:rPr>
              <a:t>1</a:t>
            </a:r>
            <a:r>
              <a:rPr lang="zh-CN" altLang="en-US" sz="2000" b="1" dirty="0">
                <a:latin typeface="Times New Roman" panose="02020603050405020304" pitchFamily="18" charset="0"/>
                <a:ea typeface="华文楷体" panose="02010600040101010101" pitchFamily="2" charset="-122"/>
              </a:rPr>
              <a:t>）和地（逻辑</a:t>
            </a:r>
            <a:r>
              <a:rPr lang="en-US" altLang="zh-CN" sz="2000" b="1" dirty="0">
                <a:latin typeface="Times New Roman" panose="02020603050405020304" pitchFamily="18" charset="0"/>
                <a:ea typeface="华文楷体" panose="02010600040101010101" pitchFamily="2" charset="-122"/>
              </a:rPr>
              <a:t>0</a:t>
            </a:r>
            <a:r>
              <a:rPr lang="zh-CN" altLang="en-US" sz="2000" b="1" dirty="0">
                <a:latin typeface="Times New Roman" panose="02020603050405020304" pitchFamily="18" charset="0"/>
                <a:ea typeface="华文楷体" panose="02010600040101010101" pitchFamily="2" charset="-122"/>
              </a:rPr>
              <a:t>）	</a:t>
            </a:r>
            <a:endParaRPr lang="zh-CN" altLang="en-US" sz="20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3283"/>
                                        </p:tgtEl>
                                        <p:attrNameLst>
                                          <p:attrName>style.visibility</p:attrName>
                                        </p:attrNameLst>
                                      </p:cBhvr>
                                      <p:to>
                                        <p:strVal val="visible"/>
                                      </p:to>
                                    </p:set>
                                    <p:anim calcmode="lin" valueType="num">
                                      <p:cBhvr additive="base">
                                        <p:cTn id="7" dur="500" fill="hold"/>
                                        <p:tgtEl>
                                          <p:spTgt spid="1633283"/>
                                        </p:tgtEl>
                                        <p:attrNameLst>
                                          <p:attrName>ppt_x</p:attrName>
                                        </p:attrNameLst>
                                      </p:cBhvr>
                                      <p:tavLst>
                                        <p:tav tm="0">
                                          <p:val>
                                            <p:strVal val="0-#ppt_w/2"/>
                                          </p:val>
                                        </p:tav>
                                        <p:tav tm="100000">
                                          <p:val>
                                            <p:strVal val="#ppt_x"/>
                                          </p:val>
                                        </p:tav>
                                      </p:tavLst>
                                    </p:anim>
                                    <p:anim calcmode="lin" valueType="num">
                                      <p:cBhvr additive="base">
                                        <p:cTn id="8" dur="500" fill="hold"/>
                                        <p:tgtEl>
                                          <p:spTgt spid="16332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33285"/>
                                        </p:tgtEl>
                                        <p:attrNameLst>
                                          <p:attrName>style.visibility</p:attrName>
                                        </p:attrNameLst>
                                      </p:cBhvr>
                                      <p:to>
                                        <p:strVal val="visible"/>
                                      </p:to>
                                    </p:set>
                                    <p:anim calcmode="lin" valueType="num">
                                      <p:cBhvr>
                                        <p:cTn id="13" dur="500" fill="hold"/>
                                        <p:tgtEl>
                                          <p:spTgt spid="1633285"/>
                                        </p:tgtEl>
                                        <p:attrNameLst>
                                          <p:attrName>ppt_w</p:attrName>
                                        </p:attrNameLst>
                                      </p:cBhvr>
                                      <p:tavLst>
                                        <p:tav tm="0">
                                          <p:val>
                                            <p:fltVal val="0.000000"/>
                                          </p:val>
                                        </p:tav>
                                        <p:tav tm="100000">
                                          <p:val>
                                            <p:strVal val="#ppt_w"/>
                                          </p:val>
                                        </p:tav>
                                      </p:tavLst>
                                    </p:anim>
                                    <p:anim calcmode="lin" valueType="num">
                                      <p:cBhvr>
                                        <p:cTn id="14" dur="500" fill="hold"/>
                                        <p:tgtEl>
                                          <p:spTgt spid="1633285"/>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1633286"/>
                                        </p:tgtEl>
                                        <p:attrNameLst>
                                          <p:attrName>style.visibility</p:attrName>
                                        </p:attrNameLst>
                                      </p:cBhvr>
                                      <p:to>
                                        <p:strVal val="visible"/>
                                      </p:to>
                                    </p:set>
                                    <p:anim calcmode="lin" valueType="num">
                                      <p:cBhvr additive="base">
                                        <p:cTn id="18" dur="500" fill="hold"/>
                                        <p:tgtEl>
                                          <p:spTgt spid="1633286"/>
                                        </p:tgtEl>
                                        <p:attrNameLst>
                                          <p:attrName>ppt_x</p:attrName>
                                        </p:attrNameLst>
                                      </p:cBhvr>
                                      <p:tavLst>
                                        <p:tav tm="0">
                                          <p:val>
                                            <p:strVal val="#ppt_x"/>
                                          </p:val>
                                        </p:tav>
                                        <p:tav tm="100000">
                                          <p:val>
                                            <p:strVal val="#ppt_x"/>
                                          </p:val>
                                        </p:tav>
                                      </p:tavLst>
                                    </p:anim>
                                    <p:anim calcmode="lin" valueType="num">
                                      <p:cBhvr additive="base">
                                        <p:cTn id="19" dur="500" fill="hold"/>
                                        <p:tgtEl>
                                          <p:spTgt spid="1633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p:bldP spid="1633285" grpId="0" bldLvl="0" animBg="1"/>
      <p:bldP spid="1633286"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680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7680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35331" name="Rectangle 3"/>
          <p:cNvSpPr>
            <a:spLocks noGrp="1"/>
          </p:cNvSpPr>
          <p:nvPr>
            <p:ph idx="1"/>
          </p:nvPr>
        </p:nvSpPr>
        <p:spPr>
          <a:xfrm>
            <a:off x="539750" y="946150"/>
            <a:ext cx="7921625" cy="4859338"/>
          </a:xfrm>
        </p:spPr>
        <p:txBody>
          <a:bodyPr vert="horz" wrap="square" lIns="91440" tIns="45720" rIns="91440" bIns="45720" anchor="t" anchorCtr="0"/>
          <a:p>
            <a:pPr marL="279400" indent="-279400" algn="just">
              <a:lnSpc>
                <a:spcPct val="110000"/>
              </a:lnSpc>
            </a:pPr>
            <a:r>
              <a:rPr lang="en-US" altLang="zh-CN" dirty="0">
                <a:solidFill>
                  <a:srgbClr val="FF0066"/>
                </a:solidFill>
                <a:latin typeface="华文楷体" panose="02010600040101010101" pitchFamily="2" charset="-122"/>
                <a:ea typeface="黑体" panose="02010609060101010101" pitchFamily="49" charset="-122"/>
                <a:cs typeface="+mn-cs"/>
              </a:rPr>
              <a:t>wire</a:t>
            </a:r>
            <a:r>
              <a:rPr lang="zh-CN" altLang="en-US" dirty="0">
                <a:latin typeface="华文楷体" panose="02010600040101010101" pitchFamily="2" charset="-122"/>
                <a:ea typeface="华文楷体" panose="02010600040101010101" pitchFamily="2" charset="-122"/>
                <a:cs typeface="+mn-cs"/>
              </a:rPr>
              <a:t>型变量</a:t>
            </a:r>
            <a:endParaRPr lang="zh-CN" altLang="en-US" dirty="0">
              <a:latin typeface="华文楷体" panose="02010600040101010101" pitchFamily="2" charset="-122"/>
              <a:ea typeface="华文楷体" panose="02010600040101010101" pitchFamily="2" charset="-122"/>
              <a:cs typeface="+mn-cs"/>
            </a:endParaRPr>
          </a:p>
          <a:p>
            <a:pPr marL="755650" lvl="1" algn="just">
              <a:lnSpc>
                <a:spcPct val="110000"/>
              </a:lnSpc>
              <a:buSzPct val="85000"/>
            </a:pPr>
            <a:r>
              <a:rPr lang="zh-CN" altLang="en-US" sz="2200" dirty="0">
                <a:latin typeface="华文楷体" panose="02010600040101010101" pitchFamily="2" charset="-122"/>
                <a:ea typeface="华文楷体" panose="02010600040101010101" pitchFamily="2" charset="-122"/>
              </a:rPr>
              <a:t>最常用的</a:t>
            </a:r>
            <a:r>
              <a:rPr lang="en-US" altLang="zh-CN" sz="2200" dirty="0">
                <a:latin typeface="华文楷体" panose="02010600040101010101" pitchFamily="2" charset="-122"/>
                <a:ea typeface="黑体" panose="02010609060101010101" pitchFamily="49" charset="-122"/>
              </a:rPr>
              <a:t>nets</a:t>
            </a:r>
            <a:r>
              <a:rPr lang="zh-CN" altLang="en-US" sz="2200" dirty="0">
                <a:latin typeface="华文楷体" panose="02010600040101010101" pitchFamily="2" charset="-122"/>
                <a:ea typeface="华文楷体" panose="02010600040101010101" pitchFamily="2" charset="-122"/>
              </a:rPr>
              <a:t>型变量，常用来表示以</a:t>
            </a:r>
            <a:r>
              <a:rPr lang="en-US" altLang="zh-CN" sz="2200" dirty="0">
                <a:solidFill>
                  <a:srgbClr val="FF66CC"/>
                </a:solidFill>
                <a:latin typeface="华文楷体" panose="02010600040101010101" pitchFamily="2" charset="-122"/>
                <a:ea typeface="黑体" panose="02010609060101010101" pitchFamily="49" charset="-122"/>
              </a:rPr>
              <a:t>assign</a:t>
            </a:r>
            <a:r>
              <a:rPr lang="zh-CN" altLang="en-US" sz="2200" dirty="0">
                <a:latin typeface="华文楷体" panose="02010600040101010101" pitchFamily="2" charset="-122"/>
                <a:ea typeface="华文楷体" panose="02010600040101010101" pitchFamily="2" charset="-122"/>
              </a:rPr>
              <a:t>语句赋值的</a:t>
            </a:r>
            <a:r>
              <a:rPr lang="zh-CN" altLang="en-US" sz="2200" dirty="0">
                <a:solidFill>
                  <a:srgbClr val="FF66CC"/>
                </a:solidFill>
                <a:latin typeface="华文楷体" panose="02010600040101010101" pitchFamily="2" charset="-122"/>
                <a:ea typeface="华文楷体" panose="02010600040101010101" pitchFamily="2" charset="-122"/>
              </a:rPr>
              <a:t>组合</a:t>
            </a:r>
            <a:r>
              <a:rPr lang="zh-CN" altLang="en-US" sz="2200" dirty="0">
                <a:latin typeface="华文楷体" panose="02010600040101010101" pitchFamily="2" charset="-122"/>
                <a:ea typeface="华文楷体" panose="02010600040101010101" pitchFamily="2" charset="-122"/>
              </a:rPr>
              <a:t>逻辑信号。</a:t>
            </a:r>
            <a:endParaRPr lang="zh-CN" altLang="en-US" sz="2200" dirty="0">
              <a:latin typeface="华文楷体" panose="02010600040101010101" pitchFamily="2" charset="-122"/>
              <a:ea typeface="华文楷体" panose="02010600040101010101" pitchFamily="2" charset="-122"/>
            </a:endParaRPr>
          </a:p>
          <a:p>
            <a:pPr marL="755650" lvl="1" algn="just">
              <a:lnSpc>
                <a:spcPct val="110000"/>
              </a:lnSpc>
              <a:buSzPct val="85000"/>
            </a:pPr>
            <a:r>
              <a:rPr lang="zh-CN" altLang="en-US" sz="2200" dirty="0">
                <a:latin typeface="华文楷体" panose="02010600040101010101" pitchFamily="2" charset="-122"/>
                <a:ea typeface="华文楷体" panose="02010600040101010101" pitchFamily="2" charset="-122"/>
              </a:rPr>
              <a:t>模块中的输入</a:t>
            </a:r>
            <a:r>
              <a:rPr lang="en-US" altLang="zh-CN" sz="2200" dirty="0">
                <a:latin typeface="华文楷体" panose="02010600040101010101" pitchFamily="2" charset="-122"/>
                <a:ea typeface="黑体" panose="02010609060101010101" pitchFamily="49" charset="-122"/>
              </a:rPr>
              <a:t>/</a:t>
            </a:r>
            <a:r>
              <a:rPr lang="zh-CN" altLang="en-US" sz="2200" dirty="0">
                <a:latin typeface="华文楷体" panose="02010600040101010101" pitchFamily="2" charset="-122"/>
                <a:ea typeface="华文楷体" panose="02010600040101010101" pitchFamily="2" charset="-122"/>
              </a:rPr>
              <a:t>输出信号类型</a:t>
            </a:r>
            <a:r>
              <a:rPr lang="zh-CN" altLang="en-US" sz="2200" dirty="0">
                <a:solidFill>
                  <a:srgbClr val="FF66CC"/>
                </a:solidFill>
                <a:latin typeface="华文楷体" panose="02010600040101010101" pitchFamily="2" charset="-122"/>
                <a:ea typeface="华文楷体" panose="02010600040101010101" pitchFamily="2" charset="-122"/>
              </a:rPr>
              <a:t>缺省</a:t>
            </a:r>
            <a:r>
              <a:rPr lang="zh-CN" altLang="en-US" sz="2200" dirty="0">
                <a:latin typeface="华文楷体" panose="02010600040101010101" pitchFamily="2" charset="-122"/>
                <a:ea typeface="华文楷体" panose="02010600040101010101" pitchFamily="2" charset="-122"/>
              </a:rPr>
              <a:t>为</a:t>
            </a:r>
            <a:r>
              <a:rPr lang="en-US" altLang="zh-CN" sz="2200" dirty="0">
                <a:solidFill>
                  <a:srgbClr val="FF66CC"/>
                </a:solidFill>
                <a:latin typeface="华文楷体" panose="02010600040101010101" pitchFamily="2" charset="-122"/>
                <a:ea typeface="黑体" panose="02010609060101010101" pitchFamily="49" charset="-122"/>
              </a:rPr>
              <a:t>wire</a:t>
            </a:r>
            <a:r>
              <a:rPr lang="zh-CN" altLang="en-US" sz="2200" dirty="0">
                <a:latin typeface="华文楷体" panose="02010600040101010101" pitchFamily="2" charset="-122"/>
                <a:ea typeface="华文楷体" panose="02010600040101010101" pitchFamily="2" charset="-122"/>
              </a:rPr>
              <a:t>型。</a:t>
            </a:r>
            <a:endParaRPr lang="zh-CN" altLang="en-US" sz="2200" dirty="0">
              <a:latin typeface="华文楷体" panose="02010600040101010101" pitchFamily="2" charset="-122"/>
              <a:ea typeface="华文楷体" panose="02010600040101010101" pitchFamily="2" charset="-122"/>
            </a:endParaRPr>
          </a:p>
          <a:p>
            <a:pPr marL="755650" lvl="1" algn="just">
              <a:lnSpc>
                <a:spcPct val="110000"/>
              </a:lnSpc>
              <a:buSzPct val="85000"/>
            </a:pPr>
            <a:r>
              <a:rPr lang="zh-CN" altLang="en-US" sz="2200" dirty="0">
                <a:latin typeface="华文楷体" panose="02010600040101010101" pitchFamily="2" charset="-122"/>
                <a:ea typeface="华文楷体" panose="02010600040101010101" pitchFamily="2" charset="-122"/>
              </a:rPr>
              <a:t>可用做任何方程式的输入，或“</a:t>
            </a:r>
            <a:r>
              <a:rPr lang="en-US" altLang="zh-CN" sz="2200" dirty="0">
                <a:latin typeface="华文楷体" panose="02010600040101010101" pitchFamily="2" charset="-122"/>
                <a:ea typeface="黑体" panose="02010609060101010101" pitchFamily="49" charset="-122"/>
              </a:rPr>
              <a:t>assign”</a:t>
            </a:r>
            <a:r>
              <a:rPr lang="zh-CN" altLang="en-US" sz="2200" dirty="0">
                <a:latin typeface="华文楷体" panose="02010600040101010101" pitchFamily="2" charset="-122"/>
                <a:ea typeface="华文楷体" panose="02010600040101010101" pitchFamily="2" charset="-122"/>
              </a:rPr>
              <a:t>语句和实例元件的输出。</a:t>
            </a:r>
            <a:endParaRPr lang="zh-CN" altLang="en-US" sz="2200" dirty="0">
              <a:latin typeface="华文楷体" panose="02010600040101010101" pitchFamily="2" charset="-122"/>
              <a:ea typeface="华文楷体" panose="02010600040101010101" pitchFamily="2" charset="-122"/>
            </a:endParaRPr>
          </a:p>
          <a:p>
            <a:pPr marL="755650" lvl="1" algn="just">
              <a:lnSpc>
                <a:spcPct val="110000"/>
              </a:lnSpc>
              <a:buSzPct val="85000"/>
            </a:pPr>
            <a:endParaRPr lang="zh-CN" altLang="en-US" sz="2200" dirty="0">
              <a:latin typeface="宋体" panose="02010600030101010101" pitchFamily="2" charset="-122"/>
              <a:ea typeface="华文楷体" panose="02010600040101010101" pitchFamily="2" charset="-122"/>
            </a:endParaRPr>
          </a:p>
        </p:txBody>
      </p:sp>
      <p:sp>
        <p:nvSpPr>
          <p:cNvPr id="1635332" name="Text Box 4"/>
          <p:cNvSpPr txBox="1"/>
          <p:nvPr/>
        </p:nvSpPr>
        <p:spPr>
          <a:xfrm>
            <a:off x="1905000" y="3413125"/>
            <a:ext cx="4800600" cy="396875"/>
          </a:xfrm>
          <a:prstGeom prst="rect">
            <a:avLst/>
          </a:prstGeom>
          <a:noFill/>
          <a:ln w="12700" cap="flat" cmpd="sng">
            <a:solidFill>
              <a:srgbClr val="89A4A7"/>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wire</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n;</a:t>
            </a:r>
            <a:endParaRPr lang="en-US" altLang="zh-CN" b="1" dirty="0">
              <a:latin typeface="宋体" panose="02010600030101010101" pitchFamily="2" charset="-122"/>
              <a:ea typeface="宋体" panose="02010600030101010101" pitchFamily="2" charset="-122"/>
            </a:endParaRPr>
          </a:p>
        </p:txBody>
      </p:sp>
      <p:sp>
        <p:nvSpPr>
          <p:cNvPr id="1635333" name="Text Box 5"/>
          <p:cNvSpPr txBox="1"/>
          <p:nvPr/>
        </p:nvSpPr>
        <p:spPr>
          <a:xfrm>
            <a:off x="1905000" y="4860925"/>
            <a:ext cx="5715000" cy="701675"/>
          </a:xfrm>
          <a:prstGeom prst="rect">
            <a:avLst/>
          </a:prstGeom>
          <a:noFill/>
          <a:ln w="9525" cap="flat" cmpd="sng">
            <a:solidFill>
              <a:schemeClr val="bg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wire[n-1:0]</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m;</a:t>
            </a:r>
            <a:endParaRPr lang="en-US" altLang="zh-CN" b="1" dirty="0">
              <a:latin typeface="宋体" panose="02010600030101010101" pitchFamily="2" charset="-122"/>
              <a:ea typeface="宋体" panose="02010600030101010101" pitchFamily="2" charset="-122"/>
            </a:endParaRPr>
          </a:p>
          <a:p>
            <a:pPr marL="0" lvl="0" indent="0" algn="just">
              <a:spcBef>
                <a:spcPct val="0"/>
              </a:spcBef>
              <a:buNone/>
            </a:pPr>
            <a:r>
              <a:rPr lang="zh-CN" altLang="en-US" b="1" dirty="0">
                <a:latin typeface="宋体" panose="02010600030101010101" pitchFamily="2" charset="-122"/>
                <a:ea typeface="宋体" panose="02010600030101010101" pitchFamily="2" charset="-122"/>
              </a:rPr>
              <a:t>或 </a:t>
            </a:r>
            <a:r>
              <a:rPr lang="en-US" altLang="zh-CN" b="1" dirty="0">
                <a:solidFill>
                  <a:srgbClr val="FF0066"/>
                </a:solidFill>
                <a:latin typeface="宋体" panose="02010600030101010101" pitchFamily="2" charset="-122"/>
                <a:ea typeface="宋体" panose="02010600030101010101" pitchFamily="2" charset="-122"/>
              </a:rPr>
              <a:t>wire[n:1]</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m;</a:t>
            </a:r>
            <a:endParaRPr lang="en-US" altLang="zh-CN" b="1" dirty="0">
              <a:latin typeface="宋体" panose="02010600030101010101" pitchFamily="2" charset="-122"/>
              <a:ea typeface="宋体" panose="02010600030101010101" pitchFamily="2" charset="-122"/>
            </a:endParaRPr>
          </a:p>
        </p:txBody>
      </p:sp>
      <p:sp>
        <p:nvSpPr>
          <p:cNvPr id="1635334" name="AutoShape 6"/>
          <p:cNvSpPr/>
          <p:nvPr/>
        </p:nvSpPr>
        <p:spPr>
          <a:xfrm>
            <a:off x="3048000" y="5791200"/>
            <a:ext cx="1371600" cy="685800"/>
          </a:xfrm>
          <a:prstGeom prst="wedgeRoundRectCallout">
            <a:avLst>
              <a:gd name="adj1" fmla="val -46991"/>
              <a:gd name="adj2" fmla="val -80093"/>
              <a:gd name="adj3" fmla="val 16667"/>
            </a:avLst>
          </a:prstGeom>
          <a:noFill/>
          <a:ln w="9525" cap="flat" cmpd="sng">
            <a:solidFill>
              <a:schemeClr val="bg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每条总线位宽为</a:t>
            </a:r>
            <a:r>
              <a:rPr lang="en-US" altLang="zh-CN" b="1" dirty="0">
                <a:solidFill>
                  <a:srgbClr val="FF0066"/>
                </a:solidFill>
                <a:latin typeface="Tahoma" panose="020B0604030504040204" pitchFamily="34" charset="0"/>
                <a:ea typeface="宋体" panose="02010600030101010101" pitchFamily="2" charset="-122"/>
              </a:rPr>
              <a:t>n</a:t>
            </a:r>
            <a:endParaRPr lang="en-US" altLang="zh-CN" b="1" dirty="0">
              <a:solidFill>
                <a:srgbClr val="FF0066"/>
              </a:solidFill>
              <a:latin typeface="Tahoma" panose="020B0604030504040204" pitchFamily="34" charset="0"/>
              <a:ea typeface="宋体" panose="02010600030101010101" pitchFamily="2" charset="-122"/>
            </a:endParaRPr>
          </a:p>
        </p:txBody>
      </p:sp>
      <p:sp>
        <p:nvSpPr>
          <p:cNvPr id="1635335" name="AutoShape 7"/>
          <p:cNvSpPr/>
          <p:nvPr/>
        </p:nvSpPr>
        <p:spPr>
          <a:xfrm>
            <a:off x="7239000" y="5715000"/>
            <a:ext cx="1219200" cy="685800"/>
          </a:xfrm>
          <a:prstGeom prst="wedgeRoundRectCallout">
            <a:avLst>
              <a:gd name="adj1" fmla="val -46616"/>
              <a:gd name="adj2" fmla="val -80093"/>
              <a:gd name="adj3" fmla="val 16667"/>
            </a:avLst>
          </a:prstGeom>
          <a:noFill/>
          <a:ln w="9525" cap="flat" cmpd="sng">
            <a:solidFill>
              <a:schemeClr val="bg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共有</a:t>
            </a:r>
            <a:r>
              <a:rPr lang="en-US" altLang="zh-CN" b="1" dirty="0">
                <a:solidFill>
                  <a:srgbClr val="FF0066"/>
                </a:solidFill>
                <a:latin typeface="Tahoma" panose="020B0604030504040204" pitchFamily="34" charset="0"/>
                <a:ea typeface="宋体" panose="02010600030101010101" pitchFamily="2" charset="-122"/>
              </a:rPr>
              <a:t>m</a:t>
            </a:r>
            <a:r>
              <a:rPr lang="zh-CN" altLang="en-US" dirty="0">
                <a:latin typeface="Tahoma" panose="020B0604030504040204" pitchFamily="34" charset="0"/>
                <a:ea typeface="宋体" panose="02010600030101010101" pitchFamily="2" charset="-122"/>
              </a:rPr>
              <a:t>条总线</a:t>
            </a:r>
            <a:endParaRPr lang="zh-CN" altLang="en-US" dirty="0">
              <a:latin typeface="Tahoma" panose="020B0604030504040204" pitchFamily="34" charset="0"/>
              <a:ea typeface="宋体" panose="02010600030101010101" pitchFamily="2" charset="-122"/>
            </a:endParaRPr>
          </a:p>
        </p:txBody>
      </p:sp>
      <p:sp>
        <p:nvSpPr>
          <p:cNvPr id="1635336" name="Rectangle 8"/>
          <p:cNvSpPr/>
          <p:nvPr/>
        </p:nvSpPr>
        <p:spPr>
          <a:xfrm>
            <a:off x="1905000" y="4191000"/>
            <a:ext cx="3276600" cy="4603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sz="2400" b="1" dirty="0">
                <a:latin typeface="华文楷体" panose="02010600040101010101" pitchFamily="2" charset="-122"/>
                <a:ea typeface="华文楷体" panose="02010600040101010101" pitchFamily="2" charset="-122"/>
              </a:rPr>
              <a:t>wire</a:t>
            </a:r>
            <a:r>
              <a:rPr lang="zh-CN" altLang="en-US" sz="2400" b="1" dirty="0">
                <a:latin typeface="华文楷体" panose="02010600040101010101" pitchFamily="2" charset="-122"/>
                <a:ea typeface="华文楷体" panose="02010600040101010101" pitchFamily="2" charset="-122"/>
              </a:rPr>
              <a:t>型向量（总线）</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5331"/>
                                        </p:tgtEl>
                                        <p:attrNameLst>
                                          <p:attrName>style.visibility</p:attrName>
                                        </p:attrNameLst>
                                      </p:cBhvr>
                                      <p:to>
                                        <p:strVal val="visible"/>
                                      </p:to>
                                    </p:set>
                                    <p:anim calcmode="lin" valueType="num">
                                      <p:cBhvr additive="base">
                                        <p:cTn id="7" dur="500" fill="hold"/>
                                        <p:tgtEl>
                                          <p:spTgt spid="1635331"/>
                                        </p:tgtEl>
                                        <p:attrNameLst>
                                          <p:attrName>ppt_x</p:attrName>
                                        </p:attrNameLst>
                                      </p:cBhvr>
                                      <p:tavLst>
                                        <p:tav tm="0">
                                          <p:val>
                                            <p:strVal val="0-#ppt_w/2"/>
                                          </p:val>
                                        </p:tav>
                                        <p:tav tm="100000">
                                          <p:val>
                                            <p:strVal val="#ppt_x"/>
                                          </p:val>
                                        </p:tav>
                                      </p:tavLst>
                                    </p:anim>
                                    <p:anim calcmode="lin" valueType="num">
                                      <p:cBhvr additive="base">
                                        <p:cTn id="8" dur="500" fill="hold"/>
                                        <p:tgtEl>
                                          <p:spTgt spid="16353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1635332"/>
                                        </p:tgtEl>
                                        <p:attrNameLst>
                                          <p:attrName>style.visibility</p:attrName>
                                        </p:attrNameLst>
                                      </p:cBhvr>
                                      <p:to>
                                        <p:strVal val="visible"/>
                                      </p:to>
                                    </p:set>
                                    <p:animEffect transition="in" filter="barn(outVertical)">
                                      <p:cBhvr>
                                        <p:cTn id="12" dur="500"/>
                                        <p:tgtEl>
                                          <p:spTgt spid="163533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635336"/>
                                        </p:tgtEl>
                                        <p:attrNameLst>
                                          <p:attrName>style.visibility</p:attrName>
                                        </p:attrNameLst>
                                      </p:cBhvr>
                                      <p:to>
                                        <p:strVal val="visible"/>
                                      </p:to>
                                    </p:set>
                                    <p:anim calcmode="lin" valueType="num">
                                      <p:cBhvr>
                                        <p:cTn id="17" dur="500" fill="hold"/>
                                        <p:tgtEl>
                                          <p:spTgt spid="1635336"/>
                                        </p:tgtEl>
                                        <p:attrNameLst>
                                          <p:attrName>ppt_w</p:attrName>
                                        </p:attrNameLst>
                                      </p:cBhvr>
                                      <p:tavLst>
                                        <p:tav tm="0">
                                          <p:val>
                                            <p:fltVal val="0.000000"/>
                                          </p:val>
                                        </p:tav>
                                        <p:tav tm="100000">
                                          <p:val>
                                            <p:strVal val="#ppt_w"/>
                                          </p:val>
                                        </p:tav>
                                      </p:tavLst>
                                    </p:anim>
                                    <p:anim calcmode="lin" valueType="num">
                                      <p:cBhvr>
                                        <p:cTn id="18" dur="500" fill="hold"/>
                                        <p:tgtEl>
                                          <p:spTgt spid="1635336"/>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1635333"/>
                                        </p:tgtEl>
                                        <p:attrNameLst>
                                          <p:attrName>style.visibility</p:attrName>
                                        </p:attrNameLst>
                                      </p:cBhvr>
                                      <p:to>
                                        <p:strVal val="visible"/>
                                      </p:to>
                                    </p:set>
                                    <p:animEffect transition="in" filter="barn(outHorizontal)">
                                      <p:cBhvr>
                                        <p:cTn id="23" dur="500"/>
                                        <p:tgtEl>
                                          <p:spTgt spid="163533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35334"/>
                                        </p:tgtEl>
                                        <p:attrNameLst>
                                          <p:attrName>style.visibility</p:attrName>
                                        </p:attrNameLst>
                                      </p:cBhvr>
                                      <p:to>
                                        <p:strVal val="visible"/>
                                      </p:to>
                                    </p:set>
                                    <p:animEffect transition="in" filter="dissolve">
                                      <p:cBhvr>
                                        <p:cTn id="28" dur="500"/>
                                        <p:tgtEl>
                                          <p:spTgt spid="163533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635335"/>
                                        </p:tgtEl>
                                        <p:attrNameLst>
                                          <p:attrName>style.visibility</p:attrName>
                                        </p:attrNameLst>
                                      </p:cBhvr>
                                      <p:to>
                                        <p:strVal val="visible"/>
                                      </p:to>
                                    </p:set>
                                    <p:animEffect transition="in" filter="dissolve">
                                      <p:cBhvr>
                                        <p:cTn id="33" dur="500"/>
                                        <p:tgtEl>
                                          <p:spTgt spid="1635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5331" grpId="0"/>
      <p:bldP spid="1635332" grpId="0" bldLvl="0" animBg="1"/>
      <p:bldP spid="1635333" grpId="0" bldLvl="0" animBg="1"/>
      <p:bldP spid="1635334" grpId="0" bldLvl="0" animBg="1"/>
      <p:bldP spid="1635335" grpId="0" bldLvl="0" animBg="1"/>
      <p:bldP spid="1635336"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885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7885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37379" name="Rectangle 3"/>
          <p:cNvSpPr>
            <a:spLocks noGrp="1"/>
          </p:cNvSpPr>
          <p:nvPr>
            <p:ph idx="1"/>
          </p:nvPr>
        </p:nvSpPr>
        <p:spPr/>
        <p:txBody>
          <a:bodyPr vert="horz" wrap="square" lIns="91440" tIns="45720" rIns="91440" bIns="45720" anchor="t" anchorCtr="0"/>
          <a:p>
            <a:pPr algn="just">
              <a:lnSpc>
                <a:spcPct val="105000"/>
              </a:lnSpc>
              <a:spcBef>
                <a:spcPct val="0"/>
              </a:spcBef>
            </a:pPr>
            <a:endParaRPr lang="zh-CN" altLang="en-US" dirty="0">
              <a:solidFill>
                <a:srgbClr val="FF0066"/>
              </a:solidFill>
              <a:latin typeface="华文新魏" panose="02010800040101010101" pitchFamily="2" charset="-122"/>
              <a:ea typeface="华文新魏" panose="02010800040101010101" pitchFamily="2" charset="-122"/>
              <a:cs typeface="+mn-cs"/>
            </a:endParaRPr>
          </a:p>
          <a:p>
            <a:pPr algn="just">
              <a:lnSpc>
                <a:spcPct val="105000"/>
              </a:lnSpc>
              <a:spcBef>
                <a:spcPct val="0"/>
              </a:spcBef>
            </a:pPr>
            <a:endParaRPr lang="zh-CN" altLang="en-US" dirty="0">
              <a:solidFill>
                <a:srgbClr val="FF0066"/>
              </a:solidFill>
              <a:latin typeface="华文新魏" panose="02010800040101010101" pitchFamily="2" charset="-122"/>
              <a:ea typeface="华文新魏" panose="02010800040101010101" pitchFamily="2" charset="-122"/>
              <a:cs typeface="+mn-cs"/>
            </a:endParaRPr>
          </a:p>
          <a:p>
            <a:pPr algn="just">
              <a:lnSpc>
                <a:spcPct val="105000"/>
              </a:lnSpc>
              <a:spcBef>
                <a:spcPct val="0"/>
              </a:spcBef>
            </a:pPr>
            <a:endParaRPr lang="zh-CN" altLang="en-US" dirty="0">
              <a:solidFill>
                <a:srgbClr val="FF0066"/>
              </a:solidFill>
              <a:latin typeface="华文新魏" panose="02010800040101010101" pitchFamily="2" charset="-122"/>
              <a:ea typeface="华文新魏" panose="02010800040101010101" pitchFamily="2" charset="-122"/>
              <a:cs typeface="+mn-cs"/>
            </a:endParaRPr>
          </a:p>
          <a:p>
            <a:pPr algn="just">
              <a:lnSpc>
                <a:spcPct val="105000"/>
              </a:lnSpc>
              <a:spcBef>
                <a:spcPct val="0"/>
              </a:spcBef>
            </a:pPr>
            <a:r>
              <a:rPr lang="zh-CN" altLang="en-US" dirty="0">
                <a:solidFill>
                  <a:srgbClr val="FF0066"/>
                </a:solidFill>
                <a:latin typeface="Times New Roman" panose="02020603050405020304" pitchFamily="18" charset="0"/>
                <a:ea typeface="华文楷体" panose="02010600040101010101" pitchFamily="2" charset="-122"/>
                <a:cs typeface="+mn-cs"/>
              </a:rPr>
              <a:t>定义</a:t>
            </a:r>
            <a:r>
              <a:rPr lang="en-US" altLang="zh-CN" dirty="0">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对应</a:t>
            </a:r>
            <a:r>
              <a:rPr lang="zh-CN" altLang="en-US" dirty="0">
                <a:solidFill>
                  <a:srgbClr val="FF33CC"/>
                </a:solidFill>
                <a:latin typeface="Times New Roman" panose="02020603050405020304" pitchFamily="18" charset="0"/>
                <a:ea typeface="华文楷体" panose="02010600040101010101" pitchFamily="2" charset="-122"/>
                <a:cs typeface="+mn-cs"/>
              </a:rPr>
              <a:t>具有状态保持作用</a:t>
            </a:r>
            <a:r>
              <a:rPr lang="zh-CN" altLang="en-US" dirty="0">
                <a:latin typeface="Times New Roman" panose="02020603050405020304" pitchFamily="18" charset="0"/>
                <a:ea typeface="华文楷体" panose="02010600040101010101" pitchFamily="2" charset="-122"/>
                <a:cs typeface="+mn-cs"/>
              </a:rPr>
              <a:t>的电路元件（如触发器、寄存器等）</a:t>
            </a:r>
            <a:r>
              <a:rPr lang="en-US" altLang="zh-CN" dirty="0">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常用来表示</a:t>
            </a:r>
            <a:r>
              <a:rPr lang="zh-CN" altLang="en-US" dirty="0">
                <a:solidFill>
                  <a:srgbClr val="FF33CC"/>
                </a:solidFill>
                <a:latin typeface="Times New Roman" panose="02020603050405020304" pitchFamily="18" charset="0"/>
                <a:ea typeface="华文楷体" panose="02010600040101010101" pitchFamily="2" charset="-122"/>
                <a:cs typeface="+mn-cs"/>
              </a:rPr>
              <a:t>过程块</a:t>
            </a:r>
            <a:r>
              <a:rPr lang="zh-CN" altLang="en-US" dirty="0">
                <a:latin typeface="Times New Roman" panose="02020603050405020304" pitchFamily="18" charset="0"/>
                <a:ea typeface="华文楷体" panose="02010600040101010101" pitchFamily="2" charset="-122"/>
                <a:cs typeface="+mn-cs"/>
              </a:rPr>
              <a:t>语句（如</a:t>
            </a:r>
            <a:r>
              <a:rPr lang="en-US" altLang="zh-CN" dirty="0">
                <a:latin typeface="Times New Roman" panose="02020603050405020304" pitchFamily="18" charset="0"/>
                <a:ea typeface="黑体" panose="02010609060101010101" pitchFamily="49" charset="-122"/>
                <a:cs typeface="+mn-cs"/>
              </a:rPr>
              <a:t>initial</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always</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task</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function</a:t>
            </a:r>
            <a:r>
              <a:rPr lang="zh-CN" altLang="en-US" dirty="0">
                <a:latin typeface="Times New Roman" panose="02020603050405020304" pitchFamily="18" charset="0"/>
                <a:ea typeface="华文楷体" panose="02010600040101010101" pitchFamily="2" charset="-122"/>
                <a:cs typeface="+mn-cs"/>
              </a:rPr>
              <a:t>）内的指定信号 。</a:t>
            </a:r>
            <a:endParaRPr lang="zh-CN" altLang="en-US" dirty="0">
              <a:latin typeface="Times New Roman" panose="02020603050405020304" pitchFamily="18" charset="0"/>
              <a:ea typeface="华文楷体" panose="02010600040101010101" pitchFamily="2" charset="-122"/>
              <a:cs typeface="+mn-cs"/>
            </a:endParaRPr>
          </a:p>
          <a:p>
            <a:pPr algn="just">
              <a:lnSpc>
                <a:spcPct val="105000"/>
              </a:lnSpc>
              <a:spcBef>
                <a:spcPct val="0"/>
              </a:spcBef>
            </a:pPr>
            <a:r>
              <a:rPr lang="zh-CN" altLang="en-US" dirty="0">
                <a:latin typeface="Times New Roman" panose="02020603050405020304" pitchFamily="18" charset="0"/>
                <a:ea typeface="华文楷体" panose="02010600040101010101" pitchFamily="2" charset="-122"/>
                <a:cs typeface="+mn-cs"/>
              </a:rPr>
              <a:t>常用</a:t>
            </a:r>
            <a:r>
              <a:rPr lang="en-US" altLang="zh-CN" dirty="0">
                <a:latin typeface="Times New Roman" panose="02020603050405020304" pitchFamily="18" charset="0"/>
                <a:ea typeface="黑体" panose="02010609060101010101" pitchFamily="49" charset="-122"/>
                <a:cs typeface="+mn-cs"/>
              </a:rPr>
              <a:t>register</a:t>
            </a:r>
            <a:r>
              <a:rPr lang="zh-CN" altLang="en-US" dirty="0">
                <a:latin typeface="Times New Roman" panose="02020603050405020304" pitchFamily="18" charset="0"/>
                <a:ea typeface="华文楷体" panose="02010600040101010101" pitchFamily="2" charset="-122"/>
                <a:cs typeface="+mn-cs"/>
              </a:rPr>
              <a:t>型变量：</a:t>
            </a:r>
            <a:endParaRPr lang="zh-CN" altLang="en-US" dirty="0">
              <a:latin typeface="Times New Roman" panose="02020603050405020304" pitchFamily="18" charset="0"/>
              <a:ea typeface="华文楷体" panose="02010600040101010101" pitchFamily="2" charset="-122"/>
              <a:cs typeface="+mn-cs"/>
            </a:endParaRPr>
          </a:p>
          <a:p>
            <a:pPr lvl="1" algn="just">
              <a:lnSpc>
                <a:spcPct val="105000"/>
              </a:lnSpc>
              <a:spcBef>
                <a:spcPct val="0"/>
              </a:spcBef>
            </a:pPr>
            <a:r>
              <a:rPr lang="en-US" altLang="zh-CN" dirty="0">
                <a:solidFill>
                  <a:srgbClr val="CC0000"/>
                </a:solidFill>
                <a:latin typeface="Times New Roman" panose="02020603050405020304" pitchFamily="18" charset="0"/>
                <a:ea typeface="黑体" panose="02010609060101010101" pitchFamily="49" charset="-122"/>
              </a:rPr>
              <a:t>reg</a:t>
            </a:r>
            <a:r>
              <a:rPr lang="zh-CN" altLang="en-US" dirty="0">
                <a:latin typeface="Times New Roman" panose="02020603050405020304" pitchFamily="18" charset="0"/>
                <a:ea typeface="华文楷体" panose="02010600040101010101" pitchFamily="2" charset="-122"/>
              </a:rPr>
              <a:t>：常代表触发器</a:t>
            </a:r>
            <a:endParaRPr lang="zh-CN" altLang="en-US" dirty="0">
              <a:latin typeface="Times New Roman" panose="02020603050405020304" pitchFamily="18" charset="0"/>
              <a:ea typeface="华文楷体" panose="02010600040101010101" pitchFamily="2" charset="-122"/>
            </a:endParaRPr>
          </a:p>
          <a:p>
            <a:pPr lvl="1" algn="just">
              <a:lnSpc>
                <a:spcPct val="105000"/>
              </a:lnSpc>
              <a:spcBef>
                <a:spcPct val="0"/>
              </a:spcBef>
            </a:pPr>
            <a:r>
              <a:rPr lang="en-US" altLang="zh-CN" dirty="0">
                <a:solidFill>
                  <a:srgbClr val="CC0000"/>
                </a:solidFill>
                <a:latin typeface="Times New Roman" panose="02020603050405020304" pitchFamily="18" charset="0"/>
                <a:ea typeface="黑体" panose="02010609060101010101" pitchFamily="49" charset="-122"/>
              </a:rPr>
              <a:t>integer</a:t>
            </a:r>
            <a:r>
              <a:rPr lang="zh-CN" altLang="en-US" dirty="0">
                <a:latin typeface="Times New Roman" panose="02020603050405020304" pitchFamily="18" charset="0"/>
                <a:ea typeface="华文楷体" panose="02010600040101010101" pitchFamily="2" charset="-122"/>
              </a:rPr>
              <a:t>：</a:t>
            </a:r>
            <a:r>
              <a:rPr lang="en-US" altLang="zh-CN" dirty="0">
                <a:latin typeface="Times New Roman" panose="02020603050405020304" pitchFamily="18" charset="0"/>
                <a:ea typeface="黑体" panose="02010609060101010101" pitchFamily="49" charset="-122"/>
              </a:rPr>
              <a:t>32</a:t>
            </a:r>
            <a:r>
              <a:rPr lang="zh-CN" altLang="en-US" dirty="0">
                <a:latin typeface="Times New Roman" panose="02020603050405020304" pitchFamily="18" charset="0"/>
                <a:ea typeface="华文楷体" panose="02010600040101010101" pitchFamily="2" charset="-122"/>
              </a:rPr>
              <a:t>位带符号整数型变量</a:t>
            </a:r>
            <a:endParaRPr lang="zh-CN" altLang="en-US" dirty="0">
              <a:latin typeface="Times New Roman" panose="02020603050405020304" pitchFamily="18" charset="0"/>
              <a:ea typeface="华文楷体" panose="02010600040101010101" pitchFamily="2" charset="-122"/>
            </a:endParaRPr>
          </a:p>
          <a:p>
            <a:pPr lvl="1" algn="just">
              <a:lnSpc>
                <a:spcPct val="105000"/>
              </a:lnSpc>
              <a:spcBef>
                <a:spcPct val="0"/>
              </a:spcBef>
            </a:pPr>
            <a:r>
              <a:rPr lang="en-US" altLang="zh-CN" dirty="0">
                <a:solidFill>
                  <a:srgbClr val="CC0000"/>
                </a:solidFill>
                <a:latin typeface="Times New Roman" panose="02020603050405020304" pitchFamily="18" charset="0"/>
                <a:ea typeface="黑体" panose="02010609060101010101" pitchFamily="49" charset="-122"/>
              </a:rPr>
              <a:t>real</a:t>
            </a:r>
            <a:r>
              <a:rPr lang="zh-CN" altLang="en-US" dirty="0">
                <a:latin typeface="Times New Roman" panose="02020603050405020304" pitchFamily="18" charset="0"/>
                <a:ea typeface="华文楷体" panose="02010600040101010101" pitchFamily="2" charset="-122"/>
              </a:rPr>
              <a:t>：</a:t>
            </a:r>
            <a:r>
              <a:rPr lang="en-US" altLang="zh-CN" dirty="0">
                <a:latin typeface="Times New Roman" panose="02020603050405020304" pitchFamily="18" charset="0"/>
                <a:ea typeface="黑体" panose="02010609060101010101" pitchFamily="49" charset="-122"/>
              </a:rPr>
              <a:t>64</a:t>
            </a:r>
            <a:r>
              <a:rPr lang="zh-CN" altLang="en-US" dirty="0">
                <a:latin typeface="Times New Roman" panose="02020603050405020304" pitchFamily="18" charset="0"/>
                <a:ea typeface="华文楷体" panose="02010600040101010101" pitchFamily="2" charset="-122"/>
              </a:rPr>
              <a:t>位带符号实数型变量</a:t>
            </a:r>
            <a:endParaRPr lang="zh-CN" altLang="en-US" dirty="0">
              <a:latin typeface="Times New Roman" panose="02020603050405020304" pitchFamily="18" charset="0"/>
              <a:ea typeface="华文楷体" panose="02010600040101010101" pitchFamily="2" charset="-122"/>
            </a:endParaRPr>
          </a:p>
          <a:p>
            <a:pPr lvl="1" algn="just">
              <a:lnSpc>
                <a:spcPct val="105000"/>
              </a:lnSpc>
              <a:spcBef>
                <a:spcPct val="0"/>
              </a:spcBef>
            </a:pPr>
            <a:r>
              <a:rPr lang="en-US" altLang="zh-CN" dirty="0">
                <a:solidFill>
                  <a:srgbClr val="CC0000"/>
                </a:solidFill>
                <a:latin typeface="Times New Roman" panose="02020603050405020304" pitchFamily="18" charset="0"/>
                <a:ea typeface="黑体" panose="02010609060101010101" pitchFamily="49" charset="-122"/>
              </a:rPr>
              <a:t>time</a:t>
            </a:r>
            <a:r>
              <a:rPr lang="zh-CN" altLang="en-US" dirty="0">
                <a:latin typeface="Times New Roman" panose="02020603050405020304" pitchFamily="18" charset="0"/>
                <a:ea typeface="华文楷体" panose="02010600040101010101" pitchFamily="2" charset="-122"/>
              </a:rPr>
              <a:t>：无符号时间变量</a:t>
            </a:r>
            <a:endParaRPr lang="zh-CN" altLang="en-US" dirty="0">
              <a:latin typeface="Times New Roman" panose="02020603050405020304" pitchFamily="18" charset="0"/>
              <a:ea typeface="华文楷体" panose="02010600040101010101" pitchFamily="2" charset="-122"/>
            </a:endParaRPr>
          </a:p>
        </p:txBody>
      </p:sp>
      <p:sp>
        <p:nvSpPr>
          <p:cNvPr id="1637382" name="AutoShape 6"/>
          <p:cNvSpPr/>
          <p:nvPr/>
        </p:nvSpPr>
        <p:spPr>
          <a:xfrm>
            <a:off x="5670550" y="3463925"/>
            <a:ext cx="279400" cy="1111250"/>
          </a:xfrm>
          <a:prstGeom prst="rightBrace">
            <a:avLst>
              <a:gd name="adj1" fmla="val 32959"/>
              <a:gd name="adj2" fmla="val 50000"/>
            </a:avLst>
          </a:prstGeom>
          <a:noFill/>
          <a:ln w="63500" cap="flat" cmpd="sng">
            <a:solidFill>
              <a:srgbClr val="80008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637383" name="AutoShape 7"/>
          <p:cNvSpPr/>
          <p:nvPr/>
        </p:nvSpPr>
        <p:spPr>
          <a:xfrm>
            <a:off x="6464300" y="3775075"/>
            <a:ext cx="1371600" cy="685800"/>
          </a:xfrm>
          <a:prstGeom prst="wedgeRoundRectCallout">
            <a:avLst>
              <a:gd name="adj1" fmla="val -82060"/>
              <a:gd name="adj2" fmla="val -19213"/>
              <a:gd name="adj3" fmla="val 16667"/>
            </a:avLst>
          </a:prstGeom>
          <a:noFill/>
          <a:ln w="9525" cap="flat" cmpd="sng">
            <a:solidFill>
              <a:schemeClr val="bg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纯数学的抽象描述</a:t>
            </a:r>
            <a:endParaRPr lang="zh-CN" altLang="en-US" b="1" dirty="0">
              <a:solidFill>
                <a:srgbClr val="FF0066"/>
              </a:solidFill>
              <a:latin typeface="华文楷体" panose="02010600040101010101" pitchFamily="2" charset="-122"/>
              <a:ea typeface="华文楷体" panose="02010600040101010101" pitchFamily="2" charset="-122"/>
            </a:endParaRPr>
          </a:p>
        </p:txBody>
      </p:sp>
      <p:sp>
        <p:nvSpPr>
          <p:cNvPr id="1637385" name="Text Box 9"/>
          <p:cNvSpPr txBox="1"/>
          <p:nvPr/>
        </p:nvSpPr>
        <p:spPr>
          <a:xfrm>
            <a:off x="539750" y="1085850"/>
            <a:ext cx="2986088" cy="457200"/>
          </a:xfrm>
          <a:prstGeom prst="rect">
            <a:avLst/>
          </a:prstGeom>
          <a:noFill/>
          <a:ln w="9525" cap="flat" cmpd="sng">
            <a:solidFill>
              <a:schemeClr val="bg1"/>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85000"/>
              </a:lnSpc>
              <a:spcBef>
                <a:spcPct val="50000"/>
              </a:spcBef>
              <a:buNone/>
            </a:pPr>
            <a:r>
              <a:rPr lang="en-US" altLang="zh-CN" sz="2800" b="1" dirty="0">
                <a:latin typeface="华文楷体" panose="02010600040101010101" pitchFamily="2" charset="-122"/>
                <a:ea typeface="华文楷体" panose="02010600040101010101" pitchFamily="2" charset="-122"/>
              </a:rPr>
              <a:t>2. register</a:t>
            </a:r>
            <a:r>
              <a:rPr lang="zh-CN" altLang="en-US" sz="2800" b="1" dirty="0">
                <a:latin typeface="华文楷体" panose="02010600040101010101" pitchFamily="2" charset="-122"/>
                <a:ea typeface="华文楷体" panose="02010600040101010101" pitchFamily="2" charset="-122"/>
              </a:rPr>
              <a:t>型变量</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637385"/>
                                        </p:tgtEl>
                                        <p:attrNameLst>
                                          <p:attrName>style.visibility</p:attrName>
                                        </p:attrNameLst>
                                      </p:cBhvr>
                                      <p:to>
                                        <p:strVal val="visible"/>
                                      </p:to>
                                    </p:set>
                                    <p:anim calcmode="lin" valueType="num">
                                      <p:cBhvr>
                                        <p:cTn id="7" dur="500" fill="hold"/>
                                        <p:tgtEl>
                                          <p:spTgt spid="1637385"/>
                                        </p:tgtEl>
                                        <p:attrNameLst>
                                          <p:attrName>ppt_w</p:attrName>
                                        </p:attrNameLst>
                                      </p:cBhvr>
                                      <p:tavLst>
                                        <p:tav tm="0">
                                          <p:val>
                                            <p:fltVal val="0.000000"/>
                                          </p:val>
                                        </p:tav>
                                        <p:tav tm="100000">
                                          <p:val>
                                            <p:strVal val="#ppt_w"/>
                                          </p:val>
                                        </p:tav>
                                      </p:tavLst>
                                    </p:anim>
                                    <p:anim calcmode="lin" valueType="num">
                                      <p:cBhvr>
                                        <p:cTn id="8" dur="500" fill="hold"/>
                                        <p:tgtEl>
                                          <p:spTgt spid="163738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637379"/>
                                        </p:tgtEl>
                                        <p:attrNameLst>
                                          <p:attrName>style.visibility</p:attrName>
                                        </p:attrNameLst>
                                      </p:cBhvr>
                                      <p:to>
                                        <p:strVal val="visible"/>
                                      </p:to>
                                    </p:set>
                                    <p:anim calcmode="lin" valueType="num">
                                      <p:cBhvr additive="base">
                                        <p:cTn id="12" dur="500" fill="hold"/>
                                        <p:tgtEl>
                                          <p:spTgt spid="1637379"/>
                                        </p:tgtEl>
                                        <p:attrNameLst>
                                          <p:attrName>ppt_x</p:attrName>
                                        </p:attrNameLst>
                                      </p:cBhvr>
                                      <p:tavLst>
                                        <p:tav tm="0">
                                          <p:val>
                                            <p:strVal val="#ppt_x"/>
                                          </p:val>
                                        </p:tav>
                                        <p:tav tm="100000">
                                          <p:val>
                                            <p:strVal val="#ppt_x"/>
                                          </p:val>
                                        </p:tav>
                                      </p:tavLst>
                                    </p:anim>
                                    <p:anim calcmode="lin" valueType="num">
                                      <p:cBhvr additive="base">
                                        <p:cTn id="13" dur="500" fill="hold"/>
                                        <p:tgtEl>
                                          <p:spTgt spid="163737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42" fill="hold" grpId="0" nodeType="clickEffect">
                                  <p:stCondLst>
                                    <p:cond delay="0"/>
                                  </p:stCondLst>
                                  <p:childTnLst>
                                    <p:set>
                                      <p:cBhvr>
                                        <p:cTn id="17" dur="1" fill="hold">
                                          <p:stCondLst>
                                            <p:cond delay="0"/>
                                          </p:stCondLst>
                                        </p:cTn>
                                        <p:tgtEl>
                                          <p:spTgt spid="1637382"/>
                                        </p:tgtEl>
                                        <p:attrNameLst>
                                          <p:attrName>style.visibility</p:attrName>
                                        </p:attrNameLst>
                                      </p:cBhvr>
                                      <p:to>
                                        <p:strVal val="visible"/>
                                      </p:to>
                                    </p:set>
                                    <p:animEffect transition="in" filter="barn(outHorizontal)">
                                      <p:cBhvr>
                                        <p:cTn id="18" dur="500"/>
                                        <p:tgtEl>
                                          <p:spTgt spid="1637382"/>
                                        </p:tgtEl>
                                      </p:cBhvr>
                                    </p:animEffect>
                                  </p:childTnLst>
                                </p:cTn>
                              </p:par>
                            </p:childTnLst>
                          </p:cTn>
                        </p:par>
                        <p:par>
                          <p:cTn id="19" fill="hold">
                            <p:stCondLst>
                              <p:cond delay="500"/>
                            </p:stCondLst>
                            <p:childTnLst>
                              <p:par>
                                <p:cTn id="20" presetID="9" presetClass="entr" presetSubtype="0" fill="hold" grpId="0" nodeType="afterEffect">
                                  <p:stCondLst>
                                    <p:cond delay="0"/>
                                  </p:stCondLst>
                                  <p:childTnLst>
                                    <p:set>
                                      <p:cBhvr>
                                        <p:cTn id="21" dur="1" fill="hold">
                                          <p:stCondLst>
                                            <p:cond delay="0"/>
                                          </p:stCondLst>
                                        </p:cTn>
                                        <p:tgtEl>
                                          <p:spTgt spid="1637383"/>
                                        </p:tgtEl>
                                        <p:attrNameLst>
                                          <p:attrName>style.visibility</p:attrName>
                                        </p:attrNameLst>
                                      </p:cBhvr>
                                      <p:to>
                                        <p:strVal val="visible"/>
                                      </p:to>
                                    </p:set>
                                    <p:animEffect transition="in" filter="dissolve">
                                      <p:cBhvr>
                                        <p:cTn id="22" dur="500"/>
                                        <p:tgtEl>
                                          <p:spTgt spid="1637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7379" grpId="0"/>
      <p:bldP spid="1637382" grpId="0" bldLvl="0" animBg="1"/>
      <p:bldP spid="1637383" grpId="0" bldLvl="0" animBg="1"/>
      <p:bldP spid="163738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08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80899"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8090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2163719" name="AutoShape 7"/>
          <p:cNvSpPr/>
          <p:nvPr/>
        </p:nvSpPr>
        <p:spPr>
          <a:xfrm>
            <a:off x="550863" y="1752600"/>
            <a:ext cx="8239125" cy="3216275"/>
          </a:xfrm>
          <a:prstGeom prst="horizontalScroll">
            <a:avLst>
              <a:gd name="adj" fmla="val 12500"/>
            </a:avLst>
          </a:prstGeom>
          <a:noFill/>
          <a:ln w="9525" cap="flat" cmpd="sng">
            <a:solidFill>
              <a:schemeClr val="bg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287655" algn="just">
              <a:lnSpc>
                <a:spcPct val="105000"/>
              </a:lnSpc>
              <a:spcBef>
                <a:spcPct val="0"/>
              </a:spcBef>
              <a:buClr>
                <a:srgbClr val="FF0066"/>
              </a:buClr>
              <a:buFont typeface="Wingdings" panose="05000000000000000000" pitchFamily="2" charset="2"/>
              <a:buChar char="v"/>
            </a:pPr>
            <a:r>
              <a:rPr lang="en-US" altLang="zh-CN" sz="2400" b="1" dirty="0">
                <a:latin typeface="Times New Roman" panose="02020603050405020304" pitchFamily="18" charset="0"/>
                <a:ea typeface="华文楷体" panose="02010600040101010101" pitchFamily="2" charset="-122"/>
              </a:rPr>
              <a:t>register</a:t>
            </a:r>
            <a:r>
              <a:rPr lang="zh-CN" altLang="en-US" sz="2400" b="1" dirty="0">
                <a:latin typeface="Times New Roman" panose="02020603050405020304" pitchFamily="18" charset="0"/>
                <a:ea typeface="华文楷体" panose="02010600040101010101" pitchFamily="2" charset="-122"/>
              </a:rPr>
              <a:t>型变量与</a:t>
            </a:r>
            <a:r>
              <a:rPr lang="en-US" altLang="zh-CN" sz="2400" b="1" dirty="0">
                <a:latin typeface="Times New Roman" panose="02020603050405020304" pitchFamily="18" charset="0"/>
                <a:ea typeface="华文楷体" panose="02010600040101010101" pitchFamily="2" charset="-122"/>
              </a:rPr>
              <a:t>nets</a:t>
            </a:r>
            <a:r>
              <a:rPr lang="zh-CN" altLang="en-US" sz="2400" b="1" dirty="0">
                <a:latin typeface="Times New Roman" panose="02020603050405020304" pitchFamily="18" charset="0"/>
                <a:ea typeface="华文楷体" panose="02010600040101010101" pitchFamily="2" charset="-122"/>
              </a:rPr>
              <a:t>型变量的根本区别是： </a:t>
            </a:r>
            <a:r>
              <a:rPr lang="en-US" altLang="zh-CN" sz="2400" b="1" dirty="0">
                <a:latin typeface="Times New Roman" panose="02020603050405020304" pitchFamily="18" charset="0"/>
                <a:ea typeface="华文楷体" panose="02010600040101010101" pitchFamily="2" charset="-122"/>
              </a:rPr>
              <a:t>register</a:t>
            </a:r>
            <a:r>
              <a:rPr lang="zh-CN" altLang="en-US" sz="2400" b="1" dirty="0">
                <a:latin typeface="Times New Roman" panose="02020603050405020304" pitchFamily="18" charset="0"/>
                <a:ea typeface="华文楷体" panose="02010600040101010101" pitchFamily="2" charset="-122"/>
              </a:rPr>
              <a:t>型变量需要被明确地赋值，并且在被重新赋值前一直保持原值。</a:t>
            </a:r>
            <a:endParaRPr lang="zh-CN" altLang="en-US" sz="2400" b="1" dirty="0">
              <a:latin typeface="Times New Roman" panose="02020603050405020304" pitchFamily="18" charset="0"/>
              <a:ea typeface="华文楷体" panose="02010600040101010101" pitchFamily="2" charset="-122"/>
            </a:endParaRPr>
          </a:p>
          <a:p>
            <a:pPr marL="0" lvl="0" indent="287655" algn="just">
              <a:lnSpc>
                <a:spcPct val="105000"/>
              </a:lnSpc>
              <a:spcBef>
                <a:spcPct val="0"/>
              </a:spcBef>
              <a:buClr>
                <a:srgbClr val="FF0066"/>
              </a:buClr>
              <a:buFont typeface="Wingdings" panose="05000000000000000000" pitchFamily="2" charset="2"/>
              <a:buChar char="v"/>
            </a:pPr>
            <a:r>
              <a:rPr lang="en-US" altLang="zh-CN" sz="2400" b="1" dirty="0">
                <a:latin typeface="Times New Roman" panose="02020603050405020304" pitchFamily="18" charset="0"/>
                <a:ea typeface="华文楷体" panose="02010600040101010101" pitchFamily="2" charset="-122"/>
              </a:rPr>
              <a:t>register</a:t>
            </a:r>
            <a:r>
              <a:rPr lang="zh-CN" altLang="en-US" sz="2400" b="1" dirty="0">
                <a:latin typeface="Times New Roman" panose="02020603050405020304" pitchFamily="18" charset="0"/>
                <a:ea typeface="华文楷体" panose="02010600040101010101" pitchFamily="2" charset="-122"/>
              </a:rPr>
              <a:t>型变量必须通过</a:t>
            </a:r>
            <a:r>
              <a:rPr lang="zh-CN" altLang="en-US" sz="2400" b="1" dirty="0">
                <a:solidFill>
                  <a:srgbClr val="FF33CC"/>
                </a:solidFill>
                <a:latin typeface="Times New Roman" panose="02020603050405020304" pitchFamily="18" charset="0"/>
                <a:ea typeface="华文楷体" panose="02010600040101010101" pitchFamily="2" charset="-122"/>
              </a:rPr>
              <a:t>过程</a:t>
            </a:r>
            <a:r>
              <a:rPr lang="zh-CN" altLang="en-US" sz="2400" b="1" dirty="0">
                <a:latin typeface="Times New Roman" panose="02020603050405020304" pitchFamily="18" charset="0"/>
                <a:ea typeface="华文楷体" panose="02010600040101010101" pitchFamily="2" charset="-122"/>
              </a:rPr>
              <a:t>赋值语句赋值！不能通过</a:t>
            </a:r>
            <a:r>
              <a:rPr lang="en-US" altLang="zh-CN" sz="2400" b="1" dirty="0">
                <a:latin typeface="Times New Roman" panose="02020603050405020304" pitchFamily="18" charset="0"/>
                <a:ea typeface="华文楷体" panose="02010600040101010101" pitchFamily="2" charset="-122"/>
              </a:rPr>
              <a:t>assign</a:t>
            </a:r>
            <a:r>
              <a:rPr lang="zh-CN" altLang="en-US" sz="2400" b="1" dirty="0">
                <a:latin typeface="Times New Roman" panose="02020603050405020304" pitchFamily="18" charset="0"/>
                <a:ea typeface="华文楷体" panose="02010600040101010101" pitchFamily="2" charset="-122"/>
              </a:rPr>
              <a:t>语句赋值！</a:t>
            </a:r>
            <a:endParaRPr lang="zh-CN" altLang="en-US" sz="2400" b="1" dirty="0">
              <a:latin typeface="Times New Roman" panose="02020603050405020304" pitchFamily="18" charset="0"/>
              <a:ea typeface="华文楷体" panose="02010600040101010101" pitchFamily="2" charset="-122"/>
            </a:endParaRPr>
          </a:p>
          <a:p>
            <a:pPr marL="0" lvl="0" indent="287655" algn="just">
              <a:lnSpc>
                <a:spcPct val="105000"/>
              </a:lnSpc>
              <a:spcBef>
                <a:spcPct val="0"/>
              </a:spcBef>
              <a:buClr>
                <a:srgbClr val="FF0066"/>
              </a:buClr>
              <a:buFont typeface="Wingdings" panose="05000000000000000000" pitchFamily="2" charset="2"/>
              <a:buChar char="v"/>
            </a:pPr>
            <a:r>
              <a:rPr lang="zh-CN" altLang="en-US" sz="2400" b="1" dirty="0">
                <a:latin typeface="Times New Roman" panose="02020603050405020304" pitchFamily="18" charset="0"/>
                <a:ea typeface="华文楷体" panose="02010600040101010101" pitchFamily="2" charset="-122"/>
              </a:rPr>
              <a:t>在过程块内被赋值的每个信号必须定义成</a:t>
            </a:r>
            <a:r>
              <a:rPr lang="en-US" altLang="zh-CN" sz="2400" b="1" dirty="0">
                <a:latin typeface="Times New Roman" panose="02020603050405020304" pitchFamily="18" charset="0"/>
                <a:ea typeface="华文楷体" panose="02010600040101010101" pitchFamily="2" charset="-122"/>
              </a:rPr>
              <a:t>register</a:t>
            </a:r>
            <a:r>
              <a:rPr lang="zh-CN" altLang="en-US" sz="2400" b="1" dirty="0">
                <a:latin typeface="Times New Roman" panose="02020603050405020304" pitchFamily="18" charset="0"/>
                <a:ea typeface="华文楷体" panose="02010600040101010101" pitchFamily="2" charset="-122"/>
              </a:rPr>
              <a:t>型！</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163719"/>
                                        </p:tgtEl>
                                        <p:attrNameLst>
                                          <p:attrName>style.visibility</p:attrName>
                                        </p:attrNameLst>
                                      </p:cBhvr>
                                      <p:to>
                                        <p:strVal val="visible"/>
                                      </p:to>
                                    </p:set>
                                    <p:animEffect transition="in" filter="barn(outVertical)">
                                      <p:cBhvr>
                                        <p:cTn id="7" dur="500"/>
                                        <p:tgtEl>
                                          <p:spTgt spid="2163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3719"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29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829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39427" name="Rectangle 3"/>
          <p:cNvSpPr>
            <a:spLocks noGrp="1"/>
          </p:cNvSpPr>
          <p:nvPr>
            <p:ph idx="1"/>
          </p:nvPr>
        </p:nvSpPr>
        <p:spPr/>
        <p:txBody>
          <a:bodyPr vert="horz" wrap="square" lIns="91440" tIns="45720" rIns="91440" bIns="45720" anchor="t" anchorCtr="0"/>
          <a:p>
            <a:pPr algn="just">
              <a:lnSpc>
                <a:spcPct val="120000"/>
              </a:lnSpc>
              <a:spcBef>
                <a:spcPct val="0"/>
              </a:spcBef>
            </a:pPr>
            <a:r>
              <a:rPr lang="en-US" altLang="zh-CN" dirty="0">
                <a:solidFill>
                  <a:srgbClr val="FF0066"/>
                </a:solidFill>
                <a:latin typeface="华文楷体" panose="02010600040101010101" pitchFamily="2" charset="-122"/>
                <a:ea typeface="黑体" panose="02010609060101010101" pitchFamily="49" charset="-122"/>
                <a:cs typeface="+mn-cs"/>
              </a:rPr>
              <a:t>reg</a:t>
            </a:r>
            <a:r>
              <a:rPr lang="zh-CN" altLang="en-US" dirty="0">
                <a:latin typeface="华文楷体" panose="02010600040101010101" pitchFamily="2" charset="-122"/>
                <a:ea typeface="华文楷体" panose="02010600040101010101" pitchFamily="2" charset="-122"/>
                <a:cs typeface="+mn-cs"/>
              </a:rPr>
              <a:t>型变量</a:t>
            </a:r>
            <a:endParaRPr lang="zh-CN" altLang="en-US" dirty="0">
              <a:latin typeface="华文楷体" panose="02010600040101010101" pitchFamily="2" charset="-122"/>
              <a:ea typeface="华文楷体" panose="02010600040101010101" pitchFamily="2" charset="-122"/>
              <a:cs typeface="+mn-cs"/>
            </a:endParaRPr>
          </a:p>
          <a:p>
            <a:pPr lvl="1" algn="just">
              <a:lnSpc>
                <a:spcPct val="120000"/>
              </a:lnSpc>
              <a:spcBef>
                <a:spcPct val="0"/>
              </a:spcBef>
            </a:pPr>
            <a:r>
              <a:rPr lang="zh-CN" altLang="en-US" dirty="0">
                <a:solidFill>
                  <a:srgbClr val="FF0066"/>
                </a:solidFill>
                <a:latin typeface="华文楷体" panose="02010600040101010101" pitchFamily="2" charset="-122"/>
                <a:ea typeface="华文楷体" panose="02010600040101010101" pitchFamily="2" charset="-122"/>
              </a:rPr>
              <a:t>定义</a:t>
            </a:r>
            <a:r>
              <a:rPr lang="en-US" altLang="zh-CN" dirty="0">
                <a:latin typeface="华文楷体" panose="02010600040101010101" pitchFamily="2" charset="-122"/>
                <a:ea typeface="黑体" panose="02010609060101010101" pitchFamily="49" charset="-122"/>
              </a:rPr>
              <a:t>——</a:t>
            </a:r>
            <a:r>
              <a:rPr lang="zh-CN" altLang="en-US" dirty="0">
                <a:latin typeface="华文楷体" panose="02010600040101010101" pitchFamily="2" charset="-122"/>
                <a:ea typeface="华文楷体" panose="02010600040101010101" pitchFamily="2" charset="-122"/>
              </a:rPr>
              <a:t>在过程块中被赋值的信号，</a:t>
            </a:r>
            <a:r>
              <a:rPr lang="zh-CN" altLang="en-US" sz="2200" dirty="0">
                <a:solidFill>
                  <a:srgbClr val="FF33CC"/>
                </a:solidFill>
                <a:latin typeface="华文楷体" panose="02010600040101010101" pitchFamily="2" charset="-122"/>
                <a:ea typeface="华文楷体" panose="02010600040101010101" pitchFamily="2" charset="-122"/>
              </a:rPr>
              <a:t>往往</a:t>
            </a:r>
            <a:r>
              <a:rPr lang="zh-CN" altLang="en-US" sz="2200" dirty="0">
                <a:latin typeface="华文楷体" panose="02010600040101010101" pitchFamily="2" charset="-122"/>
                <a:ea typeface="华文楷体" panose="02010600040101010101" pitchFamily="2" charset="-122"/>
              </a:rPr>
              <a:t>代表触发器，但</a:t>
            </a:r>
            <a:r>
              <a:rPr lang="zh-CN" altLang="en-US" sz="2200" dirty="0">
                <a:solidFill>
                  <a:srgbClr val="FF33CC"/>
                </a:solidFill>
                <a:latin typeface="华文楷体" panose="02010600040101010101" pitchFamily="2" charset="-122"/>
                <a:ea typeface="华文楷体" panose="02010600040101010101" pitchFamily="2" charset="-122"/>
              </a:rPr>
              <a:t>不一定</a:t>
            </a:r>
            <a:r>
              <a:rPr lang="zh-CN" altLang="en-US" sz="2200" dirty="0">
                <a:latin typeface="华文楷体" panose="02010600040101010101" pitchFamily="2" charset="-122"/>
                <a:ea typeface="华文楷体" panose="02010600040101010101" pitchFamily="2" charset="-122"/>
              </a:rPr>
              <a:t>就是触发器（也可以是组合逻辑信号）！</a:t>
            </a:r>
            <a:endParaRPr lang="zh-CN" altLang="en-US" dirty="0">
              <a:latin typeface="华文楷体" panose="02010600040101010101" pitchFamily="2" charset="-122"/>
              <a:ea typeface="华文楷体" panose="02010600040101010101" pitchFamily="2" charset="-122"/>
            </a:endParaRPr>
          </a:p>
        </p:txBody>
      </p:sp>
      <p:sp>
        <p:nvSpPr>
          <p:cNvPr id="1639428" name="Text Box 4"/>
          <p:cNvSpPr txBox="1"/>
          <p:nvPr/>
        </p:nvSpPr>
        <p:spPr>
          <a:xfrm>
            <a:off x="1687513" y="2579688"/>
            <a:ext cx="4800600" cy="396875"/>
          </a:xfrm>
          <a:prstGeom prst="rect">
            <a:avLst/>
          </a:prstGeom>
          <a:noFill/>
          <a:ln w="12700" cap="flat" cmpd="sng">
            <a:solidFill>
              <a:srgbClr val="89A4A7"/>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reg</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n;</a:t>
            </a:r>
            <a:endParaRPr lang="en-US" altLang="zh-CN" b="1" dirty="0">
              <a:latin typeface="宋体" panose="02010600030101010101" pitchFamily="2" charset="-122"/>
              <a:ea typeface="宋体" panose="02010600030101010101" pitchFamily="2" charset="-122"/>
            </a:endParaRPr>
          </a:p>
        </p:txBody>
      </p:sp>
      <p:sp>
        <p:nvSpPr>
          <p:cNvPr id="1639429" name="Text Box 5"/>
          <p:cNvSpPr txBox="1"/>
          <p:nvPr/>
        </p:nvSpPr>
        <p:spPr>
          <a:xfrm>
            <a:off x="1687513" y="4070350"/>
            <a:ext cx="5715000" cy="701675"/>
          </a:xfrm>
          <a:prstGeom prst="rect">
            <a:avLst/>
          </a:prstGeom>
          <a:noFill/>
          <a:ln w="12700" cap="flat" cmpd="sng">
            <a:solidFill>
              <a:srgbClr val="89A4A7"/>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reg[n-1:0]</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m;</a:t>
            </a:r>
            <a:endParaRPr lang="en-US" altLang="zh-CN" b="1" dirty="0">
              <a:latin typeface="宋体" panose="02010600030101010101" pitchFamily="2" charset="-122"/>
              <a:ea typeface="宋体" panose="02010600030101010101" pitchFamily="2" charset="-122"/>
            </a:endParaRPr>
          </a:p>
          <a:p>
            <a:pPr marL="0" lvl="0" indent="0" algn="just">
              <a:spcBef>
                <a:spcPct val="0"/>
              </a:spcBef>
              <a:buNone/>
            </a:pPr>
            <a:r>
              <a:rPr lang="zh-CN" altLang="en-US" b="1" dirty="0">
                <a:latin typeface="宋体" panose="02010600030101010101" pitchFamily="2" charset="-122"/>
                <a:ea typeface="宋体" panose="02010600030101010101" pitchFamily="2" charset="-122"/>
              </a:rPr>
              <a:t>或 </a:t>
            </a:r>
            <a:r>
              <a:rPr lang="en-US" altLang="zh-CN" b="1" dirty="0">
                <a:solidFill>
                  <a:srgbClr val="FF0066"/>
                </a:solidFill>
                <a:latin typeface="宋体" panose="02010600030101010101" pitchFamily="2" charset="-122"/>
                <a:ea typeface="宋体" panose="02010600030101010101" pitchFamily="2" charset="-122"/>
              </a:rPr>
              <a:t>reg[n:1]</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数据名</a:t>
            </a:r>
            <a:r>
              <a:rPr lang="en-US" altLang="zh-CN" b="1" dirty="0">
                <a:latin typeface="宋体" panose="02010600030101010101" pitchFamily="2" charset="-122"/>
                <a:ea typeface="宋体" panose="02010600030101010101" pitchFamily="2" charset="-122"/>
              </a:rPr>
              <a:t>m;</a:t>
            </a:r>
            <a:endParaRPr lang="en-US" altLang="zh-CN" b="1" dirty="0">
              <a:latin typeface="宋体" panose="02010600030101010101" pitchFamily="2" charset="-122"/>
              <a:ea typeface="宋体" panose="02010600030101010101" pitchFamily="2" charset="-122"/>
            </a:endParaRPr>
          </a:p>
        </p:txBody>
      </p:sp>
      <p:sp>
        <p:nvSpPr>
          <p:cNvPr id="1639430" name="AutoShape 6"/>
          <p:cNvSpPr/>
          <p:nvPr/>
        </p:nvSpPr>
        <p:spPr>
          <a:xfrm>
            <a:off x="2754313" y="4984750"/>
            <a:ext cx="1371600" cy="685800"/>
          </a:xfrm>
          <a:prstGeom prst="wedgeRoundRectCallout">
            <a:avLst>
              <a:gd name="adj1" fmla="val -46991"/>
              <a:gd name="adj2" fmla="val -8009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每个向量位宽为</a:t>
            </a:r>
            <a:r>
              <a:rPr lang="en-US" altLang="zh-CN" b="1" dirty="0">
                <a:solidFill>
                  <a:srgbClr val="FF0066"/>
                </a:solidFill>
                <a:latin typeface="Tahoma" panose="020B0604030504040204" pitchFamily="34" charset="0"/>
                <a:ea typeface="宋体" panose="02010600030101010101" pitchFamily="2" charset="-122"/>
              </a:rPr>
              <a:t>n</a:t>
            </a:r>
            <a:endParaRPr lang="en-US" altLang="zh-CN" b="1" dirty="0">
              <a:solidFill>
                <a:srgbClr val="FF0066"/>
              </a:solidFill>
              <a:latin typeface="Tahoma" panose="020B0604030504040204" pitchFamily="34" charset="0"/>
              <a:ea typeface="宋体" panose="02010600030101010101" pitchFamily="2" charset="-122"/>
            </a:endParaRPr>
          </a:p>
        </p:txBody>
      </p:sp>
      <p:sp>
        <p:nvSpPr>
          <p:cNvPr id="1639431" name="AutoShape 7"/>
          <p:cNvSpPr/>
          <p:nvPr/>
        </p:nvSpPr>
        <p:spPr>
          <a:xfrm>
            <a:off x="6869113" y="5060950"/>
            <a:ext cx="1676400" cy="685800"/>
          </a:xfrm>
          <a:prstGeom prst="wedgeRoundRectCallout">
            <a:avLst>
              <a:gd name="adj1" fmla="val -47537"/>
              <a:gd name="adj2" fmla="val -8009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共有</a:t>
            </a:r>
            <a:r>
              <a:rPr lang="en-US" altLang="zh-CN" b="1" dirty="0">
                <a:solidFill>
                  <a:srgbClr val="FF0066"/>
                </a:solidFill>
                <a:latin typeface="Tahoma" panose="020B0604030504040204" pitchFamily="34" charset="0"/>
                <a:ea typeface="宋体" panose="02010600030101010101" pitchFamily="2" charset="-122"/>
              </a:rPr>
              <a:t>m</a:t>
            </a:r>
            <a:r>
              <a:rPr lang="zh-CN" altLang="en-US" dirty="0">
                <a:latin typeface="Tahoma" panose="020B0604030504040204" pitchFamily="34" charset="0"/>
                <a:ea typeface="宋体" panose="02010600030101010101" pitchFamily="2" charset="-122"/>
              </a:rPr>
              <a:t>个</a:t>
            </a:r>
            <a:r>
              <a:rPr lang="en-US" altLang="zh-CN" dirty="0">
                <a:latin typeface="Tahoma" panose="020B0604030504040204" pitchFamily="34" charset="0"/>
                <a:ea typeface="宋体" panose="02010600030101010101" pitchFamily="2" charset="-122"/>
              </a:rPr>
              <a:t>reg</a:t>
            </a:r>
            <a:r>
              <a:rPr lang="zh-CN" altLang="en-US" dirty="0">
                <a:latin typeface="Tahoma" panose="020B0604030504040204" pitchFamily="34" charset="0"/>
                <a:ea typeface="宋体" panose="02010600030101010101" pitchFamily="2" charset="-122"/>
              </a:rPr>
              <a:t>型向量</a:t>
            </a:r>
            <a:endParaRPr lang="zh-CN" altLang="en-US" dirty="0">
              <a:latin typeface="Tahoma" panose="020B0604030504040204" pitchFamily="34" charset="0"/>
              <a:ea typeface="宋体" panose="02010600030101010101" pitchFamily="2" charset="-122"/>
            </a:endParaRPr>
          </a:p>
        </p:txBody>
      </p:sp>
      <p:sp>
        <p:nvSpPr>
          <p:cNvPr id="1639432" name="Text Box 8"/>
          <p:cNvSpPr txBox="1"/>
          <p:nvPr/>
        </p:nvSpPr>
        <p:spPr>
          <a:xfrm>
            <a:off x="0" y="5864225"/>
            <a:ext cx="8915400" cy="4968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71805" lvl="1" indent="293370" algn="just">
              <a:lnSpc>
                <a:spcPct val="110000"/>
              </a:lnSpc>
              <a:buClr>
                <a:srgbClr val="FF0000"/>
              </a:buClr>
              <a:buSzPct val="80000"/>
              <a:buFont typeface="Wingdings" panose="05000000000000000000" pitchFamily="2" charset="2"/>
              <a:buChar char="Ø"/>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例</a:t>
            </a:r>
            <a:r>
              <a:rPr lang="en-US" altLang="zh-CN" sz="2400" b="1" dirty="0">
                <a:latin typeface="Times New Roman" panose="02020603050405020304" pitchFamily="18" charset="0"/>
                <a:ea typeface="华文楷体" panose="02010600040101010101" pitchFamily="2" charset="-122"/>
              </a:rPr>
              <a:t>] reg[4:1] regc,regd; /</a:t>
            </a:r>
            <a:r>
              <a:rPr lang="en-US" altLang="zh-CN" sz="2200" b="1" dirty="0">
                <a:latin typeface="Times New Roman" panose="02020603050405020304" pitchFamily="18" charset="0"/>
                <a:ea typeface="华文楷体" panose="02010600040101010101" pitchFamily="2" charset="-122"/>
              </a:rPr>
              <a:t>/regc,regd</a:t>
            </a:r>
            <a:r>
              <a:rPr lang="zh-CN" altLang="en-US" sz="2200" b="1" dirty="0">
                <a:latin typeface="Times New Roman" panose="02020603050405020304" pitchFamily="18" charset="0"/>
                <a:ea typeface="华文楷体" panose="02010600040101010101" pitchFamily="2" charset="-122"/>
              </a:rPr>
              <a:t>为</a:t>
            </a:r>
            <a:r>
              <a:rPr lang="en-US" altLang="zh-CN" sz="2200" b="1" dirty="0">
                <a:latin typeface="Times New Roman" panose="02020603050405020304" pitchFamily="18" charset="0"/>
                <a:ea typeface="华文楷体" panose="02010600040101010101" pitchFamily="2" charset="-122"/>
              </a:rPr>
              <a:t>4</a:t>
            </a:r>
            <a:r>
              <a:rPr lang="zh-CN" altLang="en-US" sz="2200" b="1" dirty="0">
                <a:latin typeface="Times New Roman" panose="02020603050405020304" pitchFamily="18" charset="0"/>
                <a:ea typeface="华文楷体" panose="02010600040101010101" pitchFamily="2" charset="-122"/>
              </a:rPr>
              <a:t>位宽的</a:t>
            </a:r>
            <a:r>
              <a:rPr lang="en-US" altLang="zh-CN" sz="2200" b="1" dirty="0">
                <a:latin typeface="Times New Roman" panose="02020603050405020304" pitchFamily="18" charset="0"/>
                <a:ea typeface="华文楷体" panose="02010600040101010101" pitchFamily="2" charset="-122"/>
              </a:rPr>
              <a:t>reg</a:t>
            </a:r>
            <a:r>
              <a:rPr lang="zh-CN" altLang="en-US" sz="2200" b="1" dirty="0">
                <a:latin typeface="Times New Roman" panose="02020603050405020304" pitchFamily="18" charset="0"/>
                <a:ea typeface="华文楷体" panose="02010600040101010101" pitchFamily="2" charset="-122"/>
              </a:rPr>
              <a:t>型向量</a:t>
            </a:r>
            <a:endParaRPr lang="zh-CN" altLang="en-US" sz="2200" b="1" dirty="0">
              <a:latin typeface="Times New Roman" panose="02020603050405020304" pitchFamily="18" charset="0"/>
              <a:ea typeface="华文楷体" panose="02010600040101010101" pitchFamily="2" charset="-122"/>
            </a:endParaRPr>
          </a:p>
        </p:txBody>
      </p:sp>
      <p:sp>
        <p:nvSpPr>
          <p:cNvPr id="1639433" name="Rectangle 9"/>
          <p:cNvSpPr/>
          <p:nvPr/>
        </p:nvSpPr>
        <p:spPr>
          <a:xfrm>
            <a:off x="914400" y="3505200"/>
            <a:ext cx="3089275" cy="466725"/>
          </a:xfrm>
          <a:prstGeom prst="rect">
            <a:avLst/>
          </a:prstGeom>
          <a:noFill/>
          <a:ln w="12700" cap="flat" cmpd="sng">
            <a:solidFill>
              <a:srgbClr val="89A4A7"/>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sz="2400" b="1" dirty="0">
                <a:latin typeface="宋体" panose="02010600030101010101" pitchFamily="2" charset="-122"/>
                <a:ea typeface="宋体" panose="02010600030101010101" pitchFamily="2" charset="-122"/>
              </a:rPr>
              <a:t>reg</a:t>
            </a:r>
            <a:r>
              <a:rPr lang="zh-CN" altLang="en-US" sz="2400" b="1" dirty="0">
                <a:latin typeface="宋体" panose="02010600030101010101" pitchFamily="2" charset="-122"/>
                <a:ea typeface="宋体" panose="02010600030101010101" pitchFamily="2" charset="-122"/>
              </a:rPr>
              <a:t>型向量（总线）</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39427"/>
                                        </p:tgtEl>
                                        <p:attrNameLst>
                                          <p:attrName>style.visibility</p:attrName>
                                        </p:attrNameLst>
                                      </p:cBhvr>
                                      <p:to>
                                        <p:strVal val="visible"/>
                                      </p:to>
                                    </p:set>
                                    <p:anim calcmode="lin" valueType="num">
                                      <p:cBhvr additive="base">
                                        <p:cTn id="7" dur="500" fill="hold"/>
                                        <p:tgtEl>
                                          <p:spTgt spid="1639427"/>
                                        </p:tgtEl>
                                        <p:attrNameLst>
                                          <p:attrName>ppt_x</p:attrName>
                                        </p:attrNameLst>
                                      </p:cBhvr>
                                      <p:tavLst>
                                        <p:tav tm="0">
                                          <p:val>
                                            <p:strVal val="0-#ppt_w/2"/>
                                          </p:val>
                                        </p:tav>
                                        <p:tav tm="100000">
                                          <p:val>
                                            <p:strVal val="#ppt_x"/>
                                          </p:val>
                                        </p:tav>
                                      </p:tavLst>
                                    </p:anim>
                                    <p:anim calcmode="lin" valueType="num">
                                      <p:cBhvr additive="base">
                                        <p:cTn id="8" dur="500" fill="hold"/>
                                        <p:tgtEl>
                                          <p:spTgt spid="16394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639428"/>
                                        </p:tgtEl>
                                        <p:attrNameLst>
                                          <p:attrName>style.visibility</p:attrName>
                                        </p:attrNameLst>
                                      </p:cBhvr>
                                      <p:to>
                                        <p:strVal val="visible"/>
                                      </p:to>
                                    </p:set>
                                    <p:animEffect transition="in" filter="barn(outHorizontal)">
                                      <p:cBhvr>
                                        <p:cTn id="12" dur="500"/>
                                        <p:tgtEl>
                                          <p:spTgt spid="1639428"/>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639433"/>
                                        </p:tgtEl>
                                        <p:attrNameLst>
                                          <p:attrName>style.visibility</p:attrName>
                                        </p:attrNameLst>
                                      </p:cBhvr>
                                      <p:to>
                                        <p:strVal val="visible"/>
                                      </p:to>
                                    </p:set>
                                    <p:anim calcmode="lin" valueType="num">
                                      <p:cBhvr>
                                        <p:cTn id="17" dur="500" fill="hold"/>
                                        <p:tgtEl>
                                          <p:spTgt spid="1639433"/>
                                        </p:tgtEl>
                                        <p:attrNameLst>
                                          <p:attrName>ppt_w</p:attrName>
                                        </p:attrNameLst>
                                      </p:cBhvr>
                                      <p:tavLst>
                                        <p:tav tm="0">
                                          <p:val>
                                            <p:fltVal val="0.000000"/>
                                          </p:val>
                                        </p:tav>
                                        <p:tav tm="100000">
                                          <p:val>
                                            <p:strVal val="#ppt_w"/>
                                          </p:val>
                                        </p:tav>
                                      </p:tavLst>
                                    </p:anim>
                                    <p:anim calcmode="lin" valueType="num">
                                      <p:cBhvr>
                                        <p:cTn id="18" dur="500" fill="hold"/>
                                        <p:tgtEl>
                                          <p:spTgt spid="1639433"/>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1639429"/>
                                        </p:tgtEl>
                                        <p:attrNameLst>
                                          <p:attrName>style.visibility</p:attrName>
                                        </p:attrNameLst>
                                      </p:cBhvr>
                                      <p:to>
                                        <p:strVal val="visible"/>
                                      </p:to>
                                    </p:set>
                                    <p:animEffect transition="in" filter="barn(outHorizontal)">
                                      <p:cBhvr>
                                        <p:cTn id="23" dur="500"/>
                                        <p:tgtEl>
                                          <p:spTgt spid="1639429"/>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39430"/>
                                        </p:tgtEl>
                                        <p:attrNameLst>
                                          <p:attrName>style.visibility</p:attrName>
                                        </p:attrNameLst>
                                      </p:cBhvr>
                                      <p:to>
                                        <p:strVal val="visible"/>
                                      </p:to>
                                    </p:set>
                                    <p:animEffect transition="in" filter="dissolve">
                                      <p:cBhvr>
                                        <p:cTn id="28" dur="500"/>
                                        <p:tgtEl>
                                          <p:spTgt spid="1639430"/>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639431"/>
                                        </p:tgtEl>
                                        <p:attrNameLst>
                                          <p:attrName>style.visibility</p:attrName>
                                        </p:attrNameLst>
                                      </p:cBhvr>
                                      <p:to>
                                        <p:strVal val="visible"/>
                                      </p:to>
                                    </p:set>
                                    <p:animEffect transition="in" filter="dissolve">
                                      <p:cBhvr>
                                        <p:cTn id="33" dur="500"/>
                                        <p:tgtEl>
                                          <p:spTgt spid="1639431"/>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639432"/>
                                        </p:tgtEl>
                                        <p:attrNameLst>
                                          <p:attrName>style.visibility</p:attrName>
                                        </p:attrNameLst>
                                      </p:cBhvr>
                                      <p:to>
                                        <p:strVal val="visible"/>
                                      </p:to>
                                    </p:set>
                                    <p:anim calcmode="lin" valueType="num">
                                      <p:cBhvr additive="base">
                                        <p:cTn id="38" dur="500" fill="hold"/>
                                        <p:tgtEl>
                                          <p:spTgt spid="1639432"/>
                                        </p:tgtEl>
                                        <p:attrNameLst>
                                          <p:attrName>ppt_x</p:attrName>
                                        </p:attrNameLst>
                                      </p:cBhvr>
                                      <p:tavLst>
                                        <p:tav tm="0">
                                          <p:val>
                                            <p:strVal val="0-#ppt_w/2"/>
                                          </p:val>
                                        </p:tav>
                                        <p:tav tm="100000">
                                          <p:val>
                                            <p:strVal val="#ppt_x"/>
                                          </p:val>
                                        </p:tav>
                                      </p:tavLst>
                                    </p:anim>
                                    <p:anim calcmode="lin" valueType="num">
                                      <p:cBhvr additive="base">
                                        <p:cTn id="39" dur="500" fill="hold"/>
                                        <p:tgtEl>
                                          <p:spTgt spid="16394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27" grpId="0"/>
      <p:bldP spid="1639428" grpId="0" bldLvl="0" animBg="1"/>
      <p:bldP spid="1639429" grpId="0" bldLvl="0" animBg="1"/>
      <p:bldP spid="1639430" grpId="0" bldLvl="0" animBg="1"/>
      <p:bldP spid="1639431" grpId="0" bldLvl="0" animBg="1"/>
      <p:bldP spid="1639432" grpId="0"/>
      <p:bldP spid="1639433"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49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8499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4147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endParaRPr kumimoji="0" lang="zh-CN" altLang="en-US"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endParaRPr kumimoji="0" lang="zh-CN" altLang="en-US"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endParaRPr kumimoji="0" lang="zh-CN" altLang="en-US"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endParaRPr kumimoji="0" lang="zh-CN" altLang="en-US"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用</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reg</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型变量生成</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组合逻辑</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举</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例</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module  rw1( a, b, out1, out2 ) ；</a:t>
            </a:r>
            <a:endPar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input a, b；</a:t>
            </a:r>
            <a:endPar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output out1, out2；</a:t>
            </a:r>
            <a:endPar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rgbClr val="FF6600"/>
                </a:solidFill>
                <a:effectLst/>
                <a:uLnTx/>
                <a:uFillTx/>
                <a:latin typeface="Times New Roman" panose="02020603050405020304" pitchFamily="18" charset="0"/>
                <a:ea typeface="华文楷体" panose="02010600040101010101" pitchFamily="2" charset="-122"/>
                <a:cs typeface="+mn-cs"/>
              </a:rPr>
              <a:t>reg out1</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t>
            </a:r>
            <a:endPar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wire out2；</a:t>
            </a:r>
            <a:endPar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assign out2 = a ；</a:t>
            </a:r>
            <a:endParaRPr kumimoji="0" lang="zh-CN"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always @(b)</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out1 &lt;= ~b；</a:t>
            </a:r>
            <a:endParaRPr kumimoji="0" lang="zh-CN"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endmodule</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p:txBody>
      </p:sp>
      <p:sp>
        <p:nvSpPr>
          <p:cNvPr id="84997" name="Rectangle 6"/>
          <p:cNvSpPr/>
          <p:nvPr/>
        </p:nvSpPr>
        <p:spPr>
          <a:xfrm>
            <a:off x="5181600" y="3262313"/>
            <a:ext cx="3200400" cy="2493962"/>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nvGrpSpPr>
          <p:cNvPr id="2" name="Group 24"/>
          <p:cNvGrpSpPr/>
          <p:nvPr/>
        </p:nvGrpSpPr>
        <p:grpSpPr>
          <a:xfrm>
            <a:off x="5434013" y="3719513"/>
            <a:ext cx="2951162" cy="2262187"/>
            <a:chOff x="3480" y="2059"/>
            <a:chExt cx="1859" cy="1425"/>
          </a:xfrm>
        </p:grpSpPr>
        <p:sp>
          <p:nvSpPr>
            <p:cNvPr id="85005" name="Rectangle 5"/>
            <p:cNvSpPr/>
            <p:nvPr/>
          </p:nvSpPr>
          <p:spPr>
            <a:xfrm>
              <a:off x="3480" y="2059"/>
              <a:ext cx="1859" cy="1425"/>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2"/>
                </a:buClr>
                <a:buNone/>
              </a:pP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85006" name="AutoShape 7"/>
            <p:cNvSpPr/>
            <p:nvPr/>
          </p:nvSpPr>
          <p:spPr>
            <a:xfrm rot="5400000">
              <a:off x="4237" y="2299"/>
              <a:ext cx="262" cy="384"/>
            </a:xfrm>
            <a:prstGeom prst="triangle">
              <a:avLst>
                <a:gd name="adj" fmla="val 50000"/>
              </a:avLst>
            </a:prstGeom>
            <a:solidFill>
              <a:schemeClr val="bg2"/>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5007" name="Line 8"/>
            <p:cNvSpPr/>
            <p:nvPr/>
          </p:nvSpPr>
          <p:spPr>
            <a:xfrm>
              <a:off x="3791" y="2491"/>
              <a:ext cx="385" cy="0"/>
            </a:xfrm>
            <a:prstGeom prst="line">
              <a:avLst/>
            </a:prstGeom>
            <a:ln w="9525" cap="flat" cmpd="sng">
              <a:solidFill>
                <a:schemeClr val="tx1"/>
              </a:solidFill>
              <a:prstDash val="solid"/>
              <a:headEnd type="none" w="med" len="med"/>
              <a:tailEnd type="none" w="med" len="med"/>
            </a:ln>
          </p:spPr>
        </p:sp>
        <p:sp>
          <p:nvSpPr>
            <p:cNvPr id="85008" name="Line 9"/>
            <p:cNvSpPr/>
            <p:nvPr/>
          </p:nvSpPr>
          <p:spPr>
            <a:xfrm>
              <a:off x="4560" y="2491"/>
              <a:ext cx="337" cy="0"/>
            </a:xfrm>
            <a:prstGeom prst="line">
              <a:avLst/>
            </a:prstGeom>
            <a:ln w="9525" cap="flat" cmpd="sng">
              <a:solidFill>
                <a:schemeClr val="tx1"/>
              </a:solidFill>
              <a:prstDash val="solid"/>
              <a:headEnd type="none" w="med" len="med"/>
              <a:tailEnd type="none" w="med" len="med"/>
            </a:ln>
          </p:spPr>
        </p:sp>
        <p:sp>
          <p:nvSpPr>
            <p:cNvPr id="85009" name="AutoShape 10"/>
            <p:cNvSpPr/>
            <p:nvPr/>
          </p:nvSpPr>
          <p:spPr>
            <a:xfrm rot="5400000">
              <a:off x="4237" y="2823"/>
              <a:ext cx="262" cy="384"/>
            </a:xfrm>
            <a:prstGeom prst="triangle">
              <a:avLst>
                <a:gd name="adj" fmla="val 50000"/>
              </a:avLst>
            </a:prstGeom>
            <a:solidFill>
              <a:schemeClr val="bg2"/>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5010" name="Oval 11"/>
            <p:cNvSpPr/>
            <p:nvPr/>
          </p:nvSpPr>
          <p:spPr>
            <a:xfrm flipV="1">
              <a:off x="4512" y="2971"/>
              <a:ext cx="96" cy="88"/>
            </a:xfrm>
            <a:prstGeom prst="ellipse">
              <a:avLst/>
            </a:prstGeom>
            <a:solidFill>
              <a:schemeClr val="bg2"/>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5011" name="Line 12"/>
            <p:cNvSpPr/>
            <p:nvPr/>
          </p:nvSpPr>
          <p:spPr>
            <a:xfrm>
              <a:off x="3801" y="3015"/>
              <a:ext cx="375" cy="0"/>
            </a:xfrm>
            <a:prstGeom prst="line">
              <a:avLst/>
            </a:prstGeom>
            <a:ln w="9525" cap="flat" cmpd="sng">
              <a:solidFill>
                <a:schemeClr val="tx1"/>
              </a:solidFill>
              <a:prstDash val="solid"/>
              <a:headEnd type="none" w="med" len="med"/>
              <a:tailEnd type="none" w="med" len="med"/>
            </a:ln>
          </p:spPr>
        </p:sp>
        <p:sp>
          <p:nvSpPr>
            <p:cNvPr id="85012" name="Line 13"/>
            <p:cNvSpPr/>
            <p:nvPr/>
          </p:nvSpPr>
          <p:spPr>
            <a:xfrm>
              <a:off x="4608" y="3015"/>
              <a:ext cx="244" cy="0"/>
            </a:xfrm>
            <a:prstGeom prst="line">
              <a:avLst/>
            </a:prstGeom>
            <a:ln w="9525" cap="flat" cmpd="sng">
              <a:solidFill>
                <a:schemeClr val="tx1"/>
              </a:solidFill>
              <a:prstDash val="solid"/>
              <a:headEnd type="none" w="med" len="med"/>
              <a:tailEnd type="none" w="med" len="med"/>
            </a:ln>
          </p:spPr>
        </p:sp>
        <p:sp>
          <p:nvSpPr>
            <p:cNvPr id="85013" name="Text Box 14"/>
            <p:cNvSpPr txBox="1"/>
            <p:nvPr/>
          </p:nvSpPr>
          <p:spPr>
            <a:xfrm>
              <a:off x="3618" y="2337"/>
              <a:ext cx="240"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85014" name="Text Box 15"/>
            <p:cNvSpPr txBox="1"/>
            <p:nvPr/>
          </p:nvSpPr>
          <p:spPr>
            <a:xfrm>
              <a:off x="4819" y="2338"/>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out2</a:t>
              </a:r>
              <a:endParaRPr lang="en-US" altLang="zh-CN" dirty="0">
                <a:latin typeface="Times New Roman" panose="02020603050405020304" pitchFamily="18" charset="0"/>
                <a:ea typeface="宋体" panose="02010600030101010101" pitchFamily="2" charset="-122"/>
              </a:endParaRPr>
            </a:p>
          </p:txBody>
        </p:sp>
        <p:sp>
          <p:nvSpPr>
            <p:cNvPr id="85015" name="Text Box 16"/>
            <p:cNvSpPr txBox="1"/>
            <p:nvPr/>
          </p:nvSpPr>
          <p:spPr>
            <a:xfrm>
              <a:off x="4070" y="2099"/>
              <a:ext cx="624"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b="1" dirty="0">
                  <a:solidFill>
                    <a:schemeClr val="bg2"/>
                  </a:solidFill>
                  <a:latin typeface="Times New Roman" panose="02020603050405020304" pitchFamily="18" charset="0"/>
                  <a:ea typeface="宋体" panose="02010600030101010101" pitchFamily="2" charset="-122"/>
                </a:rPr>
                <a:t>BUFF</a:t>
              </a:r>
              <a:endParaRPr lang="en-US" altLang="zh-CN" b="1" dirty="0">
                <a:solidFill>
                  <a:schemeClr val="bg2"/>
                </a:solidFill>
                <a:latin typeface="Times New Roman" panose="02020603050405020304" pitchFamily="18" charset="0"/>
                <a:ea typeface="宋体" panose="02010600030101010101" pitchFamily="2" charset="-122"/>
              </a:endParaRPr>
            </a:p>
          </p:txBody>
        </p:sp>
        <p:sp>
          <p:nvSpPr>
            <p:cNvPr id="85016" name="Text Box 17"/>
            <p:cNvSpPr txBox="1"/>
            <p:nvPr/>
          </p:nvSpPr>
          <p:spPr>
            <a:xfrm>
              <a:off x="3646" y="2898"/>
              <a:ext cx="288"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sp>
          <p:nvSpPr>
            <p:cNvPr id="85017" name="Text Box 18"/>
            <p:cNvSpPr txBox="1"/>
            <p:nvPr/>
          </p:nvSpPr>
          <p:spPr>
            <a:xfrm>
              <a:off x="4138" y="3189"/>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b="1" dirty="0">
                  <a:solidFill>
                    <a:schemeClr val="bg2"/>
                  </a:solidFill>
                  <a:latin typeface="Times New Roman" panose="02020603050405020304" pitchFamily="18" charset="0"/>
                  <a:ea typeface="宋体" panose="02010600030101010101" pitchFamily="2" charset="-122"/>
                </a:rPr>
                <a:t>INV</a:t>
              </a:r>
              <a:endParaRPr lang="en-US" altLang="zh-CN" b="1" dirty="0">
                <a:latin typeface="Times New Roman" panose="02020603050405020304" pitchFamily="18" charset="0"/>
                <a:ea typeface="宋体" panose="02010600030101010101" pitchFamily="2" charset="-122"/>
              </a:endParaRPr>
            </a:p>
          </p:txBody>
        </p:sp>
        <p:sp>
          <p:nvSpPr>
            <p:cNvPr id="85018" name="Text Box 19"/>
            <p:cNvSpPr txBox="1"/>
            <p:nvPr/>
          </p:nvSpPr>
          <p:spPr>
            <a:xfrm>
              <a:off x="4808" y="2893"/>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out1</a:t>
              </a:r>
              <a:endParaRPr lang="en-US" altLang="zh-CN" dirty="0">
                <a:latin typeface="Times New Roman" panose="02020603050405020304" pitchFamily="18" charset="0"/>
                <a:ea typeface="宋体" panose="02010600030101010101" pitchFamily="2" charset="-122"/>
              </a:endParaRPr>
            </a:p>
          </p:txBody>
        </p:sp>
      </p:grpSp>
      <p:sp>
        <p:nvSpPr>
          <p:cNvPr id="1641492" name="AutoShape 20"/>
          <p:cNvSpPr/>
          <p:nvPr/>
        </p:nvSpPr>
        <p:spPr>
          <a:xfrm>
            <a:off x="2811463" y="5910263"/>
            <a:ext cx="1905000" cy="381000"/>
          </a:xfrm>
          <a:prstGeom prst="wedgeRoundRectCallout">
            <a:avLst>
              <a:gd name="adj1" fmla="val -57500"/>
              <a:gd name="adj2" fmla="val -9583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过程赋值语句</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41493" name="AutoShape 21"/>
          <p:cNvSpPr/>
          <p:nvPr/>
        </p:nvSpPr>
        <p:spPr>
          <a:xfrm>
            <a:off x="3168650" y="4156075"/>
            <a:ext cx="1981200" cy="457200"/>
          </a:xfrm>
          <a:prstGeom prst="wedgeRoundRectCallout">
            <a:avLst>
              <a:gd name="adj1" fmla="val -58736"/>
              <a:gd name="adj2" fmla="val 91667"/>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连续赋值语句</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41494" name="AutoShape 22"/>
          <p:cNvSpPr/>
          <p:nvPr/>
        </p:nvSpPr>
        <p:spPr>
          <a:xfrm>
            <a:off x="3197225" y="5138738"/>
            <a:ext cx="1371600" cy="457200"/>
          </a:xfrm>
          <a:prstGeom prst="wedgeRoundRectCallout">
            <a:avLst>
              <a:gd name="adj1" fmla="val -95718"/>
              <a:gd name="adj2" fmla="val 11458"/>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电平</a:t>
            </a:r>
            <a:r>
              <a:rPr lang="zh-CN" altLang="en-US" dirty="0">
                <a:latin typeface="华文楷体" panose="02010600040101010101" pitchFamily="2" charset="-122"/>
                <a:ea typeface="华文楷体" panose="02010600040101010101" pitchFamily="2" charset="-122"/>
              </a:rPr>
              <a:t>触发</a:t>
            </a:r>
            <a:endParaRPr lang="zh-CN" altLang="en-US" dirty="0">
              <a:latin typeface="华文楷体" panose="02010600040101010101" pitchFamily="2" charset="-122"/>
              <a:ea typeface="华文楷体" panose="02010600040101010101" pitchFamily="2" charset="-122"/>
            </a:endParaRPr>
          </a:p>
        </p:txBody>
      </p:sp>
      <p:sp>
        <p:nvSpPr>
          <p:cNvPr id="1641495" name="AutoShape 23" descr="80%"/>
          <p:cNvSpPr/>
          <p:nvPr/>
        </p:nvSpPr>
        <p:spPr>
          <a:xfrm rot="-133237">
            <a:off x="0" y="819150"/>
            <a:ext cx="5130800" cy="1092200"/>
          </a:xfrm>
          <a:prstGeom prst="irregularSeal2">
            <a:avLst/>
          </a:prstGeom>
          <a:noFill/>
          <a:ln w="9525" cap="flat" cmpd="sng">
            <a:solidFill>
              <a:schemeClr val="accent1"/>
            </a:solidFill>
            <a:prstDash val="solid"/>
            <a:round/>
            <a:headEnd type="none" w="med" len="med"/>
            <a:tailEnd type="none" w="med" len="med"/>
          </a:ln>
          <a:effectLst>
            <a:prstShdw prst="shdw17" dist="17961" dir="13499999">
              <a:srgbClr val="997A99"/>
            </a:prstShdw>
          </a:effectLst>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1"/>
              </a:buClr>
              <a:buSzPct val="80000"/>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Verilog</a:t>
            </a:r>
            <a:r>
              <a:rPr lang="zh-CN" altLang="zh-CN" sz="2400" b="1" dirty="0">
                <a:latin typeface="华文楷体" panose="02010600040101010101" pitchFamily="2" charset="-122"/>
                <a:ea typeface="华文楷体" panose="02010600040101010101" pitchFamily="2" charset="-122"/>
              </a:rPr>
              <a:t>中reg与wire的区别</a:t>
            </a:r>
            <a:endParaRPr lang="zh-CN" altLang="en-US" sz="2400" b="1" dirty="0">
              <a:latin typeface="华文楷体" panose="02010600040101010101" pitchFamily="2" charset="-122"/>
              <a:ea typeface="华文楷体" panose="02010600040101010101" pitchFamily="2" charset="-122"/>
            </a:endParaRPr>
          </a:p>
        </p:txBody>
      </p:sp>
      <p:sp>
        <p:nvSpPr>
          <p:cNvPr id="1641497" name="Rectangle 25"/>
          <p:cNvSpPr/>
          <p:nvPr/>
        </p:nvSpPr>
        <p:spPr>
          <a:xfrm>
            <a:off x="5170488" y="1463675"/>
            <a:ext cx="3849687" cy="1371600"/>
          </a:xfrm>
          <a:prstGeom prst="rect">
            <a:avLst/>
          </a:prstGeom>
          <a:noFill/>
          <a:ln w="9525" cap="flat" cmpd="sng">
            <a:solidFill>
              <a:schemeClr val="accent1"/>
            </a:solidFill>
            <a:prstDash val="solid"/>
            <a:round/>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defTabSz="2716530" eaLnBrk="1" hangingPunct="1">
              <a:lnSpc>
                <a:spcPct val="110000"/>
              </a:lnSpc>
              <a:buClr>
                <a:srgbClr val="3333FF"/>
              </a:buClr>
              <a:buFont typeface="Wingdings" panose="05000000000000000000" pitchFamily="2" charset="2"/>
              <a:buNone/>
            </a:pPr>
            <a:r>
              <a:rPr lang="zh-CN" altLang="zh-CN" sz="2400" b="1" dirty="0">
                <a:latin typeface="Times New Roman" panose="02020603050405020304" pitchFamily="18" charset="0"/>
                <a:ea typeface="华文楷体" panose="02010600040101010101" pitchFamily="2" charset="-122"/>
              </a:rPr>
              <a:t>reg</a:t>
            </a:r>
            <a:r>
              <a:rPr lang="zh-CN" altLang="en-US" sz="2400" b="1" dirty="0">
                <a:latin typeface="Times New Roman" panose="02020603050405020304" pitchFamily="18" charset="0"/>
                <a:ea typeface="华文楷体" panose="02010600040101010101" pitchFamily="2" charset="-122"/>
              </a:rPr>
              <a:t>型变量既可生成触发器，也可生成组合逻辑； </a:t>
            </a:r>
            <a:r>
              <a:rPr lang="zh-CN" altLang="zh-CN" sz="2400" b="1" dirty="0">
                <a:latin typeface="Times New Roman" panose="02020603050405020304" pitchFamily="18" charset="0"/>
                <a:ea typeface="华文楷体" panose="02010600040101010101" pitchFamily="2" charset="-122"/>
              </a:rPr>
              <a:t>wire</a:t>
            </a:r>
            <a:r>
              <a:rPr lang="zh-CN" altLang="en-US" sz="2400" b="1" dirty="0">
                <a:latin typeface="Times New Roman" panose="02020603050405020304" pitchFamily="18" charset="0"/>
                <a:ea typeface="华文楷体" panose="02010600040101010101" pitchFamily="2" charset="-122"/>
              </a:rPr>
              <a:t>型变量只能生成组合逻辑。</a:t>
            </a:r>
            <a:endParaRPr lang="zh-CN" altLang="en-US" sz="2400" b="1" dirty="0">
              <a:latin typeface="Times New Roman" panose="02020603050405020304" pitchFamily="18" charset="0"/>
              <a:ea typeface="华文楷体" panose="02010600040101010101" pitchFamily="2" charset="-122"/>
            </a:endParaRPr>
          </a:p>
        </p:txBody>
      </p:sp>
      <p:sp>
        <p:nvSpPr>
          <p:cNvPr id="1641498" name="Oval 26"/>
          <p:cNvSpPr/>
          <p:nvPr/>
        </p:nvSpPr>
        <p:spPr>
          <a:xfrm>
            <a:off x="7596188" y="5073650"/>
            <a:ext cx="574675" cy="339725"/>
          </a:xfrm>
          <a:prstGeom prst="ellipse">
            <a:avLst/>
          </a:prstGeom>
          <a:noFill/>
          <a:ln w="19050" cap="flat" cmpd="sng">
            <a:solidFill>
              <a:srgbClr val="FF33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641495"/>
                                        </p:tgtEl>
                                        <p:attrNameLst>
                                          <p:attrName>style.visibility</p:attrName>
                                        </p:attrNameLst>
                                      </p:cBhvr>
                                      <p:to>
                                        <p:strVal val="visible"/>
                                      </p:to>
                                    </p:set>
                                    <p:anim calcmode="lin" valueType="num">
                                      <p:cBhvr>
                                        <p:cTn id="7" dur="500" fill="hold"/>
                                        <p:tgtEl>
                                          <p:spTgt spid="1641495"/>
                                        </p:tgtEl>
                                        <p:attrNameLst>
                                          <p:attrName>ppt_w</p:attrName>
                                        </p:attrNameLst>
                                      </p:cBhvr>
                                      <p:tavLst>
                                        <p:tav tm="0">
                                          <p:val>
                                            <p:fltVal val="0.000000"/>
                                          </p:val>
                                        </p:tav>
                                        <p:tav tm="100000">
                                          <p:val>
                                            <p:strVal val="#ppt_w"/>
                                          </p:val>
                                        </p:tav>
                                      </p:tavLst>
                                    </p:anim>
                                    <p:anim calcmode="lin" valueType="num">
                                      <p:cBhvr>
                                        <p:cTn id="8" dur="500" fill="hold"/>
                                        <p:tgtEl>
                                          <p:spTgt spid="164149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1641497"/>
                                        </p:tgtEl>
                                        <p:attrNameLst>
                                          <p:attrName>style.visibility</p:attrName>
                                        </p:attrNameLst>
                                      </p:cBhvr>
                                      <p:to>
                                        <p:strVal val="visible"/>
                                      </p:to>
                                    </p:set>
                                    <p:anim calcmode="lin" valueType="num">
                                      <p:cBhvr additive="base">
                                        <p:cTn id="12" dur="500" fill="hold"/>
                                        <p:tgtEl>
                                          <p:spTgt spid="1641497"/>
                                        </p:tgtEl>
                                        <p:attrNameLst>
                                          <p:attrName>ppt_x</p:attrName>
                                        </p:attrNameLst>
                                      </p:cBhvr>
                                      <p:tavLst>
                                        <p:tav tm="0">
                                          <p:val>
                                            <p:strVal val="1+#ppt_w/2"/>
                                          </p:val>
                                        </p:tav>
                                        <p:tav tm="100000">
                                          <p:val>
                                            <p:strVal val="#ppt_x"/>
                                          </p:val>
                                        </p:tav>
                                      </p:tavLst>
                                    </p:anim>
                                    <p:anim calcmode="lin" valueType="num">
                                      <p:cBhvr additive="base">
                                        <p:cTn id="13" dur="500" fill="hold"/>
                                        <p:tgtEl>
                                          <p:spTgt spid="164149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2" fill="hold" grpId="0" nodeType="clickEffect">
                                  <p:stCondLst>
                                    <p:cond delay="0"/>
                                  </p:stCondLst>
                                  <p:childTnLst>
                                    <p:set>
                                      <p:cBhvr>
                                        <p:cTn id="17" dur="1" fill="hold">
                                          <p:stCondLst>
                                            <p:cond delay="0"/>
                                          </p:stCondLst>
                                        </p:cTn>
                                        <p:tgtEl>
                                          <p:spTgt spid="1641475"/>
                                        </p:tgtEl>
                                        <p:attrNameLst>
                                          <p:attrName>style.visibility</p:attrName>
                                        </p:attrNameLst>
                                      </p:cBhvr>
                                      <p:to>
                                        <p:strVal val="visible"/>
                                      </p:to>
                                    </p:set>
                                    <p:anim calcmode="lin" valueType="num">
                                      <p:cBhvr additive="base">
                                        <p:cTn id="18" dur="500" fill="hold"/>
                                        <p:tgtEl>
                                          <p:spTgt spid="1641475"/>
                                        </p:tgtEl>
                                        <p:attrNameLst>
                                          <p:attrName>ppt_x</p:attrName>
                                        </p:attrNameLst>
                                      </p:cBhvr>
                                      <p:tavLst>
                                        <p:tav tm="0">
                                          <p:val>
                                            <p:strVal val="0-#ppt_w/2"/>
                                          </p:val>
                                        </p:tav>
                                        <p:tav tm="100000">
                                          <p:val>
                                            <p:strVal val="#ppt_x"/>
                                          </p:val>
                                        </p:tav>
                                      </p:tavLst>
                                    </p:anim>
                                    <p:anim calcmode="lin" valueType="num">
                                      <p:cBhvr additive="base">
                                        <p:cTn id="19" dur="500" fill="hold"/>
                                        <p:tgtEl>
                                          <p:spTgt spid="164147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641493"/>
                                        </p:tgtEl>
                                        <p:attrNameLst>
                                          <p:attrName>style.visibility</p:attrName>
                                        </p:attrNameLst>
                                      </p:cBhvr>
                                      <p:to>
                                        <p:strVal val="visible"/>
                                      </p:to>
                                    </p:set>
                                    <p:animEffect transition="in" filter="dissolve">
                                      <p:cBhvr>
                                        <p:cTn id="24" dur="500"/>
                                        <p:tgtEl>
                                          <p:spTgt spid="164149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641492"/>
                                        </p:tgtEl>
                                        <p:attrNameLst>
                                          <p:attrName>style.visibility</p:attrName>
                                        </p:attrNameLst>
                                      </p:cBhvr>
                                      <p:to>
                                        <p:strVal val="visible"/>
                                      </p:to>
                                    </p:set>
                                    <p:animEffect transition="in" filter="dissolve">
                                      <p:cBhvr>
                                        <p:cTn id="29" dur="500"/>
                                        <p:tgtEl>
                                          <p:spTgt spid="164149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41494"/>
                                        </p:tgtEl>
                                        <p:attrNameLst>
                                          <p:attrName>style.visibility</p:attrName>
                                        </p:attrNameLst>
                                      </p:cBhvr>
                                      <p:to>
                                        <p:strVal val="visible"/>
                                      </p:to>
                                    </p:set>
                                    <p:animEffect transition="in" filter="dissolve">
                                      <p:cBhvr>
                                        <p:cTn id="34" dur="500"/>
                                        <p:tgtEl>
                                          <p:spTgt spid="164149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1+#ppt_w/2"/>
                                          </p:val>
                                        </p:tav>
                                        <p:tav tm="100000">
                                          <p:val>
                                            <p:strVal val="#ppt_x"/>
                                          </p:val>
                                        </p:tav>
                                      </p:tavLst>
                                    </p:anim>
                                    <p:anim calcmode="lin" valueType="num">
                                      <p:cBhvr additive="base">
                                        <p:cTn id="4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1641498"/>
                                        </p:tgtEl>
                                        <p:attrNameLst>
                                          <p:attrName>style.visibility</p:attrName>
                                        </p:attrNameLst>
                                      </p:cBhvr>
                                      <p:to>
                                        <p:strVal val="visible"/>
                                      </p:to>
                                    </p:set>
                                    <p:anim calcmode="lin" valueType="num">
                                      <p:cBhvr>
                                        <p:cTn id="45" dur="500" fill="hold"/>
                                        <p:tgtEl>
                                          <p:spTgt spid="1641498"/>
                                        </p:tgtEl>
                                        <p:attrNameLst>
                                          <p:attrName>ppt_w</p:attrName>
                                        </p:attrNameLst>
                                      </p:cBhvr>
                                      <p:tavLst>
                                        <p:tav tm="0">
                                          <p:val>
                                            <p:fltVal val="0.000000"/>
                                          </p:val>
                                        </p:tav>
                                        <p:tav tm="100000">
                                          <p:val>
                                            <p:strVal val="#ppt_w"/>
                                          </p:val>
                                        </p:tav>
                                      </p:tavLst>
                                    </p:anim>
                                    <p:anim calcmode="lin" valueType="num">
                                      <p:cBhvr>
                                        <p:cTn id="46" dur="500" fill="hold"/>
                                        <p:tgtEl>
                                          <p:spTgt spid="164149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1475" grpId="0"/>
      <p:bldP spid="1641492" grpId="0" bldLvl="0" animBg="1"/>
      <p:bldP spid="1641493" grpId="0" bldLvl="0" animBg="1"/>
      <p:bldP spid="1641494" grpId="0" bldLvl="0" animBg="1"/>
      <p:bldP spid="1641495" grpId="0" bldLvl="0" animBg="1"/>
      <p:bldP spid="1641497" grpId="0" bldLvl="0" animBg="1"/>
      <p:bldP spid="1641498"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704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43523"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用</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reg</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型变量生成</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触发器</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举</a:t>
            </a:r>
            <a:r>
              <a:rPr kumimoji="0" lang="zh-CN"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例</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endPar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module  rw2( clk, d, out1, out2 )；</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input clk, d；</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output out1, out2；</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rgbClr val="FF6600"/>
                </a:solidFill>
                <a:effectLst/>
                <a:uLnTx/>
                <a:uFillTx/>
                <a:latin typeface="Times New Roman" panose="02020603050405020304" pitchFamily="18" charset="0"/>
                <a:ea typeface="华文楷体" panose="02010600040101010101" pitchFamily="2" charset="-122"/>
                <a:cs typeface="+mn-cs"/>
              </a:rPr>
              <a:t>reg out1；</a:t>
            </a:r>
            <a:endParaRPr kumimoji="0" lang="zh-CN" altLang="zh-CN" sz="2200" b="0" i="0" u="none" strike="noStrike" kern="0" cap="none" spc="0" normalizeH="0" baseline="0" noProof="1">
              <a:ln>
                <a:noFill/>
              </a:ln>
              <a:solidFill>
                <a:srgbClr val="FF6600"/>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wire out2；</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assign out2 =  d  &amp; ~out1 ;</a:t>
            </a:r>
            <a:endParaRPr kumimoji="0" lang="zh-CN" altLang="zh-CN" sz="22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always @(posedge clk)  </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begin  </a:t>
            </a:r>
            <a:endPar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2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out1 &lt;=  d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endPar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end</a:t>
            </a:r>
            <a:endPar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endmodule</a:t>
            </a:r>
            <a:r>
              <a:rPr kumimoji="0" lang="zh-CN" altLang="zh-CN" sz="18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p:txBody>
      </p:sp>
      <p:sp>
        <p:nvSpPr>
          <p:cNvPr id="1643524" name="AutoShape 4"/>
          <p:cNvSpPr/>
          <p:nvPr/>
        </p:nvSpPr>
        <p:spPr>
          <a:xfrm>
            <a:off x="2603500" y="5253038"/>
            <a:ext cx="1905000" cy="381000"/>
          </a:xfrm>
          <a:prstGeom prst="wedgeRoundRectCallout">
            <a:avLst>
              <a:gd name="adj1" fmla="val -46333"/>
              <a:gd name="adj2" fmla="val -9125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过程赋值语句</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43525" name="AutoShape 5"/>
          <p:cNvSpPr/>
          <p:nvPr/>
        </p:nvSpPr>
        <p:spPr>
          <a:xfrm>
            <a:off x="2703513" y="2941638"/>
            <a:ext cx="1981200" cy="457200"/>
          </a:xfrm>
          <a:prstGeom prst="wedgeRoundRectCallout">
            <a:avLst>
              <a:gd name="adj1" fmla="val -58736"/>
              <a:gd name="adj2" fmla="val 91667"/>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连续赋值语句</a:t>
            </a:r>
            <a:endParaRPr lang="zh-CN" altLang="en-US" dirty="0">
              <a:latin typeface="华文楷体" panose="02010600040101010101" pitchFamily="2" charset="-122"/>
              <a:ea typeface="华文楷体" panose="02010600040101010101" pitchFamily="2" charset="-122"/>
            </a:endParaRPr>
          </a:p>
        </p:txBody>
      </p:sp>
      <p:grpSp>
        <p:nvGrpSpPr>
          <p:cNvPr id="2" name="Group 34"/>
          <p:cNvGrpSpPr/>
          <p:nvPr/>
        </p:nvGrpSpPr>
        <p:grpSpPr>
          <a:xfrm>
            <a:off x="4851400" y="2965450"/>
            <a:ext cx="3940175" cy="2668588"/>
            <a:chOff x="2928" y="2288"/>
            <a:chExt cx="2482" cy="1681"/>
          </a:xfrm>
        </p:grpSpPr>
        <p:sp>
          <p:nvSpPr>
            <p:cNvPr id="87049" name="Rectangle 7"/>
            <p:cNvSpPr/>
            <p:nvPr/>
          </p:nvSpPr>
          <p:spPr>
            <a:xfrm>
              <a:off x="2928" y="2288"/>
              <a:ext cx="2482" cy="1681"/>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7050" name="Line 8"/>
            <p:cNvSpPr/>
            <p:nvPr/>
          </p:nvSpPr>
          <p:spPr>
            <a:xfrm>
              <a:off x="3227" y="2742"/>
              <a:ext cx="954" cy="1"/>
            </a:xfrm>
            <a:prstGeom prst="line">
              <a:avLst/>
            </a:prstGeom>
            <a:ln w="9525" cap="flat" cmpd="sng">
              <a:solidFill>
                <a:schemeClr val="tx1"/>
              </a:solidFill>
              <a:prstDash val="solid"/>
              <a:headEnd type="none" w="med" len="med"/>
              <a:tailEnd type="none" w="med" len="med"/>
            </a:ln>
          </p:spPr>
        </p:sp>
        <p:sp>
          <p:nvSpPr>
            <p:cNvPr id="87051" name="Line 9"/>
            <p:cNvSpPr/>
            <p:nvPr/>
          </p:nvSpPr>
          <p:spPr>
            <a:xfrm flipV="1">
              <a:off x="4458" y="2782"/>
              <a:ext cx="581" cy="8"/>
            </a:xfrm>
            <a:prstGeom prst="line">
              <a:avLst/>
            </a:prstGeom>
            <a:ln w="9525" cap="flat" cmpd="sng">
              <a:solidFill>
                <a:schemeClr val="tx1"/>
              </a:solidFill>
              <a:prstDash val="solid"/>
              <a:headEnd type="none" w="med" len="med"/>
              <a:tailEnd type="none" w="med" len="med"/>
            </a:ln>
          </p:spPr>
        </p:sp>
        <p:sp>
          <p:nvSpPr>
            <p:cNvPr id="87052" name="Oval 10"/>
            <p:cNvSpPr/>
            <p:nvPr/>
          </p:nvSpPr>
          <p:spPr>
            <a:xfrm flipV="1">
              <a:off x="4085" y="2836"/>
              <a:ext cx="96" cy="94"/>
            </a:xfrm>
            <a:prstGeom prst="ellipse">
              <a:avLst/>
            </a:prstGeom>
            <a:solidFill>
              <a:schemeClr val="accent2"/>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7053" name="Line 11"/>
            <p:cNvSpPr/>
            <p:nvPr/>
          </p:nvSpPr>
          <p:spPr>
            <a:xfrm flipH="1">
              <a:off x="3861" y="2865"/>
              <a:ext cx="228" cy="0"/>
            </a:xfrm>
            <a:prstGeom prst="line">
              <a:avLst/>
            </a:prstGeom>
            <a:ln w="9525" cap="flat" cmpd="sng">
              <a:solidFill>
                <a:schemeClr val="tx1"/>
              </a:solidFill>
              <a:prstDash val="solid"/>
              <a:headEnd type="none" w="med" len="med"/>
              <a:tailEnd type="none" w="med" len="med"/>
            </a:ln>
          </p:spPr>
        </p:sp>
        <p:sp>
          <p:nvSpPr>
            <p:cNvPr id="87054" name="Line 12"/>
            <p:cNvSpPr/>
            <p:nvPr/>
          </p:nvSpPr>
          <p:spPr>
            <a:xfrm>
              <a:off x="4507" y="3510"/>
              <a:ext cx="476" cy="1"/>
            </a:xfrm>
            <a:prstGeom prst="line">
              <a:avLst/>
            </a:prstGeom>
            <a:ln w="9525" cap="flat" cmpd="sng">
              <a:solidFill>
                <a:schemeClr val="tx1"/>
              </a:solidFill>
              <a:prstDash val="solid"/>
              <a:headEnd type="none" w="med" len="med"/>
              <a:tailEnd type="none" w="med" len="med"/>
            </a:ln>
          </p:spPr>
        </p:sp>
        <p:sp>
          <p:nvSpPr>
            <p:cNvPr id="87055" name="Text Box 13"/>
            <p:cNvSpPr txBox="1"/>
            <p:nvPr/>
          </p:nvSpPr>
          <p:spPr>
            <a:xfrm>
              <a:off x="3086" y="2621"/>
              <a:ext cx="241"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d</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87056" name="Text Box 14"/>
            <p:cNvSpPr txBox="1"/>
            <p:nvPr/>
          </p:nvSpPr>
          <p:spPr>
            <a:xfrm>
              <a:off x="4954" y="2659"/>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out2</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87057" name="Text Box 15"/>
            <p:cNvSpPr txBox="1"/>
            <p:nvPr/>
          </p:nvSpPr>
          <p:spPr>
            <a:xfrm>
              <a:off x="3966" y="2355"/>
              <a:ext cx="671"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b="1" dirty="0">
                  <a:solidFill>
                    <a:schemeClr val="bg2"/>
                  </a:solidFill>
                  <a:latin typeface="Times New Roman" panose="02020603050405020304" pitchFamily="18" charset="0"/>
                  <a:ea typeface="宋体" panose="02010600030101010101" pitchFamily="2" charset="-122"/>
                </a:rPr>
                <a:t>AND2i1</a:t>
              </a:r>
              <a:endParaRPr lang="en-US" altLang="zh-CN" b="1" dirty="0">
                <a:solidFill>
                  <a:schemeClr val="bg2"/>
                </a:solidFill>
                <a:latin typeface="Times New Roman" panose="02020603050405020304" pitchFamily="18" charset="0"/>
                <a:ea typeface="宋体" panose="02010600030101010101" pitchFamily="2" charset="-122"/>
              </a:endParaRPr>
            </a:p>
          </p:txBody>
        </p:sp>
        <p:sp>
          <p:nvSpPr>
            <p:cNvPr id="87058" name="Text Box 16"/>
            <p:cNvSpPr txBox="1"/>
            <p:nvPr/>
          </p:nvSpPr>
          <p:spPr>
            <a:xfrm>
              <a:off x="2970" y="3159"/>
              <a:ext cx="383"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clk</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87059" name="Text Box 17"/>
            <p:cNvSpPr txBox="1"/>
            <p:nvPr/>
          </p:nvSpPr>
          <p:spPr>
            <a:xfrm>
              <a:off x="4944" y="3386"/>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out1</a:t>
              </a:r>
              <a:endParaRPr lang="en-US" altLang="zh-CN" dirty="0">
                <a:latin typeface="Times New Roman" panose="02020603050405020304" pitchFamily="18" charset="0"/>
                <a:ea typeface="宋体" panose="02010600030101010101" pitchFamily="2" charset="-122"/>
              </a:endParaRPr>
            </a:p>
          </p:txBody>
        </p:sp>
        <p:sp>
          <p:nvSpPr>
            <p:cNvPr id="87060" name="Rectangle 18"/>
            <p:cNvSpPr/>
            <p:nvPr/>
          </p:nvSpPr>
          <p:spPr>
            <a:xfrm>
              <a:off x="3874" y="3217"/>
              <a:ext cx="672" cy="466"/>
            </a:xfrm>
            <a:prstGeom prst="rect">
              <a:avLst/>
            </a:prstGeom>
            <a:solidFill>
              <a:srgbClr val="996600"/>
            </a:solidFill>
            <a:ln w="9525" cap="flat" cmpd="sng">
              <a:solidFill>
                <a:srgbClr val="996600"/>
              </a:solidFill>
              <a:prstDash val="solid"/>
              <a:miter/>
              <a:headEnd type="none" w="med" len="med"/>
              <a:tailEnd type="none" w="med" len="med"/>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7061" name="Line 19"/>
            <p:cNvSpPr/>
            <p:nvPr/>
          </p:nvSpPr>
          <p:spPr>
            <a:xfrm>
              <a:off x="3550" y="3510"/>
              <a:ext cx="357" cy="1"/>
            </a:xfrm>
            <a:prstGeom prst="line">
              <a:avLst/>
            </a:prstGeom>
            <a:ln w="9525" cap="flat" cmpd="sng">
              <a:solidFill>
                <a:schemeClr val="tx1"/>
              </a:solidFill>
              <a:prstDash val="solid"/>
              <a:headEnd type="none" w="med" len="med"/>
              <a:tailEnd type="none" w="med" len="med"/>
            </a:ln>
          </p:spPr>
        </p:sp>
        <p:sp>
          <p:nvSpPr>
            <p:cNvPr id="87062" name="Line 20"/>
            <p:cNvSpPr/>
            <p:nvPr/>
          </p:nvSpPr>
          <p:spPr>
            <a:xfrm>
              <a:off x="3475" y="3318"/>
              <a:ext cx="432" cy="1"/>
            </a:xfrm>
            <a:prstGeom prst="line">
              <a:avLst/>
            </a:prstGeom>
            <a:ln w="9525" cap="flat" cmpd="sng">
              <a:solidFill>
                <a:schemeClr val="tx1"/>
              </a:solidFill>
              <a:prstDash val="solid"/>
              <a:headEnd type="none" w="med" len="med"/>
              <a:tailEnd type="none" w="med" len="med"/>
            </a:ln>
          </p:spPr>
        </p:sp>
        <p:sp>
          <p:nvSpPr>
            <p:cNvPr id="87063" name="Line 21"/>
            <p:cNvSpPr/>
            <p:nvPr/>
          </p:nvSpPr>
          <p:spPr>
            <a:xfrm>
              <a:off x="3251" y="3318"/>
              <a:ext cx="290" cy="1"/>
            </a:xfrm>
            <a:prstGeom prst="line">
              <a:avLst/>
            </a:prstGeom>
            <a:ln w="9525" cap="flat" cmpd="sng">
              <a:solidFill>
                <a:schemeClr val="tx1"/>
              </a:solidFill>
              <a:prstDash val="solid"/>
              <a:headEnd type="none" w="med" len="med"/>
              <a:tailEnd type="none" w="med" len="med"/>
            </a:ln>
          </p:spPr>
        </p:sp>
        <p:sp>
          <p:nvSpPr>
            <p:cNvPr id="87064" name="Freeform 22"/>
            <p:cNvSpPr/>
            <p:nvPr/>
          </p:nvSpPr>
          <p:spPr>
            <a:xfrm flipH="1">
              <a:off x="3498" y="2722"/>
              <a:ext cx="47" cy="792"/>
            </a:xfrm>
            <a:custGeom>
              <a:avLst/>
              <a:gdLst/>
              <a:ahLst/>
              <a:cxnLst>
                <a:cxn ang="0">
                  <a:pos x="0" y="0"/>
                </a:cxn>
                <a:cxn ang="0">
                  <a:pos x="0" y="792"/>
                </a:cxn>
              </a:cxnLst>
              <a:pathLst>
                <a:path w="1" h="792">
                  <a:moveTo>
                    <a:pt x="0" y="0"/>
                  </a:moveTo>
                  <a:lnTo>
                    <a:pt x="0" y="792"/>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87065" name="Line 23"/>
            <p:cNvSpPr/>
            <p:nvPr/>
          </p:nvSpPr>
          <p:spPr>
            <a:xfrm>
              <a:off x="4637" y="3101"/>
              <a:ext cx="0" cy="436"/>
            </a:xfrm>
            <a:prstGeom prst="line">
              <a:avLst/>
            </a:prstGeom>
            <a:ln w="9525" cap="flat" cmpd="sng">
              <a:solidFill>
                <a:schemeClr val="tx1"/>
              </a:solidFill>
              <a:prstDash val="solid"/>
              <a:headEnd type="none" w="med" len="med"/>
              <a:tailEnd type="none" w="med" len="med"/>
            </a:ln>
          </p:spPr>
        </p:sp>
        <p:sp>
          <p:nvSpPr>
            <p:cNvPr id="87066" name="Text Box 24"/>
            <p:cNvSpPr txBox="1"/>
            <p:nvPr/>
          </p:nvSpPr>
          <p:spPr>
            <a:xfrm>
              <a:off x="3897" y="3408"/>
              <a:ext cx="192" cy="44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D      </a:t>
              </a:r>
              <a:endParaRPr lang="en-US" altLang="zh-CN" dirty="0">
                <a:latin typeface="Times New Roman" panose="02020603050405020304" pitchFamily="18" charset="0"/>
                <a:ea typeface="宋体" panose="02010600030101010101" pitchFamily="2" charset="-122"/>
              </a:endParaRPr>
            </a:p>
          </p:txBody>
        </p:sp>
        <p:sp>
          <p:nvSpPr>
            <p:cNvPr id="87067" name="Text Box 25"/>
            <p:cNvSpPr txBox="1"/>
            <p:nvPr/>
          </p:nvSpPr>
          <p:spPr>
            <a:xfrm>
              <a:off x="4262" y="3411"/>
              <a:ext cx="193" cy="250"/>
            </a:xfrm>
            <a:prstGeom prst="rect">
              <a:avLst/>
            </a:prstGeom>
            <a:solidFill>
              <a:srgbClr val="996600"/>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sp>
          <p:nvSpPr>
            <p:cNvPr id="87068" name="Line 26"/>
            <p:cNvSpPr/>
            <p:nvPr/>
          </p:nvSpPr>
          <p:spPr>
            <a:xfrm>
              <a:off x="3900" y="3270"/>
              <a:ext cx="144" cy="46"/>
            </a:xfrm>
            <a:prstGeom prst="line">
              <a:avLst/>
            </a:prstGeom>
            <a:ln w="9525" cap="flat" cmpd="sng">
              <a:solidFill>
                <a:srgbClr val="FFFFFF"/>
              </a:solidFill>
              <a:prstDash val="solid"/>
              <a:headEnd type="none" w="med" len="med"/>
              <a:tailEnd type="none" w="med" len="med"/>
            </a:ln>
          </p:spPr>
        </p:sp>
        <p:sp>
          <p:nvSpPr>
            <p:cNvPr id="87069" name="Line 27"/>
            <p:cNvSpPr/>
            <p:nvPr/>
          </p:nvSpPr>
          <p:spPr>
            <a:xfrm flipH="1">
              <a:off x="3900" y="3318"/>
              <a:ext cx="144" cy="46"/>
            </a:xfrm>
            <a:prstGeom prst="line">
              <a:avLst/>
            </a:prstGeom>
            <a:ln w="9525" cap="flat" cmpd="sng">
              <a:solidFill>
                <a:srgbClr val="FFFFFF"/>
              </a:solidFill>
              <a:prstDash val="solid"/>
              <a:headEnd type="none" w="med" len="med"/>
              <a:tailEnd type="none" w="med" len="med"/>
            </a:ln>
          </p:spPr>
        </p:sp>
        <p:sp>
          <p:nvSpPr>
            <p:cNvPr id="87070" name="Text Box 28"/>
            <p:cNvSpPr txBox="1"/>
            <p:nvPr/>
          </p:nvSpPr>
          <p:spPr>
            <a:xfrm>
              <a:off x="4044" y="3681"/>
              <a:ext cx="432"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b="1" dirty="0">
                  <a:solidFill>
                    <a:schemeClr val="bg2"/>
                  </a:solidFill>
                  <a:latin typeface="Times New Roman" panose="02020603050405020304" pitchFamily="18" charset="0"/>
                  <a:ea typeface="宋体" panose="02010600030101010101" pitchFamily="2" charset="-122"/>
                </a:rPr>
                <a:t>DFF</a:t>
              </a:r>
              <a:endParaRPr lang="en-US" altLang="zh-CN" b="1" dirty="0">
                <a:latin typeface="Times New Roman" panose="02020603050405020304" pitchFamily="18" charset="0"/>
                <a:ea typeface="宋体" panose="02010600030101010101" pitchFamily="2" charset="-122"/>
              </a:endParaRPr>
            </a:p>
          </p:txBody>
        </p:sp>
        <p:sp>
          <p:nvSpPr>
            <p:cNvPr id="87071" name="Oval 29"/>
            <p:cNvSpPr/>
            <p:nvPr/>
          </p:nvSpPr>
          <p:spPr>
            <a:xfrm>
              <a:off x="4308" y="2691"/>
              <a:ext cx="192" cy="233"/>
            </a:xfrm>
            <a:prstGeom prst="ellipse">
              <a:avLst/>
            </a:prstGeom>
            <a:solidFill>
              <a:srgbClr val="9966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7072" name="Rectangle 30"/>
            <p:cNvSpPr/>
            <p:nvPr/>
          </p:nvSpPr>
          <p:spPr>
            <a:xfrm>
              <a:off x="4168" y="2691"/>
              <a:ext cx="241" cy="233"/>
            </a:xfrm>
            <a:prstGeom prst="rect">
              <a:avLst/>
            </a:prstGeom>
            <a:solidFill>
              <a:srgbClr val="9966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87073" name="Line 31"/>
            <p:cNvSpPr/>
            <p:nvPr/>
          </p:nvSpPr>
          <p:spPr>
            <a:xfrm>
              <a:off x="3861" y="2865"/>
              <a:ext cx="0" cy="240"/>
            </a:xfrm>
            <a:prstGeom prst="line">
              <a:avLst/>
            </a:prstGeom>
            <a:ln w="9525" cap="flat" cmpd="sng">
              <a:solidFill>
                <a:srgbClr val="000066"/>
              </a:solidFill>
              <a:prstDash val="solid"/>
              <a:headEnd type="none" w="med" len="med"/>
              <a:tailEnd type="none" w="med" len="med"/>
            </a:ln>
          </p:spPr>
        </p:sp>
        <p:sp>
          <p:nvSpPr>
            <p:cNvPr id="87074" name="Line 32"/>
            <p:cNvSpPr/>
            <p:nvPr/>
          </p:nvSpPr>
          <p:spPr>
            <a:xfrm>
              <a:off x="3864" y="3105"/>
              <a:ext cx="768" cy="0"/>
            </a:xfrm>
            <a:prstGeom prst="line">
              <a:avLst/>
            </a:prstGeom>
            <a:ln w="9525" cap="flat" cmpd="sng">
              <a:solidFill>
                <a:schemeClr val="tx1"/>
              </a:solidFill>
              <a:prstDash val="solid"/>
              <a:headEnd type="none" w="med" len="med"/>
              <a:tailEnd type="none" w="med" len="med"/>
            </a:ln>
          </p:spPr>
        </p:sp>
      </p:grpSp>
      <p:sp>
        <p:nvSpPr>
          <p:cNvPr id="1643553" name="AutoShape 33"/>
          <p:cNvSpPr/>
          <p:nvPr/>
        </p:nvSpPr>
        <p:spPr>
          <a:xfrm>
            <a:off x="3263900" y="4491038"/>
            <a:ext cx="1066800" cy="457200"/>
          </a:xfrm>
          <a:prstGeom prst="wedgeRoundRectCallout">
            <a:avLst>
              <a:gd name="adj1" fmla="val -78421"/>
              <a:gd name="adj2" fmla="val -98611"/>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沿</a:t>
            </a:r>
            <a:r>
              <a:rPr lang="zh-CN" altLang="en-US" dirty="0">
                <a:latin typeface="华文楷体" panose="02010600040101010101" pitchFamily="2" charset="-122"/>
                <a:ea typeface="华文楷体" panose="02010600040101010101" pitchFamily="2" charset="-122"/>
              </a:rPr>
              <a:t>触发</a:t>
            </a:r>
            <a:endParaRPr lang="zh-CN" altLang="en-US" dirty="0">
              <a:latin typeface="华文楷体" panose="02010600040101010101" pitchFamily="2" charset="-122"/>
              <a:ea typeface="华文楷体" panose="02010600040101010101" pitchFamily="2" charset="-122"/>
            </a:endParaRPr>
          </a:p>
        </p:txBody>
      </p:sp>
      <p:sp>
        <p:nvSpPr>
          <p:cNvPr id="1643555" name="Oval 35"/>
          <p:cNvSpPr/>
          <p:nvPr/>
        </p:nvSpPr>
        <p:spPr>
          <a:xfrm>
            <a:off x="8069263" y="4764088"/>
            <a:ext cx="574675" cy="339725"/>
          </a:xfrm>
          <a:prstGeom prst="ellipse">
            <a:avLst/>
          </a:prstGeom>
          <a:noFill/>
          <a:ln w="19050" cap="flat" cmpd="sng">
            <a:solidFill>
              <a:srgbClr val="FF33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1643523"/>
                                        </p:tgtEl>
                                        <p:attrNameLst>
                                          <p:attrName>style.visibility</p:attrName>
                                        </p:attrNameLst>
                                      </p:cBhvr>
                                      <p:to>
                                        <p:strVal val="visible"/>
                                      </p:to>
                                    </p:set>
                                    <p:anim calcmode="lin" valueType="num">
                                      <p:cBhvr additive="base">
                                        <p:cTn id="7" dur="500" fill="hold"/>
                                        <p:tgtEl>
                                          <p:spTgt spid="1643523"/>
                                        </p:tgtEl>
                                        <p:attrNameLst>
                                          <p:attrName>ppt_x</p:attrName>
                                        </p:attrNameLst>
                                      </p:cBhvr>
                                      <p:tavLst>
                                        <p:tav tm="0">
                                          <p:val>
                                            <p:strVal val="0-#ppt_w/2"/>
                                          </p:val>
                                        </p:tav>
                                        <p:tav tm="100000">
                                          <p:val>
                                            <p:strVal val="#ppt_x"/>
                                          </p:val>
                                        </p:tav>
                                      </p:tavLst>
                                    </p:anim>
                                    <p:anim calcmode="lin" valueType="num">
                                      <p:cBhvr additive="base">
                                        <p:cTn id="8" dur="500" fill="hold"/>
                                        <p:tgtEl>
                                          <p:spTgt spid="16435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43525"/>
                                        </p:tgtEl>
                                        <p:attrNameLst>
                                          <p:attrName>style.visibility</p:attrName>
                                        </p:attrNameLst>
                                      </p:cBhvr>
                                      <p:to>
                                        <p:strVal val="visible"/>
                                      </p:to>
                                    </p:set>
                                    <p:animEffect transition="in" filter="dissolve">
                                      <p:cBhvr>
                                        <p:cTn id="13" dur="500"/>
                                        <p:tgtEl>
                                          <p:spTgt spid="164352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43524"/>
                                        </p:tgtEl>
                                        <p:attrNameLst>
                                          <p:attrName>style.visibility</p:attrName>
                                        </p:attrNameLst>
                                      </p:cBhvr>
                                      <p:to>
                                        <p:strVal val="visible"/>
                                      </p:to>
                                    </p:set>
                                    <p:animEffect transition="in" filter="dissolve">
                                      <p:cBhvr>
                                        <p:cTn id="18" dur="500"/>
                                        <p:tgtEl>
                                          <p:spTgt spid="164352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643553"/>
                                        </p:tgtEl>
                                        <p:attrNameLst>
                                          <p:attrName>style.visibility</p:attrName>
                                        </p:attrNameLst>
                                      </p:cBhvr>
                                      <p:to>
                                        <p:strVal val="visible"/>
                                      </p:to>
                                    </p:set>
                                    <p:animEffect transition="in" filter="dissolve">
                                      <p:cBhvr>
                                        <p:cTn id="23" dur="500"/>
                                        <p:tgtEl>
                                          <p:spTgt spid="1643553"/>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1+#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643555"/>
                                        </p:tgtEl>
                                        <p:attrNameLst>
                                          <p:attrName>style.visibility</p:attrName>
                                        </p:attrNameLst>
                                      </p:cBhvr>
                                      <p:to>
                                        <p:strVal val="visible"/>
                                      </p:to>
                                    </p:set>
                                    <p:anim calcmode="lin" valueType="num">
                                      <p:cBhvr>
                                        <p:cTn id="34" dur="500" fill="hold"/>
                                        <p:tgtEl>
                                          <p:spTgt spid="1643555"/>
                                        </p:tgtEl>
                                        <p:attrNameLst>
                                          <p:attrName>ppt_w</p:attrName>
                                        </p:attrNameLst>
                                      </p:cBhvr>
                                      <p:tavLst>
                                        <p:tav tm="0">
                                          <p:val>
                                            <p:fltVal val="0.000000"/>
                                          </p:val>
                                        </p:tav>
                                        <p:tav tm="100000">
                                          <p:val>
                                            <p:strVal val="#ppt_w"/>
                                          </p:val>
                                        </p:tav>
                                      </p:tavLst>
                                    </p:anim>
                                    <p:anim calcmode="lin" valueType="num">
                                      <p:cBhvr>
                                        <p:cTn id="35" dur="500" fill="hold"/>
                                        <p:tgtEl>
                                          <p:spTgt spid="164355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523" grpId="0"/>
      <p:bldP spid="1643524" grpId="0" bldLvl="0" animBg="1"/>
      <p:bldP spid="1643525" grpId="0" bldLvl="0" animBg="1"/>
      <p:bldP spid="1643553" grpId="0" bldLvl="0" animBg="1"/>
      <p:bldP spid="1643555"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909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89091" name="Rectangle 2050"/>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45571" name="Rectangle 2051"/>
          <p:cNvSpPr>
            <a:spLocks noGrp="1"/>
          </p:cNvSpPr>
          <p:nvPr>
            <p:ph idx="1"/>
          </p:nvPr>
        </p:nvSpPr>
        <p:spPr/>
        <p:txBody>
          <a:bodyPr vert="horz" wrap="square" lIns="91440" tIns="45720" rIns="91440" bIns="45720" anchor="t" anchorCtr="0"/>
          <a:p>
            <a:pPr algn="just">
              <a:lnSpc>
                <a:spcPct val="110000"/>
              </a:lnSpc>
              <a:spcBef>
                <a:spcPct val="0"/>
              </a:spcBef>
            </a:pPr>
            <a:endParaRPr lang="en-US" altLang="zh-CN" dirty="0">
              <a:latin typeface="宋体" panose="02010600030101010101" pitchFamily="2" charset="-122"/>
              <a:ea typeface="黑体" panose="02010609060101010101" pitchFamily="49" charset="-122"/>
              <a:cs typeface="+mn-cs"/>
            </a:endParaRPr>
          </a:p>
          <a:p>
            <a:pPr algn="just">
              <a:lnSpc>
                <a:spcPct val="110000"/>
              </a:lnSpc>
              <a:spcBef>
                <a:spcPct val="0"/>
              </a:spcBef>
            </a:pPr>
            <a:r>
              <a:rPr lang="zh-CN" altLang="en-US" dirty="0">
                <a:solidFill>
                  <a:srgbClr val="FF0066"/>
                </a:solidFill>
                <a:latin typeface="华文楷体" panose="02010600040101010101" pitchFamily="2" charset="-122"/>
                <a:ea typeface="华文楷体" panose="02010600040101010101" pitchFamily="2" charset="-122"/>
                <a:cs typeface="+mn-cs"/>
              </a:rPr>
              <a:t>定义</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由若干个相同宽度的</a:t>
            </a:r>
            <a:r>
              <a:rPr lang="en-US" altLang="zh-CN" dirty="0">
                <a:latin typeface="华文楷体" panose="02010600040101010101" pitchFamily="2" charset="-122"/>
                <a:ea typeface="黑体" panose="02010609060101010101" pitchFamily="49" charset="-122"/>
                <a:cs typeface="+mn-cs"/>
              </a:rPr>
              <a:t>reg</a:t>
            </a:r>
            <a:r>
              <a:rPr lang="zh-CN" altLang="en-US" dirty="0">
                <a:latin typeface="华文楷体" panose="02010600040101010101" pitchFamily="2" charset="-122"/>
                <a:ea typeface="华文楷体" panose="02010600040101010101" pitchFamily="2" charset="-122"/>
                <a:cs typeface="+mn-cs"/>
              </a:rPr>
              <a:t>型向量构成的数组。</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en-US" altLang="zh-CN" dirty="0">
                <a:latin typeface="华文楷体" panose="02010600040101010101" pitchFamily="2" charset="-122"/>
                <a:ea typeface="黑体" panose="02010609060101010101" pitchFamily="49" charset="-122"/>
                <a:cs typeface="+mn-cs"/>
              </a:rPr>
              <a:t>Verilog HDL</a:t>
            </a:r>
            <a:r>
              <a:rPr lang="zh-CN" altLang="en-US" dirty="0">
                <a:latin typeface="华文楷体" panose="02010600040101010101" pitchFamily="2" charset="-122"/>
                <a:ea typeface="华文楷体" panose="02010600040101010101" pitchFamily="2" charset="-122"/>
                <a:cs typeface="+mn-cs"/>
              </a:rPr>
              <a:t>通过</a:t>
            </a:r>
            <a:r>
              <a:rPr lang="en-US" altLang="zh-CN" dirty="0">
                <a:latin typeface="华文楷体" panose="02010600040101010101" pitchFamily="2" charset="-122"/>
                <a:ea typeface="黑体" panose="02010609060101010101" pitchFamily="49" charset="-122"/>
                <a:cs typeface="+mn-cs"/>
              </a:rPr>
              <a:t>reg</a:t>
            </a:r>
            <a:r>
              <a:rPr lang="zh-CN" altLang="en-US" dirty="0">
                <a:latin typeface="华文楷体" panose="02010600040101010101" pitchFamily="2" charset="-122"/>
                <a:ea typeface="华文楷体" panose="02010600040101010101" pitchFamily="2" charset="-122"/>
                <a:cs typeface="+mn-cs"/>
              </a:rPr>
              <a:t>型变量建立数组来对</a:t>
            </a:r>
            <a:r>
              <a:rPr lang="zh-CN" altLang="en-US" dirty="0">
                <a:solidFill>
                  <a:srgbClr val="FF33CC"/>
                </a:solidFill>
                <a:latin typeface="华文楷体" panose="02010600040101010101" pitchFamily="2" charset="-122"/>
                <a:ea typeface="华文楷体" panose="02010600040101010101" pitchFamily="2" charset="-122"/>
                <a:cs typeface="+mn-cs"/>
              </a:rPr>
              <a:t>存储器</a:t>
            </a:r>
            <a:r>
              <a:rPr lang="zh-CN" altLang="en-US" dirty="0">
                <a:latin typeface="华文楷体" panose="02010600040101010101" pitchFamily="2" charset="-122"/>
                <a:ea typeface="华文楷体" panose="02010600040101010101" pitchFamily="2" charset="-122"/>
                <a:cs typeface="+mn-cs"/>
              </a:rPr>
              <a:t>建模。</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en-US" altLang="zh-CN" dirty="0">
                <a:latin typeface="华文楷体" panose="02010600040101010101" pitchFamily="2" charset="-122"/>
                <a:ea typeface="黑体" panose="02010609060101010101" pitchFamily="49" charset="-122"/>
                <a:cs typeface="+mn-cs"/>
              </a:rPr>
              <a:t>memory</a:t>
            </a:r>
            <a:r>
              <a:rPr lang="zh-CN" altLang="en-US" dirty="0">
                <a:latin typeface="华文楷体" panose="02010600040101010101" pitchFamily="2" charset="-122"/>
                <a:ea typeface="华文楷体" panose="02010600040101010101" pitchFamily="2" charset="-122"/>
                <a:cs typeface="+mn-cs"/>
              </a:rPr>
              <a:t>型变量可描述</a:t>
            </a:r>
            <a:r>
              <a:rPr lang="en-US" altLang="zh-CN" dirty="0">
                <a:latin typeface="华文楷体" panose="02010600040101010101" pitchFamily="2" charset="-122"/>
                <a:ea typeface="黑体" panose="02010609060101010101" pitchFamily="49" charset="-122"/>
                <a:cs typeface="+mn-cs"/>
              </a:rPr>
              <a:t>RAM</a:t>
            </a:r>
            <a:r>
              <a:rPr lang="zh-CN" altLang="en-US" dirty="0">
                <a:latin typeface="华文楷体" panose="02010600040101010101" pitchFamily="2" charset="-122"/>
                <a:ea typeface="华文楷体" panose="02010600040101010101" pitchFamily="2" charset="-122"/>
                <a:cs typeface="+mn-cs"/>
              </a:rPr>
              <a:t>、</a:t>
            </a:r>
            <a:r>
              <a:rPr lang="en-US" altLang="zh-CN" dirty="0">
                <a:latin typeface="华文楷体" panose="02010600040101010101" pitchFamily="2" charset="-122"/>
                <a:ea typeface="黑体" panose="02010609060101010101" pitchFamily="49" charset="-122"/>
                <a:cs typeface="+mn-cs"/>
              </a:rPr>
              <a:t>ROM</a:t>
            </a:r>
            <a:r>
              <a:rPr lang="zh-CN" altLang="en-US" dirty="0">
                <a:latin typeface="华文楷体" panose="02010600040101010101" pitchFamily="2" charset="-122"/>
                <a:ea typeface="华文楷体" panose="02010600040101010101" pitchFamily="2" charset="-122"/>
                <a:cs typeface="+mn-cs"/>
              </a:rPr>
              <a:t>和</a:t>
            </a:r>
            <a:r>
              <a:rPr lang="en-US" altLang="zh-CN" dirty="0">
                <a:latin typeface="华文楷体" panose="02010600040101010101" pitchFamily="2" charset="-122"/>
                <a:ea typeface="黑体" panose="02010609060101010101" pitchFamily="49" charset="-122"/>
                <a:cs typeface="+mn-cs"/>
              </a:rPr>
              <a:t>reg</a:t>
            </a:r>
            <a:r>
              <a:rPr lang="zh-CN" altLang="en-US" dirty="0">
                <a:latin typeface="华文楷体" panose="02010600040101010101" pitchFamily="2" charset="-122"/>
                <a:ea typeface="华文楷体" panose="02010600040101010101" pitchFamily="2" charset="-122"/>
                <a:cs typeface="+mn-cs"/>
              </a:rPr>
              <a:t>文件。</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en-US" altLang="zh-CN" dirty="0">
                <a:latin typeface="华文楷体" panose="02010600040101010101" pitchFamily="2" charset="-122"/>
                <a:ea typeface="黑体" panose="02010609060101010101" pitchFamily="49" charset="-122"/>
                <a:cs typeface="+mn-cs"/>
              </a:rPr>
              <a:t>memory</a:t>
            </a:r>
            <a:r>
              <a:rPr lang="zh-CN" altLang="en-US" dirty="0">
                <a:latin typeface="华文楷体" panose="02010600040101010101" pitchFamily="2" charset="-122"/>
                <a:ea typeface="华文楷体" panose="02010600040101010101" pitchFamily="2" charset="-122"/>
                <a:cs typeface="+mn-cs"/>
              </a:rPr>
              <a:t>型变量通过扩展</a:t>
            </a:r>
            <a:r>
              <a:rPr lang="en-US" altLang="zh-CN" dirty="0">
                <a:latin typeface="华文楷体" panose="02010600040101010101" pitchFamily="2" charset="-122"/>
                <a:ea typeface="黑体" panose="02010609060101010101" pitchFamily="49" charset="-122"/>
                <a:cs typeface="+mn-cs"/>
              </a:rPr>
              <a:t>reg</a:t>
            </a:r>
            <a:r>
              <a:rPr lang="zh-CN" altLang="en-US" dirty="0">
                <a:latin typeface="华文楷体" panose="02010600040101010101" pitchFamily="2" charset="-122"/>
                <a:ea typeface="华文楷体" panose="02010600040101010101" pitchFamily="2" charset="-122"/>
                <a:cs typeface="+mn-cs"/>
              </a:rPr>
              <a:t>型变量的地址范围来生成：</a:t>
            </a:r>
            <a:endParaRPr lang="zh-CN" altLang="en-US" dirty="0">
              <a:latin typeface="华文楷体" panose="02010600040101010101" pitchFamily="2" charset="-122"/>
              <a:ea typeface="华文楷体" panose="02010600040101010101" pitchFamily="2" charset="-122"/>
              <a:cs typeface="+mn-cs"/>
            </a:endParaRPr>
          </a:p>
        </p:txBody>
      </p:sp>
      <p:sp>
        <p:nvSpPr>
          <p:cNvPr id="1645572" name="Text Box 2052"/>
          <p:cNvSpPr txBox="1"/>
          <p:nvPr/>
        </p:nvSpPr>
        <p:spPr>
          <a:xfrm>
            <a:off x="1905000" y="2971800"/>
            <a:ext cx="3733800" cy="76200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reg[n-1:0]</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存储器名</a:t>
            </a:r>
            <a:r>
              <a:rPr lang="en-US" altLang="zh-CN" b="1" dirty="0">
                <a:solidFill>
                  <a:srgbClr val="FF0066"/>
                </a:solidFill>
                <a:latin typeface="宋体" panose="02010600030101010101" pitchFamily="2" charset="-122"/>
                <a:ea typeface="宋体" panose="02010600030101010101" pitchFamily="2" charset="-122"/>
              </a:rPr>
              <a:t>[m-1:0]</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或 </a:t>
            </a:r>
            <a:r>
              <a:rPr lang="en-US" altLang="zh-CN" b="1" dirty="0">
                <a:solidFill>
                  <a:srgbClr val="FF0066"/>
                </a:solidFill>
                <a:latin typeface="宋体" panose="02010600030101010101" pitchFamily="2" charset="-122"/>
                <a:ea typeface="宋体" panose="02010600030101010101" pitchFamily="2" charset="-122"/>
              </a:rPr>
              <a:t>reg[n-1:0]</a:t>
            </a:r>
            <a:r>
              <a:rPr lang="zh-CN" altLang="en-US" b="1" dirty="0">
                <a:latin typeface="宋体" panose="02010600030101010101" pitchFamily="2" charset="-122"/>
                <a:ea typeface="宋体" panose="02010600030101010101" pitchFamily="2" charset="-122"/>
              </a:rPr>
              <a:t>存储器名</a:t>
            </a:r>
            <a:r>
              <a:rPr lang="en-US" altLang="zh-CN" b="1" dirty="0">
                <a:solidFill>
                  <a:srgbClr val="FF0066"/>
                </a:solidFill>
                <a:latin typeface="宋体" panose="02010600030101010101" pitchFamily="2" charset="-122"/>
                <a:ea typeface="宋体" panose="02010600030101010101" pitchFamily="2" charset="-122"/>
              </a:rPr>
              <a:t>[m:1]</a:t>
            </a:r>
            <a:r>
              <a:rPr lang="en-US" altLang="zh-CN" b="1" dirty="0">
                <a:latin typeface="宋体" panose="02010600030101010101" pitchFamily="2" charset="-122"/>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p:txBody>
      </p:sp>
      <p:sp>
        <p:nvSpPr>
          <p:cNvPr id="1645573" name="AutoShape 2053"/>
          <p:cNvSpPr/>
          <p:nvPr/>
        </p:nvSpPr>
        <p:spPr>
          <a:xfrm>
            <a:off x="2667000" y="4000500"/>
            <a:ext cx="1676400" cy="685800"/>
          </a:xfrm>
          <a:prstGeom prst="wedgeRoundRectCallout">
            <a:avLst>
              <a:gd name="adj1" fmla="val -47537"/>
              <a:gd name="adj2" fmla="val -8009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每个存储单元位宽为</a:t>
            </a:r>
            <a:r>
              <a:rPr lang="en-US" altLang="zh-CN" b="1" dirty="0">
                <a:solidFill>
                  <a:srgbClr val="FF0066"/>
                </a:solidFill>
                <a:latin typeface="Times New Roman" panose="02020603050405020304" pitchFamily="18" charset="0"/>
                <a:ea typeface="宋体" panose="02010600030101010101" pitchFamily="2" charset="-122"/>
              </a:rPr>
              <a:t>n</a:t>
            </a:r>
            <a:endParaRPr lang="en-US" altLang="zh-CN" b="1" dirty="0">
              <a:solidFill>
                <a:srgbClr val="FF0066"/>
              </a:solidFill>
              <a:latin typeface="Times New Roman" panose="02020603050405020304" pitchFamily="18" charset="0"/>
              <a:ea typeface="宋体" panose="02010600030101010101" pitchFamily="2" charset="-122"/>
            </a:endParaRPr>
          </a:p>
        </p:txBody>
      </p:sp>
      <p:sp>
        <p:nvSpPr>
          <p:cNvPr id="1645574" name="AutoShape 2054"/>
          <p:cNvSpPr/>
          <p:nvPr/>
        </p:nvSpPr>
        <p:spPr>
          <a:xfrm>
            <a:off x="4978400" y="4000500"/>
            <a:ext cx="1676400" cy="685800"/>
          </a:xfrm>
          <a:prstGeom prst="wedgeRoundRectCallout">
            <a:avLst>
              <a:gd name="adj1" fmla="val -47537"/>
              <a:gd name="adj2" fmla="val -8009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Tahoma" panose="020B0604030504040204" pitchFamily="34" charset="0"/>
                <a:ea typeface="宋体" panose="02010600030101010101" pitchFamily="2" charset="-122"/>
              </a:rPr>
              <a:t>共有</a:t>
            </a:r>
            <a:r>
              <a:rPr lang="en-US" altLang="zh-CN" b="1" dirty="0">
                <a:solidFill>
                  <a:srgbClr val="FF0066"/>
                </a:solidFill>
                <a:latin typeface="Times New Roman" panose="02020603050405020304" pitchFamily="18" charset="0"/>
                <a:ea typeface="宋体" panose="02010600030101010101" pitchFamily="2" charset="-122"/>
              </a:rPr>
              <a:t>m</a:t>
            </a:r>
            <a:r>
              <a:rPr lang="zh-CN" altLang="en-US" dirty="0">
                <a:latin typeface="Tahoma" panose="020B0604030504040204" pitchFamily="34" charset="0"/>
                <a:ea typeface="宋体" panose="02010600030101010101" pitchFamily="2" charset="-122"/>
              </a:rPr>
              <a:t>个存储单元</a:t>
            </a:r>
            <a:endParaRPr lang="zh-CN" altLang="en-US" dirty="0">
              <a:latin typeface="Tahoma" panose="020B0604030504040204" pitchFamily="34" charset="0"/>
              <a:ea typeface="宋体" panose="02010600030101010101" pitchFamily="2" charset="-122"/>
            </a:endParaRPr>
          </a:p>
        </p:txBody>
      </p:sp>
      <p:sp>
        <p:nvSpPr>
          <p:cNvPr id="1645577" name="Text Box 2057"/>
          <p:cNvSpPr txBox="1"/>
          <p:nvPr/>
        </p:nvSpPr>
        <p:spPr>
          <a:xfrm>
            <a:off x="354013" y="882650"/>
            <a:ext cx="4445000" cy="457200"/>
          </a:xfrm>
          <a:prstGeom prst="rect">
            <a:avLst/>
          </a:prstGeom>
          <a:noFill/>
          <a:ln w="9525" cap="flat" cmpd="sng">
            <a:solidFill>
              <a:schemeClr val="accent1"/>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85000"/>
              </a:lnSpc>
              <a:spcBef>
                <a:spcPct val="50000"/>
              </a:spcBef>
              <a:buNone/>
            </a:pPr>
            <a:r>
              <a:rPr lang="en-US" altLang="zh-CN" sz="2800" b="1" dirty="0">
                <a:solidFill>
                  <a:srgbClr val="990000"/>
                </a:solidFill>
                <a:latin typeface="华文楷体" panose="02010600040101010101" pitchFamily="2" charset="-122"/>
                <a:ea typeface="华文楷体" panose="02010600040101010101" pitchFamily="2" charset="-122"/>
              </a:rPr>
              <a:t> </a:t>
            </a:r>
            <a:r>
              <a:rPr lang="en-US" altLang="zh-CN" sz="2800" b="1" dirty="0">
                <a:latin typeface="华文楷体" panose="02010600040101010101" pitchFamily="2" charset="-122"/>
                <a:ea typeface="华文楷体" panose="02010600040101010101" pitchFamily="2" charset="-122"/>
              </a:rPr>
              <a:t>memory</a:t>
            </a:r>
            <a:r>
              <a:rPr lang="zh-CN" altLang="en-US" sz="2800" b="1" dirty="0">
                <a:latin typeface="华文楷体" panose="02010600040101010101" pitchFamily="2" charset="-122"/>
                <a:ea typeface="华文楷体" panose="02010600040101010101" pitchFamily="2" charset="-122"/>
              </a:rPr>
              <a:t>型变量</a:t>
            </a:r>
            <a:r>
              <a:rPr lang="en-US" altLang="zh-CN" sz="2800" b="1" dirty="0">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数组</a:t>
            </a:r>
            <a:endParaRPr lang="zh-CN" altLang="en-US" sz="2800" b="1" dirty="0">
              <a:latin typeface="华文楷体" panose="02010600040101010101" pitchFamily="2" charset="-122"/>
              <a:ea typeface="华文楷体" panose="02010600040101010101" pitchFamily="2" charset="-122"/>
            </a:endParaRPr>
          </a:p>
        </p:txBody>
      </p:sp>
      <p:sp>
        <p:nvSpPr>
          <p:cNvPr id="1645579" name="AutoShape 2059"/>
          <p:cNvSpPr/>
          <p:nvPr/>
        </p:nvSpPr>
        <p:spPr>
          <a:xfrm>
            <a:off x="1346200" y="5141913"/>
            <a:ext cx="6048375" cy="1146175"/>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lnSpc>
                <a:spcPct val="105000"/>
              </a:lnSpc>
              <a:spcBef>
                <a:spcPct val="0"/>
              </a:spcBef>
              <a:buClr>
                <a:srgbClr val="FF0066"/>
              </a:buClr>
              <a:buFont typeface="Wingdings" panose="05000000000000000000" pitchFamily="2" charset="2"/>
              <a:buChar char="v"/>
            </a:pPr>
            <a:r>
              <a:rPr lang="en-US" altLang="zh-CN" sz="2400" b="1" dirty="0">
                <a:solidFill>
                  <a:schemeClr val="tx2"/>
                </a:solidFill>
                <a:latin typeface="华文楷体" panose="02010600040101010101" pitchFamily="2" charset="-122"/>
                <a:ea typeface="华文楷体" panose="02010600040101010101" pitchFamily="2" charset="-122"/>
              </a:rPr>
              <a:t>Verilog HDL</a:t>
            </a:r>
            <a:r>
              <a:rPr lang="zh-CN" altLang="en-US" sz="2400" b="1" dirty="0">
                <a:solidFill>
                  <a:schemeClr val="tx2"/>
                </a:solidFill>
                <a:latin typeface="华文楷体" panose="02010600040101010101" pitchFamily="2" charset="-122"/>
                <a:ea typeface="华文楷体" panose="02010600040101010101" pitchFamily="2" charset="-122"/>
              </a:rPr>
              <a:t>中的变量名、参数名等标记符是对大小写字母敏感的！</a:t>
            </a:r>
            <a:endParaRPr lang="zh-CN" altLang="en-US" sz="2400"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645577"/>
                                        </p:tgtEl>
                                        <p:attrNameLst>
                                          <p:attrName>style.visibility</p:attrName>
                                        </p:attrNameLst>
                                      </p:cBhvr>
                                      <p:to>
                                        <p:strVal val="visible"/>
                                      </p:to>
                                    </p:set>
                                    <p:anim calcmode="lin" valueType="num">
                                      <p:cBhvr>
                                        <p:cTn id="7" dur="500" fill="hold"/>
                                        <p:tgtEl>
                                          <p:spTgt spid="1645577"/>
                                        </p:tgtEl>
                                        <p:attrNameLst>
                                          <p:attrName>ppt_w</p:attrName>
                                        </p:attrNameLst>
                                      </p:cBhvr>
                                      <p:tavLst>
                                        <p:tav tm="0">
                                          <p:val>
                                            <p:fltVal val="0.000000"/>
                                          </p:val>
                                        </p:tav>
                                        <p:tav tm="100000">
                                          <p:val>
                                            <p:strVal val="#ppt_w"/>
                                          </p:val>
                                        </p:tav>
                                      </p:tavLst>
                                    </p:anim>
                                    <p:anim calcmode="lin" valueType="num">
                                      <p:cBhvr>
                                        <p:cTn id="8" dur="500" fill="hold"/>
                                        <p:tgtEl>
                                          <p:spTgt spid="1645577"/>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645571"/>
                                        </p:tgtEl>
                                        <p:attrNameLst>
                                          <p:attrName>style.visibility</p:attrName>
                                        </p:attrNameLst>
                                      </p:cBhvr>
                                      <p:to>
                                        <p:strVal val="visible"/>
                                      </p:to>
                                    </p:set>
                                    <p:anim calcmode="lin" valueType="num">
                                      <p:cBhvr additive="base">
                                        <p:cTn id="12" dur="500" fill="hold"/>
                                        <p:tgtEl>
                                          <p:spTgt spid="1645571"/>
                                        </p:tgtEl>
                                        <p:attrNameLst>
                                          <p:attrName>ppt_x</p:attrName>
                                        </p:attrNameLst>
                                      </p:cBhvr>
                                      <p:tavLst>
                                        <p:tav tm="0">
                                          <p:val>
                                            <p:strVal val="0-#ppt_w/2"/>
                                          </p:val>
                                        </p:tav>
                                        <p:tav tm="100000">
                                          <p:val>
                                            <p:strVal val="#ppt_x"/>
                                          </p:val>
                                        </p:tav>
                                      </p:tavLst>
                                    </p:anim>
                                    <p:anim calcmode="lin" valueType="num">
                                      <p:cBhvr additive="base">
                                        <p:cTn id="13" dur="500" fill="hold"/>
                                        <p:tgtEl>
                                          <p:spTgt spid="164557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45572"/>
                                        </p:tgtEl>
                                        <p:attrNameLst>
                                          <p:attrName>style.visibility</p:attrName>
                                        </p:attrNameLst>
                                      </p:cBhvr>
                                      <p:to>
                                        <p:strVal val="visible"/>
                                      </p:to>
                                    </p:set>
                                    <p:animEffect transition="in" filter="wipe(left)">
                                      <p:cBhvr>
                                        <p:cTn id="18" dur="500"/>
                                        <p:tgtEl>
                                          <p:spTgt spid="164557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645573"/>
                                        </p:tgtEl>
                                        <p:attrNameLst>
                                          <p:attrName>style.visibility</p:attrName>
                                        </p:attrNameLst>
                                      </p:cBhvr>
                                      <p:to>
                                        <p:strVal val="visible"/>
                                      </p:to>
                                    </p:set>
                                    <p:animEffect transition="in" filter="dissolve">
                                      <p:cBhvr>
                                        <p:cTn id="23" dur="500"/>
                                        <p:tgtEl>
                                          <p:spTgt spid="164557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45574"/>
                                        </p:tgtEl>
                                        <p:attrNameLst>
                                          <p:attrName>style.visibility</p:attrName>
                                        </p:attrNameLst>
                                      </p:cBhvr>
                                      <p:to>
                                        <p:strVal val="visible"/>
                                      </p:to>
                                    </p:set>
                                    <p:animEffect transition="in" filter="dissolve">
                                      <p:cBhvr>
                                        <p:cTn id="28" dur="500"/>
                                        <p:tgtEl>
                                          <p:spTgt spid="1645574"/>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grpId="0" nodeType="clickEffect">
                                  <p:stCondLst>
                                    <p:cond delay="0"/>
                                  </p:stCondLst>
                                  <p:childTnLst>
                                    <p:set>
                                      <p:cBhvr>
                                        <p:cTn id="32" dur="1" fill="hold">
                                          <p:stCondLst>
                                            <p:cond delay="0"/>
                                          </p:stCondLst>
                                        </p:cTn>
                                        <p:tgtEl>
                                          <p:spTgt spid="1645579"/>
                                        </p:tgtEl>
                                        <p:attrNameLst>
                                          <p:attrName>style.visibility</p:attrName>
                                        </p:attrNameLst>
                                      </p:cBhvr>
                                      <p:to>
                                        <p:strVal val="visible"/>
                                      </p:to>
                                    </p:set>
                                    <p:animEffect transition="in" filter="barn(outVertical)">
                                      <p:cBhvr>
                                        <p:cTn id="33" dur="500"/>
                                        <p:tgtEl>
                                          <p:spTgt spid="1645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5571" grpId="0"/>
      <p:bldP spid="1645572" grpId="0" bldLvl="0" animBg="1"/>
      <p:bldP spid="1645573" grpId="0" bldLvl="0" animBg="1"/>
      <p:bldP spid="1645574" grpId="0" bldLvl="0" animBg="1"/>
      <p:bldP spid="1645577" grpId="0" bldLvl="0" animBg="1"/>
      <p:bldP spid="1645579"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1138" name="灯片编号占位符 5"/>
          <p:cNvSpPr txBox="1">
            <a:spLocks noGrp="1"/>
          </p:cNvSpPr>
          <p:nvPr>
            <p:ph type="sldNum" sz="quarter" idx="4"/>
          </p:nvPr>
        </p:nvSpPr>
        <p:spPr>
          <a:xfrm>
            <a:off x="5846763" y="6369050"/>
            <a:ext cx="2133600" cy="476250"/>
          </a:xfrm>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9113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3  </a:t>
            </a:r>
            <a:r>
              <a:rPr lang="zh-CN" altLang="en-US" dirty="0">
                <a:latin typeface="华文楷体" panose="02010600040101010101" pitchFamily="2" charset="-122"/>
                <a:ea typeface="黑体" panose="02010609060101010101" pitchFamily="49" charset="-122"/>
                <a:cs typeface="+mj-cs"/>
              </a:rPr>
              <a:t>数据类型及常量、变量</a:t>
            </a:r>
            <a:endParaRPr lang="zh-CN" altLang="en-US" dirty="0">
              <a:latin typeface="华文楷体" panose="02010600040101010101" pitchFamily="2" charset="-122"/>
              <a:ea typeface="黑体" panose="02010609060101010101" pitchFamily="49" charset="-122"/>
              <a:cs typeface="+mj-cs"/>
            </a:endParaRPr>
          </a:p>
        </p:txBody>
      </p:sp>
      <p:sp>
        <p:nvSpPr>
          <p:cNvPr id="164761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000" b="0" i="0" u="none" strike="noStrike" kern="0" cap="none" spc="0" normalizeH="0" baseline="0" noProof="1">
              <a:ln>
                <a:noFill/>
              </a:ln>
              <a:solidFill>
                <a:srgbClr val="CC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000" b="0" i="0" u="none" strike="noStrike" kern="0" cap="none" spc="0" normalizeH="0" baseline="0" noProof="1">
              <a:ln>
                <a:noFill/>
              </a:ln>
              <a:solidFill>
                <a:srgbClr val="CC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zh-CN" altLang="en-US" sz="2000" b="0" i="0" u="none" strike="noStrike" kern="0" cap="none" spc="0" normalizeH="0" baseline="0" noProof="1">
              <a:ln>
                <a:noFill/>
              </a:ln>
              <a:solidFill>
                <a:srgbClr val="CC0000"/>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rgbClr val="CC0000"/>
                </a:solidFill>
                <a:effectLst/>
                <a:uLnTx/>
                <a:uFillTx/>
                <a:latin typeface="华文楷体" panose="02010600040101010101" pitchFamily="2" charset="-122"/>
                <a:ea typeface="华文楷体" panose="02010600040101010101" pitchFamily="2" charset="-122"/>
                <a:cs typeface="+mn-cs"/>
              </a:rPr>
              <a:t>含义不同</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例</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reg</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[n-1:0]</a:t>
            </a: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rega</a:t>
            </a: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一个</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n</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位的</a:t>
            </a:r>
            <a:r>
              <a:rPr kumimoji="0" lang="zh-CN" altLang="en-US" sz="2000" b="0" i="0" u="none" strike="noStrike" kern="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寄存器</a:t>
            </a:r>
            <a:endParaRPr kumimoji="0" lang="zh-CN" altLang="en-US" sz="2000" b="0" i="0" u="none" strike="noStrike" kern="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r</a:t>
            </a: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eg</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mema [n-1:0]</a:t>
            </a: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由</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n</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位寄存器组成的</a:t>
            </a:r>
            <a:r>
              <a:rPr kumimoji="0" lang="zh-CN" altLang="en-US" sz="2000" b="0" i="0" u="none" strike="noStrike" kern="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存储器</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uLnTx/>
                <a:uFillTx/>
                <a:latin typeface="方正姚体" panose="02010601030101010101" pitchFamily="2" charset="-122"/>
                <a:ea typeface="方正姚体" panose="02010601030101010101" pitchFamily="2" charset="-122"/>
                <a:cs typeface="+mn-cs"/>
              </a:rPr>
              <a:t>  </a:t>
            </a:r>
            <a:endParaRPr kumimoji="0" lang="zh-CN" altLang="en-US" sz="2000" b="0" i="0" u="none" strike="noStrike" kern="0" cap="none" spc="0" normalizeH="0" baseline="0" noProof="1">
              <a:ln>
                <a:noFill/>
              </a:ln>
              <a:solidFill>
                <a:schemeClr val="tx1"/>
              </a:solidFill>
              <a:effectLst/>
              <a:uLnTx/>
              <a:uFillTx/>
              <a:latin typeface="方正姚体" panose="02010601030101010101" pitchFamily="2" charset="-122"/>
              <a:ea typeface="方正姚体" panose="02010601030101010101" pitchFamily="2" charset="-122"/>
              <a:cs typeface="+mn-cs"/>
            </a:endParaRPr>
          </a:p>
        </p:txBody>
      </p:sp>
      <p:sp>
        <p:nvSpPr>
          <p:cNvPr id="91141" name="Rectangle 4"/>
          <p:cNvSpPr/>
          <p:nvPr/>
        </p:nvSpPr>
        <p:spPr>
          <a:xfrm>
            <a:off x="5181600" y="3200400"/>
            <a:ext cx="3200400" cy="2743200"/>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647621" name="AutoShape 5"/>
          <p:cNvSpPr>
            <a:spLocks noChangeArrowheads="1"/>
          </p:cNvSpPr>
          <p:nvPr/>
        </p:nvSpPr>
        <p:spPr bwMode="auto">
          <a:xfrm>
            <a:off x="2808288" y="6159500"/>
            <a:ext cx="1981200" cy="685800"/>
          </a:xfrm>
          <a:prstGeom prst="wedgeRoundRectCallout">
            <a:avLst>
              <a:gd name="adj1" fmla="val -72755"/>
              <a:gd name="adj2" fmla="val -69907"/>
              <a:gd name="adj3" fmla="val 16667"/>
            </a:avLst>
          </a:prstGeom>
          <a:solidFill>
            <a:schemeClr val="accent3"/>
          </a:solidFill>
          <a:ln w="9525">
            <a:solidFill>
              <a:schemeClr val="accent1"/>
            </a:solidFill>
            <a:round/>
          </a:ln>
          <a:effectLst>
            <a:outerShdw dist="35921" dir="2700000" algn="ctr" rotWithShape="0">
              <a:srgbClr val="808080"/>
            </a:outerShdw>
          </a:effectLst>
        </p:spPr>
        <p:txBody>
          <a:bodyPr anchor="b"/>
          <a:lstStyle>
            <a:lvl1pPr>
              <a:defRPr sz="1600" b="1">
                <a:solidFill>
                  <a:srgbClr val="FF33CC"/>
                </a:solidFill>
                <a:latin typeface="Tahoma" panose="020B0604030504040204" pitchFamily="34" charset="0"/>
                <a:ea typeface="宋体" panose="02010600030101010101" pitchFamily="2" charset="-122"/>
              </a:defRPr>
            </a:lvl1pPr>
            <a:lvl2pPr>
              <a:defRPr sz="1600" b="1">
                <a:solidFill>
                  <a:srgbClr val="FF33CC"/>
                </a:solidFill>
                <a:latin typeface="Tahoma" panose="020B0604030504040204" pitchFamily="34" charset="0"/>
                <a:ea typeface="宋体" panose="02010600030101010101" pitchFamily="2" charset="-122"/>
              </a:defRPr>
            </a:lvl2pPr>
            <a:lvl3pPr>
              <a:defRPr sz="1600" b="1">
                <a:solidFill>
                  <a:srgbClr val="FF33CC"/>
                </a:solidFill>
                <a:latin typeface="Tahoma" panose="020B0604030504040204" pitchFamily="34" charset="0"/>
                <a:ea typeface="宋体" panose="02010600030101010101" pitchFamily="2" charset="-122"/>
              </a:defRPr>
            </a:lvl3pPr>
            <a:lvl4pPr>
              <a:defRPr sz="1600" b="1">
                <a:solidFill>
                  <a:srgbClr val="FF33CC"/>
                </a:solidFill>
                <a:latin typeface="Tahoma" panose="020B0604030504040204" pitchFamily="34" charset="0"/>
                <a:ea typeface="宋体" panose="02010600030101010101" pitchFamily="2" charset="-122"/>
              </a:defRPr>
            </a:lvl4pPr>
            <a:lvl5pPr>
              <a:defRPr sz="1600" b="1">
                <a:solidFill>
                  <a:srgbClr val="FF33CC"/>
                </a:solidFill>
                <a:latin typeface="Tahoma" panose="020B0604030504040204" pitchFamily="34" charset="0"/>
                <a:ea typeface="宋体" panose="02010600030101010101" pitchFamily="2" charset="-122"/>
              </a:defRPr>
            </a:lvl5pPr>
            <a:lvl6pPr fontAlgn="base">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6pPr>
            <a:lvl7pPr fontAlgn="base">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7pPr>
            <a:lvl8pPr fontAlgn="base">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8pPr>
            <a:lvl9pPr fontAlgn="base">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必须指明存储单元的</a:t>
            </a:r>
            <a:r>
              <a:rPr kumimoji="0" lang="zh-CN" altLang="en-US" sz="2000" b="1" i="0" u="none" strike="noStrike" kern="1200" cap="none" spc="0" normalizeH="0" baseline="0" noProof="0" dirty="0" smtClean="0">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地址</a:t>
            </a:r>
            <a:r>
              <a:rPr kumimoji="0" lang="zh-CN" altLang="en-US" sz="2000" b="0" i="0" u="none" strike="noStrike" kern="1200" cap="none" spc="0" normalizeH="0" baseline="0" noProof="0" dirty="0" smtClean="0">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en-US" sz="2000" b="0" i="0" u="none" strike="noStrike" kern="1200" cap="none" spc="0" normalizeH="0" baseline="0" noProof="0" dirty="0" smtClean="0">
              <a:ln>
                <a:noFill/>
              </a:ln>
              <a:solidFill>
                <a:srgbClr val="FF0066"/>
              </a:solidFill>
              <a:effectLst/>
              <a:uLnTx/>
              <a:uFillTx/>
              <a:latin typeface="华文楷体" panose="02010600040101010101" pitchFamily="2" charset="-122"/>
              <a:ea typeface="华文楷体" panose="02010600040101010101" pitchFamily="2" charset="-122"/>
              <a:cs typeface="+mn-cs"/>
              <a:sym typeface="+mn-ea"/>
            </a:endParaRPr>
          </a:p>
        </p:txBody>
      </p:sp>
      <p:grpSp>
        <p:nvGrpSpPr>
          <p:cNvPr id="2" name="Group 6"/>
          <p:cNvGrpSpPr/>
          <p:nvPr/>
        </p:nvGrpSpPr>
        <p:grpSpPr>
          <a:xfrm>
            <a:off x="5922963" y="1458913"/>
            <a:ext cx="2133600" cy="914400"/>
            <a:chOff x="1728" y="816"/>
            <a:chExt cx="1344" cy="576"/>
          </a:xfrm>
        </p:grpSpPr>
        <p:sp>
          <p:nvSpPr>
            <p:cNvPr id="91156" name="Rectangle 7"/>
            <p:cNvSpPr/>
            <p:nvPr/>
          </p:nvSpPr>
          <p:spPr>
            <a:xfrm>
              <a:off x="1728" y="816"/>
              <a:ext cx="1344" cy="57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2"/>
                </a:buClr>
                <a:buNone/>
              </a:pP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91157" name="Text Box 8"/>
            <p:cNvSpPr txBox="1"/>
            <p:nvPr/>
          </p:nvSpPr>
          <p:spPr>
            <a:xfrm>
              <a:off x="2832" y="86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0</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91158" name="Text Box 9"/>
            <p:cNvSpPr txBox="1"/>
            <p:nvPr/>
          </p:nvSpPr>
          <p:spPr>
            <a:xfrm>
              <a:off x="1824" y="816"/>
              <a:ext cx="336"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n-1</a:t>
              </a:r>
              <a:endParaRPr lang="en-US" altLang="zh-CN" dirty="0">
                <a:latin typeface="Times New Roman" panose="02020603050405020304" pitchFamily="18" charset="0"/>
                <a:ea typeface="宋体" panose="02010600030101010101" pitchFamily="2" charset="-122"/>
              </a:endParaRPr>
            </a:p>
          </p:txBody>
        </p:sp>
        <p:sp>
          <p:nvSpPr>
            <p:cNvPr id="91159" name="Rectangle 10"/>
            <p:cNvSpPr/>
            <p:nvPr/>
          </p:nvSpPr>
          <p:spPr>
            <a:xfrm>
              <a:off x="1824" y="1104"/>
              <a:ext cx="1200" cy="24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grpSp>
        <p:nvGrpSpPr>
          <p:cNvPr id="3" name="Group 11"/>
          <p:cNvGrpSpPr/>
          <p:nvPr/>
        </p:nvGrpSpPr>
        <p:grpSpPr>
          <a:xfrm>
            <a:off x="7532688" y="3517900"/>
            <a:ext cx="1143000" cy="2011363"/>
            <a:chOff x="3312" y="2064"/>
            <a:chExt cx="720" cy="1267"/>
          </a:xfrm>
        </p:grpSpPr>
        <p:sp>
          <p:nvSpPr>
            <p:cNvPr id="91147" name="Rectangle 12"/>
            <p:cNvSpPr/>
            <p:nvPr/>
          </p:nvSpPr>
          <p:spPr>
            <a:xfrm>
              <a:off x="3312" y="2064"/>
              <a:ext cx="720" cy="1267"/>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2"/>
                </a:buClr>
                <a:buNone/>
              </a:pP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91148" name="Text Box 13"/>
            <p:cNvSpPr txBox="1"/>
            <p:nvPr/>
          </p:nvSpPr>
          <p:spPr>
            <a:xfrm>
              <a:off x="3456" y="3062"/>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0</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91149" name="Text Box 14"/>
            <p:cNvSpPr txBox="1"/>
            <p:nvPr/>
          </p:nvSpPr>
          <p:spPr>
            <a:xfrm>
              <a:off x="3360" y="2294"/>
              <a:ext cx="336"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n-1</a:t>
              </a:r>
              <a:endParaRPr lang="en-US" altLang="zh-CN" dirty="0">
                <a:latin typeface="Times New Roman" panose="02020603050405020304" pitchFamily="18" charset="0"/>
                <a:ea typeface="宋体" panose="02010600030101010101" pitchFamily="2" charset="-122"/>
              </a:endParaRPr>
            </a:p>
          </p:txBody>
        </p:sp>
        <p:sp>
          <p:nvSpPr>
            <p:cNvPr id="91150" name="Rectangle 15"/>
            <p:cNvSpPr/>
            <p:nvPr/>
          </p:nvSpPr>
          <p:spPr>
            <a:xfrm>
              <a:off x="3744" y="2352"/>
              <a:ext cx="192"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91151" name="Rectangle 16"/>
            <p:cNvSpPr/>
            <p:nvPr/>
          </p:nvSpPr>
          <p:spPr>
            <a:xfrm>
              <a:off x="3744" y="2592"/>
              <a:ext cx="192"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91152" name="Rectangle 17"/>
            <p:cNvSpPr/>
            <p:nvPr/>
          </p:nvSpPr>
          <p:spPr>
            <a:xfrm>
              <a:off x="3744" y="3120"/>
              <a:ext cx="192" cy="144"/>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91153" name="Text Box 18"/>
            <p:cNvSpPr txBox="1"/>
            <p:nvPr/>
          </p:nvSpPr>
          <p:spPr>
            <a:xfrm>
              <a:off x="3360" y="2544"/>
              <a:ext cx="336"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n-2</a:t>
              </a:r>
              <a:endParaRPr lang="en-US" altLang="zh-CN" dirty="0">
                <a:latin typeface="Times New Roman" panose="02020603050405020304" pitchFamily="18" charset="0"/>
                <a:ea typeface="宋体" panose="02010600030101010101" pitchFamily="2" charset="-122"/>
              </a:endParaRPr>
            </a:p>
          </p:txBody>
        </p:sp>
        <p:sp>
          <p:nvSpPr>
            <p:cNvPr id="91154" name="Text Box 19"/>
            <p:cNvSpPr txBox="1"/>
            <p:nvPr/>
          </p:nvSpPr>
          <p:spPr>
            <a:xfrm>
              <a:off x="3792" y="2774"/>
              <a:ext cx="144" cy="346"/>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50000"/>
                </a:lnSpc>
                <a:spcBef>
                  <a:spcPct val="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t>
              </a:r>
              <a:endParaRPr lang="en-US" altLang="zh-CN" dirty="0">
                <a:solidFill>
                  <a:schemeClr val="bg2"/>
                </a:solidFill>
                <a:latin typeface="Times New Roman" panose="02020603050405020304" pitchFamily="18" charset="0"/>
                <a:ea typeface="宋体" panose="02010600030101010101" pitchFamily="2" charset="-122"/>
              </a:endParaRPr>
            </a:p>
            <a:p>
              <a:pPr marL="0" lvl="0" indent="0" eaLnBrk="1" hangingPunct="1">
                <a:lnSpc>
                  <a:spcPct val="50000"/>
                </a:lnSpc>
                <a:spcBef>
                  <a:spcPct val="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t>
              </a:r>
              <a:endParaRPr lang="en-US" altLang="zh-CN" dirty="0">
                <a:solidFill>
                  <a:schemeClr val="bg2"/>
                </a:solidFill>
                <a:latin typeface="Times New Roman" panose="02020603050405020304" pitchFamily="18" charset="0"/>
                <a:ea typeface="宋体" panose="02010600030101010101" pitchFamily="2" charset="-122"/>
              </a:endParaRPr>
            </a:p>
            <a:p>
              <a:pPr marL="0" lvl="0" indent="0" eaLnBrk="1" hangingPunct="1">
                <a:lnSpc>
                  <a:spcPct val="50000"/>
                </a:lnSpc>
                <a:spcBef>
                  <a:spcPct val="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91155" name="Text Box 20"/>
            <p:cNvSpPr txBox="1"/>
            <p:nvPr/>
          </p:nvSpPr>
          <p:spPr>
            <a:xfrm>
              <a:off x="3312" y="2064"/>
              <a:ext cx="480"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zh-CN" altLang="en-US" dirty="0">
                  <a:solidFill>
                    <a:schemeClr val="bg2"/>
                  </a:solidFill>
                  <a:latin typeface="Times New Roman" panose="02020603050405020304" pitchFamily="18" charset="0"/>
                  <a:ea typeface="宋体" panose="02010600030101010101" pitchFamily="2" charset="-122"/>
                </a:rPr>
                <a:t>地址</a:t>
              </a:r>
              <a:endParaRPr lang="zh-CN" altLang="en-US" dirty="0">
                <a:latin typeface="Times New Roman" panose="02020603050405020304" pitchFamily="18" charset="0"/>
                <a:ea typeface="宋体" panose="02010600030101010101" pitchFamily="2" charset="-122"/>
              </a:endParaRPr>
            </a:p>
          </p:txBody>
        </p:sp>
      </p:grpSp>
      <p:sp>
        <p:nvSpPr>
          <p:cNvPr id="1647637" name="Text Box 21"/>
          <p:cNvSpPr txBox="1">
            <a:spLocks noChangeArrowheads="1"/>
          </p:cNvSpPr>
          <p:nvPr/>
        </p:nvSpPr>
        <p:spPr bwMode="auto">
          <a:xfrm>
            <a:off x="0" y="3235325"/>
            <a:ext cx="7183438" cy="2892425"/>
          </a:xfrm>
          <a:prstGeom prst="rect">
            <a:avLst/>
          </a:prstGeom>
          <a:noFill/>
          <a:ln w="9525">
            <a:noFill/>
            <a:miter lim="800000"/>
          </a:ln>
          <a:effectLst/>
        </p:spPr>
        <p:txBody>
          <a:bodyPr anchor="b">
            <a:spAutoFit/>
          </a:bodyPr>
          <a:lstStyle/>
          <a:p>
            <a:pPr marL="482600" marR="0" lvl="1" indent="-287020" algn="l" defTabSz="0" rtl="0" eaLnBrk="1" fontAlgn="base" latinLnBrk="0" hangingPunct="1">
              <a:lnSpc>
                <a:spcPct val="90000"/>
              </a:lnSpc>
              <a:spcBef>
                <a:spcPct val="20000"/>
              </a:spcBef>
              <a:spcAft>
                <a:spcPct val="0"/>
              </a:spcAft>
              <a:buClr>
                <a:schemeClr val="folHlink"/>
              </a:buClr>
              <a:buSzTx/>
              <a:buFont typeface="Wingdings" panose="05000000000000000000" pitchFamily="2" charset="2"/>
              <a:buChar char="§"/>
              <a:tabLst>
                <a:tab pos="482600" algn="l"/>
              </a:tabLst>
              <a:defRPr/>
            </a:pPr>
            <a:r>
              <a:rPr kumimoji="0" lang="zh-CN" altLang="en-US" sz="2400" b="1" i="0" u="none" strike="noStrike" kern="1200" cap="none" spc="0" normalizeH="0" baseline="0" noProof="1">
                <a:ln>
                  <a:noFill/>
                </a:ln>
                <a:solidFill>
                  <a:srgbClr val="CC0000"/>
                </a:solidFill>
                <a:effectLst/>
                <a:uLnTx/>
                <a:uFillTx/>
                <a:latin typeface="Times New Roman" panose="02020603050405020304" pitchFamily="18" charset="0"/>
                <a:ea typeface="华文楷体" panose="02010600040101010101" pitchFamily="2" charset="-122"/>
                <a:cs typeface="+mn-cs"/>
                <a:sym typeface="+mn-ea"/>
              </a:rPr>
              <a:t>赋值方式不同</a:t>
            </a:r>
            <a:endParaRPr kumimoji="0" lang="zh-CN" altLang="en-US" sz="2400" b="1" i="0" u="none" strike="noStrike" kern="1200" cap="none" spc="0" normalizeH="0" baseline="0" noProof="1">
              <a:ln>
                <a:noFill/>
              </a:ln>
              <a:solidFill>
                <a:srgbClr val="CC0000"/>
              </a:solidFill>
              <a:effectLst/>
              <a:uLnTx/>
              <a:uFillTx/>
              <a:latin typeface="Times New Roman" panose="02020603050405020304" pitchFamily="18" charset="0"/>
              <a:ea typeface="华文楷体" panose="02010600040101010101" pitchFamily="2" charset="-122"/>
              <a:cs typeface="+mn-cs"/>
              <a:sym typeface="+mn-ea"/>
            </a:endParaRPr>
          </a:p>
          <a:p>
            <a:pPr marL="482600" marR="0" lvl="1" indent="-287020" algn="l" defTabSz="0" rtl="0" eaLnBrk="1" fontAlgn="base" latinLnBrk="0" hangingPunct="1">
              <a:lnSpc>
                <a:spcPct val="90000"/>
              </a:lnSpc>
              <a:spcBef>
                <a:spcPct val="20000"/>
              </a:spcBef>
              <a:spcAft>
                <a:spcPct val="0"/>
              </a:spcAft>
              <a:buClr>
                <a:schemeClr val="folHlink"/>
              </a:buClr>
              <a:buSzTx/>
              <a:buFont typeface="Wingdings" panose="05000000000000000000" pitchFamily="2" charset="2"/>
              <a:buNone/>
              <a:tabLst>
                <a:tab pos="482600" algn="l"/>
              </a:tabLst>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一个</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位的寄存器可用一条赋值语句赋值； 一个完整</a:t>
            </a:r>
            <a:r>
              <a:rPr kumimoji="0" lang="zh-CN" altLang="en-US" sz="22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的存储器则不行！若要对某存储器中的存储单元进行读写操作，必须指明该单元在存储器中的</a:t>
            </a:r>
            <a:r>
              <a:rPr kumimoji="0" lang="zh-CN" altLang="en-US" sz="22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地址</a:t>
            </a:r>
            <a:r>
              <a:rPr kumimoji="0" lang="zh-CN" altLang="en-US" sz="22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zh-CN" sz="2200" b="1" i="0" u="none" strike="noStrike" kern="120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sym typeface="+mn-ea"/>
            </a:endParaRPr>
          </a:p>
          <a:p>
            <a:pPr marR="0" defTabSz="0" eaLnBrk="1" hangingPunct="1">
              <a:lnSpc>
                <a:spcPct val="90000"/>
              </a:lnSpc>
              <a:spcBef>
                <a:spcPct val="20000"/>
              </a:spcBef>
              <a:buClr>
                <a:srgbClr val="3333FF"/>
              </a:buClr>
              <a:buSzTx/>
              <a:buFont typeface="Wingdings" panose="05000000000000000000" pitchFamily="2" charset="2"/>
              <a:buNone/>
              <a:tabLst>
                <a:tab pos="482600" algn="l"/>
              </a:tabLst>
              <a:defRPr/>
            </a:pPr>
            <a:r>
              <a:rPr kumimoji="0" lang="zh-CN" altLang="en-US" sz="220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rgbClr val="FF0066"/>
                </a:solidFill>
                <a:latin typeface="华文楷体" panose="02010600040101010101" pitchFamily="2" charset="-122"/>
                <a:ea typeface="华文楷体" panose="02010600040101010101" pitchFamily="2" charset="-122"/>
                <a:cs typeface="+mn-cs"/>
                <a:sym typeface="+mn-ea"/>
              </a:rPr>
              <a:t>例</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rega = 0</a:t>
            </a:r>
            <a:r>
              <a:rPr kumimoji="0" lang="zh-CN"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合法赋值语句</a:t>
            </a:r>
            <a:endPar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endParaRPr>
          </a:p>
          <a:p>
            <a:pPr marR="0" defTabSz="0" eaLnBrk="1" hangingPunct="1">
              <a:lnSpc>
                <a:spcPct val="90000"/>
              </a:lnSpc>
              <a:spcBef>
                <a:spcPct val="20000"/>
              </a:spcBef>
              <a:buClr>
                <a:srgbClr val="3333FF"/>
              </a:buClr>
              <a:buSzTx/>
              <a:buFont typeface="Wingdings" panose="05000000000000000000" pitchFamily="2" charset="2"/>
              <a:buNone/>
              <a:tabLst>
                <a:tab pos="482600" algn="l"/>
              </a:tabLst>
              <a:defRPr/>
            </a:pPr>
            <a:r>
              <a:rPr kumimoji="0" lang="zh-CN" altLang="en-US" sz="22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mema = 0</a:t>
            </a:r>
            <a:r>
              <a:rPr kumimoji="0" lang="zh-CN"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非法赋值语句</a:t>
            </a:r>
            <a:endPar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endParaRPr>
          </a:p>
          <a:p>
            <a:pPr marR="0" defTabSz="0" eaLnBrk="1" hangingPunct="1">
              <a:lnSpc>
                <a:spcPct val="90000"/>
              </a:lnSpc>
              <a:spcBef>
                <a:spcPct val="20000"/>
              </a:spcBef>
              <a:buClr>
                <a:srgbClr val="3333FF"/>
              </a:buClr>
              <a:buSzTx/>
              <a:buFont typeface="Wingdings" panose="05000000000000000000" pitchFamily="2" charset="2"/>
              <a:buNone/>
              <a:tabLst>
                <a:tab pos="482600" algn="l"/>
              </a:tabLst>
              <a:defRPr/>
            </a:pPr>
            <a:r>
              <a:rPr kumimoji="0" lang="zh-CN" altLang="en-US" sz="22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mema[8] = 1</a:t>
            </a:r>
            <a:r>
              <a:rPr kumimoji="0" lang="zh-CN"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合法赋值语句</a:t>
            </a:r>
            <a:endPar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endParaRPr>
          </a:p>
          <a:p>
            <a:pPr marR="0" defTabSz="0" eaLnBrk="1" hangingPunct="1">
              <a:lnSpc>
                <a:spcPct val="90000"/>
              </a:lnSpc>
              <a:spcBef>
                <a:spcPct val="20000"/>
              </a:spcBef>
              <a:buClr>
                <a:srgbClr val="3333FF"/>
              </a:buClr>
              <a:buSzTx/>
              <a:buFont typeface="Wingdings" panose="05000000000000000000" pitchFamily="2" charset="2"/>
              <a:buNone/>
              <a:tabLst>
                <a:tab pos="482600" algn="l"/>
              </a:tabLst>
              <a:defRPr/>
            </a:pPr>
            <a:r>
              <a:rPr kumimoji="0" lang="zh-CN" altLang="en-US" sz="22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mema[1023:0] = 0</a:t>
            </a:r>
            <a:r>
              <a:rPr kumimoji="0" lang="zh-CN"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 ；</a:t>
            </a:r>
            <a:r>
              <a:rPr kumimoji="0" lang="en-US" altLang="zh-CN"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a:t>
            </a:r>
            <a:r>
              <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rPr>
              <a:t>合法赋值语句</a:t>
            </a:r>
            <a:endParaRPr kumimoji="0" lang="zh-CN" altLang="en-US" sz="2200" b="0" kern="1200" cap="none" spc="0" normalizeH="0" baseline="0" noProof="1">
              <a:solidFill>
                <a:schemeClr val="tx1"/>
              </a:solidFill>
              <a:latin typeface="华文楷体" panose="02010600040101010101" pitchFamily="2" charset="-122"/>
              <a:ea typeface="华文楷体" panose="02010600040101010101" pitchFamily="2" charset="-122"/>
              <a:cs typeface="+mn-cs"/>
              <a:sym typeface="+mn-ea"/>
            </a:endParaRPr>
          </a:p>
        </p:txBody>
      </p:sp>
      <p:sp>
        <p:nvSpPr>
          <p:cNvPr id="1647638" name="AutoShape 22" descr="80%"/>
          <p:cNvSpPr/>
          <p:nvPr/>
        </p:nvSpPr>
        <p:spPr>
          <a:xfrm rot="-133237">
            <a:off x="0" y="773113"/>
            <a:ext cx="5130800" cy="1177925"/>
          </a:xfrm>
          <a:prstGeom prst="irregularSeal2">
            <a:avLst/>
          </a:prstGeom>
          <a:noFill/>
          <a:ln w="9525" cap="flat" cmpd="sng">
            <a:solidFill>
              <a:schemeClr val="accent1"/>
            </a:solidFill>
            <a:prstDash val="solid"/>
            <a:round/>
            <a:headEnd type="none" w="med" len="med"/>
            <a:tailEnd type="none" w="med" len="med"/>
          </a:ln>
          <a:effectLst>
            <a:prstShdw prst="shdw17" dist="17961" dir="13499999">
              <a:srgbClr val="997A99"/>
            </a:prstShdw>
          </a:effectLst>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1"/>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memory</a:t>
            </a:r>
            <a:r>
              <a:rPr lang="zh-CN" altLang="en-US" sz="2400" b="1" dirty="0">
                <a:latin typeface="Times New Roman" panose="02020603050405020304" pitchFamily="18" charset="0"/>
                <a:ea typeface="华文楷体" panose="02010600040101010101" pitchFamily="2" charset="-122"/>
              </a:rPr>
              <a:t>型变量</a:t>
            </a:r>
            <a:endParaRPr lang="zh-CN" altLang="en-US" sz="2400" b="1" dirty="0">
              <a:latin typeface="Times New Roman" panose="02020603050405020304" pitchFamily="18" charset="0"/>
              <a:ea typeface="华文楷体" panose="02010600040101010101" pitchFamily="2" charset="-122"/>
            </a:endParaRPr>
          </a:p>
          <a:p>
            <a:pPr marL="0" lvl="0" indent="0" algn="ctr" eaLnBrk="1" hangingPunct="1">
              <a:buClr>
                <a:schemeClr val="tx1"/>
              </a:buClr>
              <a:buSzPct val="80000"/>
              <a:buFont typeface="Wingdings" panose="05000000000000000000" pitchFamily="2" charset="2"/>
              <a:buNone/>
            </a:pPr>
            <a:r>
              <a:rPr lang="zh-CN" altLang="zh-CN" sz="2400" b="1" dirty="0">
                <a:latin typeface="Times New Roman" panose="02020603050405020304" pitchFamily="18" charset="0"/>
                <a:ea typeface="华文楷体" panose="02010600040101010101" pitchFamily="2" charset="-122"/>
              </a:rPr>
              <a:t>与</a:t>
            </a:r>
            <a:r>
              <a:rPr lang="en-US" altLang="zh-CN" sz="2400" b="1" dirty="0">
                <a:latin typeface="Times New Roman" panose="02020603050405020304" pitchFamily="18" charset="0"/>
                <a:ea typeface="华文楷体" panose="02010600040101010101" pitchFamily="2" charset="-122"/>
              </a:rPr>
              <a:t>reg</a:t>
            </a:r>
            <a:r>
              <a:rPr lang="zh-CN" altLang="en-US" sz="2400" b="1" dirty="0">
                <a:latin typeface="Times New Roman" panose="02020603050405020304" pitchFamily="18" charset="0"/>
                <a:ea typeface="华文楷体" panose="02010600040101010101" pitchFamily="2" charset="-122"/>
              </a:rPr>
              <a:t>型变量</a:t>
            </a:r>
            <a:r>
              <a:rPr lang="zh-CN" altLang="zh-CN" sz="2400" b="1" dirty="0">
                <a:latin typeface="Times New Roman" panose="02020603050405020304" pitchFamily="18" charset="0"/>
                <a:ea typeface="华文楷体" panose="02010600040101010101" pitchFamily="2" charset="-122"/>
              </a:rPr>
              <a:t>的区别</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647638"/>
                                        </p:tgtEl>
                                        <p:attrNameLst>
                                          <p:attrName>style.visibility</p:attrName>
                                        </p:attrNameLst>
                                      </p:cBhvr>
                                      <p:to>
                                        <p:strVal val="visible"/>
                                      </p:to>
                                    </p:set>
                                    <p:anim calcmode="lin" valueType="num">
                                      <p:cBhvr>
                                        <p:cTn id="7" dur="500" fill="hold"/>
                                        <p:tgtEl>
                                          <p:spTgt spid="1647638"/>
                                        </p:tgtEl>
                                        <p:attrNameLst>
                                          <p:attrName>ppt_w</p:attrName>
                                        </p:attrNameLst>
                                      </p:cBhvr>
                                      <p:tavLst>
                                        <p:tav tm="0">
                                          <p:val>
                                            <p:fltVal val="0.000000"/>
                                          </p:val>
                                        </p:tav>
                                        <p:tav tm="100000">
                                          <p:val>
                                            <p:strVal val="#ppt_w"/>
                                          </p:val>
                                        </p:tav>
                                      </p:tavLst>
                                    </p:anim>
                                    <p:anim calcmode="lin" valueType="num">
                                      <p:cBhvr>
                                        <p:cTn id="8" dur="500" fill="hold"/>
                                        <p:tgtEl>
                                          <p:spTgt spid="1647638"/>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47619"/>
                                        </p:tgtEl>
                                        <p:attrNameLst>
                                          <p:attrName>style.visibility</p:attrName>
                                        </p:attrNameLst>
                                      </p:cBhvr>
                                      <p:to>
                                        <p:strVal val="visible"/>
                                      </p:to>
                                    </p:set>
                                    <p:anim calcmode="lin" valueType="num">
                                      <p:cBhvr additive="base">
                                        <p:cTn id="13" dur="500" fill="hold"/>
                                        <p:tgtEl>
                                          <p:spTgt spid="1647619"/>
                                        </p:tgtEl>
                                        <p:attrNameLst>
                                          <p:attrName>ppt_x</p:attrName>
                                        </p:attrNameLst>
                                      </p:cBhvr>
                                      <p:tavLst>
                                        <p:tav tm="0">
                                          <p:val>
                                            <p:strVal val="0-#ppt_w/2"/>
                                          </p:val>
                                        </p:tav>
                                        <p:tav tm="100000">
                                          <p:val>
                                            <p:strVal val="#ppt_x"/>
                                          </p:val>
                                        </p:tav>
                                      </p:tavLst>
                                    </p:anim>
                                    <p:anim calcmode="lin" valueType="num">
                                      <p:cBhvr additive="base">
                                        <p:cTn id="14" dur="500" fill="hold"/>
                                        <p:tgtEl>
                                          <p:spTgt spid="16476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2" fill="hold" grpId="0" nodeType="clickEffect">
                                  <p:stCondLst>
                                    <p:cond delay="0"/>
                                  </p:stCondLst>
                                  <p:childTnLst>
                                    <p:set>
                                      <p:cBhvr>
                                        <p:cTn id="30" dur="1" fill="hold">
                                          <p:stCondLst>
                                            <p:cond delay="0"/>
                                          </p:stCondLst>
                                        </p:cTn>
                                        <p:tgtEl>
                                          <p:spTgt spid="1647637"/>
                                        </p:tgtEl>
                                        <p:attrNameLst>
                                          <p:attrName>style.visibility</p:attrName>
                                        </p:attrNameLst>
                                      </p:cBhvr>
                                      <p:to>
                                        <p:strVal val="visible"/>
                                      </p:to>
                                    </p:set>
                                    <p:anim calcmode="lin" valueType="num">
                                      <p:cBhvr additive="base">
                                        <p:cTn id="31" dur="500" fill="hold"/>
                                        <p:tgtEl>
                                          <p:spTgt spid="1647637"/>
                                        </p:tgtEl>
                                        <p:attrNameLst>
                                          <p:attrName>ppt_x</p:attrName>
                                        </p:attrNameLst>
                                      </p:cBhvr>
                                      <p:tavLst>
                                        <p:tav tm="0">
                                          <p:val>
                                            <p:strVal val="0-#ppt_w/2"/>
                                          </p:val>
                                        </p:tav>
                                        <p:tav tm="100000">
                                          <p:val>
                                            <p:strVal val="#ppt_x"/>
                                          </p:val>
                                        </p:tav>
                                      </p:tavLst>
                                    </p:anim>
                                    <p:anim calcmode="lin" valueType="num">
                                      <p:cBhvr additive="base">
                                        <p:cTn id="32" dur="500" fill="hold"/>
                                        <p:tgtEl>
                                          <p:spTgt spid="16476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47621"/>
                                        </p:tgtEl>
                                        <p:attrNameLst>
                                          <p:attrName>style.visibility</p:attrName>
                                        </p:attrNameLst>
                                      </p:cBhvr>
                                      <p:to>
                                        <p:strVal val="visible"/>
                                      </p:to>
                                    </p:set>
                                    <p:animEffect transition="in" filter="dissolve">
                                      <p:cBhvr>
                                        <p:cTn id="37" dur="500"/>
                                        <p:tgtEl>
                                          <p:spTgt spid="1647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7619" grpId="0"/>
      <p:bldP spid="1647621" grpId="0" bldLvl="0" animBg="1"/>
      <p:bldP spid="1647637" grpId="0" bldLvl="0" animBg="1"/>
      <p:bldP spid="1647638"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31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981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2039811" name="Rectangle 3"/>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4.1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算术运算符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4.2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逻辑运算符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4.3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位运算符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4.4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关系运算符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1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4.5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等式运算符</a:t>
            </a:r>
            <a:r>
              <a:rPr kumimoji="0" lang="zh-CN" altLang="en-US"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endParaRPr kumimoji="0" lang="zh-CN" altLang="en-US"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 typeface="Wingdings" panose="05000000000000000000" pitchFamily="2" charset="2"/>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4</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.6 缩减运算符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 typeface="Wingdings" panose="05000000000000000000" pitchFamily="2" charset="2"/>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4</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.7 移位运算符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 typeface="Wingdings" panose="05000000000000000000" pitchFamily="2" charset="2"/>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4</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.8 条件运算符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 typeface="Wingdings" panose="05000000000000000000" pitchFamily="2" charset="2"/>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4</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.9 位拼接运算符</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110000"/>
              </a:lnSpc>
              <a:spcBef>
                <a:spcPct val="20000"/>
              </a:spcBef>
              <a:spcAft>
                <a:spcPct val="0"/>
              </a:spcAft>
              <a:buClrTx/>
              <a:buSzTx/>
              <a:buFont typeface="Wingdings" panose="05000000000000000000" pitchFamily="2" charset="2"/>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4</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1</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0 运算符的优先级</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39810"/>
                                        </p:tgtEl>
                                        <p:attrNameLst>
                                          <p:attrName>style.visibility</p:attrName>
                                        </p:attrNameLst>
                                      </p:cBhvr>
                                      <p:to>
                                        <p:strVal val="visible"/>
                                      </p:to>
                                    </p:set>
                                    <p:anim calcmode="lin" valueType="num">
                                      <p:cBhvr additive="base">
                                        <p:cTn id="7" dur="500" fill="hold"/>
                                        <p:tgtEl>
                                          <p:spTgt spid="2039810"/>
                                        </p:tgtEl>
                                        <p:attrNameLst>
                                          <p:attrName>ppt_x</p:attrName>
                                        </p:attrNameLst>
                                      </p:cBhvr>
                                      <p:tavLst>
                                        <p:tav tm="0">
                                          <p:val>
                                            <p:strVal val="#ppt_x"/>
                                          </p:val>
                                        </p:tav>
                                        <p:tav tm="100000">
                                          <p:val>
                                            <p:strVal val="#ppt_x"/>
                                          </p:val>
                                        </p:tav>
                                      </p:tavLst>
                                    </p:anim>
                                    <p:anim calcmode="lin" valueType="num">
                                      <p:cBhvr additive="base">
                                        <p:cTn id="8" dur="500" fill="hold"/>
                                        <p:tgtEl>
                                          <p:spTgt spid="203981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39811"/>
                                        </p:tgtEl>
                                        <p:attrNameLst>
                                          <p:attrName>style.visibility</p:attrName>
                                        </p:attrNameLst>
                                      </p:cBhvr>
                                      <p:to>
                                        <p:strVal val="visible"/>
                                      </p:to>
                                    </p:set>
                                    <p:anim calcmode="lin" valueType="num">
                                      <p:cBhvr additive="base">
                                        <p:cTn id="12" dur="500" fill="hold"/>
                                        <p:tgtEl>
                                          <p:spTgt spid="2039811"/>
                                        </p:tgtEl>
                                        <p:attrNameLst>
                                          <p:attrName>ppt_x</p:attrName>
                                        </p:attrNameLst>
                                      </p:cBhvr>
                                      <p:tavLst>
                                        <p:tav tm="0">
                                          <p:val>
                                            <p:strVal val="0-#ppt_w/2"/>
                                          </p:val>
                                        </p:tav>
                                        <p:tav tm="100000">
                                          <p:val>
                                            <p:strVal val="#ppt_x"/>
                                          </p:val>
                                        </p:tav>
                                      </p:tavLst>
                                    </p:anim>
                                    <p:anim calcmode="lin" valueType="num">
                                      <p:cBhvr additive="base">
                                        <p:cTn id="13" dur="500" fill="hold"/>
                                        <p:tgtEl>
                                          <p:spTgt spid="203981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9810" grpId="0"/>
      <p:bldP spid="2039811"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52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9523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2" name="内容占位符 1"/>
          <p:cNvSpPr>
            <a:spLocks noGrp="1"/>
          </p:cNvSpPr>
          <p:nvPr>
            <p:ph idx="1"/>
          </p:nvPr>
        </p:nvSpPr>
        <p:spPr>
          <a:xfrm>
            <a:off x="539750" y="1069975"/>
            <a:ext cx="7921625" cy="4718050"/>
          </a:xfrm>
        </p:spPr>
        <p:txBody>
          <a:bodyPr vert="horz" wrap="square" lIns="91440" tIns="45720" rIns="91440" bIns="45720" numCol="1" anchor="t" anchorCtr="0" compatLnSpc="1"/>
          <a:lstStyle/>
          <a:p>
            <a:pPr marL="195580" marR="0" lvl="0" indent="-195580" algn="just" defTabSz="914400" rtl="0" eaLnBrk="1" fontAlgn="base" latinLnBrk="0" hangingPunct="1">
              <a:lnSpc>
                <a:spcPct val="10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运算符按</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功能</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分为</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9</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类：</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665480" marR="0" lvl="1" indent="-279400" algn="just" defTabSz="914400" rtl="0" eaLnBrk="0" fontAlgn="base" latinLnBrk="0" hangingPunct="0">
              <a:lnSpc>
                <a:spcPct val="105000"/>
              </a:lnSpc>
              <a:spcBef>
                <a:spcPct val="0"/>
              </a:spcBef>
              <a:spcAft>
                <a:spcPct val="0"/>
              </a:spcAft>
              <a:buClrTx/>
              <a:buSzTx/>
              <a:buFontTx/>
              <a:buNone/>
              <a:defRPr/>
            </a:pP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算术</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逻辑</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关系</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等式</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缩减</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665480" marR="0" lvl="1" indent="-279400" algn="just" defTabSz="914400" rtl="0" eaLnBrk="0" fontAlgn="base" latinLnBrk="0" hangingPunct="0">
              <a:lnSpc>
                <a:spcPct val="105000"/>
              </a:lnSpc>
              <a:spcBef>
                <a:spcPct val="0"/>
              </a:spcBef>
              <a:spcAft>
                <a:spcPct val="0"/>
              </a:spcAft>
              <a:buClrTx/>
              <a:buSzTx/>
              <a:buFontTx/>
              <a:buNone/>
              <a:defRPr/>
            </a:pP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条件</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位</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移位</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 </a:t>
            </a: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位拼接</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endParaRPr>
          </a:p>
          <a:p>
            <a:pPr marL="665480" marR="0" lvl="1" indent="-279400" algn="just" defTabSz="914400" rtl="0" eaLnBrk="0" fontAlgn="base" latinLnBrk="0" hangingPunct="0">
              <a:lnSpc>
                <a:spcPct val="105000"/>
              </a:lnSpc>
              <a:spcBef>
                <a:spcPct val="0"/>
              </a:spcBef>
              <a:spcAft>
                <a:spcPct val="0"/>
              </a:spcAft>
              <a:buClrTx/>
              <a:buSzTx/>
              <a:buFontTx/>
              <a:buNone/>
              <a:defRPr/>
            </a:pP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0" marR="0" lvl="0" indent="0" algn="just" defTabSz="914400" rtl="0" eaLnBrk="0" fontAlgn="base" latinLnBrk="0" hangingPunct="0">
              <a:lnSpc>
                <a:spcPct val="100000"/>
              </a:lnSpc>
              <a:spcBef>
                <a:spcPct val="20000"/>
              </a:spcBef>
              <a:spcAft>
                <a:spcPct val="0"/>
              </a:spcAft>
              <a:buClr>
                <a:srgbClr val="3333FF"/>
              </a:buClr>
              <a:buSzTx/>
              <a:buFont typeface="Wingdings" panose="05000000000000000000" pitchFamily="2" charset="2"/>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运算符按</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操作数的个数</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分为</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3</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类：</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Char char="Ø"/>
              <a:defRPr/>
            </a:pP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单目</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带一个操作数</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   逻辑非！，按位取反</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，缩减运算符，移位运算符</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Char char="Ø"/>
              <a:defRPr/>
            </a:pP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双目</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带两个操作数</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   算术、关系、等式运算符，逻辑、位运算符的大部分</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Char char="Ø"/>
              <a:defRPr/>
            </a:pPr>
            <a:r>
              <a:rPr kumimoji="0" lang="zh-CN" altLang="en-US" sz="2000" b="0" i="0" u="none" strike="noStrike" kern="0" cap="none" spc="0" normalizeH="0" baseline="0" noProof="1">
                <a:ln>
                  <a:noFill/>
                </a:ln>
                <a:solidFill>
                  <a:srgbClr val="009900"/>
                </a:solidFill>
                <a:effectLst/>
                <a:uLnTx/>
                <a:uFillTx/>
                <a:latin typeface="Times New Roman" panose="02020603050405020304" pitchFamily="18" charset="0"/>
                <a:ea typeface="华文楷体" panose="02010600040101010101" pitchFamily="2" charset="-122"/>
                <a:sym typeface="+mn-ea"/>
              </a:rPr>
              <a:t>三目</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运算符</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带三个操作数</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57555" marR="0" lvl="1" indent="-279400" algn="just" defTabSz="914400" rtl="0" eaLnBrk="0" fontAlgn="base" latinLnBrk="0" hangingPunct="0">
              <a:lnSpc>
                <a:spcPct val="105000"/>
              </a:lnSpc>
              <a:spcBef>
                <a:spcPct val="20000"/>
              </a:spcBef>
              <a:spcAft>
                <a:spcPct val="0"/>
              </a:spcAft>
              <a:buClr>
                <a:schemeClr val="hlink"/>
              </a:buClr>
              <a:buSzPct val="80000"/>
              <a:buFont typeface="Wingdings" panose="05000000000000000000" pitchFamily="2" charset="2"/>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sym typeface="+mn-ea"/>
              </a:rPr>
              <a:t>   条件运算符</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728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52739" name="Rectangle 3"/>
          <p:cNvSpPr>
            <a:spLocks noGrp="1"/>
          </p:cNvSpPr>
          <p:nvPr>
            <p:ph idx="1"/>
          </p:nvPr>
        </p:nvSpPr>
        <p:spPr>
          <a:xfrm>
            <a:off x="534988" y="873125"/>
            <a:ext cx="7921625" cy="4719638"/>
          </a:xfrm>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4.1 </a:t>
            </a:r>
            <a:r>
              <a:rPr lang="zh-CN" altLang="en-US" sz="2800" dirty="0">
                <a:solidFill>
                  <a:schemeClr val="tx2"/>
                </a:solidFill>
                <a:latin typeface="宋体" panose="02010600030101010101" pitchFamily="2" charset="-122"/>
                <a:ea typeface="华文楷体" panose="02010600040101010101" pitchFamily="2" charset="-122"/>
                <a:cs typeface="+mn-cs"/>
              </a:rPr>
              <a:t>算术运算符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graphicFrame>
        <p:nvGraphicFramePr>
          <p:cNvPr id="86021" name="表格 86020"/>
          <p:cNvGraphicFramePr/>
          <p:nvPr/>
        </p:nvGraphicFramePr>
        <p:xfrm>
          <a:off x="1768475" y="1497013"/>
          <a:ext cx="3232150" cy="2209800"/>
        </p:xfrm>
        <a:graphic>
          <a:graphicData uri="http://schemas.openxmlformats.org/drawingml/2006/table">
            <a:tbl>
              <a:tblPr/>
              <a:tblGrid>
                <a:gridCol w="1479550"/>
                <a:gridCol w="1752600"/>
              </a:tblGrid>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算术运算符</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8288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 </a:t>
                      </a:r>
                      <a:r>
                        <a:rPr lang="zh-CN" altLang="en-US" sz="2000" b="0" dirty="0">
                          <a:solidFill>
                            <a:schemeClr val="tx1"/>
                          </a:solidFill>
                          <a:latin typeface="Tahoma" panose="020B0604030504040204" pitchFamily="34" charset="0"/>
                        </a:rPr>
                        <a:t>＋</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加</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减</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乘</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除</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求模</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52751" name="AutoShape 15"/>
          <p:cNvSpPr/>
          <p:nvPr/>
        </p:nvSpPr>
        <p:spPr>
          <a:xfrm>
            <a:off x="5391150" y="1841500"/>
            <a:ext cx="1600200" cy="457200"/>
          </a:xfrm>
          <a:prstGeom prst="wedgeRoundRectCallout">
            <a:avLst>
              <a:gd name="adj1" fmla="val -60815"/>
              <a:gd name="adj2" fmla="val 91667"/>
              <a:gd name="adj3" fmla="val 16667"/>
            </a:avLst>
          </a:prstGeom>
          <a:noFill/>
          <a:ln w="9525" cap="flat" cmpd="sng">
            <a:solidFill>
              <a:schemeClr val="accent1"/>
            </a:solidFill>
            <a:prstDash val="solid"/>
            <a:round/>
            <a:headEnd type="none" w="med" len="med"/>
            <a:tailEnd type="none" w="med" len="med"/>
          </a:ln>
          <a:effectLst>
            <a:prstShdw prst="shdw17" dist="17961" dir="2699999">
              <a:srgbClr val="708688"/>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Times New Roman" panose="02020603050405020304" pitchFamily="18" charset="0"/>
                <a:ea typeface="华文楷体" panose="02010600040101010101" pitchFamily="2" charset="-122"/>
              </a:rPr>
              <a:t>双</a:t>
            </a:r>
            <a:r>
              <a:rPr lang="zh-CN" altLang="en-US" dirty="0">
                <a:latin typeface="Times New Roman" panose="02020603050405020304" pitchFamily="18" charset="0"/>
                <a:ea typeface="华文楷体" panose="02010600040101010101" pitchFamily="2" charset="-122"/>
              </a:rPr>
              <a:t>目运算符</a:t>
            </a:r>
            <a:endParaRPr lang="zh-CN" altLang="en-US" dirty="0">
              <a:solidFill>
                <a:srgbClr val="FF0066"/>
              </a:solidFill>
              <a:latin typeface="Times New Roman" panose="02020603050405020304" pitchFamily="18" charset="0"/>
              <a:ea typeface="华文楷体" panose="02010600040101010101" pitchFamily="2" charset="-122"/>
            </a:endParaRPr>
          </a:p>
        </p:txBody>
      </p:sp>
      <p:sp>
        <p:nvSpPr>
          <p:cNvPr id="1652752" name="Rectangle 16"/>
          <p:cNvSpPr/>
          <p:nvPr/>
        </p:nvSpPr>
        <p:spPr>
          <a:xfrm>
            <a:off x="228600" y="3708400"/>
            <a:ext cx="8534400" cy="29210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marR="0" lvl="0" indent="-342900" algn="just" defTabSz="914400" rtl="0" eaLnBrk="0" fontAlgn="base" latinLnBrk="0" hangingPunct="0">
              <a:lnSpc>
                <a:spcPct val="110000"/>
              </a:lnSpc>
              <a:spcBef>
                <a:spcPct val="20000"/>
              </a:spcBef>
              <a:spcAft>
                <a:spcPct val="0"/>
              </a:spcAft>
              <a:buClr>
                <a:srgbClr val="3333FF"/>
              </a:buClr>
              <a:buSzTx/>
              <a:buFont typeface="Wingdings" panose="05000000000000000000" pitchFamily="2" charset="2"/>
              <a:buChar char="§"/>
              <a:defRPr/>
            </a:pPr>
            <a:r>
              <a:rPr kumimoji="0" lang="zh-CN"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除法取整：进行整数除法运算时，结果值略去小数部分，只取整数部分！</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20000"/>
              </a:spcBef>
              <a:spcAft>
                <a:spcPct val="0"/>
              </a:spcAft>
              <a:buClr>
                <a:srgbClr val="3333FF"/>
              </a:buClr>
              <a:buSzTx/>
              <a:buFont typeface="Wingdings" panose="05000000000000000000" pitchFamily="2" charset="2"/>
              <a:buChar char="§"/>
              <a:defRPr/>
            </a:pP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称为</a:t>
            </a:r>
            <a:r>
              <a:rPr kumimoji="0" lang="zh-CN" altLang="en-US"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求模</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（或</a:t>
            </a:r>
            <a:r>
              <a:rPr kumimoji="0" lang="zh-CN" altLang="en-US"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求余</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）运算符，要求</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两侧均为</a:t>
            </a:r>
            <a:r>
              <a:rPr kumimoji="0" lang="zh-CN" altLang="en-US"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整型</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数据；</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20000"/>
              </a:spcBef>
              <a:spcAft>
                <a:spcPct val="0"/>
              </a:spcAft>
              <a:buClr>
                <a:srgbClr val="3333FF"/>
              </a:buClr>
              <a:buSzTx/>
              <a:buFont typeface="Wingdings" panose="05000000000000000000" pitchFamily="2" charset="2"/>
              <a:buChar char="§"/>
              <a:defRPr/>
            </a:pPr>
            <a:r>
              <a:rPr kumimoji="0" lang="zh-CN"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求模运算结果值的符号位取第一个操作数的符号位！</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20000"/>
              </a:spcBef>
              <a:spcAft>
                <a:spcPct val="0"/>
              </a:spcAft>
              <a:buClr>
                <a:srgbClr val="3333FF"/>
              </a:buClr>
              <a:buSzTx/>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例</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-11%3     </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结果为</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-2</a:t>
            </a:r>
            <a:endPar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20000"/>
              </a:spcBef>
              <a:spcAft>
                <a:spcPct val="0"/>
              </a:spcAft>
              <a:buClr>
                <a:srgbClr val="3333FF"/>
              </a:buClr>
              <a:buSzTx/>
              <a:buFont typeface="Wingdings" panose="05000000000000000000" pitchFamily="2" charset="2"/>
              <a:buChar char="§"/>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进行算术运算时，若某操作数为不定值</a:t>
            </a:r>
            <a:r>
              <a:rPr kumimoji="0" lang="en-US" altLang="zh-CN"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x</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，则整个结果也为</a:t>
            </a:r>
            <a:r>
              <a:rPr kumimoji="0" lang="en-US" altLang="zh-CN" sz="2200" b="1"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x</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2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 	</a:t>
            </a:r>
            <a:endParaRPr kumimoji="0" lang="zh-CN" altLang="en-US" sz="22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52739"/>
                                        </p:tgtEl>
                                        <p:attrNameLst>
                                          <p:attrName>style.visibility</p:attrName>
                                        </p:attrNameLst>
                                      </p:cBhvr>
                                      <p:to>
                                        <p:strVal val="visible"/>
                                      </p:to>
                                    </p:set>
                                    <p:anim calcmode="lin" valueType="num">
                                      <p:cBhvr additive="base">
                                        <p:cTn id="7" dur="500" fill="hold"/>
                                        <p:tgtEl>
                                          <p:spTgt spid="1652739"/>
                                        </p:tgtEl>
                                        <p:attrNameLst>
                                          <p:attrName>ppt_x</p:attrName>
                                        </p:attrNameLst>
                                      </p:cBhvr>
                                      <p:tavLst>
                                        <p:tav tm="0">
                                          <p:val>
                                            <p:strVal val="0-#ppt_w/2"/>
                                          </p:val>
                                        </p:tav>
                                        <p:tav tm="100000">
                                          <p:val>
                                            <p:strVal val="#ppt_x"/>
                                          </p:val>
                                        </p:tav>
                                      </p:tavLst>
                                    </p:anim>
                                    <p:anim calcmode="lin" valueType="num">
                                      <p:cBhvr additive="base">
                                        <p:cTn id="8" dur="500" fill="hold"/>
                                        <p:tgtEl>
                                          <p:spTgt spid="16527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52751"/>
                                        </p:tgtEl>
                                        <p:attrNameLst>
                                          <p:attrName>style.visibility</p:attrName>
                                        </p:attrNameLst>
                                      </p:cBhvr>
                                      <p:to>
                                        <p:strVal val="visible"/>
                                      </p:to>
                                    </p:set>
                                    <p:animEffect transition="in" filter="dissolve">
                                      <p:cBhvr>
                                        <p:cTn id="13" dur="500"/>
                                        <p:tgtEl>
                                          <p:spTgt spid="165275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6021"/>
                                        </p:tgtEl>
                                        <p:attrNameLst>
                                          <p:attrName>style.visibility</p:attrName>
                                        </p:attrNameLst>
                                      </p:cBhvr>
                                      <p:to>
                                        <p:strVal val="visible"/>
                                      </p:to>
                                    </p:set>
                                    <p:anim calcmode="lin" valueType="num">
                                      <p:cBhvr additive="base">
                                        <p:cTn id="18" dur="500" fill="hold"/>
                                        <p:tgtEl>
                                          <p:spTgt spid="86021"/>
                                        </p:tgtEl>
                                        <p:attrNameLst>
                                          <p:attrName>ppt_x</p:attrName>
                                        </p:attrNameLst>
                                      </p:cBhvr>
                                      <p:tavLst>
                                        <p:tav tm="0">
                                          <p:val>
                                            <p:strVal val="#ppt_x"/>
                                          </p:val>
                                        </p:tav>
                                        <p:tav tm="100000">
                                          <p:val>
                                            <p:strVal val="#ppt_x"/>
                                          </p:val>
                                        </p:tav>
                                      </p:tavLst>
                                    </p:anim>
                                    <p:anim calcmode="lin" valueType="num">
                                      <p:cBhvr additive="base">
                                        <p:cTn id="19" dur="500" fill="hold"/>
                                        <p:tgtEl>
                                          <p:spTgt spid="8602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2" fill="hold" grpId="0" nodeType="clickEffect">
                                  <p:stCondLst>
                                    <p:cond delay="0"/>
                                  </p:stCondLst>
                                  <p:childTnLst>
                                    <p:set>
                                      <p:cBhvr>
                                        <p:cTn id="23" dur="1" fill="hold">
                                          <p:stCondLst>
                                            <p:cond delay="0"/>
                                          </p:stCondLst>
                                        </p:cTn>
                                        <p:tgtEl>
                                          <p:spTgt spid="1652752"/>
                                        </p:tgtEl>
                                        <p:attrNameLst>
                                          <p:attrName>style.visibility</p:attrName>
                                        </p:attrNameLst>
                                      </p:cBhvr>
                                      <p:to>
                                        <p:strVal val="visible"/>
                                      </p:to>
                                    </p:set>
                                    <p:anim calcmode="lin" valueType="num">
                                      <p:cBhvr additive="base">
                                        <p:cTn id="24" dur="500" fill="hold"/>
                                        <p:tgtEl>
                                          <p:spTgt spid="1652752"/>
                                        </p:tgtEl>
                                        <p:attrNameLst>
                                          <p:attrName>ppt_x</p:attrName>
                                        </p:attrNameLst>
                                      </p:cBhvr>
                                      <p:tavLst>
                                        <p:tav tm="0">
                                          <p:val>
                                            <p:strVal val="0-#ppt_w/2"/>
                                          </p:val>
                                        </p:tav>
                                        <p:tav tm="100000">
                                          <p:val>
                                            <p:strVal val="#ppt_x"/>
                                          </p:val>
                                        </p:tav>
                                      </p:tavLst>
                                    </p:anim>
                                    <p:anim calcmode="lin" valueType="num">
                                      <p:cBhvr additive="base">
                                        <p:cTn id="25" dur="500" fill="hold"/>
                                        <p:tgtEl>
                                          <p:spTgt spid="16527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2739" grpId="0"/>
      <p:bldP spid="1652751" grpId="0" bldLvl="0" animBg="1"/>
      <p:bldP spid="165275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93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9933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54787" name="Rectangle 3"/>
          <p:cNvSpPr>
            <a:spLocks noGrp="1"/>
          </p:cNvSpPr>
          <p:nvPr>
            <p:ph idx="1"/>
          </p:nvPr>
        </p:nvSpPr>
        <p:spPr>
          <a:xfrm>
            <a:off x="539750" y="933450"/>
            <a:ext cx="7921625" cy="4872038"/>
          </a:xfrm>
        </p:spPr>
        <p:txBody>
          <a:bodyPr vert="horz" wrap="square" lIns="91440" tIns="45720" rIns="91440" bIns="45720" anchor="t" anchorCtr="0"/>
          <a:p>
            <a:pPr algn="just" eaLnBrk="1" hangingPunct="1">
              <a:lnSpc>
                <a:spcPct val="110000"/>
              </a:lnSpc>
            </a:pPr>
            <a:r>
              <a:rPr lang="en-US" altLang="zh-CN" dirty="0">
                <a:latin typeface="Times New Roman" panose="02020603050405020304" pitchFamily="18" charset="0"/>
                <a:ea typeface="黑体" panose="02010609060101010101" pitchFamily="49" charset="-122"/>
                <a:cs typeface="+mn-cs"/>
              </a:rPr>
              <a:t>4.2 </a:t>
            </a:r>
            <a:r>
              <a:rPr lang="zh-CN" altLang="en-US" dirty="0">
                <a:latin typeface="Times New Roman" panose="02020603050405020304" pitchFamily="18" charset="0"/>
                <a:ea typeface="华文楷体" panose="02010600040101010101" pitchFamily="2" charset="-122"/>
                <a:cs typeface="+mn-cs"/>
              </a:rPr>
              <a:t>逻辑运算符</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逻辑运算符把它的操作数当作</a:t>
            </a:r>
            <a:r>
              <a:rPr lang="zh-CN" altLang="en-US" dirty="0">
                <a:solidFill>
                  <a:srgbClr val="FF33CC"/>
                </a:solidFill>
                <a:latin typeface="Times New Roman" panose="02020603050405020304" pitchFamily="18" charset="0"/>
                <a:ea typeface="华文楷体" panose="02010600040101010101" pitchFamily="2" charset="-122"/>
                <a:cs typeface="+mn-cs"/>
              </a:rPr>
              <a:t>布尔变量</a:t>
            </a:r>
            <a:r>
              <a:rPr lang="zh-CN" altLang="en-US" dirty="0">
                <a:latin typeface="Times New Roman" panose="02020603050405020304" pitchFamily="18" charset="0"/>
                <a:ea typeface="华文楷体" panose="02010600040101010101" pitchFamily="2" charset="-122"/>
                <a:cs typeface="+mn-cs"/>
              </a:rPr>
              <a:t>：</a:t>
            </a:r>
            <a:endParaRPr lang="zh-CN" altLang="en-US" dirty="0">
              <a:latin typeface="Times New Roman" panose="02020603050405020304" pitchFamily="18" charset="0"/>
              <a:ea typeface="华文楷体" panose="02010600040101010101" pitchFamily="2" charset="-122"/>
              <a:cs typeface="+mn-cs"/>
            </a:endParaRPr>
          </a:p>
          <a:p>
            <a:pPr lvl="1" algn="just" eaLnBrk="1" hangingPunct="1">
              <a:lnSpc>
                <a:spcPct val="110000"/>
              </a:lnSpc>
              <a:buClr>
                <a:srgbClr val="FF3300"/>
              </a:buClr>
              <a:buSzPct val="85000"/>
            </a:pPr>
            <a:r>
              <a:rPr lang="zh-CN" altLang="en-US" dirty="0">
                <a:solidFill>
                  <a:srgbClr val="FF33CC"/>
                </a:solidFill>
                <a:latin typeface="Times New Roman" panose="02020603050405020304" pitchFamily="18" charset="0"/>
                <a:ea typeface="华文楷体" panose="02010600040101010101" pitchFamily="2" charset="-122"/>
              </a:rPr>
              <a:t>非零</a:t>
            </a:r>
            <a:r>
              <a:rPr lang="zh-CN" altLang="en-US" dirty="0">
                <a:latin typeface="Times New Roman" panose="02020603050405020304" pitchFamily="18" charset="0"/>
                <a:ea typeface="华文楷体" panose="02010600040101010101" pitchFamily="2" charset="-122"/>
              </a:rPr>
              <a:t>的操作数被认为是</a:t>
            </a:r>
            <a:r>
              <a:rPr lang="zh-CN" altLang="en-US" dirty="0">
                <a:solidFill>
                  <a:srgbClr val="FF33CC"/>
                </a:solidFill>
                <a:latin typeface="Times New Roman" panose="02020603050405020304" pitchFamily="18" charset="0"/>
                <a:ea typeface="华文楷体" panose="02010600040101010101" pitchFamily="2" charset="-122"/>
              </a:rPr>
              <a:t>真</a:t>
            </a:r>
            <a:r>
              <a:rPr lang="en-US" altLang="zh-CN" dirty="0">
                <a:latin typeface="Times New Roman" panose="02020603050405020304" pitchFamily="18" charset="0"/>
                <a:ea typeface="黑体" panose="02010609060101010101" pitchFamily="49" charset="-122"/>
              </a:rPr>
              <a:t>(1‘b1)</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lvl="1" algn="just" eaLnBrk="1" hangingPunct="1">
              <a:lnSpc>
                <a:spcPct val="110000"/>
              </a:lnSpc>
              <a:buClr>
                <a:srgbClr val="FF3300"/>
              </a:buClr>
              <a:buSzPct val="85000"/>
            </a:pPr>
            <a:r>
              <a:rPr lang="zh-CN" altLang="en-US" dirty="0">
                <a:solidFill>
                  <a:srgbClr val="FF33CC"/>
                </a:solidFill>
                <a:latin typeface="Times New Roman" panose="02020603050405020304" pitchFamily="18" charset="0"/>
                <a:ea typeface="华文楷体" panose="02010600040101010101" pitchFamily="2" charset="-122"/>
              </a:rPr>
              <a:t>零</a:t>
            </a:r>
            <a:r>
              <a:rPr lang="zh-CN" altLang="en-US" dirty="0">
                <a:latin typeface="Times New Roman" panose="02020603050405020304" pitchFamily="18" charset="0"/>
                <a:ea typeface="华文楷体" panose="02010600040101010101" pitchFamily="2" charset="-122"/>
              </a:rPr>
              <a:t>被认为是</a:t>
            </a:r>
            <a:r>
              <a:rPr lang="zh-CN" altLang="en-US" dirty="0">
                <a:solidFill>
                  <a:srgbClr val="FF33CC"/>
                </a:solidFill>
                <a:latin typeface="Times New Roman" panose="02020603050405020304" pitchFamily="18" charset="0"/>
                <a:ea typeface="华文楷体" panose="02010600040101010101" pitchFamily="2" charset="-122"/>
              </a:rPr>
              <a:t>假</a:t>
            </a:r>
            <a:r>
              <a:rPr lang="en-US" altLang="zh-CN" dirty="0">
                <a:latin typeface="Times New Roman" panose="02020603050405020304" pitchFamily="18" charset="0"/>
                <a:ea typeface="黑体" panose="02010609060101010101" pitchFamily="49" charset="-122"/>
              </a:rPr>
              <a:t>(1‘b0)</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lvl="1" algn="just" eaLnBrk="1" hangingPunct="1">
              <a:lnSpc>
                <a:spcPct val="110000"/>
              </a:lnSpc>
              <a:buClr>
                <a:srgbClr val="FF3300"/>
              </a:buClr>
              <a:buSzPct val="85000"/>
            </a:pPr>
            <a:r>
              <a:rPr lang="en-US" altLang="zh-CN" dirty="0">
                <a:solidFill>
                  <a:srgbClr val="FF33CC"/>
                </a:solidFill>
                <a:latin typeface="Times New Roman" panose="02020603050405020304" pitchFamily="18" charset="0"/>
                <a:ea typeface="黑体" panose="02010609060101010101" pitchFamily="49" charset="-122"/>
              </a:rPr>
              <a:t>*</a:t>
            </a:r>
            <a:r>
              <a:rPr lang="zh-CN" altLang="en-US" dirty="0">
                <a:solidFill>
                  <a:srgbClr val="FF33CC"/>
                </a:solidFill>
                <a:latin typeface="Times New Roman" panose="02020603050405020304" pitchFamily="18" charset="0"/>
                <a:ea typeface="华文楷体" panose="02010600040101010101" pitchFamily="2" charset="-122"/>
              </a:rPr>
              <a:t>不确定</a:t>
            </a:r>
            <a:r>
              <a:rPr lang="zh-CN" altLang="en-US" dirty="0">
                <a:latin typeface="Times New Roman" panose="02020603050405020304" pitchFamily="18" charset="0"/>
                <a:ea typeface="华文楷体" panose="02010600040101010101" pitchFamily="2" charset="-122"/>
              </a:rPr>
              <a:t>的操作数如</a:t>
            </a:r>
            <a:r>
              <a:rPr lang="en-US" altLang="zh-CN" dirty="0">
                <a:latin typeface="Times New Roman" panose="02020603050405020304" pitchFamily="18" charset="0"/>
                <a:ea typeface="黑体" panose="02010609060101010101" pitchFamily="49" charset="-122"/>
              </a:rPr>
              <a:t>4’bxx00, </a:t>
            </a:r>
            <a:r>
              <a:rPr lang="zh-CN" altLang="en-US" dirty="0">
                <a:latin typeface="Times New Roman" panose="02020603050405020304" pitchFamily="18" charset="0"/>
                <a:ea typeface="华文楷体" panose="02010600040101010101" pitchFamily="2" charset="-122"/>
              </a:rPr>
              <a:t>被认为是不确定的</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华文楷体" panose="02010600040101010101" pitchFamily="2" charset="-122"/>
              </a:rPr>
              <a:t>可能为零，也可能为非零）（记为</a:t>
            </a:r>
            <a:r>
              <a:rPr lang="en-US" altLang="zh-CN" dirty="0">
                <a:latin typeface="Times New Roman" panose="02020603050405020304" pitchFamily="18" charset="0"/>
                <a:ea typeface="黑体" panose="02010609060101010101" pitchFamily="49" charset="-122"/>
              </a:rPr>
              <a:t>1’bx)</a:t>
            </a:r>
            <a:r>
              <a:rPr lang="zh-CN" altLang="en-US" dirty="0">
                <a:latin typeface="Times New Roman" panose="02020603050405020304" pitchFamily="18" charset="0"/>
                <a:ea typeface="华文楷体" panose="02010600040101010101" pitchFamily="2" charset="-122"/>
              </a:rPr>
              <a:t>； 但</a:t>
            </a:r>
            <a:r>
              <a:rPr lang="en-US" altLang="zh-CN" dirty="0">
                <a:latin typeface="Times New Roman" panose="02020603050405020304" pitchFamily="18" charset="0"/>
                <a:ea typeface="黑体" panose="02010609060101010101" pitchFamily="49" charset="-122"/>
              </a:rPr>
              <a:t>4’bxx11</a:t>
            </a:r>
            <a:r>
              <a:rPr lang="zh-CN" altLang="en-US" dirty="0">
                <a:latin typeface="Times New Roman" panose="02020603050405020304" pitchFamily="18" charset="0"/>
                <a:ea typeface="华文楷体" panose="02010600040101010101" pitchFamily="2" charset="-122"/>
              </a:rPr>
              <a:t>被认为是真（记为</a:t>
            </a:r>
            <a:r>
              <a:rPr lang="en-US" altLang="zh-CN" dirty="0">
                <a:latin typeface="Times New Roman" panose="02020603050405020304" pitchFamily="18" charset="0"/>
                <a:ea typeface="黑体" panose="02010609060101010101" pitchFamily="49" charset="-122"/>
              </a:rPr>
              <a:t>1’b1</a:t>
            </a:r>
            <a:r>
              <a:rPr lang="zh-CN" altLang="en-US" dirty="0">
                <a:latin typeface="Times New Roman" panose="02020603050405020304" pitchFamily="18" charset="0"/>
                <a:ea typeface="华文楷体" panose="02010600040101010101" pitchFamily="2" charset="-122"/>
              </a:rPr>
              <a:t>，因为它肯定是非零的）。</a:t>
            </a:r>
            <a:endParaRPr lang="zh-CN" altLang="en-US" dirty="0">
              <a:latin typeface="Times New Roman" panose="02020603050405020304" pitchFamily="18" charset="0"/>
              <a:ea typeface="华文楷体" panose="02010600040101010101" pitchFamily="2" charset="-122"/>
            </a:endParaRPr>
          </a:p>
        </p:txBody>
      </p:sp>
      <p:graphicFrame>
        <p:nvGraphicFramePr>
          <p:cNvPr id="87045" name="表格 87044"/>
          <p:cNvGraphicFramePr/>
          <p:nvPr/>
        </p:nvGraphicFramePr>
        <p:xfrm>
          <a:off x="2971800" y="3903663"/>
          <a:ext cx="3200400" cy="1524000"/>
        </p:xfrm>
        <a:graphic>
          <a:graphicData uri="http://schemas.openxmlformats.org/drawingml/2006/table">
            <a:tbl>
              <a:tblPr/>
              <a:tblGrid>
                <a:gridCol w="1447800"/>
                <a:gridCol w="1752600"/>
              </a:tblGrid>
              <a:tr h="365125">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逻辑运算符</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158875">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 </a:t>
                      </a:r>
                      <a:r>
                        <a:rPr lang="en-US" altLang="zh-CN" sz="2000" dirty="0">
                          <a:solidFill>
                            <a:schemeClr val="hlink"/>
                          </a:solidFill>
                          <a:latin typeface="Tahoma" panose="020B0604030504040204" pitchFamily="34" charset="0"/>
                        </a:rPr>
                        <a:t>&amp;&amp;</a:t>
                      </a:r>
                      <a:r>
                        <a:rPr lang="en-US" altLang="zh-CN" sz="2000" b="0" dirty="0">
                          <a:solidFill>
                            <a:schemeClr val="tx1"/>
                          </a:solidFill>
                          <a:latin typeface="Tahoma" panose="020B0604030504040204" pitchFamily="34" charset="0"/>
                        </a:rPr>
                        <a:t>(</a:t>
                      </a:r>
                      <a:r>
                        <a:rPr lang="zh-CN" altLang="en-US" sz="2000" b="0" dirty="0">
                          <a:solidFill>
                            <a:schemeClr val="tx1"/>
                          </a:solidFill>
                          <a:latin typeface="Tahoma" panose="020B0604030504040204" pitchFamily="34" charset="0"/>
                        </a:rPr>
                        <a:t>双目</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r>
                        <a:rPr lang="zh-CN" altLang="en-US" sz="2000" b="0" dirty="0">
                          <a:solidFill>
                            <a:schemeClr val="tx1"/>
                          </a:solidFill>
                          <a:latin typeface="Tahoma" panose="020B0604030504040204" pitchFamily="34" charset="0"/>
                        </a:rPr>
                        <a:t>双目</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r>
                        <a:rPr lang="zh-CN" altLang="en-US" sz="2000" b="0" dirty="0">
                          <a:solidFill>
                            <a:schemeClr val="tx1"/>
                          </a:solidFill>
                          <a:latin typeface="Tahoma" panose="020B0604030504040204" pitchFamily="34" charset="0"/>
                        </a:rPr>
                        <a:t>单目</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逻辑与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逻辑或</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逻辑非</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54799" name="AutoShape 15"/>
          <p:cNvSpPr/>
          <p:nvPr/>
        </p:nvSpPr>
        <p:spPr>
          <a:xfrm>
            <a:off x="1004888" y="5713413"/>
            <a:ext cx="7173912" cy="661987"/>
          </a:xfrm>
          <a:prstGeom prst="horizontalScroll">
            <a:avLst>
              <a:gd name="adj" fmla="val 12500"/>
            </a:avLst>
          </a:prstGeom>
          <a:solidFill>
            <a:srgbClr val="FFCC99"/>
          </a:solidFill>
          <a:ln w="9525">
            <a:noFill/>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eaLnBrk="1" hangingPunct="1">
              <a:lnSpc>
                <a:spcPct val="110000"/>
              </a:lnSpc>
              <a:buClr>
                <a:srgbClr val="FF0066"/>
              </a:buClr>
              <a:buSzPct val="80000"/>
              <a:buFont typeface="Wingdings" panose="05000000000000000000" pitchFamily="2" charset="2"/>
              <a:buChar char="v"/>
            </a:pPr>
            <a:r>
              <a:rPr lang="zh-CN" altLang="en-US" sz="2400" b="1" dirty="0">
                <a:solidFill>
                  <a:schemeClr val="tx2"/>
                </a:solidFill>
                <a:latin typeface="华文楷体" panose="02010600040101010101" pitchFamily="2" charset="-122"/>
                <a:ea typeface="华文楷体" panose="02010600040101010101" pitchFamily="2" charset="-122"/>
              </a:rPr>
              <a:t>进行逻辑运算后的结果为</a:t>
            </a:r>
            <a:r>
              <a:rPr lang="zh-CN" altLang="en-US" sz="2400" b="1" dirty="0">
                <a:solidFill>
                  <a:schemeClr val="hlink"/>
                </a:solidFill>
                <a:latin typeface="华文楷体" panose="02010600040101010101" pitchFamily="2" charset="-122"/>
                <a:ea typeface="华文楷体" panose="02010600040101010101" pitchFamily="2" charset="-122"/>
              </a:rPr>
              <a:t>布尔值</a:t>
            </a:r>
            <a:r>
              <a:rPr lang="zh-CN" altLang="en-US" sz="2400" b="1" dirty="0">
                <a:solidFill>
                  <a:schemeClr val="tx2"/>
                </a:solidFill>
                <a:latin typeface="华文楷体" panose="02010600040101010101" pitchFamily="2" charset="-122"/>
                <a:ea typeface="华文楷体" panose="02010600040101010101" pitchFamily="2" charset="-122"/>
              </a:rPr>
              <a:t>（为</a:t>
            </a:r>
            <a:r>
              <a:rPr lang="en-US" altLang="zh-CN" sz="2400" b="1" dirty="0">
                <a:solidFill>
                  <a:schemeClr val="tx2"/>
                </a:solidFill>
                <a:latin typeface="华文楷体" panose="02010600040101010101" pitchFamily="2" charset="-122"/>
                <a:ea typeface="华文楷体" panose="02010600040101010101" pitchFamily="2" charset="-122"/>
              </a:rPr>
              <a:t>1</a:t>
            </a:r>
            <a:r>
              <a:rPr lang="zh-CN" altLang="en-US" sz="2400" b="1" dirty="0">
                <a:solidFill>
                  <a:schemeClr val="tx2"/>
                </a:solidFill>
                <a:latin typeface="华文楷体" panose="02010600040101010101" pitchFamily="2" charset="-122"/>
                <a:ea typeface="华文楷体" panose="02010600040101010101" pitchFamily="2" charset="-122"/>
              </a:rPr>
              <a:t>或</a:t>
            </a:r>
            <a:r>
              <a:rPr lang="en-US" altLang="zh-CN" sz="2400" b="1" dirty="0">
                <a:solidFill>
                  <a:schemeClr val="tx2"/>
                </a:solidFill>
                <a:latin typeface="华文楷体" panose="02010600040101010101" pitchFamily="2" charset="-122"/>
                <a:ea typeface="华文楷体" panose="02010600040101010101" pitchFamily="2" charset="-122"/>
              </a:rPr>
              <a:t>0</a:t>
            </a:r>
            <a:r>
              <a:rPr lang="zh-CN" altLang="en-US" sz="2400" b="1" dirty="0">
                <a:solidFill>
                  <a:schemeClr val="tx2"/>
                </a:solidFill>
                <a:latin typeface="华文楷体" panose="02010600040101010101" pitchFamily="2" charset="-122"/>
                <a:ea typeface="华文楷体" panose="02010600040101010101" pitchFamily="2" charset="-122"/>
              </a:rPr>
              <a:t>或</a:t>
            </a:r>
            <a:r>
              <a:rPr lang="en-US" altLang="zh-CN" sz="2400" b="1" dirty="0">
                <a:solidFill>
                  <a:schemeClr val="tx2"/>
                </a:solidFill>
                <a:latin typeface="华文楷体" panose="02010600040101010101" pitchFamily="2" charset="-122"/>
                <a:ea typeface="华文楷体" panose="02010600040101010101" pitchFamily="2" charset="-122"/>
              </a:rPr>
              <a:t>x</a:t>
            </a:r>
            <a:r>
              <a:rPr lang="zh-CN" altLang="en-US" sz="2400" b="1" dirty="0">
                <a:solidFill>
                  <a:schemeClr val="tx2"/>
                </a:solidFill>
                <a:latin typeface="华文楷体" panose="02010600040101010101" pitchFamily="2" charset="-122"/>
                <a:ea typeface="华文楷体" panose="02010600040101010101" pitchFamily="2" charset="-122"/>
              </a:rPr>
              <a:t>）！</a:t>
            </a:r>
            <a:endParaRPr lang="zh-CN" altLang="en-US" sz="2400"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54787"/>
                                        </p:tgtEl>
                                        <p:attrNameLst>
                                          <p:attrName>style.visibility</p:attrName>
                                        </p:attrNameLst>
                                      </p:cBhvr>
                                      <p:to>
                                        <p:strVal val="visible"/>
                                      </p:to>
                                    </p:set>
                                    <p:anim calcmode="lin" valueType="num">
                                      <p:cBhvr additive="base">
                                        <p:cTn id="7" dur="500" fill="hold"/>
                                        <p:tgtEl>
                                          <p:spTgt spid="1654787"/>
                                        </p:tgtEl>
                                        <p:attrNameLst>
                                          <p:attrName>ppt_x</p:attrName>
                                        </p:attrNameLst>
                                      </p:cBhvr>
                                      <p:tavLst>
                                        <p:tav tm="0">
                                          <p:val>
                                            <p:strVal val="0-#ppt_w/2"/>
                                          </p:val>
                                        </p:tav>
                                        <p:tav tm="100000">
                                          <p:val>
                                            <p:strVal val="#ppt_x"/>
                                          </p:val>
                                        </p:tav>
                                      </p:tavLst>
                                    </p:anim>
                                    <p:anim calcmode="lin" valueType="num">
                                      <p:cBhvr additive="base">
                                        <p:cTn id="8" dur="500" fill="hold"/>
                                        <p:tgtEl>
                                          <p:spTgt spid="16547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7045"/>
                                        </p:tgtEl>
                                        <p:attrNameLst>
                                          <p:attrName>style.visibility</p:attrName>
                                        </p:attrNameLst>
                                      </p:cBhvr>
                                      <p:to>
                                        <p:strVal val="visible"/>
                                      </p:to>
                                    </p:set>
                                    <p:anim calcmode="lin" valueType="num">
                                      <p:cBhvr additive="base">
                                        <p:cTn id="13" dur="500" fill="hold"/>
                                        <p:tgtEl>
                                          <p:spTgt spid="87045"/>
                                        </p:tgtEl>
                                        <p:attrNameLst>
                                          <p:attrName>ppt_x</p:attrName>
                                        </p:attrNameLst>
                                      </p:cBhvr>
                                      <p:tavLst>
                                        <p:tav tm="0">
                                          <p:val>
                                            <p:strVal val="#ppt_x"/>
                                          </p:val>
                                        </p:tav>
                                        <p:tav tm="100000">
                                          <p:val>
                                            <p:strVal val="#ppt_x"/>
                                          </p:val>
                                        </p:tav>
                                      </p:tavLst>
                                    </p:anim>
                                    <p:anim calcmode="lin" valueType="num">
                                      <p:cBhvr additive="base">
                                        <p:cTn id="14" dur="500" fill="hold"/>
                                        <p:tgtEl>
                                          <p:spTgt spid="8704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1654799"/>
                                        </p:tgtEl>
                                        <p:attrNameLst>
                                          <p:attrName>style.visibility</p:attrName>
                                        </p:attrNameLst>
                                      </p:cBhvr>
                                      <p:to>
                                        <p:strVal val="visible"/>
                                      </p:to>
                                    </p:set>
                                    <p:animEffect transition="in" filter="barn(outVertical)">
                                      <p:cBhvr>
                                        <p:cTn id="19" dur="500"/>
                                        <p:tgtEl>
                                          <p:spTgt spid="1654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4787" grpId="0"/>
      <p:bldP spid="1654799"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13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0137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56835"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“&amp;&amp;”</a:t>
            </a:r>
            <a:r>
              <a:rPr lang="zh-CN" altLang="en-US" dirty="0">
                <a:latin typeface="Times New Roman" panose="02020603050405020304" pitchFamily="18" charset="0"/>
                <a:ea typeface="华文楷体" panose="02010600040101010101" pitchFamily="2" charset="-122"/>
                <a:cs typeface="+mn-cs"/>
              </a:rPr>
              <a:t>和“</a:t>
            </a:r>
            <a:r>
              <a:rPr lang="en-US" altLang="zh-CN" dirty="0">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的优先级除高于条件运算符外，低于关系运算符、等式运算符等几乎所有运算符；</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逻辑非“！”优先级最高。</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a:t>
            </a:r>
            <a:r>
              <a:rPr lang="zh-CN" altLang="en-US" dirty="0">
                <a:solidFill>
                  <a:srgbClr val="FF0066"/>
                </a:solidFill>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a&gt;b)&amp;&amp;(b&gt;c)    	</a:t>
            </a:r>
            <a:r>
              <a:rPr lang="zh-CN" altLang="en-US" dirty="0">
                <a:latin typeface="Times New Roman" panose="02020603050405020304" pitchFamily="18" charset="0"/>
                <a:ea typeface="华文楷体" panose="02010600040101010101" pitchFamily="2" charset="-122"/>
                <a:cs typeface="+mn-cs"/>
              </a:rPr>
              <a:t>可简写为： </a:t>
            </a:r>
            <a:r>
              <a:rPr lang="en-US" altLang="zh-CN" dirty="0">
                <a:latin typeface="Times New Roman" panose="02020603050405020304" pitchFamily="18" charset="0"/>
                <a:ea typeface="黑体" panose="02010609060101010101" pitchFamily="49" charset="-122"/>
                <a:cs typeface="+mn-cs"/>
              </a:rPr>
              <a:t>a&gt;b &amp;&amp; b&gt;c</a:t>
            </a:r>
            <a:endParaRPr lang="en-US" altLang="zh-CN" dirty="0">
              <a:latin typeface="Times New Roman" panose="02020603050405020304" pitchFamily="18" charset="0"/>
              <a:ea typeface="黑体" panose="02010609060101010101" pitchFamily="49"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a= =b)||(x= = y)	</a:t>
            </a:r>
            <a:r>
              <a:rPr lang="zh-CN" altLang="en-US" dirty="0">
                <a:latin typeface="Times New Roman" panose="02020603050405020304" pitchFamily="18" charset="0"/>
                <a:ea typeface="华文楷体" panose="02010600040101010101" pitchFamily="2" charset="-122"/>
                <a:cs typeface="+mn-cs"/>
              </a:rPr>
              <a:t>可简写为： </a:t>
            </a:r>
            <a:r>
              <a:rPr lang="en-US" altLang="zh-CN" dirty="0">
                <a:latin typeface="Times New Roman" panose="02020603050405020304" pitchFamily="18" charset="0"/>
                <a:ea typeface="黑体" panose="02010609060101010101" pitchFamily="49" charset="-122"/>
                <a:cs typeface="+mn-cs"/>
              </a:rPr>
              <a:t>a= =b||x= = y </a:t>
            </a:r>
            <a:endParaRPr lang="en-US" altLang="zh-CN" dirty="0">
              <a:latin typeface="Times New Roman" panose="02020603050405020304" pitchFamily="18" charset="0"/>
              <a:ea typeface="黑体" panose="02010609060101010101" pitchFamily="49"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!a)||(a&gt;b)		</a:t>
            </a:r>
            <a:r>
              <a:rPr lang="zh-CN" altLang="en-US" dirty="0">
                <a:latin typeface="Times New Roman" panose="02020603050405020304" pitchFamily="18" charset="0"/>
                <a:ea typeface="华文楷体" panose="02010600040101010101" pitchFamily="2" charset="-122"/>
                <a:cs typeface="+mn-cs"/>
              </a:rPr>
              <a:t>可简写为： </a:t>
            </a:r>
            <a:r>
              <a:rPr lang="en-US" altLang="zh-CN" dirty="0">
                <a:latin typeface="Times New Roman" panose="02020603050405020304" pitchFamily="18" charset="0"/>
                <a:ea typeface="黑体" panose="02010609060101010101" pitchFamily="49" charset="-122"/>
                <a:cs typeface="+mn-cs"/>
              </a:rPr>
              <a:t>!a||a&gt;b</a:t>
            </a:r>
            <a:endParaRPr lang="en-US" altLang="zh-CN" dirty="0">
              <a:latin typeface="Times New Roman" panose="02020603050405020304" pitchFamily="18" charset="0"/>
              <a:ea typeface="黑体" panose="02010609060101010101" pitchFamily="49" charset="-122"/>
              <a:cs typeface="+mn-cs"/>
            </a:endParaRPr>
          </a:p>
        </p:txBody>
      </p:sp>
      <p:sp>
        <p:nvSpPr>
          <p:cNvPr id="1656837" name="Rectangle 5"/>
          <p:cNvSpPr/>
          <p:nvPr/>
        </p:nvSpPr>
        <p:spPr>
          <a:xfrm>
            <a:off x="1262063" y="4287838"/>
            <a:ext cx="6477000" cy="903287"/>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rgbClr val="FF0066"/>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为提高程序的可读性，明确表达各运算符之间的优先关系，建议使用</a:t>
            </a:r>
            <a:r>
              <a:rPr lang="zh-CN" altLang="en-US" sz="2400" b="1" dirty="0">
                <a:solidFill>
                  <a:srgbClr val="FF0066"/>
                </a:solidFill>
                <a:latin typeface="华文楷体" panose="02010600040101010101" pitchFamily="2" charset="-122"/>
                <a:ea typeface="华文楷体" panose="02010600040101010101" pitchFamily="2" charset="-122"/>
              </a:rPr>
              <a:t>括号</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56835"/>
                                        </p:tgtEl>
                                        <p:attrNameLst>
                                          <p:attrName>style.visibility</p:attrName>
                                        </p:attrNameLst>
                                      </p:cBhvr>
                                      <p:to>
                                        <p:strVal val="visible"/>
                                      </p:to>
                                    </p:set>
                                    <p:anim calcmode="lin" valueType="num">
                                      <p:cBhvr additive="base">
                                        <p:cTn id="7" dur="500" fill="hold"/>
                                        <p:tgtEl>
                                          <p:spTgt spid="1656835"/>
                                        </p:tgtEl>
                                        <p:attrNameLst>
                                          <p:attrName>ppt_x</p:attrName>
                                        </p:attrNameLst>
                                      </p:cBhvr>
                                      <p:tavLst>
                                        <p:tav tm="0">
                                          <p:val>
                                            <p:strVal val="0-#ppt_w/2"/>
                                          </p:val>
                                        </p:tav>
                                        <p:tav tm="100000">
                                          <p:val>
                                            <p:strVal val="#ppt_x"/>
                                          </p:val>
                                        </p:tav>
                                      </p:tavLst>
                                    </p:anim>
                                    <p:anim calcmode="lin" valueType="num">
                                      <p:cBhvr additive="base">
                                        <p:cTn id="8" dur="500" fill="hold"/>
                                        <p:tgtEl>
                                          <p:spTgt spid="16568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56837"/>
                                        </p:tgtEl>
                                        <p:attrNameLst>
                                          <p:attrName>style.visibility</p:attrName>
                                        </p:attrNameLst>
                                      </p:cBhvr>
                                      <p:to>
                                        <p:strVal val="visible"/>
                                      </p:to>
                                    </p:set>
                                    <p:anim calcmode="lin" valueType="num">
                                      <p:cBhvr>
                                        <p:cTn id="13" dur="500" fill="hold"/>
                                        <p:tgtEl>
                                          <p:spTgt spid="1656837"/>
                                        </p:tgtEl>
                                        <p:attrNameLst>
                                          <p:attrName>ppt_w</p:attrName>
                                        </p:attrNameLst>
                                      </p:cBhvr>
                                      <p:tavLst>
                                        <p:tav tm="0">
                                          <p:val>
                                            <p:fltVal val="0.000000"/>
                                          </p:val>
                                        </p:tav>
                                        <p:tav tm="100000">
                                          <p:val>
                                            <p:strVal val="#ppt_w"/>
                                          </p:val>
                                        </p:tav>
                                      </p:tavLst>
                                    </p:anim>
                                    <p:anim calcmode="lin" valueType="num">
                                      <p:cBhvr>
                                        <p:cTn id="14" dur="500" fill="hold"/>
                                        <p:tgtEl>
                                          <p:spTgt spid="165683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6835" grpId="0"/>
      <p:bldP spid="1656837"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34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03427" name="Rectangle 1026"/>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58883" name="Rectangle 1027"/>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4.3 </a:t>
            </a:r>
            <a:r>
              <a:rPr lang="zh-CN" altLang="en-US" sz="2800" dirty="0">
                <a:solidFill>
                  <a:schemeClr val="tx2"/>
                </a:solidFill>
                <a:latin typeface="宋体" panose="02010600030101010101" pitchFamily="2" charset="-122"/>
                <a:ea typeface="华文楷体" panose="02010600040101010101" pitchFamily="2" charset="-122"/>
                <a:cs typeface="+mn-cs"/>
              </a:rPr>
              <a:t>位运算符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graphicFrame>
        <p:nvGraphicFramePr>
          <p:cNvPr id="89093" name="表格 89092"/>
          <p:cNvGraphicFramePr/>
          <p:nvPr/>
        </p:nvGraphicFramePr>
        <p:xfrm>
          <a:off x="3567113" y="1576388"/>
          <a:ext cx="3232150" cy="2179638"/>
        </p:xfrm>
        <a:graphic>
          <a:graphicData uri="http://schemas.openxmlformats.org/drawingml/2006/table">
            <a:tbl>
              <a:tblPr/>
              <a:tblGrid>
                <a:gridCol w="1479550"/>
                <a:gridCol w="1752600"/>
              </a:tblGrid>
              <a:tr h="380944">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位运算符</a:t>
                      </a:r>
                      <a:endParaRPr lang="zh-CN" altLang="en-US" sz="2000" dirty="0">
                        <a:solidFill>
                          <a:schemeClr val="tx1"/>
                        </a:solidFill>
                        <a:latin typeface="Tahoma" panose="020B0604030504040204" pitchFamily="34" charset="0"/>
                      </a:endParaRPr>
                    </a:p>
                  </a:txBody>
                  <a:tcPr marL="30724" marR="30724" marT="15360" marB="1536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0" marB="1536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79869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 </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hlink"/>
                          </a:solidFill>
                          <a:latin typeface="Tahoma" panose="020B0604030504040204" pitchFamily="34" charset="0"/>
                        </a:rPr>
                        <a:t>&amp;</a:t>
                      </a:r>
                      <a:endParaRPr lang="en-US" altLang="zh-CN" sz="2000" dirty="0">
                        <a:solidFill>
                          <a:schemeClr val="hlink"/>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r>
                        <a:rPr lang="zh-CN" altLang="en-US" sz="2000" b="0" dirty="0">
                          <a:solidFill>
                            <a:schemeClr val="tx1"/>
                          </a:solidFill>
                          <a:latin typeface="Tahoma" panose="020B0604030504040204" pitchFamily="34" charset="0"/>
                        </a:rPr>
                        <a:t>，</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60" marB="1536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按位取反</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按位与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按位或</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按位异或</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按位同或</a:t>
                      </a:r>
                      <a:endParaRPr lang="zh-CN" altLang="en-US" sz="2000" b="0" dirty="0">
                        <a:solidFill>
                          <a:schemeClr val="tx1"/>
                        </a:solidFill>
                        <a:latin typeface="Tahoma" panose="020B0604030504040204" pitchFamily="34" charset="0"/>
                      </a:endParaRPr>
                    </a:p>
                  </a:txBody>
                  <a:tcPr marL="30724" marR="30724" marT="15360" marB="1536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grpSp>
        <p:nvGrpSpPr>
          <p:cNvPr id="2" name="Group 1039"/>
          <p:cNvGrpSpPr/>
          <p:nvPr/>
        </p:nvGrpSpPr>
        <p:grpSpPr>
          <a:xfrm>
            <a:off x="1149350" y="2490788"/>
            <a:ext cx="2362200" cy="1143000"/>
            <a:chOff x="624" y="1680"/>
            <a:chExt cx="1488" cy="720"/>
          </a:xfrm>
        </p:grpSpPr>
        <p:sp>
          <p:nvSpPr>
            <p:cNvPr id="103443" name="AutoShape 1040"/>
            <p:cNvSpPr/>
            <p:nvPr/>
          </p:nvSpPr>
          <p:spPr>
            <a:xfrm>
              <a:off x="624" y="1872"/>
              <a:ext cx="1008" cy="288"/>
            </a:xfrm>
            <a:prstGeom prst="wedgeRoundRectCallout">
              <a:avLst>
                <a:gd name="adj1" fmla="val 74505"/>
                <a:gd name="adj2" fmla="val 11806"/>
                <a:gd name="adj3" fmla="val 16667"/>
              </a:avLst>
            </a:prstGeom>
            <a:noFill/>
            <a:ln w="12700" cap="flat" cmpd="sng">
              <a:solidFill>
                <a:srgbClr val="89A4A7"/>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双</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03444" name="AutoShape 1041"/>
            <p:cNvSpPr/>
            <p:nvPr/>
          </p:nvSpPr>
          <p:spPr>
            <a:xfrm>
              <a:off x="1968" y="1680"/>
              <a:ext cx="144" cy="720"/>
            </a:xfrm>
            <a:prstGeom prst="leftBrace">
              <a:avLst>
                <a:gd name="adj1" fmla="val 41435"/>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sp>
        <p:nvSpPr>
          <p:cNvPr id="1658898" name="AutoShape 1042"/>
          <p:cNvSpPr/>
          <p:nvPr/>
        </p:nvSpPr>
        <p:spPr>
          <a:xfrm>
            <a:off x="1628775" y="1858963"/>
            <a:ext cx="1600200" cy="457200"/>
          </a:xfrm>
          <a:prstGeom prst="wedgeRoundRectCallout">
            <a:avLst>
              <a:gd name="adj1" fmla="val 72718"/>
              <a:gd name="adj2" fmla="val 24653"/>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单</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58899" name="Rectangle 1043"/>
          <p:cNvSpPr/>
          <p:nvPr/>
        </p:nvSpPr>
        <p:spPr>
          <a:xfrm>
            <a:off x="684213" y="4041775"/>
            <a:ext cx="7605713" cy="241935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位运算其结果与操作数位数相同。位运算符中的双目运算符要求对两个操作数的相应位</a:t>
            </a:r>
            <a:r>
              <a:rPr kumimoji="0" lang="zh-CN" altLang="en-US" sz="2400" b="1" i="0" u="none" strike="noStrike" kern="1200" cap="none" spc="0" normalizeH="0" baseline="0" noProof="1">
                <a:ln>
                  <a:noFill/>
                </a:ln>
                <a:solidFill>
                  <a:srgbClr val="FF66CC"/>
                </a:solidFill>
                <a:effectLst/>
                <a:uLnTx/>
                <a:uFillTx/>
                <a:latin typeface="Times New Roman" panose="02020603050405020304" pitchFamily="18" charset="0"/>
                <a:ea typeface="华文楷体" panose="02010600040101010101" pitchFamily="2" charset="-122"/>
                <a:cs typeface="+mn-cs"/>
                <a:sym typeface="+mn-ea"/>
              </a:rPr>
              <a:t>逐位</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进行运算。</a:t>
            </a:r>
            <a:endPar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两个不同长度的操作数进行位运算时，将自动按</a:t>
            </a:r>
            <a:r>
              <a:rPr kumimoji="0" lang="zh-CN" altLang="en-US" sz="2400" b="1" i="0" u="none" strike="noStrike" kern="1200" cap="none" spc="0" normalizeH="0" baseline="0" noProof="1">
                <a:ln>
                  <a:noFill/>
                </a:ln>
                <a:solidFill>
                  <a:srgbClr val="FF66CC"/>
                </a:solidFill>
                <a:effectLst/>
                <a:uLnTx/>
                <a:uFillTx/>
                <a:latin typeface="Times New Roman" panose="02020603050405020304" pitchFamily="18" charset="0"/>
                <a:ea typeface="华文楷体" panose="02010600040101010101" pitchFamily="2" charset="-122"/>
                <a:cs typeface="+mn-cs"/>
                <a:sym typeface="+mn-ea"/>
              </a:rPr>
              <a:t>右</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端</a:t>
            </a:r>
            <a:r>
              <a:rPr kumimoji="0" lang="zh-CN" altLang="en-US" sz="2400" b="1" i="0" u="none" strike="noStrike" kern="1200" cap="none" spc="0" normalizeH="0" baseline="0" noProof="1">
                <a:ln>
                  <a:noFill/>
                </a:ln>
                <a:solidFill>
                  <a:srgbClr val="FF66CC"/>
                </a:solidFill>
                <a:effectLst/>
                <a:uLnTx/>
                <a:uFillTx/>
                <a:latin typeface="Times New Roman" panose="02020603050405020304" pitchFamily="18" charset="0"/>
                <a:ea typeface="华文楷体" panose="02010600040101010101" pitchFamily="2" charset="-122"/>
                <a:cs typeface="+mn-cs"/>
                <a:sym typeface="+mn-ea"/>
              </a:rPr>
              <a:t>对齐</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，位数少的操作数会在高位用</a:t>
            </a:r>
            <a:r>
              <a:rPr kumimoji="0" lang="en-US" altLang="zh-CN"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0</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补齐。</a:t>
            </a:r>
            <a:endPar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200" b="0" i="0" u="none" strike="noStrike" kern="120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sym typeface="+mn-ea"/>
              </a:rPr>
              <a:t>例</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若</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 = 5’b11001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B = 3’b101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则</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 &amp; B = </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5’b11001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&amp;</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5’b</a:t>
            </a:r>
            <a:r>
              <a:rPr kumimoji="0" lang="en-US" altLang="zh-CN" sz="2200" b="1" i="0" u="none" strike="noStrike" kern="1200" cap="none" spc="0" normalizeH="0" baseline="0" noProof="1">
                <a:ln>
                  <a:noFill/>
                </a:ln>
                <a:solidFill>
                  <a:srgbClr val="FF66CC"/>
                </a:solidFill>
                <a:effectLst/>
                <a:uLnTx/>
                <a:uFillTx/>
                <a:latin typeface="Times New Roman" panose="02020603050405020304" pitchFamily="18" charset="0"/>
                <a:ea typeface="华文楷体" panose="02010600040101010101" pitchFamily="2" charset="-122"/>
                <a:cs typeface="+mn-cs"/>
                <a:sym typeface="+mn-ea"/>
              </a:rPr>
              <a:t>00</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101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5’b00001</a:t>
            </a:r>
            <a:r>
              <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endParaRPr kumimoji="0" lang="en-US" altLang="zh-CN" sz="24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58883"/>
                                        </p:tgtEl>
                                        <p:attrNameLst>
                                          <p:attrName>style.visibility</p:attrName>
                                        </p:attrNameLst>
                                      </p:cBhvr>
                                      <p:to>
                                        <p:strVal val="visible"/>
                                      </p:to>
                                    </p:set>
                                    <p:anim calcmode="lin" valueType="num">
                                      <p:cBhvr additive="base">
                                        <p:cTn id="7" dur="500" fill="hold"/>
                                        <p:tgtEl>
                                          <p:spTgt spid="1658883"/>
                                        </p:tgtEl>
                                        <p:attrNameLst>
                                          <p:attrName>ppt_x</p:attrName>
                                        </p:attrNameLst>
                                      </p:cBhvr>
                                      <p:tavLst>
                                        <p:tav tm="0">
                                          <p:val>
                                            <p:strVal val="0-#ppt_w/2"/>
                                          </p:val>
                                        </p:tav>
                                        <p:tav tm="100000">
                                          <p:val>
                                            <p:strVal val="#ppt_x"/>
                                          </p:val>
                                        </p:tav>
                                      </p:tavLst>
                                    </p:anim>
                                    <p:anim calcmode="lin" valueType="num">
                                      <p:cBhvr additive="base">
                                        <p:cTn id="8" dur="500" fill="hold"/>
                                        <p:tgtEl>
                                          <p:spTgt spid="1658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9093"/>
                                        </p:tgtEl>
                                        <p:attrNameLst>
                                          <p:attrName>style.visibility</p:attrName>
                                        </p:attrNameLst>
                                      </p:cBhvr>
                                      <p:to>
                                        <p:strVal val="visible"/>
                                      </p:to>
                                    </p:set>
                                    <p:anim calcmode="lin" valueType="num">
                                      <p:cBhvr additive="base">
                                        <p:cTn id="13" dur="500" fill="hold"/>
                                        <p:tgtEl>
                                          <p:spTgt spid="89093"/>
                                        </p:tgtEl>
                                        <p:attrNameLst>
                                          <p:attrName>ppt_x</p:attrName>
                                        </p:attrNameLst>
                                      </p:cBhvr>
                                      <p:tavLst>
                                        <p:tav tm="0">
                                          <p:val>
                                            <p:strVal val="#ppt_x"/>
                                          </p:val>
                                        </p:tav>
                                        <p:tav tm="100000">
                                          <p:val>
                                            <p:strVal val="#ppt_x"/>
                                          </p:val>
                                        </p:tav>
                                      </p:tavLst>
                                    </p:anim>
                                    <p:anim calcmode="lin" valueType="num">
                                      <p:cBhvr additive="base">
                                        <p:cTn id="14" dur="500" fill="hold"/>
                                        <p:tgtEl>
                                          <p:spTgt spid="890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658898"/>
                                        </p:tgtEl>
                                        <p:attrNameLst>
                                          <p:attrName>style.visibility</p:attrName>
                                        </p:attrNameLst>
                                      </p:cBhvr>
                                      <p:to>
                                        <p:strVal val="visible"/>
                                      </p:to>
                                    </p:set>
                                    <p:animEffect transition="in" filter="dissolve">
                                      <p:cBhvr>
                                        <p:cTn id="19" dur="500"/>
                                        <p:tgtEl>
                                          <p:spTgt spid="165889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dissolve">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58899">
                                            <p:txEl>
                                              <p:charRg st="0" end="46"/>
                                            </p:txEl>
                                          </p:spTgt>
                                        </p:tgtEl>
                                        <p:attrNameLst>
                                          <p:attrName>style.visibility</p:attrName>
                                        </p:attrNameLst>
                                      </p:cBhvr>
                                      <p:to>
                                        <p:strVal val="visible"/>
                                      </p:to>
                                    </p:set>
                                    <p:animEffect transition="in" filter="wipe(left)">
                                      <p:cBhvr>
                                        <p:cTn id="29" dur="500"/>
                                        <p:tgtEl>
                                          <p:spTgt spid="1658899">
                                            <p:txEl>
                                              <p:charRg st="0" end="4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58899">
                                            <p:txEl>
                                              <p:charRg st="46" end="89"/>
                                            </p:txEl>
                                          </p:spTgt>
                                        </p:tgtEl>
                                        <p:attrNameLst>
                                          <p:attrName>style.visibility</p:attrName>
                                        </p:attrNameLst>
                                      </p:cBhvr>
                                      <p:to>
                                        <p:strVal val="visible"/>
                                      </p:to>
                                    </p:set>
                                    <p:animEffect transition="in" filter="wipe(left)">
                                      <p:cBhvr>
                                        <p:cTn id="34" dur="500"/>
                                        <p:tgtEl>
                                          <p:spTgt spid="1658899">
                                            <p:txEl>
                                              <p:charRg st="46" end="8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58899">
                                            <p:txEl>
                                              <p:charRg st="89" end="124"/>
                                            </p:txEl>
                                          </p:spTgt>
                                        </p:tgtEl>
                                        <p:attrNameLst>
                                          <p:attrName>style.visibility</p:attrName>
                                        </p:attrNameLst>
                                      </p:cBhvr>
                                      <p:to>
                                        <p:strVal val="visible"/>
                                      </p:to>
                                    </p:set>
                                    <p:animEffect transition="in" filter="wipe(left)">
                                      <p:cBhvr>
                                        <p:cTn id="39" dur="500"/>
                                        <p:tgtEl>
                                          <p:spTgt spid="1658899">
                                            <p:txEl>
                                              <p:charRg st="89" end="12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658899">
                                            <p:txEl>
                                              <p:charRg st="124" end="179"/>
                                            </p:txEl>
                                          </p:spTgt>
                                        </p:tgtEl>
                                        <p:attrNameLst>
                                          <p:attrName>style.visibility</p:attrName>
                                        </p:attrNameLst>
                                      </p:cBhvr>
                                      <p:to>
                                        <p:strVal val="visible"/>
                                      </p:to>
                                    </p:set>
                                    <p:animEffect transition="in" filter="wipe(left)">
                                      <p:cBhvr>
                                        <p:cTn id="44" dur="500"/>
                                        <p:tgtEl>
                                          <p:spTgt spid="1658899">
                                            <p:txEl>
                                              <p:charRg st="124" end="1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883" grpId="0"/>
      <p:bldP spid="1658898" grpId="0" bldLvl="0" animBg="1"/>
      <p:bldP spid="165889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474" name="图片 1"/>
          <p:cNvPicPr>
            <a:picLocks noChangeAspect="1"/>
          </p:cNvPicPr>
          <p:nvPr/>
        </p:nvPicPr>
        <p:blipFill>
          <a:blip r:embed="rId1"/>
          <a:stretch>
            <a:fillRect/>
          </a:stretch>
        </p:blipFill>
        <p:spPr>
          <a:xfrm>
            <a:off x="276225" y="1895475"/>
            <a:ext cx="6453188" cy="3316288"/>
          </a:xfrm>
          <a:prstGeom prst="rect">
            <a:avLst/>
          </a:prstGeom>
          <a:noFill/>
          <a:ln w="9525">
            <a:noFill/>
          </a:ln>
        </p:spPr>
      </p:pic>
      <p:sp>
        <p:nvSpPr>
          <p:cNvPr id="105475"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05476"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0931"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latin typeface="宋体" panose="02010600030101010101" pitchFamily="2" charset="-122"/>
                <a:ea typeface="黑体" panose="02010609060101010101" pitchFamily="49" charset="-122"/>
                <a:cs typeface="+mn-cs"/>
              </a:rPr>
              <a:t>[</a:t>
            </a:r>
            <a:r>
              <a:rPr lang="zh-CN" altLang="en-US" dirty="0">
                <a:solidFill>
                  <a:srgbClr val="FF0066"/>
                </a:solidFill>
                <a:latin typeface="宋体" panose="02010600030101010101" pitchFamily="2" charset="-122"/>
                <a:ea typeface="华文楷体" panose="02010600040101010101" pitchFamily="2" charset="-122"/>
                <a:cs typeface="+mn-cs"/>
              </a:rPr>
              <a:t>例</a:t>
            </a:r>
            <a:r>
              <a:rPr lang="en-US" altLang="zh-CN" dirty="0">
                <a:latin typeface="宋体" panose="02010600030101010101" pitchFamily="2" charset="-122"/>
                <a:ea typeface="黑体" panose="02010609060101010101" pitchFamily="49" charset="-122"/>
                <a:cs typeface="+mn-cs"/>
              </a:rPr>
              <a:t>] &amp;&amp;</a:t>
            </a:r>
            <a:r>
              <a:rPr lang="zh-CN" altLang="en-US" dirty="0">
                <a:latin typeface="宋体" panose="02010600030101010101" pitchFamily="2" charset="-122"/>
                <a:ea typeface="华文楷体" panose="02010600040101010101" pitchFamily="2" charset="-122"/>
                <a:cs typeface="+mn-cs"/>
              </a:rPr>
              <a:t>运算符和</a:t>
            </a:r>
            <a:r>
              <a:rPr lang="en-US" altLang="zh-CN" dirty="0">
                <a:latin typeface="宋体" panose="02010600030101010101" pitchFamily="2" charset="-122"/>
                <a:ea typeface="黑体" panose="02010609060101010101" pitchFamily="49" charset="-122"/>
                <a:cs typeface="+mn-cs"/>
              </a:rPr>
              <a:t>&amp;</a:t>
            </a:r>
            <a:r>
              <a:rPr lang="zh-CN" altLang="en-US" dirty="0">
                <a:latin typeface="宋体" panose="02010600030101010101" pitchFamily="2" charset="-122"/>
                <a:ea typeface="华文楷体" panose="02010600040101010101" pitchFamily="2" charset="-122"/>
                <a:cs typeface="+mn-cs"/>
              </a:rPr>
              <a:t>（按位与）的区别</a:t>
            </a:r>
            <a:endParaRPr lang="zh-CN" altLang="en-US" dirty="0">
              <a:latin typeface="宋体" panose="02010600030101010101" pitchFamily="2" charset="-122"/>
              <a:ea typeface="华文楷体" panose="02010600040101010101" pitchFamily="2" charset="-122"/>
              <a:cs typeface="+mn-cs"/>
            </a:endParaRPr>
          </a:p>
        </p:txBody>
      </p:sp>
      <p:sp>
        <p:nvSpPr>
          <p:cNvPr id="1660934" name="AutoShape 6"/>
          <p:cNvSpPr/>
          <p:nvPr/>
        </p:nvSpPr>
        <p:spPr>
          <a:xfrm>
            <a:off x="4618038" y="4375150"/>
            <a:ext cx="4038600" cy="381000"/>
          </a:xfrm>
          <a:prstGeom prst="wedgeRectCallout">
            <a:avLst>
              <a:gd name="adj1" fmla="val -60181"/>
              <a:gd name="adj2" fmla="val -93333"/>
            </a:avLst>
          </a:prstGeom>
          <a:noFill/>
          <a:ln w="9525" cap="flat" cmpd="sng">
            <a:solidFill>
              <a:schemeClr val="accent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sz="2200" b="1" dirty="0">
                <a:latin typeface="华文楷体" panose="02010600040101010101" pitchFamily="2" charset="-122"/>
                <a:ea typeface="华文楷体" panose="02010600040101010101" pitchFamily="2" charset="-122"/>
              </a:rPr>
              <a:t>&amp;&amp;</a:t>
            </a:r>
            <a:r>
              <a:rPr lang="zh-CN" altLang="en-US" sz="2200" b="1" dirty="0">
                <a:latin typeface="华文楷体" panose="02010600040101010101" pitchFamily="2" charset="-122"/>
                <a:ea typeface="华文楷体" panose="02010600040101010101" pitchFamily="2" charset="-122"/>
              </a:rPr>
              <a:t>运算的结果为</a:t>
            </a:r>
            <a:r>
              <a:rPr lang="en-US" altLang="zh-CN" sz="2200" b="1" dirty="0">
                <a:latin typeface="华文楷体" panose="02010600040101010101" pitchFamily="2" charset="-122"/>
                <a:ea typeface="华文楷体" panose="02010600040101010101" pitchFamily="2" charset="-122"/>
              </a:rPr>
              <a:t>1</a:t>
            </a:r>
            <a:r>
              <a:rPr lang="zh-CN" altLang="en-US" sz="2200" b="1" dirty="0">
                <a:latin typeface="华文楷体" panose="02010600040101010101" pitchFamily="2" charset="-122"/>
                <a:ea typeface="华文楷体" panose="02010600040101010101" pitchFamily="2" charset="-122"/>
              </a:rPr>
              <a:t>位的逻辑值</a:t>
            </a:r>
            <a:endParaRPr lang="zh-CN" altLang="en-US" sz="22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0931"/>
                                        </p:tgtEl>
                                        <p:attrNameLst>
                                          <p:attrName>style.visibility</p:attrName>
                                        </p:attrNameLst>
                                      </p:cBhvr>
                                      <p:to>
                                        <p:strVal val="visible"/>
                                      </p:to>
                                    </p:set>
                                    <p:anim calcmode="lin" valueType="num">
                                      <p:cBhvr>
                                        <p:cTn id="7" dur="500" fill="hold"/>
                                        <p:tgtEl>
                                          <p:spTgt spid="1660931"/>
                                        </p:tgtEl>
                                        <p:attrNameLst>
                                          <p:attrName>ppt_x</p:attrName>
                                        </p:attrNameLst>
                                      </p:cBhvr>
                                      <p:tavLst>
                                        <p:tav tm="0">
                                          <p:val>
                                            <p:strVal val="0-#ppt_w/2"/>
                                          </p:val>
                                        </p:tav>
                                        <p:tav tm="100000">
                                          <p:val>
                                            <p:strVal val="#ppt_x"/>
                                          </p:val>
                                        </p:tav>
                                      </p:tavLst>
                                    </p:anim>
                                    <p:anim calcmode="lin" valueType="num">
                                      <p:cBhvr>
                                        <p:cTn id="8" dur="500" fill="hold"/>
                                        <p:tgtEl>
                                          <p:spTgt spid="16609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60934"/>
                                        </p:tgtEl>
                                        <p:attrNameLst>
                                          <p:attrName>style.visibility</p:attrName>
                                        </p:attrNameLst>
                                      </p:cBhvr>
                                      <p:to>
                                        <p:strVal val="visible"/>
                                      </p:to>
                                    </p:set>
                                    <p:animEffect transition="in" filter="dissolve">
                                      <p:cBhvr>
                                        <p:cTn id="13" dur="500"/>
                                        <p:tgtEl>
                                          <p:spTgt spid="1660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31" grpId="0"/>
      <p:bldP spid="1660934"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07522" name="图片 6"/>
          <p:cNvPicPr>
            <a:picLocks noChangeAspect="1"/>
          </p:cNvPicPr>
          <p:nvPr/>
        </p:nvPicPr>
        <p:blipFill>
          <a:blip r:embed="rId1"/>
          <a:stretch>
            <a:fillRect/>
          </a:stretch>
        </p:blipFill>
        <p:spPr>
          <a:xfrm>
            <a:off x="127000" y="2933700"/>
            <a:ext cx="8596313" cy="2462213"/>
          </a:xfrm>
          <a:prstGeom prst="rect">
            <a:avLst/>
          </a:prstGeom>
          <a:noFill/>
          <a:ln w="9525">
            <a:noFill/>
          </a:ln>
        </p:spPr>
      </p:pic>
      <p:sp>
        <p:nvSpPr>
          <p:cNvPr id="107523"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0752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0931"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latin typeface="宋体" panose="02010600030101010101" pitchFamily="2" charset="-122"/>
                <a:ea typeface="黑体" panose="02010609060101010101" pitchFamily="49" charset="-122"/>
                <a:cs typeface="+mn-cs"/>
              </a:rPr>
              <a:t>[</a:t>
            </a:r>
            <a:r>
              <a:rPr lang="zh-CN" altLang="en-US" dirty="0">
                <a:solidFill>
                  <a:srgbClr val="FF0066"/>
                </a:solidFill>
                <a:latin typeface="宋体" panose="02010600030101010101" pitchFamily="2" charset="-122"/>
                <a:ea typeface="华文楷体" panose="02010600040101010101" pitchFamily="2" charset="-122"/>
                <a:cs typeface="+mn-cs"/>
              </a:rPr>
              <a:t>例</a:t>
            </a:r>
            <a:r>
              <a:rPr lang="en-US" altLang="zh-CN" dirty="0">
                <a:latin typeface="宋体" panose="02010600030101010101" pitchFamily="2" charset="-122"/>
                <a:ea typeface="黑体" panose="02010609060101010101" pitchFamily="49" charset="-122"/>
                <a:cs typeface="+mn-cs"/>
              </a:rPr>
              <a:t>] &amp;&amp;</a:t>
            </a:r>
            <a:r>
              <a:rPr lang="zh-CN" altLang="en-US" dirty="0">
                <a:latin typeface="宋体" panose="02010600030101010101" pitchFamily="2" charset="-122"/>
                <a:ea typeface="华文楷体" panose="02010600040101010101" pitchFamily="2" charset="-122"/>
                <a:cs typeface="+mn-cs"/>
              </a:rPr>
              <a:t>运算符和</a:t>
            </a:r>
            <a:r>
              <a:rPr lang="en-US" altLang="zh-CN" dirty="0">
                <a:latin typeface="宋体" panose="02010600030101010101" pitchFamily="2" charset="-122"/>
                <a:ea typeface="黑体" panose="02010609060101010101" pitchFamily="49" charset="-122"/>
                <a:cs typeface="+mn-cs"/>
              </a:rPr>
              <a:t>&amp;</a:t>
            </a:r>
            <a:r>
              <a:rPr lang="zh-CN" altLang="en-US" dirty="0">
                <a:latin typeface="宋体" panose="02010600030101010101" pitchFamily="2" charset="-122"/>
                <a:ea typeface="华文楷体" panose="02010600040101010101" pitchFamily="2" charset="-122"/>
                <a:cs typeface="+mn-cs"/>
              </a:rPr>
              <a:t>（按位与）的区别</a:t>
            </a:r>
            <a:endParaRPr lang="zh-CN" altLang="en-US" dirty="0">
              <a:latin typeface="宋体" panose="02010600030101010101" pitchFamily="2" charset="-122"/>
              <a:ea typeface="华文楷体" panose="02010600040101010101" pitchFamily="2" charset="-122"/>
              <a:cs typeface="+mn-cs"/>
            </a:endParaRPr>
          </a:p>
        </p:txBody>
      </p:sp>
      <p:sp>
        <p:nvSpPr>
          <p:cNvPr id="1660936" name="AutoShape 8"/>
          <p:cNvSpPr/>
          <p:nvPr/>
        </p:nvSpPr>
        <p:spPr>
          <a:xfrm>
            <a:off x="5929313" y="2498725"/>
            <a:ext cx="1573212" cy="346075"/>
          </a:xfrm>
          <a:prstGeom prst="wedgeRoundRectCallout">
            <a:avLst>
              <a:gd name="adj1" fmla="val 50606"/>
              <a:gd name="adj2" fmla="val 124310"/>
              <a:gd name="adj3" fmla="val 16667"/>
            </a:avLst>
          </a:prstGeom>
          <a:solidFill>
            <a:srgbClr val="FFCCCC"/>
          </a:solidFill>
          <a:ln w="9525">
            <a:noFill/>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Tahoma" panose="020B0604030504040204" pitchFamily="34" charset="0"/>
                <a:ea typeface="宋体" panose="02010600030101010101" pitchFamily="2" charset="-122"/>
              </a:rPr>
              <a:t>被认为是</a:t>
            </a:r>
            <a:r>
              <a:rPr lang="zh-CN" altLang="en-US" sz="1600" dirty="0">
                <a:solidFill>
                  <a:srgbClr val="FF33CC"/>
                </a:solidFill>
                <a:latin typeface="方正姚体" panose="02010601030101010101" pitchFamily="2" charset="-122"/>
                <a:ea typeface="方正姚体" panose="02010601030101010101" pitchFamily="2" charset="-122"/>
              </a:rPr>
              <a:t> </a:t>
            </a:r>
            <a:r>
              <a:rPr lang="en-US" altLang="zh-CN" sz="1600" dirty="0">
                <a:latin typeface="方正姚体" panose="02010601030101010101" pitchFamily="2" charset="-122"/>
                <a:ea typeface="方正姚体" panose="02010601030101010101" pitchFamily="2" charset="-122"/>
              </a:rPr>
              <a:t>1</a:t>
            </a:r>
            <a:r>
              <a:rPr lang="en-US" altLang="zh-CN" sz="1600" dirty="0">
                <a:latin typeface="Times New Roman" panose="02020603050405020304" pitchFamily="18" charset="0"/>
                <a:ea typeface="方正姚体" panose="02010601030101010101" pitchFamily="2" charset="-122"/>
              </a:rPr>
              <a:t>‘</a:t>
            </a:r>
            <a:r>
              <a:rPr lang="en-US" altLang="zh-CN" sz="1600" dirty="0">
                <a:latin typeface="方正姚体" panose="02010601030101010101" pitchFamily="2" charset="-122"/>
                <a:ea typeface="方正姚体" panose="02010601030101010101" pitchFamily="2" charset="-122"/>
              </a:rPr>
              <a:t>b</a:t>
            </a:r>
            <a:r>
              <a:rPr lang="en-US" altLang="zh-CN" sz="1600" dirty="0">
                <a:solidFill>
                  <a:srgbClr val="CC3300"/>
                </a:solidFill>
                <a:latin typeface="方正姚体" panose="02010601030101010101" pitchFamily="2" charset="-122"/>
                <a:ea typeface="方正姚体" panose="02010601030101010101" pitchFamily="2" charset="-122"/>
              </a:rPr>
              <a:t>1</a:t>
            </a:r>
            <a:endParaRPr lang="en-US" altLang="zh-CN" sz="1600" dirty="0">
              <a:solidFill>
                <a:srgbClr val="CC3300"/>
              </a:solidFill>
              <a:latin typeface="方正姚体" panose="02010601030101010101" pitchFamily="2" charset="-122"/>
              <a:ea typeface="方正姚体" panose="02010601030101010101" pitchFamily="2" charset="-122"/>
            </a:endParaRPr>
          </a:p>
        </p:txBody>
      </p:sp>
      <p:sp>
        <p:nvSpPr>
          <p:cNvPr id="1660937" name="AutoShape 9"/>
          <p:cNvSpPr/>
          <p:nvPr/>
        </p:nvSpPr>
        <p:spPr>
          <a:xfrm>
            <a:off x="7659688" y="2252663"/>
            <a:ext cx="1573212" cy="346075"/>
          </a:xfrm>
          <a:prstGeom prst="wedgeRoundRectCallout">
            <a:avLst>
              <a:gd name="adj1" fmla="val -34157"/>
              <a:gd name="adj2" fmla="val 214681"/>
              <a:gd name="adj3" fmla="val 16667"/>
            </a:avLst>
          </a:prstGeom>
          <a:solidFill>
            <a:srgbClr val="FFFFCC"/>
          </a:solidFill>
          <a:ln w="9525">
            <a:noFill/>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Tahoma" panose="020B0604030504040204" pitchFamily="34" charset="0"/>
                <a:ea typeface="宋体" panose="02010600030101010101" pitchFamily="2" charset="-122"/>
              </a:rPr>
              <a:t>被认为是</a:t>
            </a:r>
            <a:r>
              <a:rPr lang="zh-CN" altLang="en-US" sz="1600" dirty="0">
                <a:solidFill>
                  <a:srgbClr val="FF33CC"/>
                </a:solidFill>
                <a:latin typeface="方正姚体" panose="02010601030101010101" pitchFamily="2" charset="-122"/>
                <a:ea typeface="方正姚体" panose="02010601030101010101" pitchFamily="2" charset="-122"/>
              </a:rPr>
              <a:t> </a:t>
            </a:r>
            <a:r>
              <a:rPr lang="en-US" altLang="zh-CN" sz="1600" dirty="0">
                <a:latin typeface="方正姚体" panose="02010601030101010101" pitchFamily="2" charset="-122"/>
                <a:ea typeface="方正姚体" panose="02010601030101010101" pitchFamily="2" charset="-122"/>
              </a:rPr>
              <a:t>1</a:t>
            </a:r>
            <a:r>
              <a:rPr lang="en-US" altLang="zh-CN" sz="1600" dirty="0">
                <a:latin typeface="Times New Roman" panose="02020603050405020304" pitchFamily="18" charset="0"/>
                <a:ea typeface="方正姚体" panose="02010601030101010101" pitchFamily="2" charset="-122"/>
              </a:rPr>
              <a:t>‘</a:t>
            </a:r>
            <a:r>
              <a:rPr lang="en-US" altLang="zh-CN" sz="1600" dirty="0">
                <a:latin typeface="方正姚体" panose="02010601030101010101" pitchFamily="2" charset="-122"/>
                <a:ea typeface="方正姚体" panose="02010601030101010101" pitchFamily="2" charset="-122"/>
              </a:rPr>
              <a:t>b</a:t>
            </a:r>
            <a:r>
              <a:rPr lang="en-US" altLang="zh-CN" sz="1600" dirty="0">
                <a:solidFill>
                  <a:srgbClr val="CC3300"/>
                </a:solidFill>
                <a:latin typeface="方正姚体" panose="02010601030101010101" pitchFamily="2" charset="-122"/>
                <a:ea typeface="方正姚体" panose="02010601030101010101" pitchFamily="2" charset="-122"/>
              </a:rPr>
              <a:t>x</a:t>
            </a:r>
            <a:endParaRPr lang="en-US" altLang="zh-CN" sz="1600" dirty="0">
              <a:solidFill>
                <a:srgbClr val="CC3300"/>
              </a:solidFill>
              <a:latin typeface="方正姚体" panose="02010601030101010101" pitchFamily="2" charset="-122"/>
              <a:ea typeface="方正姚体" panose="02010601030101010101" pitchFamily="2" charset="-122"/>
            </a:endParaRPr>
          </a:p>
        </p:txBody>
      </p:sp>
      <p:sp>
        <p:nvSpPr>
          <p:cNvPr id="1660940" name="AutoShape 12"/>
          <p:cNvSpPr/>
          <p:nvPr/>
        </p:nvSpPr>
        <p:spPr>
          <a:xfrm>
            <a:off x="6318250" y="5664200"/>
            <a:ext cx="1993900" cy="304800"/>
          </a:xfrm>
          <a:prstGeom prst="wedgeRoundRectCallout">
            <a:avLst>
              <a:gd name="adj1" fmla="val 40046"/>
              <a:gd name="adj2" fmla="val -219792"/>
              <a:gd name="adj3" fmla="val 16667"/>
            </a:avLst>
          </a:prstGeom>
          <a:solidFill>
            <a:srgbClr val="FFFFCC"/>
          </a:solidFill>
          <a:ln w="9525">
            <a:noFill/>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Tahoma" panose="020B0604030504040204" pitchFamily="34" charset="0"/>
                <a:ea typeface="宋体" panose="02010600030101010101" pitchFamily="2" charset="-122"/>
              </a:rPr>
              <a:t>逻辑与结果为</a:t>
            </a:r>
            <a:r>
              <a:rPr lang="zh-CN" altLang="en-US" sz="1600" dirty="0">
                <a:solidFill>
                  <a:srgbClr val="FF33CC"/>
                </a:solidFill>
                <a:latin typeface="方正姚体" panose="02010601030101010101" pitchFamily="2" charset="-122"/>
                <a:ea typeface="方正姚体" panose="02010601030101010101" pitchFamily="2" charset="-122"/>
              </a:rPr>
              <a:t> </a:t>
            </a:r>
            <a:r>
              <a:rPr lang="en-US" altLang="zh-CN" sz="1600" dirty="0">
                <a:latin typeface="方正姚体" panose="02010601030101010101" pitchFamily="2" charset="-122"/>
                <a:ea typeface="方正姚体" panose="02010601030101010101" pitchFamily="2" charset="-122"/>
              </a:rPr>
              <a:t>1</a:t>
            </a:r>
            <a:r>
              <a:rPr lang="en-US" altLang="zh-CN" sz="1600" dirty="0">
                <a:latin typeface="Times New Roman" panose="02020603050405020304" pitchFamily="18" charset="0"/>
                <a:ea typeface="方正姚体" panose="02010601030101010101" pitchFamily="2" charset="-122"/>
              </a:rPr>
              <a:t>‘</a:t>
            </a:r>
            <a:r>
              <a:rPr lang="en-US" altLang="zh-CN" sz="1600" dirty="0">
                <a:latin typeface="方正姚体" panose="02010601030101010101" pitchFamily="2" charset="-122"/>
                <a:ea typeface="方正姚体" panose="02010601030101010101" pitchFamily="2" charset="-122"/>
              </a:rPr>
              <a:t>b</a:t>
            </a:r>
            <a:r>
              <a:rPr lang="en-US" altLang="zh-CN" sz="1600" dirty="0">
                <a:solidFill>
                  <a:srgbClr val="CC3300"/>
                </a:solidFill>
                <a:latin typeface="方正姚体" panose="02010601030101010101" pitchFamily="2" charset="-122"/>
                <a:ea typeface="方正姚体" panose="02010601030101010101" pitchFamily="2" charset="-122"/>
              </a:rPr>
              <a:t>x</a:t>
            </a:r>
            <a:endParaRPr lang="en-US" altLang="zh-CN" sz="1600" dirty="0">
              <a:solidFill>
                <a:srgbClr val="CC3300"/>
              </a:solidFill>
              <a:latin typeface="方正姚体" panose="02010601030101010101" pitchFamily="2" charset="-122"/>
              <a:ea typeface="方正姚体" panose="02010601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0931"/>
                                        </p:tgtEl>
                                        <p:attrNameLst>
                                          <p:attrName>style.visibility</p:attrName>
                                        </p:attrNameLst>
                                      </p:cBhvr>
                                      <p:to>
                                        <p:strVal val="visible"/>
                                      </p:to>
                                    </p:set>
                                    <p:anim calcmode="lin" valueType="num">
                                      <p:cBhvr additive="base">
                                        <p:cTn id="7" dur="500" fill="hold"/>
                                        <p:tgtEl>
                                          <p:spTgt spid="1660931"/>
                                        </p:tgtEl>
                                        <p:attrNameLst>
                                          <p:attrName>ppt_x</p:attrName>
                                        </p:attrNameLst>
                                      </p:cBhvr>
                                      <p:tavLst>
                                        <p:tav tm="0">
                                          <p:val>
                                            <p:strVal val="0-#ppt_w/2"/>
                                          </p:val>
                                        </p:tav>
                                        <p:tav tm="100000">
                                          <p:val>
                                            <p:strVal val="#ppt_x"/>
                                          </p:val>
                                        </p:tav>
                                      </p:tavLst>
                                    </p:anim>
                                    <p:anim calcmode="lin" valueType="num">
                                      <p:cBhvr additive="base">
                                        <p:cTn id="8" dur="500" fill="hold"/>
                                        <p:tgtEl>
                                          <p:spTgt spid="16609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60936"/>
                                        </p:tgtEl>
                                        <p:attrNameLst>
                                          <p:attrName>style.visibility</p:attrName>
                                        </p:attrNameLst>
                                      </p:cBhvr>
                                      <p:to>
                                        <p:strVal val="visible"/>
                                      </p:to>
                                    </p:set>
                                    <p:animEffect transition="in" filter="dissolve">
                                      <p:cBhvr>
                                        <p:cTn id="12" dur="500"/>
                                        <p:tgtEl>
                                          <p:spTgt spid="1660936"/>
                                        </p:tgtEl>
                                      </p:cBhvr>
                                    </p:animEffect>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1660937"/>
                                        </p:tgtEl>
                                        <p:attrNameLst>
                                          <p:attrName>style.visibility</p:attrName>
                                        </p:attrNameLst>
                                      </p:cBhvr>
                                      <p:to>
                                        <p:strVal val="visible"/>
                                      </p:to>
                                    </p:set>
                                    <p:animEffect transition="in" filter="dissolve">
                                      <p:cBhvr>
                                        <p:cTn id="16" dur="500"/>
                                        <p:tgtEl>
                                          <p:spTgt spid="1660937"/>
                                        </p:tgtEl>
                                      </p:cBhvr>
                                    </p:animEffect>
                                  </p:childTnLst>
                                </p:cTn>
                              </p:par>
                            </p:childTnLst>
                          </p:cTn>
                        </p:par>
                        <p:par>
                          <p:cTn id="17" fill="hold">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1660940"/>
                                        </p:tgtEl>
                                        <p:attrNameLst>
                                          <p:attrName>style.visibility</p:attrName>
                                        </p:attrNameLst>
                                      </p:cBhvr>
                                      <p:to>
                                        <p:strVal val="visible"/>
                                      </p:to>
                                    </p:set>
                                    <p:animEffect transition="in" filter="dissolve">
                                      <p:cBhvr>
                                        <p:cTn id="20" dur="500"/>
                                        <p:tgtEl>
                                          <p:spTgt spid="1660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0931" grpId="0"/>
      <p:bldP spid="1660936" grpId="0" bldLvl="0" animBg="1"/>
      <p:bldP spid="1660937" grpId="0" bldLvl="0" animBg="1"/>
      <p:bldP spid="1660940"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0957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2979"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4.4 </a:t>
            </a:r>
            <a:r>
              <a:rPr lang="zh-CN" altLang="en-US" sz="2800" dirty="0">
                <a:solidFill>
                  <a:schemeClr val="tx2"/>
                </a:solidFill>
                <a:latin typeface="宋体" panose="02010600030101010101" pitchFamily="2" charset="-122"/>
                <a:ea typeface="华文楷体" panose="02010600040101010101" pitchFamily="2" charset="-122"/>
                <a:cs typeface="+mn-cs"/>
              </a:rPr>
              <a:t>关系运算符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graphicFrame>
        <p:nvGraphicFramePr>
          <p:cNvPr id="91141" name="表格 91140"/>
          <p:cNvGraphicFramePr/>
          <p:nvPr/>
        </p:nvGraphicFramePr>
        <p:xfrm>
          <a:off x="3702050" y="1470025"/>
          <a:ext cx="3232150" cy="1814513"/>
        </p:xfrm>
        <a:graphic>
          <a:graphicData uri="http://schemas.openxmlformats.org/drawingml/2006/table">
            <a:tbl>
              <a:tblPr/>
              <a:tblGrid>
                <a:gridCol w="1479550"/>
                <a:gridCol w="1752600"/>
              </a:tblGrid>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关系运算符</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43351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&lt;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&lt;=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&gt;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&gt;= </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小于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小于或等于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大于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大于或等于</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62991" name="AutoShape 15"/>
          <p:cNvSpPr/>
          <p:nvPr/>
        </p:nvSpPr>
        <p:spPr>
          <a:xfrm>
            <a:off x="1711325" y="1893888"/>
            <a:ext cx="1600200" cy="457200"/>
          </a:xfrm>
          <a:prstGeom prst="wedgeRoundRectCallout">
            <a:avLst>
              <a:gd name="adj1" fmla="val -53769"/>
              <a:gd name="adj2" fmla="val -108333"/>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双</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62992" name="AutoShape 16"/>
          <p:cNvSpPr/>
          <p:nvPr/>
        </p:nvSpPr>
        <p:spPr>
          <a:xfrm>
            <a:off x="261938" y="6019800"/>
            <a:ext cx="1905000" cy="381000"/>
          </a:xfrm>
          <a:prstGeom prst="wedgeRoundRectCallout">
            <a:avLst>
              <a:gd name="adj1" fmla="val 50583"/>
              <a:gd name="adj2" fmla="val -10375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括号内先运算！</a:t>
            </a:r>
            <a:endParaRPr lang="zh-CN" altLang="en-US" b="1" dirty="0">
              <a:solidFill>
                <a:srgbClr val="FF0066"/>
              </a:solidFill>
              <a:latin typeface="华文楷体" panose="02010600040101010101" pitchFamily="2" charset="-122"/>
              <a:ea typeface="华文楷体" panose="02010600040101010101" pitchFamily="2" charset="-122"/>
            </a:endParaRPr>
          </a:p>
        </p:txBody>
      </p:sp>
      <p:sp>
        <p:nvSpPr>
          <p:cNvPr id="1662993" name="AutoShape 17"/>
          <p:cNvSpPr/>
          <p:nvPr/>
        </p:nvSpPr>
        <p:spPr>
          <a:xfrm>
            <a:off x="4843463" y="6019800"/>
            <a:ext cx="2133600" cy="381000"/>
          </a:xfrm>
          <a:prstGeom prst="wedgeRoundRectCallout">
            <a:avLst>
              <a:gd name="adj1" fmla="val -41667"/>
              <a:gd name="adj2" fmla="val -11333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算术运算先运算！</a:t>
            </a:r>
            <a:endParaRPr lang="zh-CN" altLang="en-US" b="1" dirty="0">
              <a:solidFill>
                <a:srgbClr val="FF0066"/>
              </a:solidFill>
              <a:latin typeface="华文楷体" panose="02010600040101010101" pitchFamily="2" charset="-122"/>
              <a:ea typeface="华文楷体" panose="02010600040101010101" pitchFamily="2" charset="-122"/>
            </a:endParaRPr>
          </a:p>
        </p:txBody>
      </p:sp>
      <p:sp>
        <p:nvSpPr>
          <p:cNvPr id="1662994" name="Rectangle 18"/>
          <p:cNvSpPr/>
          <p:nvPr/>
        </p:nvSpPr>
        <p:spPr>
          <a:xfrm>
            <a:off x="298450" y="3375025"/>
            <a:ext cx="8012113" cy="23622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10000"/>
              </a:lnSpc>
              <a:spcBef>
                <a:spcPct val="0"/>
              </a:spcBef>
              <a:buClr>
                <a:srgbClr val="3333FF"/>
              </a:buClr>
              <a:buFont typeface="Wingdings" panose="05000000000000000000" pitchFamily="2" charset="2"/>
              <a:buChar char="§"/>
            </a:pPr>
            <a:r>
              <a:rPr lang="zh-CN" altLang="en-US" sz="2200" b="1" dirty="0">
                <a:latin typeface="Times New Roman" panose="02020603050405020304" pitchFamily="18" charset="0"/>
                <a:ea typeface="华文楷体" panose="02010600040101010101" pitchFamily="2" charset="-122"/>
              </a:rPr>
              <a:t>运算结果为</a:t>
            </a:r>
            <a:r>
              <a:rPr lang="en-US" altLang="zh-CN" sz="2200" b="1" dirty="0">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位的逻辑值</a:t>
            </a:r>
            <a:r>
              <a:rPr lang="en-US" altLang="zh-CN" sz="2200" b="1" dirty="0">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或</a:t>
            </a:r>
            <a:r>
              <a:rPr lang="en-US" altLang="zh-CN" sz="2200" b="1" dirty="0">
                <a:latin typeface="Times New Roman" panose="02020603050405020304" pitchFamily="18" charset="0"/>
                <a:ea typeface="华文楷体" panose="02010600040101010101" pitchFamily="2" charset="-122"/>
              </a:rPr>
              <a:t>0</a:t>
            </a:r>
            <a:r>
              <a:rPr lang="zh-CN" altLang="en-US" sz="2200" b="1" dirty="0">
                <a:latin typeface="Times New Roman" panose="02020603050405020304" pitchFamily="18" charset="0"/>
                <a:ea typeface="华文楷体" panose="02010600040101010101" pitchFamily="2" charset="-122"/>
              </a:rPr>
              <a:t>或</a:t>
            </a:r>
            <a:r>
              <a:rPr lang="en-US" altLang="zh-CN" sz="2200" b="1" dirty="0">
                <a:latin typeface="Times New Roman" panose="02020603050405020304" pitchFamily="18" charset="0"/>
                <a:ea typeface="华文楷体" panose="02010600040101010101" pitchFamily="2" charset="-122"/>
              </a:rPr>
              <a:t>x</a:t>
            </a:r>
            <a:r>
              <a:rPr lang="zh-CN" altLang="en-US" sz="2200"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关系运算时，若关系为</a:t>
            </a:r>
            <a:r>
              <a:rPr lang="zh-CN" altLang="en-US" b="1" dirty="0">
                <a:solidFill>
                  <a:srgbClr val="FF66CC"/>
                </a:solidFill>
                <a:latin typeface="Times New Roman" panose="02020603050405020304" pitchFamily="18" charset="0"/>
                <a:ea typeface="华文楷体" panose="02010600040101010101" pitchFamily="2" charset="-122"/>
              </a:rPr>
              <a:t>真</a:t>
            </a:r>
            <a:r>
              <a:rPr lang="zh-CN" altLang="en-US" b="1" dirty="0">
                <a:latin typeface="Times New Roman" panose="02020603050405020304" pitchFamily="18" charset="0"/>
                <a:ea typeface="华文楷体" panose="02010600040101010101" pitchFamily="2" charset="-122"/>
              </a:rPr>
              <a:t>，则返回值为</a:t>
            </a:r>
            <a:r>
              <a:rPr lang="en-US" altLang="zh-CN" b="1" dirty="0">
                <a:solidFill>
                  <a:srgbClr val="FF66CC"/>
                </a:solidFill>
                <a:latin typeface="Times New Roman" panose="02020603050405020304" pitchFamily="18" charset="0"/>
                <a:ea typeface="华文楷体" panose="02010600040101010101" pitchFamily="2" charset="-122"/>
              </a:rPr>
              <a:t>1</a:t>
            </a:r>
            <a:r>
              <a:rPr lang="zh-CN" altLang="en-US" b="1" dirty="0">
                <a:latin typeface="Times New Roman" panose="02020603050405020304" pitchFamily="18" charset="0"/>
                <a:ea typeface="华文楷体" panose="02010600040101010101" pitchFamily="2" charset="-122"/>
              </a:rPr>
              <a:t>；若声明的关系为</a:t>
            </a:r>
            <a:r>
              <a:rPr lang="zh-CN" altLang="en-US" b="1" dirty="0">
                <a:solidFill>
                  <a:srgbClr val="FF66CC"/>
                </a:solidFill>
                <a:latin typeface="Times New Roman" panose="02020603050405020304" pitchFamily="18" charset="0"/>
                <a:ea typeface="华文楷体" panose="02010600040101010101" pitchFamily="2" charset="-122"/>
              </a:rPr>
              <a:t>假</a:t>
            </a:r>
            <a:r>
              <a:rPr lang="zh-CN" altLang="en-US" b="1" dirty="0">
                <a:latin typeface="Times New Roman" panose="02020603050405020304" pitchFamily="18" charset="0"/>
                <a:ea typeface="华文楷体" panose="02010600040101010101" pitchFamily="2" charset="-122"/>
              </a:rPr>
              <a:t>，则返回值为</a:t>
            </a:r>
            <a:r>
              <a:rPr lang="en-US" altLang="zh-CN" b="1" dirty="0">
                <a:solidFill>
                  <a:srgbClr val="FF66CC"/>
                </a:solidFill>
                <a:latin typeface="Times New Roman" panose="02020603050405020304" pitchFamily="18" charset="0"/>
                <a:ea typeface="华文楷体" panose="02010600040101010101" pitchFamily="2" charset="-122"/>
              </a:rPr>
              <a:t>0</a:t>
            </a:r>
            <a:r>
              <a:rPr lang="zh-CN" altLang="en-US" b="1" dirty="0">
                <a:latin typeface="Times New Roman" panose="02020603050405020304" pitchFamily="18" charset="0"/>
                <a:ea typeface="华文楷体" panose="02010600040101010101" pitchFamily="2" charset="-122"/>
              </a:rPr>
              <a:t>；若某操作数为</a:t>
            </a:r>
            <a:r>
              <a:rPr lang="zh-CN" altLang="en-US" b="1" dirty="0">
                <a:solidFill>
                  <a:srgbClr val="FF66CC"/>
                </a:solidFill>
                <a:latin typeface="Times New Roman" panose="02020603050405020304" pitchFamily="18" charset="0"/>
                <a:ea typeface="华文楷体" panose="02010600040101010101" pitchFamily="2" charset="-122"/>
              </a:rPr>
              <a:t>不定值</a:t>
            </a:r>
            <a:r>
              <a:rPr lang="en-US" altLang="zh-CN" b="1" dirty="0">
                <a:latin typeface="Times New Roman" panose="02020603050405020304" pitchFamily="18" charset="0"/>
                <a:ea typeface="华文楷体" panose="02010600040101010101" pitchFamily="2" charset="-122"/>
              </a:rPr>
              <a:t>x</a:t>
            </a:r>
            <a:r>
              <a:rPr lang="zh-CN" altLang="en-US" b="1" dirty="0">
                <a:latin typeface="Times New Roman" panose="02020603050405020304" pitchFamily="18" charset="0"/>
                <a:ea typeface="华文楷体" panose="02010600040101010101" pitchFamily="2" charset="-122"/>
              </a:rPr>
              <a:t>，则返回值为</a:t>
            </a:r>
            <a:r>
              <a:rPr lang="en-US" altLang="zh-CN" b="1" dirty="0">
                <a:solidFill>
                  <a:srgbClr val="FF66CC"/>
                </a:solidFill>
                <a:latin typeface="Times New Roman" panose="02020603050405020304" pitchFamily="18" charset="0"/>
                <a:ea typeface="华文楷体" panose="02010600040101010101" pitchFamily="2" charset="-122"/>
              </a:rPr>
              <a:t>x</a:t>
            </a:r>
            <a:r>
              <a:rPr lang="zh-CN" altLang="en-US" b="1" dirty="0">
                <a:latin typeface="Times New Roman" panose="02020603050405020304" pitchFamily="18" charset="0"/>
                <a:ea typeface="华文楷体" panose="02010600040101010101" pitchFamily="2" charset="-122"/>
              </a:rPr>
              <a:t>。</a:t>
            </a:r>
            <a:endParaRPr lang="zh-CN" altLang="en-US" b="1" dirty="0">
              <a:latin typeface="Times New Roman" panose="02020603050405020304" pitchFamily="18" charset="0"/>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r>
              <a:rPr lang="zh-CN" altLang="en-US" b="1" dirty="0">
                <a:latin typeface="Times New Roman" panose="02020603050405020304" pitchFamily="18" charset="0"/>
                <a:ea typeface="华文楷体" panose="02010600040101010101" pitchFamily="2" charset="-122"/>
              </a:rPr>
              <a:t>所有的关系运算符优先级别相同。</a:t>
            </a:r>
            <a:endParaRPr lang="zh-CN" altLang="en-US" b="1" dirty="0">
              <a:latin typeface="Times New Roman" panose="02020603050405020304" pitchFamily="18" charset="0"/>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r>
              <a:rPr lang="zh-CN" altLang="en-US" b="1" dirty="0">
                <a:latin typeface="Times New Roman" panose="02020603050405020304" pitchFamily="18" charset="0"/>
                <a:ea typeface="华文楷体" panose="02010600040101010101" pitchFamily="2" charset="-122"/>
              </a:rPr>
              <a:t>关系运算符的优先级</a:t>
            </a:r>
            <a:r>
              <a:rPr lang="zh-CN" altLang="en-US" b="1" dirty="0">
                <a:solidFill>
                  <a:srgbClr val="FF66CC"/>
                </a:solidFill>
                <a:latin typeface="Times New Roman" panose="02020603050405020304" pitchFamily="18" charset="0"/>
                <a:ea typeface="华文楷体" panose="02010600040101010101" pitchFamily="2" charset="-122"/>
              </a:rPr>
              <a:t>低于</a:t>
            </a:r>
            <a:r>
              <a:rPr lang="zh-CN" altLang="en-US" b="1" dirty="0">
                <a:latin typeface="Times New Roman" panose="02020603050405020304" pitchFamily="18" charset="0"/>
                <a:ea typeface="华文楷体" panose="02010600040101010101" pitchFamily="2" charset="-122"/>
              </a:rPr>
              <a:t>算术运算符。</a:t>
            </a:r>
            <a:endParaRPr lang="zh-CN" altLang="en-US" sz="2200" b="1" dirty="0">
              <a:latin typeface="Times New Roman" panose="02020603050405020304" pitchFamily="18" charset="0"/>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r>
              <a:rPr lang="en-US" altLang="zh-CN" sz="2200" dirty="0">
                <a:latin typeface="Times New Roman" panose="02020603050405020304" pitchFamily="18" charset="0"/>
                <a:ea typeface="华文楷体" panose="02010600040101010101" pitchFamily="2" charset="-122"/>
              </a:rPr>
              <a:t>[</a:t>
            </a:r>
            <a:r>
              <a:rPr lang="zh-CN" altLang="en-US" sz="2200" dirty="0">
                <a:solidFill>
                  <a:srgbClr val="FF0066"/>
                </a:solidFill>
                <a:latin typeface="Times New Roman" panose="02020603050405020304" pitchFamily="18" charset="0"/>
                <a:ea typeface="华文楷体" panose="02010600040101010101" pitchFamily="2" charset="-122"/>
              </a:rPr>
              <a:t>例</a:t>
            </a:r>
            <a:r>
              <a:rPr lang="en-US" altLang="zh-CN" sz="2200" dirty="0">
                <a:latin typeface="Times New Roman" panose="02020603050405020304" pitchFamily="18" charset="0"/>
                <a:ea typeface="华文楷体" panose="02010600040101010101" pitchFamily="2" charset="-122"/>
              </a:rPr>
              <a:t>] a&lt;size - 1		</a:t>
            </a:r>
            <a:r>
              <a:rPr lang="zh-CN" altLang="en-US" sz="2200" dirty="0">
                <a:latin typeface="Times New Roman" panose="02020603050405020304" pitchFamily="18" charset="0"/>
                <a:ea typeface="华文楷体" panose="02010600040101010101" pitchFamily="2" charset="-122"/>
              </a:rPr>
              <a:t>等同于： </a:t>
            </a:r>
            <a:r>
              <a:rPr lang="en-US" altLang="zh-CN" sz="2200" dirty="0">
                <a:latin typeface="Times New Roman" panose="02020603050405020304" pitchFamily="18" charset="0"/>
                <a:ea typeface="华文楷体" panose="02010600040101010101" pitchFamily="2" charset="-122"/>
              </a:rPr>
              <a:t>a&lt;(size - 1)</a:t>
            </a:r>
            <a:endParaRPr lang="en-US" altLang="zh-CN" sz="2200" dirty="0">
              <a:latin typeface="Times New Roman" panose="02020603050405020304" pitchFamily="18" charset="0"/>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r>
              <a:rPr lang="en-US" altLang="zh-CN" sz="2200" dirty="0">
                <a:latin typeface="Times New Roman" panose="02020603050405020304" pitchFamily="18" charset="0"/>
                <a:ea typeface="华文楷体" panose="02010600040101010101" pitchFamily="2" charset="-122"/>
              </a:rPr>
              <a:t>        size -</a:t>
            </a:r>
            <a:r>
              <a:rPr lang="zh-CN" altLang="en-US" sz="2200" dirty="0">
                <a:solidFill>
                  <a:srgbClr val="FF6600"/>
                </a:solidFill>
                <a:latin typeface="Times New Roman" panose="02020603050405020304" pitchFamily="18" charset="0"/>
                <a:ea typeface="华文楷体" panose="02010600040101010101" pitchFamily="2" charset="-122"/>
              </a:rPr>
              <a:t>（</a:t>
            </a:r>
            <a:r>
              <a:rPr lang="en-US" altLang="zh-CN" sz="2200" dirty="0">
                <a:solidFill>
                  <a:srgbClr val="FF6600"/>
                </a:solidFill>
                <a:latin typeface="Times New Roman" panose="02020603050405020304" pitchFamily="18" charset="0"/>
                <a:ea typeface="华文楷体" panose="02010600040101010101" pitchFamily="2" charset="-122"/>
              </a:rPr>
              <a:t>1&lt;a</a:t>
            </a:r>
            <a:r>
              <a:rPr lang="zh-CN" altLang="en-US" sz="2200" dirty="0">
                <a:solidFill>
                  <a:srgbClr val="FF6600"/>
                </a:solidFill>
                <a:latin typeface="Times New Roman" panose="02020603050405020304" pitchFamily="18" charset="0"/>
                <a:ea typeface="华文楷体" panose="02010600040101010101" pitchFamily="2" charset="-122"/>
              </a:rPr>
              <a:t>）</a:t>
            </a:r>
            <a:r>
              <a:rPr lang="zh-CN" altLang="en-US" sz="2200" dirty="0">
                <a:latin typeface="Times New Roman" panose="02020603050405020304" pitchFamily="18" charset="0"/>
                <a:ea typeface="华文楷体" panose="02010600040101010101" pitchFamily="2" charset="-122"/>
              </a:rPr>
              <a:t>	不等同于： </a:t>
            </a:r>
            <a:r>
              <a:rPr lang="en-US" altLang="zh-CN" sz="2200" dirty="0">
                <a:solidFill>
                  <a:srgbClr val="FF6600"/>
                </a:solidFill>
                <a:latin typeface="Times New Roman" panose="02020603050405020304" pitchFamily="18" charset="0"/>
                <a:ea typeface="华文楷体" panose="02010600040101010101" pitchFamily="2" charset="-122"/>
              </a:rPr>
              <a:t>size-1</a:t>
            </a:r>
            <a:r>
              <a:rPr lang="en-US" altLang="zh-CN" sz="2200" dirty="0">
                <a:latin typeface="Times New Roman" panose="02020603050405020304" pitchFamily="18" charset="0"/>
                <a:ea typeface="华文楷体" panose="02010600040101010101" pitchFamily="2" charset="-122"/>
              </a:rPr>
              <a:t>&lt;a</a:t>
            </a:r>
            <a:endParaRPr lang="en-US" altLang="zh-CN" sz="2200"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62979"/>
                                        </p:tgtEl>
                                        <p:attrNameLst>
                                          <p:attrName>style.visibility</p:attrName>
                                        </p:attrNameLst>
                                      </p:cBhvr>
                                      <p:to>
                                        <p:strVal val="visible"/>
                                      </p:to>
                                    </p:set>
                                    <p:anim calcmode="lin" valueType="num">
                                      <p:cBhvr additive="base">
                                        <p:cTn id="7" dur="500" fill="hold"/>
                                        <p:tgtEl>
                                          <p:spTgt spid="1662979"/>
                                        </p:tgtEl>
                                        <p:attrNameLst>
                                          <p:attrName>ppt_x</p:attrName>
                                        </p:attrNameLst>
                                      </p:cBhvr>
                                      <p:tavLst>
                                        <p:tav tm="0">
                                          <p:val>
                                            <p:strVal val="0-#ppt_w/2"/>
                                          </p:val>
                                        </p:tav>
                                        <p:tav tm="100000">
                                          <p:val>
                                            <p:strVal val="#ppt_x"/>
                                          </p:val>
                                        </p:tav>
                                      </p:tavLst>
                                    </p:anim>
                                    <p:anim calcmode="lin" valueType="num">
                                      <p:cBhvr additive="base">
                                        <p:cTn id="8" dur="500" fill="hold"/>
                                        <p:tgtEl>
                                          <p:spTgt spid="166297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62991"/>
                                        </p:tgtEl>
                                        <p:attrNameLst>
                                          <p:attrName>style.visibility</p:attrName>
                                        </p:attrNameLst>
                                      </p:cBhvr>
                                      <p:to>
                                        <p:strVal val="visible"/>
                                      </p:to>
                                    </p:set>
                                    <p:animEffect transition="in" filter="dissolve">
                                      <p:cBhvr>
                                        <p:cTn id="12" dur="500"/>
                                        <p:tgtEl>
                                          <p:spTgt spid="166299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91141"/>
                                        </p:tgtEl>
                                        <p:attrNameLst>
                                          <p:attrName>style.visibility</p:attrName>
                                        </p:attrNameLst>
                                      </p:cBhvr>
                                      <p:to>
                                        <p:strVal val="visible"/>
                                      </p:to>
                                    </p:set>
                                    <p:anim calcmode="lin" valueType="num">
                                      <p:cBhvr additive="base">
                                        <p:cTn id="17" dur="500" fill="hold"/>
                                        <p:tgtEl>
                                          <p:spTgt spid="91141"/>
                                        </p:tgtEl>
                                        <p:attrNameLst>
                                          <p:attrName>ppt_x</p:attrName>
                                        </p:attrNameLst>
                                      </p:cBhvr>
                                      <p:tavLst>
                                        <p:tav tm="0">
                                          <p:val>
                                            <p:strVal val="1+#ppt_w/2"/>
                                          </p:val>
                                        </p:tav>
                                        <p:tav tm="100000">
                                          <p:val>
                                            <p:strVal val="#ppt_x"/>
                                          </p:val>
                                        </p:tav>
                                      </p:tavLst>
                                    </p:anim>
                                    <p:anim calcmode="lin" valueType="num">
                                      <p:cBhvr additive="base">
                                        <p:cTn id="18"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62994"/>
                                        </p:tgtEl>
                                        <p:attrNameLst>
                                          <p:attrName>style.visibility</p:attrName>
                                        </p:attrNameLst>
                                      </p:cBhvr>
                                      <p:to>
                                        <p:strVal val="visible"/>
                                      </p:to>
                                    </p:set>
                                    <p:anim calcmode="lin" valueType="num">
                                      <p:cBhvr additive="base">
                                        <p:cTn id="23" dur="500" fill="hold"/>
                                        <p:tgtEl>
                                          <p:spTgt spid="1662994"/>
                                        </p:tgtEl>
                                        <p:attrNameLst>
                                          <p:attrName>ppt_x</p:attrName>
                                        </p:attrNameLst>
                                      </p:cBhvr>
                                      <p:tavLst>
                                        <p:tav tm="0">
                                          <p:val>
                                            <p:strVal val="0-#ppt_w/2"/>
                                          </p:val>
                                        </p:tav>
                                        <p:tav tm="100000">
                                          <p:val>
                                            <p:strVal val="#ppt_x"/>
                                          </p:val>
                                        </p:tav>
                                      </p:tavLst>
                                    </p:anim>
                                    <p:anim calcmode="lin" valueType="num">
                                      <p:cBhvr additive="base">
                                        <p:cTn id="24" dur="500" fill="hold"/>
                                        <p:tgtEl>
                                          <p:spTgt spid="166299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662992"/>
                                        </p:tgtEl>
                                        <p:attrNameLst>
                                          <p:attrName>style.visibility</p:attrName>
                                        </p:attrNameLst>
                                      </p:cBhvr>
                                      <p:to>
                                        <p:strVal val="visible"/>
                                      </p:to>
                                    </p:set>
                                    <p:animEffect transition="in" filter="dissolve">
                                      <p:cBhvr>
                                        <p:cTn id="29" dur="500"/>
                                        <p:tgtEl>
                                          <p:spTgt spid="166299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62993"/>
                                        </p:tgtEl>
                                        <p:attrNameLst>
                                          <p:attrName>style.visibility</p:attrName>
                                        </p:attrNameLst>
                                      </p:cBhvr>
                                      <p:to>
                                        <p:strVal val="visible"/>
                                      </p:to>
                                    </p:set>
                                    <p:animEffect transition="in" filter="dissolve">
                                      <p:cBhvr>
                                        <p:cTn id="34" dur="500"/>
                                        <p:tgtEl>
                                          <p:spTgt spid="1662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2979" grpId="0"/>
      <p:bldP spid="1662991" grpId="0" bldLvl="0" animBg="1"/>
      <p:bldP spid="1662992" grpId="0" bldLvl="0" animBg="1"/>
      <p:bldP spid="1662993" grpId="0" bldLvl="0" animBg="1"/>
      <p:bldP spid="1662994"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161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1161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5027"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rgbClr val="FF0000"/>
                </a:solidFill>
                <a:latin typeface="宋体" panose="02010600030101010101" pitchFamily="2" charset="-122"/>
                <a:ea typeface="黑体" panose="02010609060101010101" pitchFamily="49" charset="-122"/>
                <a:cs typeface="+mn-cs"/>
              </a:rPr>
              <a:t>4.5 </a:t>
            </a:r>
            <a:r>
              <a:rPr lang="zh-CN" altLang="en-US" dirty="0">
                <a:solidFill>
                  <a:srgbClr val="FF0000"/>
                </a:solidFill>
                <a:latin typeface="宋体" panose="02010600030101010101" pitchFamily="2" charset="-122"/>
                <a:ea typeface="华文楷体" panose="02010600040101010101" pitchFamily="2" charset="-122"/>
                <a:cs typeface="+mn-cs"/>
              </a:rPr>
              <a:t>等式运算符</a:t>
            </a:r>
            <a:endParaRPr lang="zh-CN" altLang="en-US" dirty="0">
              <a:latin typeface="宋体" panose="02010600030101010101" pitchFamily="2" charset="-122"/>
              <a:ea typeface="华文楷体" panose="02010600040101010101" pitchFamily="2" charset="-122"/>
              <a:cs typeface="+mn-cs"/>
            </a:endParaRPr>
          </a:p>
        </p:txBody>
      </p:sp>
      <p:graphicFrame>
        <p:nvGraphicFramePr>
          <p:cNvPr id="92165" name="表格 92164"/>
          <p:cNvGraphicFramePr/>
          <p:nvPr/>
        </p:nvGraphicFramePr>
        <p:xfrm>
          <a:off x="3856038" y="1233488"/>
          <a:ext cx="3232150" cy="1809750"/>
        </p:xfrm>
        <a:graphic>
          <a:graphicData uri="http://schemas.openxmlformats.org/drawingml/2006/table">
            <a:tbl>
              <a:tblPr/>
              <a:tblGrid>
                <a:gridCol w="1479550"/>
                <a:gridCol w="1752600"/>
              </a:tblGrid>
              <a:tr h="376304">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等式运算符</a:t>
                      </a:r>
                      <a:endParaRPr lang="zh-CN" altLang="en-US" sz="2000" dirty="0">
                        <a:solidFill>
                          <a:schemeClr val="tx1"/>
                        </a:solidFill>
                        <a:latin typeface="Tahoma" panose="020B0604030504040204" pitchFamily="34" charset="0"/>
                      </a:endParaRPr>
                    </a:p>
                  </a:txBody>
                  <a:tcPr marL="30724" marR="30724" marT="15365" marB="153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5" marB="153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433446">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a:t>
                      </a:r>
                      <a:r>
                        <a:rPr lang="en-US" altLang="zh-CN" sz="2000" b="0" dirty="0">
                          <a:solidFill>
                            <a:schemeClr val="tx1"/>
                          </a:solidFill>
                          <a:latin typeface="Tahoma" panose="020B0604030504040204" pitchFamily="34" charset="0"/>
                        </a:rPr>
                        <a:t>= </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65" marB="1536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等于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不等于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全等</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不全等</a:t>
                      </a:r>
                      <a:endParaRPr lang="zh-CN" altLang="en-US" sz="2000" b="0" dirty="0">
                        <a:solidFill>
                          <a:schemeClr val="tx1"/>
                        </a:solidFill>
                        <a:latin typeface="Tahoma" panose="020B0604030504040204" pitchFamily="34" charset="0"/>
                      </a:endParaRPr>
                    </a:p>
                  </a:txBody>
                  <a:tcPr marL="30724" marR="30724" marT="15365" marB="1536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65039" name="AutoShape 15"/>
          <p:cNvSpPr/>
          <p:nvPr/>
        </p:nvSpPr>
        <p:spPr>
          <a:xfrm>
            <a:off x="1611313" y="1620838"/>
            <a:ext cx="1600200" cy="457200"/>
          </a:xfrm>
          <a:prstGeom prst="wedgeRoundRectCallout">
            <a:avLst>
              <a:gd name="adj1" fmla="val -51093"/>
              <a:gd name="adj2" fmla="val -98611"/>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双</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65040" name="Rectangle 16"/>
          <p:cNvSpPr/>
          <p:nvPr/>
        </p:nvSpPr>
        <p:spPr>
          <a:xfrm>
            <a:off x="228600" y="3235325"/>
            <a:ext cx="8424863" cy="32766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05000"/>
              </a:lnSpc>
              <a:spcBef>
                <a:spcPct val="0"/>
              </a:spcBef>
              <a:buClr>
                <a:srgbClr val="3333FF"/>
              </a:buClr>
              <a:buFont typeface="Wingdings" panose="05000000000000000000" pitchFamily="2" charset="2"/>
              <a:buChar char="§"/>
            </a:pPr>
            <a:r>
              <a:rPr lang="zh-CN" altLang="en-US" sz="2200" b="1" dirty="0">
                <a:latin typeface="Times New Roman" panose="02020603050405020304" pitchFamily="18" charset="0"/>
                <a:ea typeface="华文楷体" panose="02010600040101010101" pitchFamily="2" charset="-122"/>
              </a:rPr>
              <a:t>运算结果为</a:t>
            </a:r>
            <a:r>
              <a:rPr lang="en-US" altLang="zh-CN" sz="2200" b="1" dirty="0">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位的逻辑值</a:t>
            </a:r>
            <a:r>
              <a:rPr lang="en-US" altLang="zh-CN" sz="2200" b="1" dirty="0">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或</a:t>
            </a:r>
            <a:r>
              <a:rPr lang="en-US" altLang="zh-CN" sz="2200" b="1" dirty="0">
                <a:latin typeface="Times New Roman" panose="02020603050405020304" pitchFamily="18" charset="0"/>
                <a:ea typeface="华文楷体" panose="02010600040101010101" pitchFamily="2" charset="-122"/>
              </a:rPr>
              <a:t>0</a:t>
            </a:r>
            <a:r>
              <a:rPr lang="zh-CN" altLang="en-US" sz="2200" b="1" dirty="0">
                <a:latin typeface="Times New Roman" panose="02020603050405020304" pitchFamily="18" charset="0"/>
                <a:ea typeface="华文楷体" panose="02010600040101010101" pitchFamily="2" charset="-122"/>
              </a:rPr>
              <a:t>或</a:t>
            </a:r>
            <a:r>
              <a:rPr lang="en-US" altLang="zh-CN" sz="2200" b="1" dirty="0">
                <a:latin typeface="Times New Roman" panose="02020603050405020304" pitchFamily="18" charset="0"/>
                <a:ea typeface="华文楷体" panose="02010600040101010101" pitchFamily="2" charset="-122"/>
              </a:rPr>
              <a:t>x</a:t>
            </a:r>
            <a:r>
              <a:rPr lang="zh-CN" altLang="en-US" sz="2200" b="1" dirty="0">
                <a:latin typeface="Times New Roman" panose="02020603050405020304" pitchFamily="18" charset="0"/>
                <a:ea typeface="华文楷体" panose="02010600040101010101" pitchFamily="2" charset="-122"/>
              </a:rPr>
              <a:t>。</a:t>
            </a:r>
            <a:endParaRPr lang="zh-CN" altLang="en-US" sz="2200" b="1" dirty="0">
              <a:latin typeface="Times New Roman" panose="02020603050405020304" pitchFamily="18" charset="0"/>
              <a:ea typeface="华文楷体" panose="02010600040101010101" pitchFamily="2" charset="-122"/>
            </a:endParaRPr>
          </a:p>
          <a:p>
            <a:pPr marL="342900" lvl="0" indent="-342900" algn="just">
              <a:lnSpc>
                <a:spcPct val="105000"/>
              </a:lnSpc>
              <a:spcBef>
                <a:spcPct val="0"/>
              </a:spcBef>
              <a:buClr>
                <a:srgbClr val="3333FF"/>
              </a:buClr>
              <a:buFont typeface="Wingdings" panose="05000000000000000000" pitchFamily="2" charset="2"/>
              <a:buChar char="§"/>
            </a:pPr>
            <a:r>
              <a:rPr lang="zh-CN" altLang="en-US" sz="2200" b="1" dirty="0">
                <a:latin typeface="Times New Roman" panose="02020603050405020304" pitchFamily="18" charset="0"/>
                <a:ea typeface="华文楷体" panose="02010600040101010101" pitchFamily="2" charset="-122"/>
              </a:rPr>
              <a:t>等于运算符</a:t>
            </a: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和全等运算符</a:t>
            </a:r>
            <a:r>
              <a:rPr lang="en-US" altLang="zh-CN" sz="2200" b="1" dirty="0">
                <a:latin typeface="Times New Roman" panose="02020603050405020304" pitchFamily="18" charset="0"/>
                <a:ea typeface="华文楷体" panose="02010600040101010101" pitchFamily="2" charset="-122"/>
              </a:rPr>
              <a:t>(= = =)</a:t>
            </a:r>
            <a:r>
              <a:rPr lang="zh-CN" altLang="en-US" sz="2200" b="1" dirty="0">
                <a:latin typeface="Times New Roman" panose="02020603050405020304" pitchFamily="18" charset="0"/>
                <a:ea typeface="华文楷体" panose="02010600040101010101" pitchFamily="2" charset="-122"/>
              </a:rPr>
              <a:t>的</a:t>
            </a:r>
            <a:r>
              <a:rPr lang="zh-CN" altLang="en-US" sz="2200" b="1" dirty="0">
                <a:solidFill>
                  <a:srgbClr val="FF0066"/>
                </a:solidFill>
                <a:latin typeface="Times New Roman" panose="02020603050405020304" pitchFamily="18" charset="0"/>
                <a:ea typeface="华文楷体" panose="02010600040101010101" pitchFamily="2" charset="-122"/>
              </a:rPr>
              <a:t>区别</a:t>
            </a:r>
            <a:r>
              <a:rPr lang="en-US" altLang="zh-CN" sz="2200" b="1" dirty="0">
                <a:latin typeface="Times New Roman" panose="02020603050405020304" pitchFamily="18" charset="0"/>
                <a:ea typeface="华文楷体" panose="02010600040101010101" pitchFamily="2" charset="-122"/>
              </a:rPr>
              <a:t>:</a:t>
            </a:r>
            <a:endParaRPr lang="en-US" altLang="zh-CN" sz="2200" b="1" dirty="0">
              <a:latin typeface="Times New Roman" panose="02020603050405020304" pitchFamily="18" charset="0"/>
              <a:ea typeface="华文楷体" panose="02010600040101010101" pitchFamily="2" charset="-122"/>
            </a:endParaRPr>
          </a:p>
          <a:p>
            <a:pPr marL="742950" lvl="1" indent="-285750" algn="just">
              <a:lnSpc>
                <a:spcPct val="105000"/>
              </a:lnSpc>
              <a:spcBef>
                <a:spcPct val="0"/>
              </a:spcBef>
              <a:buClr>
                <a:srgbClr val="FF0000"/>
              </a:buClr>
              <a:buSzPct val="80000"/>
              <a:buFont typeface="Wingdings" panose="05000000000000000000" pitchFamily="2" charset="2"/>
              <a:buChar char="Ø"/>
            </a:pPr>
            <a:r>
              <a:rPr lang="zh-CN" altLang="en-US" sz="2200" b="1" dirty="0">
                <a:latin typeface="Times New Roman" panose="02020603050405020304" pitchFamily="18" charset="0"/>
                <a:ea typeface="华文楷体" panose="02010600040101010101" pitchFamily="2" charset="-122"/>
              </a:rPr>
              <a:t>使用</a:t>
            </a:r>
            <a:r>
              <a:rPr lang="zh-CN" altLang="en-US" sz="2200" b="1" dirty="0">
                <a:solidFill>
                  <a:srgbClr val="FF66CC"/>
                </a:solidFill>
                <a:latin typeface="Times New Roman" panose="02020603050405020304" pitchFamily="18" charset="0"/>
                <a:ea typeface="华文楷体" panose="02010600040101010101" pitchFamily="2" charset="-122"/>
              </a:rPr>
              <a:t>等于</a:t>
            </a:r>
            <a:r>
              <a:rPr lang="zh-CN" altLang="en-US" sz="2200" b="1" dirty="0">
                <a:latin typeface="Times New Roman" panose="02020603050405020304" pitchFamily="18" charset="0"/>
                <a:ea typeface="华文楷体" panose="02010600040101010101" pitchFamily="2" charset="-122"/>
              </a:rPr>
              <a:t>运算符时，两个操作数必须</a:t>
            </a:r>
            <a:r>
              <a:rPr lang="zh-CN" altLang="en-US" sz="2200" b="1" dirty="0">
                <a:solidFill>
                  <a:srgbClr val="FF66CC"/>
                </a:solidFill>
                <a:latin typeface="Times New Roman" panose="02020603050405020304" pitchFamily="18" charset="0"/>
                <a:ea typeface="华文楷体" panose="02010600040101010101" pitchFamily="2" charset="-122"/>
              </a:rPr>
              <a:t>逐位</a:t>
            </a:r>
            <a:r>
              <a:rPr lang="zh-CN" altLang="en-US" sz="2200" b="1" dirty="0">
                <a:latin typeface="Times New Roman" panose="02020603050405020304" pitchFamily="18" charset="0"/>
                <a:ea typeface="华文楷体" panose="02010600040101010101" pitchFamily="2" charset="-122"/>
              </a:rPr>
              <a:t>相等</a:t>
            </a:r>
            <a:r>
              <a:rPr lang="en-US" altLang="zh-CN" sz="2200" b="1"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结果才为</a:t>
            </a:r>
            <a:r>
              <a:rPr lang="en-US" altLang="zh-CN" sz="2200" b="1" dirty="0">
                <a:solidFill>
                  <a:srgbClr val="FF66CC"/>
                </a:solidFill>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；若某些位为</a:t>
            </a:r>
            <a:r>
              <a:rPr lang="en-US" altLang="zh-CN" sz="2200" b="1" dirty="0">
                <a:latin typeface="Times New Roman" panose="02020603050405020304" pitchFamily="18" charset="0"/>
                <a:ea typeface="华文楷体" panose="02010600040101010101" pitchFamily="2" charset="-122"/>
              </a:rPr>
              <a:t>x</a:t>
            </a:r>
            <a:r>
              <a:rPr lang="zh-CN" altLang="en-US" sz="2200" b="1" dirty="0">
                <a:latin typeface="Times New Roman" panose="02020603050405020304" pitchFamily="18" charset="0"/>
                <a:ea typeface="华文楷体" panose="02010600040101010101" pitchFamily="2" charset="-122"/>
              </a:rPr>
              <a:t>或</a:t>
            </a:r>
            <a:r>
              <a:rPr lang="en-US" altLang="zh-CN" sz="2200" b="1" dirty="0">
                <a:latin typeface="Times New Roman" panose="02020603050405020304" pitchFamily="18" charset="0"/>
                <a:ea typeface="华文楷体" panose="02010600040101010101" pitchFamily="2" charset="-122"/>
              </a:rPr>
              <a:t>z</a:t>
            </a:r>
            <a:r>
              <a:rPr lang="zh-CN" altLang="en-US" sz="2200" b="1" dirty="0">
                <a:latin typeface="Times New Roman" panose="02020603050405020304" pitchFamily="18" charset="0"/>
                <a:ea typeface="华文楷体" panose="02010600040101010101" pitchFamily="2" charset="-122"/>
              </a:rPr>
              <a:t>，则结果为</a:t>
            </a:r>
            <a:r>
              <a:rPr lang="en-US" altLang="zh-CN" sz="2200" b="1" dirty="0">
                <a:solidFill>
                  <a:srgbClr val="FF66CC"/>
                </a:solidFill>
                <a:latin typeface="Times New Roman" panose="02020603050405020304" pitchFamily="18" charset="0"/>
                <a:ea typeface="华文楷体" panose="02010600040101010101" pitchFamily="2" charset="-122"/>
              </a:rPr>
              <a:t>x</a:t>
            </a:r>
            <a:r>
              <a:rPr lang="zh-CN" altLang="en-US" sz="2200" b="1" dirty="0">
                <a:latin typeface="Times New Roman" panose="02020603050405020304" pitchFamily="18" charset="0"/>
                <a:ea typeface="华文楷体" panose="02010600040101010101" pitchFamily="2" charset="-122"/>
              </a:rPr>
              <a:t>。</a:t>
            </a:r>
            <a:endParaRPr lang="zh-CN" altLang="en-US" sz="2200" b="1" dirty="0">
              <a:latin typeface="Times New Roman" panose="02020603050405020304" pitchFamily="18" charset="0"/>
              <a:ea typeface="华文楷体" panose="02010600040101010101" pitchFamily="2" charset="-122"/>
            </a:endParaRPr>
          </a:p>
          <a:p>
            <a:pPr marL="742950" lvl="1" indent="-285750" algn="just">
              <a:lnSpc>
                <a:spcPct val="105000"/>
              </a:lnSpc>
              <a:spcBef>
                <a:spcPct val="0"/>
              </a:spcBef>
              <a:buClr>
                <a:srgbClr val="FF0000"/>
              </a:buClr>
              <a:buSzPct val="80000"/>
              <a:buFont typeface="Wingdings" panose="05000000000000000000" pitchFamily="2" charset="2"/>
              <a:buChar char="Ø"/>
            </a:pPr>
            <a:r>
              <a:rPr lang="zh-CN" altLang="en-US" sz="2200" b="1" dirty="0">
                <a:latin typeface="Times New Roman" panose="02020603050405020304" pitchFamily="18" charset="0"/>
                <a:ea typeface="华文楷体" panose="02010600040101010101" pitchFamily="2" charset="-122"/>
              </a:rPr>
              <a:t>使用</a:t>
            </a:r>
            <a:r>
              <a:rPr lang="zh-CN" altLang="en-US" sz="2200" b="1" dirty="0">
                <a:solidFill>
                  <a:srgbClr val="FF66CC"/>
                </a:solidFill>
                <a:latin typeface="Times New Roman" panose="02020603050405020304" pitchFamily="18" charset="0"/>
                <a:ea typeface="华文楷体" panose="02010600040101010101" pitchFamily="2" charset="-122"/>
              </a:rPr>
              <a:t>全等</a:t>
            </a:r>
            <a:r>
              <a:rPr lang="zh-CN" altLang="en-US" sz="2200" b="1" dirty="0">
                <a:latin typeface="Times New Roman" panose="02020603050405020304" pitchFamily="18" charset="0"/>
                <a:ea typeface="华文楷体" panose="02010600040101010101" pitchFamily="2" charset="-122"/>
              </a:rPr>
              <a:t>运算符时，若两个操作数的相应位完全</a:t>
            </a:r>
            <a:r>
              <a:rPr lang="zh-CN" altLang="en-US" sz="2200" b="1" dirty="0">
                <a:solidFill>
                  <a:srgbClr val="FF66CC"/>
                </a:solidFill>
                <a:latin typeface="Times New Roman" panose="02020603050405020304" pitchFamily="18" charset="0"/>
                <a:ea typeface="华文楷体" panose="02010600040101010101" pitchFamily="2" charset="-122"/>
              </a:rPr>
              <a:t>一致</a:t>
            </a:r>
            <a:r>
              <a:rPr lang="zh-CN" altLang="en-US" sz="2200" b="1" dirty="0">
                <a:latin typeface="Times New Roman" panose="02020603050405020304" pitchFamily="18" charset="0"/>
                <a:ea typeface="华文楷体" panose="02010600040101010101" pitchFamily="2" charset="-122"/>
              </a:rPr>
              <a:t>（如同是</a:t>
            </a:r>
            <a:r>
              <a:rPr lang="en-US" altLang="zh-CN" sz="2200" b="1" dirty="0">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，或同是</a:t>
            </a:r>
            <a:r>
              <a:rPr lang="en-US" altLang="zh-CN" sz="2200" b="1" dirty="0">
                <a:latin typeface="Times New Roman" panose="02020603050405020304" pitchFamily="18" charset="0"/>
                <a:ea typeface="华文楷体" panose="02010600040101010101" pitchFamily="2" charset="-122"/>
              </a:rPr>
              <a:t>0</a:t>
            </a:r>
            <a:r>
              <a:rPr lang="zh-CN" altLang="en-US" sz="2200" b="1" dirty="0">
                <a:latin typeface="Times New Roman" panose="02020603050405020304" pitchFamily="18" charset="0"/>
                <a:ea typeface="华文楷体" panose="02010600040101010101" pitchFamily="2" charset="-122"/>
              </a:rPr>
              <a:t>，或同是</a:t>
            </a:r>
            <a:r>
              <a:rPr lang="en-US" altLang="zh-CN" sz="2200" b="1" dirty="0">
                <a:latin typeface="Times New Roman" panose="02020603050405020304" pitchFamily="18" charset="0"/>
                <a:ea typeface="华文楷体" panose="02010600040101010101" pitchFamily="2" charset="-122"/>
              </a:rPr>
              <a:t>x</a:t>
            </a:r>
            <a:r>
              <a:rPr lang="zh-CN" altLang="en-US" sz="2200" b="1" dirty="0">
                <a:latin typeface="Times New Roman" panose="02020603050405020304" pitchFamily="18" charset="0"/>
                <a:ea typeface="华文楷体" panose="02010600040101010101" pitchFamily="2" charset="-122"/>
              </a:rPr>
              <a:t>，或同是</a:t>
            </a:r>
            <a:r>
              <a:rPr lang="en-US" altLang="zh-CN" sz="2200" b="1" dirty="0">
                <a:latin typeface="Times New Roman" panose="02020603050405020304" pitchFamily="18" charset="0"/>
                <a:ea typeface="华文楷体" panose="02010600040101010101" pitchFamily="2" charset="-122"/>
              </a:rPr>
              <a:t>z</a:t>
            </a:r>
            <a:r>
              <a:rPr lang="zh-CN" altLang="en-US" sz="2200" b="1" dirty="0">
                <a:latin typeface="Times New Roman" panose="02020603050405020304" pitchFamily="18" charset="0"/>
                <a:ea typeface="华文楷体" panose="02010600040101010101" pitchFamily="2" charset="-122"/>
              </a:rPr>
              <a:t>）</a:t>
            </a:r>
            <a:r>
              <a:rPr lang="en-US" altLang="zh-CN" sz="2200" b="1"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则结果为</a:t>
            </a:r>
            <a:r>
              <a:rPr lang="en-US" altLang="zh-CN" sz="2200" b="1" dirty="0">
                <a:solidFill>
                  <a:srgbClr val="FF66CC"/>
                </a:solidFill>
                <a:latin typeface="Times New Roman" panose="02020603050405020304" pitchFamily="18" charset="0"/>
                <a:ea typeface="华文楷体" panose="02010600040101010101" pitchFamily="2" charset="-122"/>
              </a:rPr>
              <a:t>1</a:t>
            </a:r>
            <a:r>
              <a:rPr lang="zh-CN" altLang="en-US" sz="2200" b="1" dirty="0">
                <a:latin typeface="Times New Roman" panose="02020603050405020304" pitchFamily="18" charset="0"/>
                <a:ea typeface="华文楷体" panose="02010600040101010101" pitchFamily="2" charset="-122"/>
              </a:rPr>
              <a:t>；否则为</a:t>
            </a:r>
            <a:r>
              <a:rPr lang="en-US" altLang="zh-CN" sz="2200" b="1" dirty="0">
                <a:solidFill>
                  <a:srgbClr val="FF66CC"/>
                </a:solidFill>
                <a:latin typeface="Times New Roman" panose="02020603050405020304" pitchFamily="18" charset="0"/>
                <a:ea typeface="华文楷体" panose="02010600040101010101" pitchFamily="2" charset="-122"/>
              </a:rPr>
              <a:t>0</a:t>
            </a:r>
            <a:r>
              <a:rPr lang="zh-CN" altLang="en-US" sz="2200" b="1" dirty="0">
                <a:latin typeface="Times New Roman" panose="02020603050405020304" pitchFamily="18" charset="0"/>
                <a:ea typeface="华文楷体" panose="02010600040101010101" pitchFamily="2" charset="-122"/>
              </a:rPr>
              <a:t>。</a:t>
            </a:r>
            <a:endParaRPr lang="zh-CN" altLang="en-US" sz="2200" b="1" dirty="0">
              <a:latin typeface="Times New Roman" panose="02020603050405020304" pitchFamily="18" charset="0"/>
              <a:ea typeface="华文楷体" panose="02010600040101010101" pitchFamily="2" charset="-122"/>
            </a:endParaRPr>
          </a:p>
          <a:p>
            <a:pPr marL="342900" lvl="0" indent="-342900" algn="just">
              <a:lnSpc>
                <a:spcPct val="105000"/>
              </a:lnSpc>
              <a:spcBef>
                <a:spcPct val="0"/>
              </a:spcBef>
              <a:buClr>
                <a:srgbClr val="3333FF"/>
              </a:buClr>
              <a:buFont typeface="Wingdings" panose="05000000000000000000" pitchFamily="2" charset="2"/>
              <a:buChar char="§"/>
            </a:pPr>
            <a:r>
              <a:rPr lang="zh-CN" altLang="en-US" sz="2200" b="1" dirty="0">
                <a:latin typeface="Times New Roman" panose="02020603050405020304" pitchFamily="18" charset="0"/>
                <a:ea typeface="华文楷体" panose="02010600040101010101" pitchFamily="2" charset="-122"/>
              </a:rPr>
              <a:t>所有的等式运算符优先级别相同。</a:t>
            </a:r>
            <a:endParaRPr lang="zh-CN" altLang="en-US" sz="2200" b="1" dirty="0">
              <a:latin typeface="Times New Roman" panose="02020603050405020304" pitchFamily="18" charset="0"/>
              <a:ea typeface="华文楷体" panose="02010600040101010101" pitchFamily="2" charset="-122"/>
            </a:endParaRPr>
          </a:p>
          <a:p>
            <a:pPr marL="342900" lvl="0" indent="-342900" algn="just">
              <a:lnSpc>
                <a:spcPct val="105000"/>
              </a:lnSpc>
              <a:spcBef>
                <a:spcPct val="0"/>
              </a:spcBef>
              <a:buClr>
                <a:srgbClr val="3333FF"/>
              </a:buClr>
              <a:buFont typeface="Wingdings" panose="05000000000000000000" pitchFamily="2" charset="2"/>
              <a:buChar char="§"/>
            </a:pPr>
            <a:r>
              <a:rPr lang="en-US" altLang="zh-CN" sz="2200" b="1" dirty="0">
                <a:latin typeface="Times New Roman" panose="02020603050405020304" pitchFamily="18" charset="0"/>
                <a:ea typeface="华文楷体" panose="02010600040101010101" pitchFamily="2" charset="-122"/>
              </a:rPr>
              <a:t>= = =</a:t>
            </a:r>
            <a:r>
              <a:rPr lang="zh-CN" altLang="en-US" sz="2200" b="1" dirty="0">
                <a:latin typeface="Times New Roman" panose="02020603050405020304" pitchFamily="18" charset="0"/>
                <a:ea typeface="华文楷体" panose="02010600040101010101" pitchFamily="2" charset="-122"/>
              </a:rPr>
              <a:t>和！</a:t>
            </a: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运算符常用于</a:t>
            </a:r>
            <a:r>
              <a:rPr lang="en-US" altLang="zh-CN" sz="2200" b="1" dirty="0">
                <a:latin typeface="Times New Roman" panose="02020603050405020304" pitchFamily="18" charset="0"/>
                <a:ea typeface="华文楷体" panose="02010600040101010101" pitchFamily="2" charset="-122"/>
              </a:rPr>
              <a:t>case</a:t>
            </a:r>
            <a:r>
              <a:rPr lang="zh-CN" altLang="en-US" sz="2200" b="1" dirty="0">
                <a:latin typeface="Times New Roman" panose="02020603050405020304" pitchFamily="18" charset="0"/>
                <a:ea typeface="华文楷体" panose="02010600040101010101" pitchFamily="2" charset="-122"/>
              </a:rPr>
              <a:t>表达式的判别，又称为“</a:t>
            </a:r>
            <a:r>
              <a:rPr lang="en-US" altLang="zh-CN" sz="2200" b="1" dirty="0">
                <a:solidFill>
                  <a:srgbClr val="FF0066"/>
                </a:solidFill>
                <a:latin typeface="Times New Roman" panose="02020603050405020304" pitchFamily="18" charset="0"/>
                <a:ea typeface="华文楷体" panose="02010600040101010101" pitchFamily="2" charset="-122"/>
              </a:rPr>
              <a:t>case</a:t>
            </a:r>
            <a:r>
              <a:rPr lang="zh-CN" altLang="en-US" sz="2200" b="1" dirty="0">
                <a:latin typeface="Times New Roman" panose="02020603050405020304" pitchFamily="18" charset="0"/>
                <a:ea typeface="华文楷体" panose="02010600040101010101" pitchFamily="2" charset="-122"/>
              </a:rPr>
              <a:t>等式运算符”。</a:t>
            </a:r>
            <a:endParaRPr lang="zh-CN" altLang="en-US" sz="22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65027"/>
                                        </p:tgtEl>
                                        <p:attrNameLst>
                                          <p:attrName>style.visibility</p:attrName>
                                        </p:attrNameLst>
                                      </p:cBhvr>
                                      <p:to>
                                        <p:strVal val="visible"/>
                                      </p:to>
                                    </p:set>
                                    <p:anim calcmode="lin" valueType="num">
                                      <p:cBhvr additive="base">
                                        <p:cTn id="7" dur="500" fill="hold"/>
                                        <p:tgtEl>
                                          <p:spTgt spid="1665027"/>
                                        </p:tgtEl>
                                        <p:attrNameLst>
                                          <p:attrName>ppt_x</p:attrName>
                                        </p:attrNameLst>
                                      </p:cBhvr>
                                      <p:tavLst>
                                        <p:tav tm="0">
                                          <p:val>
                                            <p:strVal val="0-#ppt_w/2"/>
                                          </p:val>
                                        </p:tav>
                                        <p:tav tm="100000">
                                          <p:val>
                                            <p:strVal val="#ppt_x"/>
                                          </p:val>
                                        </p:tav>
                                      </p:tavLst>
                                    </p:anim>
                                    <p:anim calcmode="lin" valueType="num">
                                      <p:cBhvr additive="base">
                                        <p:cTn id="8" dur="500" fill="hold"/>
                                        <p:tgtEl>
                                          <p:spTgt spid="16650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65039"/>
                                        </p:tgtEl>
                                        <p:attrNameLst>
                                          <p:attrName>style.visibility</p:attrName>
                                        </p:attrNameLst>
                                      </p:cBhvr>
                                      <p:to>
                                        <p:strVal val="visible"/>
                                      </p:to>
                                    </p:set>
                                    <p:animEffect transition="in" filter="dissolve">
                                      <p:cBhvr>
                                        <p:cTn id="12" dur="500"/>
                                        <p:tgtEl>
                                          <p:spTgt spid="166503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92165"/>
                                        </p:tgtEl>
                                        <p:attrNameLst>
                                          <p:attrName>style.visibility</p:attrName>
                                        </p:attrNameLst>
                                      </p:cBhvr>
                                      <p:to>
                                        <p:strVal val="visible"/>
                                      </p:to>
                                    </p:set>
                                    <p:anim calcmode="lin" valueType="num">
                                      <p:cBhvr additive="base">
                                        <p:cTn id="17" dur="500" fill="hold"/>
                                        <p:tgtEl>
                                          <p:spTgt spid="92165"/>
                                        </p:tgtEl>
                                        <p:attrNameLst>
                                          <p:attrName>ppt_x</p:attrName>
                                        </p:attrNameLst>
                                      </p:cBhvr>
                                      <p:tavLst>
                                        <p:tav tm="0">
                                          <p:val>
                                            <p:strVal val="1+#ppt_w/2"/>
                                          </p:val>
                                        </p:tav>
                                        <p:tav tm="100000">
                                          <p:val>
                                            <p:strVal val="#ppt_x"/>
                                          </p:val>
                                        </p:tav>
                                      </p:tavLst>
                                    </p:anim>
                                    <p:anim calcmode="lin" valueType="num">
                                      <p:cBhvr additive="base">
                                        <p:cTn id="18" dur="500" fill="hold"/>
                                        <p:tgtEl>
                                          <p:spTgt spid="9216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65040">
                                            <p:txEl>
                                              <p:charRg st="0" end="18"/>
                                            </p:txEl>
                                          </p:spTgt>
                                        </p:tgtEl>
                                        <p:attrNameLst>
                                          <p:attrName>style.visibility</p:attrName>
                                        </p:attrNameLst>
                                      </p:cBhvr>
                                      <p:to>
                                        <p:strVal val="visible"/>
                                      </p:to>
                                    </p:set>
                                    <p:anim calcmode="lin" valueType="num">
                                      <p:cBhvr additive="base">
                                        <p:cTn id="23" dur="500" fill="hold"/>
                                        <p:tgtEl>
                                          <p:spTgt spid="1665040">
                                            <p:txEl>
                                              <p:charRg st="0" end="18"/>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665040">
                                            <p:txEl>
                                              <p:charRg st="0" end="18"/>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65040">
                                            <p:txEl>
                                              <p:charRg st="18" end="46"/>
                                            </p:txEl>
                                          </p:spTgt>
                                        </p:tgtEl>
                                        <p:attrNameLst>
                                          <p:attrName>style.visibility</p:attrName>
                                        </p:attrNameLst>
                                      </p:cBhvr>
                                      <p:to>
                                        <p:strVal val="visible"/>
                                      </p:to>
                                    </p:set>
                                    <p:anim calcmode="lin" valueType="num">
                                      <p:cBhvr additive="base">
                                        <p:cTn id="29" dur="500" fill="hold"/>
                                        <p:tgtEl>
                                          <p:spTgt spid="1665040">
                                            <p:txEl>
                                              <p:charRg st="18" end="4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665040">
                                            <p:txEl>
                                              <p:charRg st="18" end="46"/>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665040">
                                            <p:txEl>
                                              <p:charRg st="46" end="89"/>
                                            </p:txEl>
                                          </p:spTgt>
                                        </p:tgtEl>
                                        <p:attrNameLst>
                                          <p:attrName>style.visibility</p:attrName>
                                        </p:attrNameLst>
                                      </p:cBhvr>
                                      <p:to>
                                        <p:strVal val="visible"/>
                                      </p:to>
                                    </p:set>
                                    <p:anim calcmode="lin" valueType="num">
                                      <p:cBhvr additive="base">
                                        <p:cTn id="33" dur="500" fill="hold"/>
                                        <p:tgtEl>
                                          <p:spTgt spid="1665040">
                                            <p:txEl>
                                              <p:charRg st="46" end="89"/>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65040">
                                            <p:txEl>
                                              <p:charRg st="46" end="89"/>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665040">
                                            <p:txEl>
                                              <p:charRg st="89" end="146"/>
                                            </p:txEl>
                                          </p:spTgt>
                                        </p:tgtEl>
                                        <p:attrNameLst>
                                          <p:attrName>style.visibility</p:attrName>
                                        </p:attrNameLst>
                                      </p:cBhvr>
                                      <p:to>
                                        <p:strVal val="visible"/>
                                      </p:to>
                                    </p:set>
                                    <p:anim calcmode="lin" valueType="num">
                                      <p:cBhvr additive="base">
                                        <p:cTn id="37" dur="500" fill="hold"/>
                                        <p:tgtEl>
                                          <p:spTgt spid="1665040">
                                            <p:txEl>
                                              <p:charRg st="89" end="14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65040">
                                            <p:txEl>
                                              <p:charRg st="89" end="14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65040">
                                            <p:txEl>
                                              <p:charRg st="146" end="162"/>
                                            </p:txEl>
                                          </p:spTgt>
                                        </p:tgtEl>
                                        <p:attrNameLst>
                                          <p:attrName>style.visibility</p:attrName>
                                        </p:attrNameLst>
                                      </p:cBhvr>
                                      <p:to>
                                        <p:strVal val="visible"/>
                                      </p:to>
                                    </p:set>
                                    <p:anim calcmode="lin" valueType="num">
                                      <p:cBhvr additive="base">
                                        <p:cTn id="43" dur="500" fill="hold"/>
                                        <p:tgtEl>
                                          <p:spTgt spid="1665040">
                                            <p:txEl>
                                              <p:charRg st="146" end="16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65040">
                                            <p:txEl>
                                              <p:charRg st="146" end="16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665040">
                                            <p:txEl>
                                              <p:charRg st="162" end="205"/>
                                            </p:txEl>
                                          </p:spTgt>
                                        </p:tgtEl>
                                        <p:attrNameLst>
                                          <p:attrName>style.visibility</p:attrName>
                                        </p:attrNameLst>
                                      </p:cBhvr>
                                      <p:to>
                                        <p:strVal val="visible"/>
                                      </p:to>
                                    </p:set>
                                    <p:anim calcmode="lin" valueType="num">
                                      <p:cBhvr additive="base">
                                        <p:cTn id="49" dur="500" fill="hold"/>
                                        <p:tgtEl>
                                          <p:spTgt spid="1665040">
                                            <p:txEl>
                                              <p:charRg st="162" end="205"/>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665040">
                                            <p:txEl>
                                              <p:charRg st="162" end="20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5027" grpId="0"/>
      <p:bldP spid="1665039" grpId="0" bldLvl="0" animBg="1"/>
      <p:bldP spid="1665040"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366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1366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7075"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200" dirty="0">
                <a:latin typeface="Times New Roman" panose="02020603050405020304" pitchFamily="18" charset="0"/>
                <a:ea typeface="黑体" panose="02010609060101010101" pitchFamily="49" charset="-122"/>
                <a:cs typeface="+mn-cs"/>
              </a:rPr>
              <a:t>[</a:t>
            </a:r>
            <a:r>
              <a:rPr lang="zh-CN" altLang="en-US" sz="2200" dirty="0">
                <a:solidFill>
                  <a:srgbClr val="FF0066"/>
                </a:solidFill>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黑体" panose="02010609060101010101" pitchFamily="49" charset="-122"/>
                <a:cs typeface="+mn-cs"/>
              </a:rPr>
              <a:t>] if(A</a:t>
            </a:r>
            <a:r>
              <a:rPr lang="en-US" altLang="zh-CN" sz="2200" dirty="0">
                <a:solidFill>
                  <a:srgbClr val="FF0066"/>
                </a:solidFill>
                <a:latin typeface="Times New Roman" panose="02020603050405020304" pitchFamily="18" charset="0"/>
                <a:ea typeface="黑体" panose="02010609060101010101" pitchFamily="49" charset="-122"/>
                <a:cs typeface="+mn-cs"/>
              </a:rPr>
              <a:t> = = </a:t>
            </a:r>
            <a:r>
              <a:rPr lang="en-US" altLang="zh-CN" sz="2200" dirty="0">
                <a:latin typeface="Times New Roman" panose="02020603050405020304" pitchFamily="18" charset="0"/>
                <a:ea typeface="黑体" panose="02010609060101010101" pitchFamily="49" charset="-122"/>
                <a:cs typeface="+mn-cs"/>
              </a:rPr>
              <a:t>1’bx) $display(“AisX”)</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a:t>
            </a:r>
            <a:r>
              <a:rPr lang="zh-CN" altLang="en-US" sz="2200" dirty="0">
                <a:latin typeface="Times New Roman" panose="02020603050405020304" pitchFamily="18" charset="0"/>
                <a:ea typeface="华文楷体" panose="02010600040101010101" pitchFamily="2" charset="-122"/>
                <a:cs typeface="+mn-cs"/>
              </a:rPr>
              <a:t>当</a:t>
            </a:r>
            <a:r>
              <a:rPr lang="en-US" altLang="zh-CN" sz="2200" dirty="0">
                <a:latin typeface="Times New Roman" panose="02020603050405020304" pitchFamily="18" charset="0"/>
                <a:ea typeface="黑体" panose="02010609060101010101" pitchFamily="49" charset="-122"/>
                <a:cs typeface="+mn-cs"/>
              </a:rPr>
              <a:t>A</a:t>
            </a:r>
            <a:r>
              <a:rPr lang="zh-CN" altLang="en-US" sz="2200" dirty="0">
                <a:latin typeface="Times New Roman" panose="02020603050405020304" pitchFamily="18" charset="0"/>
                <a:ea typeface="华文楷体" panose="02010600040101010101" pitchFamily="2" charset="-122"/>
                <a:cs typeface="+mn-cs"/>
              </a:rPr>
              <a:t>为不定值时， 式（</a:t>
            </a:r>
            <a:r>
              <a:rPr lang="en-US" altLang="zh-CN" sz="2200" dirty="0">
                <a:latin typeface="Times New Roman" panose="02020603050405020304" pitchFamily="18" charset="0"/>
                <a:ea typeface="黑体" panose="02010609060101010101" pitchFamily="49" charset="-122"/>
                <a:cs typeface="+mn-cs"/>
              </a:rPr>
              <a:t>A</a:t>
            </a:r>
            <a:r>
              <a:rPr lang="en-US" altLang="zh-CN" sz="2200" dirty="0">
                <a:solidFill>
                  <a:srgbClr val="FF0066"/>
                </a:solidFill>
                <a:latin typeface="Times New Roman" panose="02020603050405020304" pitchFamily="18" charset="0"/>
                <a:ea typeface="黑体" panose="02010609060101010101" pitchFamily="49" charset="-122"/>
                <a:cs typeface="+mn-cs"/>
              </a:rPr>
              <a:t> = = </a:t>
            </a:r>
            <a:r>
              <a:rPr lang="en-US" altLang="zh-CN" sz="2200" dirty="0">
                <a:latin typeface="Times New Roman" panose="02020603050405020304" pitchFamily="18" charset="0"/>
                <a:ea typeface="黑体" panose="02010609060101010101" pitchFamily="49" charset="-122"/>
                <a:cs typeface="+mn-cs"/>
              </a:rPr>
              <a:t>1’bx</a:t>
            </a:r>
            <a:r>
              <a:rPr lang="zh-CN" altLang="en-US" sz="2200" dirty="0">
                <a:latin typeface="Times New Roman" panose="02020603050405020304" pitchFamily="18" charset="0"/>
                <a:ea typeface="华文楷体" panose="02010600040101010101" pitchFamily="2" charset="-122"/>
                <a:cs typeface="+mn-cs"/>
              </a:rPr>
              <a:t>）的运算结果为</a:t>
            </a:r>
            <a:r>
              <a:rPr lang="en-US" altLang="zh-CN" sz="2200" dirty="0">
                <a:latin typeface="Times New Roman" panose="02020603050405020304" pitchFamily="18" charset="0"/>
                <a:ea typeface="黑体" panose="02010609060101010101" pitchFamily="49" charset="-122"/>
                <a:cs typeface="+mn-cs"/>
              </a:rPr>
              <a:t>x</a:t>
            </a:r>
            <a:r>
              <a:rPr lang="zh-CN" altLang="en-US" sz="2200" dirty="0">
                <a:latin typeface="Times New Roman" panose="02020603050405020304" pitchFamily="18" charset="0"/>
                <a:ea typeface="华文楷体" panose="02010600040101010101" pitchFamily="2" charset="-122"/>
                <a:cs typeface="+mn-cs"/>
              </a:rPr>
              <a:t>，则该语句不执行</a:t>
            </a:r>
            <a:endParaRPr lang="zh-CN" altLang="en-US" sz="2200"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sz="2200" dirty="0">
                <a:latin typeface="Times New Roman" panose="02020603050405020304" pitchFamily="18" charset="0"/>
                <a:ea typeface="华文楷体" panose="02010600040101010101" pitchFamily="2" charset="-122"/>
                <a:cs typeface="+mn-cs"/>
              </a:rPr>
              <a:t>     </a:t>
            </a:r>
            <a:r>
              <a:rPr lang="en-US" altLang="zh-CN" sz="2200" dirty="0">
                <a:latin typeface="Times New Roman" panose="02020603050405020304" pitchFamily="18" charset="0"/>
                <a:ea typeface="黑体" panose="02010609060101010101" pitchFamily="49" charset="-122"/>
                <a:cs typeface="+mn-cs"/>
              </a:rPr>
              <a:t>if(A</a:t>
            </a:r>
            <a:r>
              <a:rPr lang="en-US" altLang="zh-CN" sz="2200" dirty="0">
                <a:solidFill>
                  <a:srgbClr val="FF0066"/>
                </a:solidFill>
                <a:latin typeface="Times New Roman" panose="02020603050405020304" pitchFamily="18" charset="0"/>
                <a:ea typeface="黑体" panose="02010609060101010101" pitchFamily="49" charset="-122"/>
                <a:cs typeface="+mn-cs"/>
              </a:rPr>
              <a:t> = = = </a:t>
            </a:r>
            <a:r>
              <a:rPr lang="en-US" altLang="zh-CN" sz="2200" dirty="0">
                <a:latin typeface="Times New Roman" panose="02020603050405020304" pitchFamily="18" charset="0"/>
                <a:ea typeface="黑体" panose="02010609060101010101" pitchFamily="49" charset="-122"/>
                <a:cs typeface="+mn-cs"/>
              </a:rPr>
              <a:t>1’bx) $display(“AisX”)</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a:t>
            </a:r>
            <a:r>
              <a:rPr lang="zh-CN" altLang="en-US" sz="2200" dirty="0">
                <a:latin typeface="Times New Roman" panose="02020603050405020304" pitchFamily="18" charset="0"/>
                <a:ea typeface="华文楷体" panose="02010600040101010101" pitchFamily="2" charset="-122"/>
                <a:cs typeface="+mn-cs"/>
              </a:rPr>
              <a:t>当</a:t>
            </a:r>
            <a:r>
              <a:rPr lang="en-US" altLang="zh-CN" sz="2200" dirty="0">
                <a:latin typeface="Times New Roman" panose="02020603050405020304" pitchFamily="18" charset="0"/>
                <a:ea typeface="黑体" panose="02010609060101010101" pitchFamily="49" charset="-122"/>
                <a:cs typeface="+mn-cs"/>
              </a:rPr>
              <a:t>A</a:t>
            </a:r>
            <a:r>
              <a:rPr lang="zh-CN" altLang="en-US" sz="2200" dirty="0">
                <a:latin typeface="Times New Roman" panose="02020603050405020304" pitchFamily="18" charset="0"/>
                <a:ea typeface="华文楷体" panose="02010600040101010101" pitchFamily="2" charset="-122"/>
                <a:cs typeface="+mn-cs"/>
              </a:rPr>
              <a:t>为不定值时，式（</a:t>
            </a:r>
            <a:r>
              <a:rPr lang="en-US" altLang="zh-CN" sz="2200" dirty="0">
                <a:latin typeface="Times New Roman" panose="02020603050405020304" pitchFamily="18" charset="0"/>
                <a:ea typeface="黑体" panose="02010609060101010101" pitchFamily="49" charset="-122"/>
                <a:cs typeface="+mn-cs"/>
              </a:rPr>
              <a:t>A</a:t>
            </a:r>
            <a:r>
              <a:rPr lang="en-US" altLang="zh-CN" sz="2200" dirty="0">
                <a:solidFill>
                  <a:srgbClr val="FF0066"/>
                </a:solidFill>
                <a:latin typeface="Times New Roman" panose="02020603050405020304" pitchFamily="18" charset="0"/>
                <a:ea typeface="黑体" panose="02010609060101010101" pitchFamily="49" charset="-122"/>
                <a:cs typeface="+mn-cs"/>
              </a:rPr>
              <a:t> = = = </a:t>
            </a:r>
            <a:r>
              <a:rPr lang="en-US" altLang="zh-CN" sz="2200" dirty="0">
                <a:latin typeface="Times New Roman" panose="02020603050405020304" pitchFamily="18" charset="0"/>
                <a:ea typeface="黑体" panose="02010609060101010101" pitchFamily="49" charset="-122"/>
                <a:cs typeface="+mn-cs"/>
              </a:rPr>
              <a:t>1’bx</a:t>
            </a:r>
            <a:r>
              <a:rPr lang="zh-CN" altLang="en-US" sz="2200" dirty="0">
                <a:latin typeface="Times New Roman" panose="02020603050405020304" pitchFamily="18" charset="0"/>
                <a:ea typeface="华文楷体" panose="02010600040101010101" pitchFamily="2" charset="-122"/>
                <a:cs typeface="+mn-cs"/>
              </a:rPr>
              <a:t>）的运算结果为</a:t>
            </a:r>
            <a:r>
              <a:rPr lang="en-US" altLang="zh-CN" sz="2200" dirty="0">
                <a:latin typeface="Times New Roman" panose="02020603050405020304" pitchFamily="18" charset="0"/>
                <a:ea typeface="黑体" panose="02010609060101010101" pitchFamily="49" charset="-122"/>
                <a:cs typeface="+mn-cs"/>
              </a:rPr>
              <a:t>1</a:t>
            </a:r>
            <a:r>
              <a:rPr lang="zh-CN" altLang="en-US" sz="2200" dirty="0">
                <a:latin typeface="Times New Roman" panose="02020603050405020304" pitchFamily="18" charset="0"/>
                <a:ea typeface="华文楷体" panose="02010600040101010101" pitchFamily="2" charset="-122"/>
                <a:cs typeface="+mn-cs"/>
              </a:rPr>
              <a:t>，该语句执行</a:t>
            </a:r>
            <a:endParaRPr lang="zh-CN" altLang="en-US" sz="2200"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endParaRPr lang="en-US" altLang="zh-CN" sz="2200" dirty="0">
              <a:latin typeface="Times New Roman" panose="02020603050405020304" pitchFamily="18" charset="0"/>
              <a:ea typeface="黑体" panose="02010609060101010101" pitchFamily="49" charset="-122"/>
              <a:cs typeface="+mn-cs"/>
            </a:endParaRPr>
          </a:p>
        </p:txBody>
      </p:sp>
      <p:graphicFrame>
        <p:nvGraphicFramePr>
          <p:cNvPr id="93189" name="表格 93188"/>
          <p:cNvGraphicFramePr/>
          <p:nvPr/>
        </p:nvGraphicFramePr>
        <p:xfrm>
          <a:off x="1066800" y="3471863"/>
          <a:ext cx="2971800" cy="1814513"/>
        </p:xfrm>
        <a:graphic>
          <a:graphicData uri="http://schemas.openxmlformats.org/drawingml/2006/table">
            <a:tbl>
              <a:tblPr/>
              <a:tblGrid>
                <a:gridCol w="1143000"/>
                <a:gridCol w="1828800"/>
              </a:tblGrid>
              <a:tr h="38093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59" marB="1535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0   1   x   z</a:t>
                      </a:r>
                      <a:endParaRPr lang="en-US" altLang="zh-CN" sz="2000" dirty="0">
                        <a:solidFill>
                          <a:schemeClr val="tx1"/>
                        </a:solidFill>
                        <a:latin typeface="Times New Roman" panose="02020603050405020304" pitchFamily="18" charset="0"/>
                      </a:endParaRPr>
                    </a:p>
                  </a:txBody>
                  <a:tcPr marL="30724" marR="30724" marT="15359" marB="1535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433579">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0</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1</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x</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z</a:t>
                      </a:r>
                      <a:endParaRPr lang="en-US" altLang="zh-CN" sz="2000" dirty="0">
                        <a:solidFill>
                          <a:schemeClr val="tx1"/>
                        </a:solidFill>
                        <a:latin typeface="Times New Roman" panose="02020603050405020304" pitchFamily="18" charset="0"/>
                      </a:endParaRPr>
                    </a:p>
                  </a:txBody>
                  <a:tcPr marL="30724" marR="30724" marT="15359" marB="15359">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marL="381000" lvl="0" indent="-381000" algn="ctr" defTabSz="2716530" eaLnBrk="1" hangingPunct="1">
                        <a:spcBef>
                          <a:spcPct val="20000"/>
                        </a:spcBef>
                        <a:buClr>
                          <a:srgbClr val="3333FF"/>
                        </a:buClr>
                        <a:buFont typeface="Wingdings" panose="05000000000000000000" pitchFamily="2" charset="2"/>
                        <a:buNone/>
                      </a:pPr>
                      <a:r>
                        <a:rPr lang="en-US" altLang="zh-CN" sz="2000" dirty="0">
                          <a:solidFill>
                            <a:srgbClr val="FF0066"/>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0   x   x</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0   </a:t>
                      </a:r>
                      <a:r>
                        <a:rPr lang="en-US" altLang="zh-CN" sz="2000" dirty="0">
                          <a:solidFill>
                            <a:srgbClr val="FF0066"/>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x   x</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x   x   x   x</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x   x   x   x</a:t>
                      </a:r>
                      <a:endParaRPr lang="en-US" altLang="zh-CN" sz="2000" b="0" dirty="0">
                        <a:solidFill>
                          <a:schemeClr val="tx1"/>
                        </a:solidFill>
                        <a:latin typeface="Times New Roman" panose="02020603050405020304" pitchFamily="18" charset="0"/>
                      </a:endParaRPr>
                    </a:p>
                  </a:txBody>
                  <a:tcPr marL="30724" marR="30724" marT="15359" marB="15359">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graphicFrame>
        <p:nvGraphicFramePr>
          <p:cNvPr id="93200" name="表格 93199"/>
          <p:cNvGraphicFramePr/>
          <p:nvPr/>
        </p:nvGraphicFramePr>
        <p:xfrm>
          <a:off x="4724400" y="3530600"/>
          <a:ext cx="2971800" cy="1814513"/>
        </p:xfrm>
        <a:graphic>
          <a:graphicData uri="http://schemas.openxmlformats.org/drawingml/2006/table">
            <a:tbl>
              <a:tblPr/>
              <a:tblGrid>
                <a:gridCol w="1143000"/>
                <a:gridCol w="1828800"/>
              </a:tblGrid>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0   1   x   z</a:t>
                      </a:r>
                      <a:endParaRPr lang="en-US" altLang="zh-CN" sz="2000" dirty="0">
                        <a:solidFill>
                          <a:schemeClr val="tx1"/>
                        </a:solidFill>
                        <a:latin typeface="Times New Roman" panose="02020603050405020304" pitchFamily="18"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143351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0</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1</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x</a:t>
                      </a:r>
                      <a:endParaRPr lang="en-US" altLang="zh-CN" sz="2000" dirty="0">
                        <a:solidFill>
                          <a:schemeClr val="tx1"/>
                        </a:solidFill>
                        <a:latin typeface="Times New Roman" panose="02020603050405020304" pitchFamily="18" charset="0"/>
                      </a:endParaRPr>
                    </a:p>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imes New Roman" panose="02020603050405020304" pitchFamily="18" charset="0"/>
                        </a:rPr>
                        <a:t>z</a:t>
                      </a:r>
                      <a:endParaRPr lang="en-US" altLang="zh-CN" sz="2000" dirty="0">
                        <a:solidFill>
                          <a:schemeClr val="tx1"/>
                        </a:solidFill>
                        <a:latin typeface="Times New Roman" panose="02020603050405020304" pitchFamily="18"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marL="381000" lvl="0" indent="-381000" algn="ctr" defTabSz="2716530" eaLnBrk="1" hangingPunct="1">
                        <a:spcBef>
                          <a:spcPct val="20000"/>
                        </a:spcBef>
                        <a:buClr>
                          <a:srgbClr val="3333FF"/>
                        </a:buClr>
                        <a:buFont typeface="Wingdings" panose="05000000000000000000" pitchFamily="2" charset="2"/>
                        <a:buNone/>
                      </a:pPr>
                      <a:r>
                        <a:rPr lang="en-US" altLang="zh-CN" sz="2000" dirty="0">
                          <a:solidFill>
                            <a:srgbClr val="FF0066"/>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0   0   0</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0   </a:t>
                      </a:r>
                      <a:r>
                        <a:rPr lang="en-US" altLang="zh-CN" sz="2000" dirty="0">
                          <a:solidFill>
                            <a:srgbClr val="FF0066"/>
                          </a:solidFill>
                          <a:latin typeface="Times New Roman" panose="02020603050405020304" pitchFamily="18" charset="0"/>
                        </a:rPr>
                        <a:t>1</a:t>
                      </a:r>
                      <a:r>
                        <a:rPr lang="en-US" altLang="zh-CN" sz="2000" b="0" dirty="0">
                          <a:solidFill>
                            <a:schemeClr val="tx1"/>
                          </a:solidFill>
                          <a:latin typeface="Times New Roman" panose="02020603050405020304" pitchFamily="18" charset="0"/>
                        </a:rPr>
                        <a:t>   0   0</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0   0   </a:t>
                      </a:r>
                      <a:r>
                        <a:rPr lang="en-US" altLang="zh-CN" sz="2000" dirty="0">
                          <a:solidFill>
                            <a:srgbClr val="FF0066"/>
                          </a:solidFill>
                          <a:latin typeface="Times New Roman" panose="02020603050405020304" pitchFamily="18" charset="0"/>
                        </a:rPr>
                        <a:t>1  </a:t>
                      </a:r>
                      <a:r>
                        <a:rPr lang="en-US" altLang="zh-CN" sz="2000" b="0" dirty="0">
                          <a:solidFill>
                            <a:schemeClr val="tx1"/>
                          </a:solidFill>
                          <a:latin typeface="Times New Roman" panose="02020603050405020304" pitchFamily="18" charset="0"/>
                        </a:rPr>
                        <a:t> 0</a:t>
                      </a:r>
                      <a:endParaRPr lang="en-US" altLang="zh-CN" sz="2000" b="0" dirty="0">
                        <a:solidFill>
                          <a:schemeClr val="tx1"/>
                        </a:solidFill>
                        <a:latin typeface="Times New Roman" panose="02020603050405020304" pitchFamily="18" charset="0"/>
                      </a:endParaRPr>
                    </a:p>
                    <a:p>
                      <a:pPr marL="381000" lvl="0" indent="-38100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imes New Roman" panose="02020603050405020304" pitchFamily="18" charset="0"/>
                        </a:rPr>
                        <a:t>0   0   0   </a:t>
                      </a:r>
                      <a:r>
                        <a:rPr lang="en-US" altLang="zh-CN" sz="2000" dirty="0">
                          <a:solidFill>
                            <a:srgbClr val="FF0066"/>
                          </a:solidFill>
                          <a:latin typeface="Times New Roman" panose="02020603050405020304" pitchFamily="18" charset="0"/>
                        </a:rPr>
                        <a:t>1</a:t>
                      </a:r>
                      <a:endParaRPr lang="en-US" altLang="zh-CN" sz="2000" dirty="0">
                        <a:solidFill>
                          <a:srgbClr val="FF0066"/>
                        </a:solidFill>
                        <a:latin typeface="Times New Roman" panose="02020603050405020304" pitchFamily="18"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13691" name="Rectangle 26"/>
          <p:cNvSpPr/>
          <p:nvPr/>
        </p:nvSpPr>
        <p:spPr>
          <a:xfrm>
            <a:off x="1219200" y="2844800"/>
            <a:ext cx="2667000" cy="457200"/>
          </a:xfrm>
          <a:prstGeom prst="rect">
            <a:avLst/>
          </a:prstGeom>
          <a:noFill/>
          <a:ln w="9525" cap="flat" cmpd="sng">
            <a:solidFill>
              <a:schemeClr val="accent1"/>
            </a:solidFill>
            <a:prstDash val="solid"/>
            <a:round/>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buNone/>
            </a:pPr>
            <a:r>
              <a:rPr lang="zh-CN" altLang="en-US" b="1" dirty="0">
                <a:latin typeface="华文楷体" panose="02010600040101010101" pitchFamily="2" charset="-122"/>
                <a:ea typeface="华文楷体" panose="02010600040101010101" pitchFamily="2" charset="-122"/>
              </a:rPr>
              <a:t>表</a:t>
            </a:r>
            <a:r>
              <a:rPr lang="en-US" altLang="zh-CN" b="1" dirty="0">
                <a:latin typeface="华文楷体" panose="02010600040101010101" pitchFamily="2" charset="-122"/>
                <a:ea typeface="华文楷体" panose="02010600040101010101" pitchFamily="2" charset="-122"/>
              </a:rPr>
              <a:t>1  “= =”</a:t>
            </a:r>
            <a:r>
              <a:rPr lang="zh-CN" altLang="en-US" b="1" dirty="0">
                <a:latin typeface="华文楷体" panose="02010600040101010101" pitchFamily="2" charset="-122"/>
                <a:ea typeface="华文楷体" panose="02010600040101010101" pitchFamily="2" charset="-122"/>
              </a:rPr>
              <a:t>的真值表</a:t>
            </a:r>
            <a:endParaRPr lang="zh-CN" altLang="en-US" sz="4000" b="1" dirty="0">
              <a:latin typeface="华文楷体" panose="02010600040101010101" pitchFamily="2" charset="-122"/>
              <a:ea typeface="华文楷体" panose="02010600040101010101" pitchFamily="2" charset="-122"/>
            </a:endParaRPr>
          </a:p>
        </p:txBody>
      </p:sp>
      <p:sp>
        <p:nvSpPr>
          <p:cNvPr id="113692" name="Rectangle 27"/>
          <p:cNvSpPr/>
          <p:nvPr/>
        </p:nvSpPr>
        <p:spPr>
          <a:xfrm>
            <a:off x="4800600" y="2844800"/>
            <a:ext cx="2819400" cy="457200"/>
          </a:xfrm>
          <a:prstGeom prst="rect">
            <a:avLst/>
          </a:prstGeom>
          <a:noFill/>
          <a:ln w="9525" cap="flat" cmpd="sng">
            <a:solidFill>
              <a:schemeClr val="accent1"/>
            </a:solidFill>
            <a:prstDash val="solid"/>
            <a:round/>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buNone/>
            </a:pPr>
            <a:r>
              <a:rPr lang="zh-CN" altLang="en-US" b="1" dirty="0">
                <a:latin typeface="华文楷体" panose="02010600040101010101" pitchFamily="2" charset="-122"/>
                <a:ea typeface="华文楷体" panose="02010600040101010101" pitchFamily="2" charset="-122"/>
              </a:rPr>
              <a:t>表</a:t>
            </a:r>
            <a:r>
              <a:rPr lang="en-US" altLang="zh-CN" b="1" dirty="0">
                <a:latin typeface="华文楷体" panose="02010600040101010101" pitchFamily="2" charset="-122"/>
                <a:ea typeface="华文楷体" panose="02010600040101010101" pitchFamily="2" charset="-122"/>
              </a:rPr>
              <a:t>2  “= = =”</a:t>
            </a:r>
            <a:r>
              <a:rPr lang="zh-CN" altLang="en-US" b="1" dirty="0">
                <a:latin typeface="华文楷体" panose="02010600040101010101" pitchFamily="2" charset="-122"/>
                <a:ea typeface="华文楷体" panose="02010600040101010101" pitchFamily="2" charset="-122"/>
              </a:rPr>
              <a:t>的真值表</a:t>
            </a:r>
            <a:endParaRPr lang="zh-CN" altLang="en-US" b="1" dirty="0">
              <a:latin typeface="华文楷体" panose="02010600040101010101" pitchFamily="2" charset="-122"/>
              <a:ea typeface="华文楷体" panose="02010600040101010101" pitchFamily="2" charset="-122"/>
            </a:endParaRPr>
          </a:p>
        </p:txBody>
      </p:sp>
      <p:sp>
        <p:nvSpPr>
          <p:cNvPr id="1667100" name="AutoShape 28"/>
          <p:cNvSpPr/>
          <p:nvPr/>
        </p:nvSpPr>
        <p:spPr>
          <a:xfrm>
            <a:off x="852488" y="5502275"/>
            <a:ext cx="2154237" cy="719138"/>
          </a:xfrm>
          <a:prstGeom prst="wedgeRoundRectCallout">
            <a:avLst>
              <a:gd name="adj1" fmla="val 61718"/>
              <a:gd name="adj2" fmla="val -80903"/>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solidFill>
                  <a:srgbClr val="FF33CC"/>
                </a:solidFill>
                <a:latin typeface="华文楷体" panose="02010600040101010101" pitchFamily="2" charset="-122"/>
                <a:ea typeface="华文楷体" panose="02010600040101010101" pitchFamily="2" charset="-122"/>
              </a:rPr>
              <a:t>等于</a:t>
            </a:r>
            <a:r>
              <a:rPr lang="zh-CN" altLang="en-US" dirty="0">
                <a:latin typeface="华文楷体" panose="02010600040101010101" pitchFamily="2" charset="-122"/>
                <a:ea typeface="华文楷体" panose="02010600040101010101" pitchFamily="2" charset="-122"/>
              </a:rPr>
              <a:t>运算的结果可能为</a:t>
            </a:r>
            <a:r>
              <a:rPr lang="en-US" altLang="zh-CN" b="1"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或</a:t>
            </a:r>
            <a:r>
              <a:rPr lang="en-US" altLang="zh-CN" b="1" dirty="0">
                <a:latin typeface="华文楷体" panose="02010600040101010101" pitchFamily="2" charset="-122"/>
                <a:ea typeface="华文楷体" panose="02010600040101010101" pitchFamily="2" charset="-122"/>
              </a:rPr>
              <a:t>0</a:t>
            </a:r>
            <a:r>
              <a:rPr lang="zh-CN" altLang="en-US" dirty="0">
                <a:latin typeface="华文楷体" panose="02010600040101010101" pitchFamily="2" charset="-122"/>
                <a:ea typeface="华文楷体" panose="02010600040101010101" pitchFamily="2" charset="-122"/>
              </a:rPr>
              <a:t>或</a:t>
            </a:r>
            <a:r>
              <a:rPr lang="en-US" altLang="zh-CN" b="1" dirty="0">
                <a:latin typeface="华文楷体" panose="02010600040101010101" pitchFamily="2" charset="-122"/>
                <a:ea typeface="华文楷体" panose="02010600040101010101" pitchFamily="2" charset="-122"/>
              </a:rPr>
              <a:t>x</a:t>
            </a:r>
            <a:endParaRPr lang="en-US" altLang="zh-CN" b="1" dirty="0">
              <a:latin typeface="华文楷体" panose="02010600040101010101" pitchFamily="2" charset="-122"/>
              <a:ea typeface="华文楷体" panose="02010600040101010101" pitchFamily="2" charset="-122"/>
            </a:endParaRPr>
          </a:p>
        </p:txBody>
      </p:sp>
      <p:sp>
        <p:nvSpPr>
          <p:cNvPr id="1667101" name="AutoShape 29"/>
          <p:cNvSpPr/>
          <p:nvPr/>
        </p:nvSpPr>
        <p:spPr>
          <a:xfrm>
            <a:off x="6710363" y="5502275"/>
            <a:ext cx="1905000" cy="674688"/>
          </a:xfrm>
          <a:prstGeom prst="wedgeRoundRectCallout">
            <a:avLst>
              <a:gd name="adj1" fmla="val -53167"/>
              <a:gd name="adj2" fmla="val -73296"/>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solidFill>
                  <a:srgbClr val="FF33CC"/>
                </a:solidFill>
                <a:latin typeface="华文楷体" panose="02010600040101010101" pitchFamily="2" charset="-122"/>
                <a:ea typeface="华文楷体" panose="02010600040101010101" pitchFamily="2" charset="-122"/>
              </a:rPr>
              <a:t>全等于</a:t>
            </a:r>
            <a:r>
              <a:rPr lang="zh-CN" altLang="en-US" dirty="0">
                <a:latin typeface="华文楷体" panose="02010600040101010101" pitchFamily="2" charset="-122"/>
                <a:ea typeface="华文楷体" panose="02010600040101010101" pitchFamily="2" charset="-122"/>
              </a:rPr>
              <a:t>运算的结果只有</a:t>
            </a:r>
            <a:r>
              <a:rPr lang="en-US" altLang="zh-CN" b="1" dirty="0">
                <a:latin typeface="华文楷体" panose="02010600040101010101" pitchFamily="2" charset="-122"/>
                <a:ea typeface="华文楷体" panose="02010600040101010101" pitchFamily="2" charset="-122"/>
              </a:rPr>
              <a:t>1</a:t>
            </a:r>
            <a:r>
              <a:rPr lang="zh-CN" altLang="en-US" dirty="0">
                <a:latin typeface="华文楷体" panose="02010600040101010101" pitchFamily="2" charset="-122"/>
                <a:ea typeface="华文楷体" panose="02010600040101010101" pitchFamily="2" charset="-122"/>
              </a:rPr>
              <a:t>或</a:t>
            </a:r>
            <a:r>
              <a:rPr lang="en-US" altLang="zh-CN" b="1" dirty="0">
                <a:latin typeface="华文楷体" panose="02010600040101010101" pitchFamily="2" charset="-122"/>
                <a:ea typeface="华文楷体" panose="02010600040101010101" pitchFamily="2" charset="-122"/>
              </a:rPr>
              <a:t>0</a:t>
            </a:r>
            <a:endParaRPr lang="en-US" altLang="zh-CN"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67100"/>
                                        </p:tgtEl>
                                        <p:attrNameLst>
                                          <p:attrName>style.visibility</p:attrName>
                                        </p:attrNameLst>
                                      </p:cBhvr>
                                      <p:to>
                                        <p:strVal val="visible"/>
                                      </p:to>
                                    </p:set>
                                    <p:animEffect transition="in" filter="dissolve">
                                      <p:cBhvr>
                                        <p:cTn id="7" dur="500"/>
                                        <p:tgtEl>
                                          <p:spTgt spid="166710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67101"/>
                                        </p:tgtEl>
                                        <p:attrNameLst>
                                          <p:attrName>style.visibility</p:attrName>
                                        </p:attrNameLst>
                                      </p:cBhvr>
                                      <p:to>
                                        <p:strVal val="visible"/>
                                      </p:to>
                                    </p:set>
                                    <p:animEffect transition="in" filter="dissolve">
                                      <p:cBhvr>
                                        <p:cTn id="12" dur="500"/>
                                        <p:tgtEl>
                                          <p:spTgt spid="16671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67075">
                                            <p:txEl>
                                              <p:charRg st="0" end="76"/>
                                            </p:txEl>
                                          </p:spTgt>
                                        </p:tgtEl>
                                        <p:attrNameLst>
                                          <p:attrName>style.visibility</p:attrName>
                                        </p:attrNameLst>
                                      </p:cBhvr>
                                      <p:to>
                                        <p:strVal val="visible"/>
                                      </p:to>
                                    </p:set>
                                    <p:animEffect transition="in" filter="wipe(left)">
                                      <p:cBhvr>
                                        <p:cTn id="17" dur="500"/>
                                        <p:tgtEl>
                                          <p:spTgt spid="1667075">
                                            <p:txEl>
                                              <p:charRg st="0" end="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67075">
                                            <p:txEl>
                                              <p:charRg st="76" end="154"/>
                                            </p:txEl>
                                          </p:spTgt>
                                        </p:tgtEl>
                                        <p:attrNameLst>
                                          <p:attrName>style.visibility</p:attrName>
                                        </p:attrNameLst>
                                      </p:cBhvr>
                                      <p:to>
                                        <p:strVal val="visible"/>
                                      </p:to>
                                    </p:set>
                                    <p:animEffect transition="in" filter="wipe(left)">
                                      <p:cBhvr>
                                        <p:cTn id="22" dur="500"/>
                                        <p:tgtEl>
                                          <p:spTgt spid="1667075">
                                            <p:txEl>
                                              <p:charRg st="76" end="1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7075" grpId="0" bldLvl="2" build="p"/>
      <p:bldP spid="1667100" grpId="0" bldLvl="0" animBg="1"/>
      <p:bldP spid="1667101"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571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1571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69123"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4.6 </a:t>
            </a:r>
            <a:r>
              <a:rPr lang="zh-CN" altLang="en-US" sz="2800" dirty="0">
                <a:solidFill>
                  <a:schemeClr val="tx2"/>
                </a:solidFill>
                <a:latin typeface="宋体" panose="02010600030101010101" pitchFamily="2" charset="-122"/>
                <a:ea typeface="华文楷体" panose="02010600040101010101" pitchFamily="2" charset="-122"/>
                <a:cs typeface="+mn-cs"/>
              </a:rPr>
              <a:t>缩减运算符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graphicFrame>
        <p:nvGraphicFramePr>
          <p:cNvPr id="94213" name="表格 94212"/>
          <p:cNvGraphicFramePr/>
          <p:nvPr/>
        </p:nvGraphicFramePr>
        <p:xfrm>
          <a:off x="4897438" y="1047750"/>
          <a:ext cx="3232150" cy="2544763"/>
        </p:xfrm>
        <a:graphic>
          <a:graphicData uri="http://schemas.openxmlformats.org/drawingml/2006/table">
            <a:tbl>
              <a:tblPr/>
              <a:tblGrid>
                <a:gridCol w="1479550"/>
                <a:gridCol w="1752600"/>
              </a:tblGrid>
              <a:tr h="380695">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缩减运算符</a:t>
                      </a:r>
                      <a:endParaRPr lang="zh-CN" altLang="en-US" sz="2000" dirty="0">
                        <a:solidFill>
                          <a:schemeClr val="tx1"/>
                        </a:solidFill>
                        <a:latin typeface="Tahoma" panose="020B0604030504040204" pitchFamily="34" charset="0"/>
                      </a:endParaRPr>
                    </a:p>
                  </a:txBody>
                  <a:tcPr marL="30724" marR="30724" marT="15350" marB="153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50" marB="153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2164068">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&amp; </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~&amp;</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a:t>
                      </a:r>
                      <a:endParaRPr lang="en-US" altLang="zh-CN"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 </a:t>
                      </a:r>
                      <a:r>
                        <a:rPr lang="en-US" altLang="zh-CN" sz="18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a:t>
                      </a:r>
                      <a:r>
                        <a:rPr lang="zh-CN" altLang="en-US" sz="2000" b="0" dirty="0">
                          <a:solidFill>
                            <a:schemeClr val="tx1"/>
                          </a:solidFill>
                          <a:latin typeface="Tahoma" panose="020B0604030504040204" pitchFamily="34" charset="0"/>
                        </a:rPr>
                        <a:t>，</a:t>
                      </a:r>
                      <a:r>
                        <a:rPr lang="en-US" altLang="zh-CN" sz="2000" b="0" dirty="0">
                          <a:solidFill>
                            <a:schemeClr val="tx1"/>
                          </a:solidFill>
                          <a:latin typeface="Tahoma" panose="020B0604030504040204" pitchFamily="34" charset="0"/>
                        </a:rPr>
                        <a:t>~^</a:t>
                      </a:r>
                      <a:endParaRPr lang="en-US" altLang="zh-CN" sz="2000" b="0" dirty="0">
                        <a:solidFill>
                          <a:schemeClr val="tx1"/>
                        </a:solidFill>
                        <a:latin typeface="Tahoma" panose="020B0604030504040204" pitchFamily="34" charset="0"/>
                      </a:endParaRPr>
                    </a:p>
                  </a:txBody>
                  <a:tcPr marL="30724" marR="30724" marT="15350" marB="1535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与</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与非</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或</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或非</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异或</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同或</a:t>
                      </a:r>
                      <a:endParaRPr lang="zh-CN" altLang="en-US" sz="2000" b="0" dirty="0">
                        <a:solidFill>
                          <a:schemeClr val="tx1"/>
                        </a:solidFill>
                        <a:latin typeface="Tahoma" panose="020B0604030504040204" pitchFamily="34" charset="0"/>
                      </a:endParaRPr>
                    </a:p>
                  </a:txBody>
                  <a:tcPr marL="30724" marR="30724" marT="15350" marB="1535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69135" name="AutoShape 15"/>
          <p:cNvSpPr/>
          <p:nvPr/>
        </p:nvSpPr>
        <p:spPr>
          <a:xfrm>
            <a:off x="1911350" y="1668463"/>
            <a:ext cx="1600200" cy="457200"/>
          </a:xfrm>
          <a:prstGeom prst="wedgeRoundRectCallout">
            <a:avLst>
              <a:gd name="adj1" fmla="val -63292"/>
              <a:gd name="adj2" fmla="val -70139"/>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Tahoma" panose="020B0604030504040204" pitchFamily="34" charset="0"/>
                <a:ea typeface="宋体" panose="02010600030101010101" pitchFamily="2" charset="-122"/>
              </a:rPr>
              <a:t>单</a:t>
            </a:r>
            <a:r>
              <a:rPr lang="zh-CN" altLang="en-US" dirty="0">
                <a:latin typeface="Tahoma" panose="020B0604030504040204" pitchFamily="34" charset="0"/>
                <a:ea typeface="宋体" panose="02010600030101010101" pitchFamily="2" charset="-122"/>
              </a:rPr>
              <a:t>目运算符</a:t>
            </a:r>
            <a:endParaRPr lang="zh-CN" altLang="en-US" dirty="0">
              <a:solidFill>
                <a:srgbClr val="FF0066"/>
              </a:solidFill>
              <a:latin typeface="Tahoma" panose="020B0604030504040204" pitchFamily="34" charset="0"/>
              <a:ea typeface="宋体" panose="02010600030101010101" pitchFamily="2" charset="-122"/>
            </a:endParaRPr>
          </a:p>
        </p:txBody>
      </p:sp>
      <p:sp>
        <p:nvSpPr>
          <p:cNvPr id="1669136" name="Rectangle 16"/>
          <p:cNvSpPr/>
          <p:nvPr/>
        </p:nvSpPr>
        <p:spPr>
          <a:xfrm>
            <a:off x="625475" y="3582988"/>
            <a:ext cx="8142288" cy="3024188"/>
          </a:xfrm>
          <a:prstGeom prst="rect">
            <a:avLst/>
          </a:prstGeom>
          <a:noFill/>
          <a:ln w="9525">
            <a:noFill/>
          </a:ln>
        </p:spPr>
        <p:txBody>
          <a:bodyPr/>
          <a:lstStyle/>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运算法则与位运算符类似，但运算过程不同！</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对</a:t>
            </a:r>
            <a:r>
              <a:rPr kumimoji="0" lang="zh-CN" altLang="en-US" sz="2400" b="1" i="0" u="none" strike="noStrike" kern="1200" cap="none" spc="0" normalizeH="0" baseline="0" noProof="1">
                <a:ln>
                  <a:noFill/>
                </a:ln>
                <a:solidFill>
                  <a:srgbClr val="FF66CC"/>
                </a:solidFill>
                <a:effectLst/>
                <a:uLnTx/>
                <a:uFillTx/>
                <a:latin typeface="华文楷体" panose="02010600040101010101" pitchFamily="2" charset="-122"/>
                <a:ea typeface="华文楷体" panose="02010600040101010101" pitchFamily="2" charset="-122"/>
                <a:cs typeface="+mn-cs"/>
              </a:rPr>
              <a:t>单</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个操作数进行</a:t>
            </a:r>
            <a:r>
              <a:rPr kumimoji="0" lang="zh-CN" altLang="en-US" sz="2400" b="1" i="0" u="none" strike="noStrike" kern="1200" cap="none" spc="0" normalizeH="0" baseline="0" noProof="1">
                <a:ln>
                  <a:noFill/>
                </a:ln>
                <a:solidFill>
                  <a:srgbClr val="FF66CC"/>
                </a:solidFill>
                <a:effectLst/>
                <a:uLnTx/>
                <a:uFillTx/>
                <a:latin typeface="华文楷体" panose="02010600040101010101" pitchFamily="2" charset="-122"/>
                <a:ea typeface="华文楷体" panose="02010600040101010101" pitchFamily="2" charset="-122"/>
                <a:cs typeface="+mn-cs"/>
              </a:rPr>
              <a:t>递推</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运算</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即先将操作数的最低位与第二位进行与、或、非运算，再将运算结果与第三位进行相同的运算，依次类推，直至最高位 。</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运算结果缩减为</a:t>
            </a:r>
            <a:r>
              <a:rPr kumimoji="0" lang="en-US" altLang="zh-CN" sz="2400" b="1" i="0" u="none" strike="noStrike" kern="1200" cap="none" spc="0" normalizeH="0" baseline="0" noProof="1">
                <a:ln>
                  <a:noFill/>
                </a:ln>
                <a:solidFill>
                  <a:srgbClr val="FF66CC"/>
                </a:solidFill>
                <a:effectLst/>
                <a:uLnTx/>
                <a:uFillTx/>
                <a:latin typeface="华文楷体" panose="02010600040101010101" pitchFamily="2" charset="-122"/>
                <a:ea typeface="华文楷体" panose="02010600040101010101" pitchFamily="2" charset="-122"/>
                <a:cs typeface="+mn-cs"/>
              </a:rPr>
              <a:t>1</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位二进制数。</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例</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]reg[3:0] a;</a:t>
            </a:r>
            <a:endPar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b=|a;          //</a:t>
            </a:r>
            <a:r>
              <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等效于 </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b =( (a[0] | a[1]) | a(2)) | a[3]</a:t>
            </a:r>
            <a:endPar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1669137" name="AutoShape 17" descr="80%"/>
          <p:cNvSpPr/>
          <p:nvPr/>
        </p:nvSpPr>
        <p:spPr>
          <a:xfrm rot="-133237">
            <a:off x="-3175" y="2438400"/>
            <a:ext cx="5243513" cy="1020763"/>
          </a:xfrm>
          <a:prstGeom prst="irregularSeal2">
            <a:avLst/>
          </a:prstGeom>
          <a:noFill/>
          <a:ln w="9525" cap="flat" cmpd="sng">
            <a:solidFill>
              <a:schemeClr val="accent1"/>
            </a:solidFill>
            <a:prstDash val="solid"/>
            <a:round/>
            <a:headEnd type="none" w="med" len="med"/>
            <a:tailEnd type="none" w="med" len="med"/>
          </a:ln>
          <a:effectLst>
            <a:prstShdw prst="shdw17" dist="17961" dir="13499999">
              <a:srgbClr val="997A99"/>
            </a:prstShdw>
          </a:effectLst>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1"/>
              </a:buClr>
              <a:buSzPct val="80000"/>
              <a:buFont typeface="Wingdings" panose="05000000000000000000" pitchFamily="2" charset="2"/>
              <a:buNone/>
            </a:pPr>
            <a:r>
              <a:rPr lang="zh-CN" altLang="en-US" sz="2200" b="1" dirty="0">
                <a:solidFill>
                  <a:srgbClr val="009900"/>
                </a:solidFill>
                <a:latin typeface="华文楷体" panose="02010600040101010101" pitchFamily="2" charset="-122"/>
                <a:ea typeface="华文楷体" panose="02010600040101010101" pitchFamily="2" charset="-122"/>
              </a:rPr>
              <a:t>注意</a:t>
            </a:r>
            <a:r>
              <a:rPr lang="zh-CN" altLang="en-US" sz="2200" b="1" dirty="0">
                <a:solidFill>
                  <a:srgbClr val="FF0066"/>
                </a:solidFill>
                <a:latin typeface="华文楷体" panose="02010600040101010101" pitchFamily="2" charset="-122"/>
                <a:ea typeface="华文楷体" panose="02010600040101010101" pitchFamily="2" charset="-122"/>
              </a:rPr>
              <a:t>缩减运算符</a:t>
            </a:r>
            <a:r>
              <a:rPr lang="zh-CN" altLang="en-US" sz="2200" b="1" dirty="0">
                <a:solidFill>
                  <a:srgbClr val="009900"/>
                </a:solidFill>
                <a:latin typeface="华文楷体" panose="02010600040101010101" pitchFamily="2" charset="-122"/>
                <a:ea typeface="华文楷体" panose="02010600040101010101" pitchFamily="2" charset="-122"/>
              </a:rPr>
              <a:t>和</a:t>
            </a:r>
            <a:r>
              <a:rPr lang="zh-CN" altLang="en-US" sz="2200" b="1" dirty="0">
                <a:solidFill>
                  <a:srgbClr val="FF0066"/>
                </a:solidFill>
                <a:latin typeface="华文楷体" panose="02010600040101010101" pitchFamily="2" charset="-122"/>
                <a:ea typeface="华文楷体" panose="02010600040101010101" pitchFamily="2" charset="-122"/>
              </a:rPr>
              <a:t>位运算符</a:t>
            </a:r>
            <a:r>
              <a:rPr lang="zh-CN" altLang="en-US" sz="2200" b="1" dirty="0">
                <a:solidFill>
                  <a:srgbClr val="009900"/>
                </a:solidFill>
                <a:latin typeface="华文楷体" panose="02010600040101010101" pitchFamily="2" charset="-122"/>
                <a:ea typeface="华文楷体" panose="02010600040101010101" pitchFamily="2" charset="-122"/>
              </a:rPr>
              <a:t>的区别！</a:t>
            </a:r>
            <a:endParaRPr lang="zh-CN" altLang="en-US" sz="2200" b="1" dirty="0">
              <a:solidFill>
                <a:srgbClr val="009900"/>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69123"/>
                                        </p:tgtEl>
                                        <p:attrNameLst>
                                          <p:attrName>style.visibility</p:attrName>
                                        </p:attrNameLst>
                                      </p:cBhvr>
                                      <p:to>
                                        <p:strVal val="visible"/>
                                      </p:to>
                                    </p:set>
                                    <p:anim calcmode="lin" valueType="num">
                                      <p:cBhvr additive="base">
                                        <p:cTn id="7" dur="500" fill="hold"/>
                                        <p:tgtEl>
                                          <p:spTgt spid="1669123"/>
                                        </p:tgtEl>
                                        <p:attrNameLst>
                                          <p:attrName>ppt_x</p:attrName>
                                        </p:attrNameLst>
                                      </p:cBhvr>
                                      <p:tavLst>
                                        <p:tav tm="0">
                                          <p:val>
                                            <p:strVal val="0-#ppt_w/2"/>
                                          </p:val>
                                        </p:tav>
                                        <p:tav tm="100000">
                                          <p:val>
                                            <p:strVal val="#ppt_x"/>
                                          </p:val>
                                        </p:tav>
                                      </p:tavLst>
                                    </p:anim>
                                    <p:anim calcmode="lin" valueType="num">
                                      <p:cBhvr additive="base">
                                        <p:cTn id="8" dur="500" fill="hold"/>
                                        <p:tgtEl>
                                          <p:spTgt spid="16691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69135"/>
                                        </p:tgtEl>
                                        <p:attrNameLst>
                                          <p:attrName>style.visibility</p:attrName>
                                        </p:attrNameLst>
                                      </p:cBhvr>
                                      <p:to>
                                        <p:strVal val="visible"/>
                                      </p:to>
                                    </p:set>
                                    <p:animEffect transition="in" filter="dissolve">
                                      <p:cBhvr>
                                        <p:cTn id="12" dur="500"/>
                                        <p:tgtEl>
                                          <p:spTgt spid="166913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94213"/>
                                        </p:tgtEl>
                                        <p:attrNameLst>
                                          <p:attrName>style.visibility</p:attrName>
                                        </p:attrNameLst>
                                      </p:cBhvr>
                                      <p:to>
                                        <p:strVal val="visible"/>
                                      </p:to>
                                    </p:set>
                                    <p:anim calcmode="lin" valueType="num">
                                      <p:cBhvr additive="base">
                                        <p:cTn id="17" dur="500" fill="hold"/>
                                        <p:tgtEl>
                                          <p:spTgt spid="94213"/>
                                        </p:tgtEl>
                                        <p:attrNameLst>
                                          <p:attrName>ppt_x</p:attrName>
                                        </p:attrNameLst>
                                      </p:cBhvr>
                                      <p:tavLst>
                                        <p:tav tm="0">
                                          <p:val>
                                            <p:strVal val="1+#ppt_w/2"/>
                                          </p:val>
                                        </p:tav>
                                        <p:tav tm="100000">
                                          <p:val>
                                            <p:strVal val="#ppt_x"/>
                                          </p:val>
                                        </p:tav>
                                      </p:tavLst>
                                    </p:anim>
                                    <p:anim calcmode="lin" valueType="num">
                                      <p:cBhvr additive="base">
                                        <p:cTn id="18" dur="500" fill="hold"/>
                                        <p:tgtEl>
                                          <p:spTgt spid="942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69136"/>
                                        </p:tgtEl>
                                        <p:attrNameLst>
                                          <p:attrName>style.visibility</p:attrName>
                                        </p:attrNameLst>
                                      </p:cBhvr>
                                      <p:to>
                                        <p:strVal val="visible"/>
                                      </p:to>
                                    </p:set>
                                    <p:anim calcmode="lin" valueType="num">
                                      <p:cBhvr additive="base">
                                        <p:cTn id="23" dur="500" fill="hold"/>
                                        <p:tgtEl>
                                          <p:spTgt spid="1669136"/>
                                        </p:tgtEl>
                                        <p:attrNameLst>
                                          <p:attrName>ppt_x</p:attrName>
                                        </p:attrNameLst>
                                      </p:cBhvr>
                                      <p:tavLst>
                                        <p:tav tm="0">
                                          <p:val>
                                            <p:strVal val="0-#ppt_w/2"/>
                                          </p:val>
                                        </p:tav>
                                        <p:tav tm="100000">
                                          <p:val>
                                            <p:strVal val="#ppt_x"/>
                                          </p:val>
                                        </p:tav>
                                      </p:tavLst>
                                    </p:anim>
                                    <p:anim calcmode="lin" valueType="num">
                                      <p:cBhvr additive="base">
                                        <p:cTn id="24" dur="500" fill="hold"/>
                                        <p:tgtEl>
                                          <p:spTgt spid="166913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1669137"/>
                                        </p:tgtEl>
                                        <p:attrNameLst>
                                          <p:attrName>style.visibility</p:attrName>
                                        </p:attrNameLst>
                                      </p:cBhvr>
                                      <p:to>
                                        <p:strVal val="visible"/>
                                      </p:to>
                                    </p:set>
                                    <p:anim calcmode="lin" valueType="num">
                                      <p:cBhvr>
                                        <p:cTn id="29" dur="500" fill="hold"/>
                                        <p:tgtEl>
                                          <p:spTgt spid="1669137"/>
                                        </p:tgtEl>
                                        <p:attrNameLst>
                                          <p:attrName>ppt_w</p:attrName>
                                        </p:attrNameLst>
                                      </p:cBhvr>
                                      <p:tavLst>
                                        <p:tav tm="0">
                                          <p:val>
                                            <p:fltVal val="0.000000"/>
                                          </p:val>
                                        </p:tav>
                                        <p:tav tm="100000">
                                          <p:val>
                                            <p:strVal val="#ppt_w"/>
                                          </p:val>
                                        </p:tav>
                                      </p:tavLst>
                                    </p:anim>
                                    <p:anim calcmode="lin" valueType="num">
                                      <p:cBhvr>
                                        <p:cTn id="30" dur="500" fill="hold"/>
                                        <p:tgtEl>
                                          <p:spTgt spid="166913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23" grpId="0"/>
      <p:bldP spid="1669135" grpId="0" bldLvl="0" animBg="1"/>
      <p:bldP spid="1669136" grpId="0"/>
      <p:bldP spid="1669137"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776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1776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7117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4.7 </a:t>
            </a:r>
            <a:r>
              <a:rPr lang="zh-CN" altLang="en-US" sz="2800" dirty="0">
                <a:solidFill>
                  <a:schemeClr val="tx2"/>
                </a:solidFill>
                <a:latin typeface="宋体" panose="02010600030101010101" pitchFamily="2" charset="-122"/>
                <a:ea typeface="华文楷体" panose="02010600040101010101" pitchFamily="2" charset="-122"/>
                <a:cs typeface="+mn-cs"/>
              </a:rPr>
              <a:t>移位运算符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graphicFrame>
        <p:nvGraphicFramePr>
          <p:cNvPr id="95237" name="表格 95236"/>
          <p:cNvGraphicFramePr/>
          <p:nvPr/>
        </p:nvGraphicFramePr>
        <p:xfrm>
          <a:off x="3487738" y="1225550"/>
          <a:ext cx="3232150" cy="1143000"/>
        </p:xfrm>
        <a:graphic>
          <a:graphicData uri="http://schemas.openxmlformats.org/drawingml/2006/table">
            <a:tbl>
              <a:tblPr/>
              <a:tblGrid>
                <a:gridCol w="1479550"/>
                <a:gridCol w="1752600"/>
              </a:tblGrid>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移位运算符</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说明</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762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&gt;&gt; </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&lt;&lt;</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右移</a:t>
                      </a:r>
                      <a:endParaRPr lang="zh-CN" altLang="en-US"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左移</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bl>
          </a:graphicData>
        </a:graphic>
      </p:graphicFrame>
      <p:sp>
        <p:nvSpPr>
          <p:cNvPr id="1671183" name="AutoShape 15"/>
          <p:cNvSpPr/>
          <p:nvPr/>
        </p:nvSpPr>
        <p:spPr>
          <a:xfrm>
            <a:off x="1685925" y="1717675"/>
            <a:ext cx="1600200" cy="457200"/>
          </a:xfrm>
          <a:prstGeom prst="wedgeRoundRectCallout">
            <a:avLst>
              <a:gd name="adj1" fmla="val -51093"/>
              <a:gd name="adj2" fmla="val -98611"/>
              <a:gd name="adj3" fmla="val 16667"/>
            </a:avLst>
          </a:prstGeom>
          <a:noFill/>
          <a:ln w="9525" cap="flat" cmpd="sng">
            <a:solidFill>
              <a:schemeClr val="accent1"/>
            </a:solidFill>
            <a:prstDash val="solid"/>
            <a:round/>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单</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671185" name="AutoShape 17"/>
          <p:cNvSpPr/>
          <p:nvPr/>
        </p:nvSpPr>
        <p:spPr>
          <a:xfrm>
            <a:off x="6434138" y="4894263"/>
            <a:ext cx="2209800" cy="381000"/>
          </a:xfrm>
          <a:prstGeom prst="wedgeRectCallout">
            <a:avLst>
              <a:gd name="adj1" fmla="val -48995"/>
              <a:gd name="adj2" fmla="val -135833"/>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左移会扩充位数！</a:t>
            </a:r>
            <a:endParaRPr lang="zh-CN" altLang="en-US" b="1" dirty="0">
              <a:latin typeface="华文楷体" panose="02010600040101010101" pitchFamily="2" charset="-122"/>
              <a:ea typeface="华文楷体" panose="02010600040101010101" pitchFamily="2" charset="-122"/>
            </a:endParaRPr>
          </a:p>
        </p:txBody>
      </p:sp>
      <p:sp>
        <p:nvSpPr>
          <p:cNvPr id="1671186" name="Rectangle 18"/>
          <p:cNvSpPr/>
          <p:nvPr/>
        </p:nvSpPr>
        <p:spPr>
          <a:xfrm>
            <a:off x="457200" y="2863850"/>
            <a:ext cx="8686800" cy="2368550"/>
          </a:xfrm>
          <a:prstGeom prst="rect">
            <a:avLst/>
          </a:prstGeom>
          <a:noFill/>
          <a:ln w="9525">
            <a:noFill/>
          </a:ln>
        </p:spPr>
        <p:txBody>
          <a:bodyPr/>
          <a:lstStyle/>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用法：</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A&gt;&gt;n   </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或 </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A&lt;&lt;n </a:t>
            </a:r>
            <a:endPar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0" marR="0" lvl="0" indent="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将操作数右移或左移</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n</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位，同时用</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n</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0</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填补移出的空位。</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例</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4’b1001&gt;&gt;3 = 4’b</a:t>
            </a:r>
            <a:r>
              <a:rPr kumimoji="0" lang="en-US" altLang="zh-CN" sz="2400" b="0"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000</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1</a:t>
            </a:r>
            <a:r>
              <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4’b1001&gt;&gt;4 = 4’b</a:t>
            </a:r>
            <a:r>
              <a:rPr kumimoji="0" lang="en-US" altLang="zh-CN" sz="2400" b="0"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0000</a:t>
            </a:r>
            <a:endPar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4’b1001&lt;&lt;1 = 5’b1001</a:t>
            </a:r>
            <a:r>
              <a:rPr kumimoji="0" lang="en-US" altLang="zh-CN" sz="2400" b="0"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0</a:t>
            </a:r>
            <a:r>
              <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4’b1001&lt;&lt;2 = 6’b1001</a:t>
            </a:r>
            <a:r>
              <a:rPr kumimoji="0" lang="en-US" altLang="zh-CN" sz="2400" b="0"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00</a:t>
            </a:r>
            <a:r>
              <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endPar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rgbClr val="3333FF"/>
              </a:buClr>
              <a:buSzTx/>
              <a:buFont typeface="Wingdings" panose="05000000000000000000" pitchFamily="2" charset="2"/>
              <a:buChar char="•"/>
              <a:defRPr/>
            </a:pPr>
            <a:r>
              <a:rPr kumimoji="0" lang="zh-CN" altLang="en-US"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1&lt;&lt;6 = 32’b1</a:t>
            </a:r>
            <a:r>
              <a:rPr kumimoji="0" lang="en-US" altLang="zh-CN" sz="2400" b="0"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rPr>
              <a:t>000000</a:t>
            </a:r>
            <a:endParaRPr kumimoji="0" lang="en-US" altLang="zh-CN" sz="2400" b="0"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
        <p:nvSpPr>
          <p:cNvPr id="1671187" name="AutoShape 19"/>
          <p:cNvSpPr/>
          <p:nvPr/>
        </p:nvSpPr>
        <p:spPr>
          <a:xfrm>
            <a:off x="2098675" y="5426075"/>
            <a:ext cx="4621213" cy="1144588"/>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287655" algn="just">
              <a:lnSpc>
                <a:spcPct val="105000"/>
              </a:lnSpc>
              <a:spcBef>
                <a:spcPct val="0"/>
              </a:spcBef>
              <a:buClr>
                <a:srgbClr val="FF0066"/>
              </a:buClr>
              <a:buFont typeface="Wingdings" panose="05000000000000000000" pitchFamily="2" charset="2"/>
              <a:buChar char="v"/>
            </a:pPr>
            <a:r>
              <a:rPr lang="zh-CN" altLang="en-US" sz="2400" b="1" dirty="0">
                <a:solidFill>
                  <a:schemeClr val="tx2"/>
                </a:solidFill>
                <a:latin typeface="华文楷体" panose="02010600040101010101" pitchFamily="2" charset="-122"/>
                <a:ea typeface="华文楷体" panose="02010600040101010101" pitchFamily="2" charset="-122"/>
              </a:rPr>
              <a:t>将操作数右移或左移</a:t>
            </a:r>
            <a:r>
              <a:rPr lang="en-US" altLang="zh-CN" sz="2400" b="1" dirty="0">
                <a:solidFill>
                  <a:schemeClr val="tx2"/>
                </a:solidFill>
                <a:latin typeface="华文楷体" panose="02010600040101010101" pitchFamily="2" charset="-122"/>
                <a:ea typeface="华文楷体" panose="02010600040101010101" pitchFamily="2" charset="-122"/>
              </a:rPr>
              <a:t>n</a:t>
            </a:r>
            <a:r>
              <a:rPr lang="zh-CN" altLang="en-US" sz="2400" b="1" dirty="0">
                <a:solidFill>
                  <a:schemeClr val="tx2"/>
                </a:solidFill>
                <a:latin typeface="华文楷体" panose="02010600040101010101" pitchFamily="2" charset="-122"/>
                <a:ea typeface="华文楷体" panose="02010600040101010101" pitchFamily="2" charset="-122"/>
              </a:rPr>
              <a:t>位，相当于将操作数除以或乘以</a:t>
            </a:r>
            <a:r>
              <a:rPr lang="en-US" altLang="zh-CN" sz="2400" b="1" dirty="0">
                <a:solidFill>
                  <a:srgbClr val="FF0066"/>
                </a:solidFill>
                <a:latin typeface="华文楷体" panose="02010600040101010101" pitchFamily="2" charset="-122"/>
                <a:ea typeface="华文楷体" panose="02010600040101010101" pitchFamily="2" charset="-122"/>
              </a:rPr>
              <a:t>2</a:t>
            </a:r>
            <a:r>
              <a:rPr lang="en-US" altLang="zh-CN" sz="2400" b="1" baseline="36000" dirty="0">
                <a:solidFill>
                  <a:srgbClr val="FF0066"/>
                </a:solidFill>
                <a:latin typeface="华文楷体" panose="02010600040101010101" pitchFamily="2" charset="-122"/>
                <a:ea typeface="华文楷体" panose="02010600040101010101" pitchFamily="2" charset="-122"/>
              </a:rPr>
              <a:t>n</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
        <p:nvSpPr>
          <p:cNvPr id="1671188" name="AutoShape 20"/>
          <p:cNvSpPr/>
          <p:nvPr/>
        </p:nvSpPr>
        <p:spPr>
          <a:xfrm>
            <a:off x="3859213" y="4767263"/>
            <a:ext cx="2233612" cy="658812"/>
          </a:xfrm>
          <a:prstGeom prst="wedgeRoundRectCallout">
            <a:avLst>
              <a:gd name="adj1" fmla="val -37310"/>
              <a:gd name="adj2" fmla="val -97005"/>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5000"/>
              </a:lnSpc>
              <a:spcBef>
                <a:spcPct val="0"/>
              </a:spcBef>
              <a:buNone/>
            </a:pPr>
            <a:r>
              <a:rPr lang="zh-CN" altLang="en-US" sz="1800" b="1" dirty="0">
                <a:latin typeface="华文楷体" panose="02010600040101010101" pitchFamily="2" charset="-122"/>
                <a:ea typeface="华文楷体" panose="02010600040101010101" pitchFamily="2" charset="-122"/>
              </a:rPr>
              <a:t>右移位数不变，但右移的数据会丢失！</a:t>
            </a:r>
            <a:endParaRPr lang="zh-CN" altLang="en-US" sz="18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71171">
                                            <p:txEl>
                                              <p:charRg st="0" end="10"/>
                                            </p:txEl>
                                          </p:spTgt>
                                        </p:tgtEl>
                                        <p:attrNameLst>
                                          <p:attrName>style.visibility</p:attrName>
                                        </p:attrNameLst>
                                      </p:cBhvr>
                                      <p:to>
                                        <p:strVal val="visible"/>
                                      </p:to>
                                    </p:set>
                                    <p:anim calcmode="lin" valueType="num">
                                      <p:cBhvr additive="base">
                                        <p:cTn id="7" dur="500" fill="hold"/>
                                        <p:tgtEl>
                                          <p:spTgt spid="1671171">
                                            <p:txEl>
                                              <p:charRg st="0" end="1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71171">
                                            <p:txEl>
                                              <p:charRg st="0" end="1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71183"/>
                                        </p:tgtEl>
                                        <p:attrNameLst>
                                          <p:attrName>style.visibility</p:attrName>
                                        </p:attrNameLst>
                                      </p:cBhvr>
                                      <p:to>
                                        <p:strVal val="visible"/>
                                      </p:to>
                                    </p:set>
                                    <p:animEffect transition="in" filter="dissolve">
                                      <p:cBhvr>
                                        <p:cTn id="13" dur="500"/>
                                        <p:tgtEl>
                                          <p:spTgt spid="1671183"/>
                                        </p:tgtEl>
                                      </p:cBhvr>
                                    </p:animEffect>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95237"/>
                                        </p:tgtEl>
                                        <p:attrNameLst>
                                          <p:attrName>style.visibility</p:attrName>
                                        </p:attrNameLst>
                                      </p:cBhvr>
                                      <p:to>
                                        <p:strVal val="visible"/>
                                      </p:to>
                                    </p:set>
                                    <p:anim calcmode="lin" valueType="num">
                                      <p:cBhvr additive="base">
                                        <p:cTn id="17" dur="500" fill="hold"/>
                                        <p:tgtEl>
                                          <p:spTgt spid="95237"/>
                                        </p:tgtEl>
                                        <p:attrNameLst>
                                          <p:attrName>ppt_x</p:attrName>
                                        </p:attrNameLst>
                                      </p:cBhvr>
                                      <p:tavLst>
                                        <p:tav tm="0">
                                          <p:val>
                                            <p:strVal val="1+#ppt_w/2"/>
                                          </p:val>
                                        </p:tav>
                                        <p:tav tm="100000">
                                          <p:val>
                                            <p:strVal val="#ppt_x"/>
                                          </p:val>
                                        </p:tav>
                                      </p:tavLst>
                                    </p:anim>
                                    <p:anim calcmode="lin" valueType="num">
                                      <p:cBhvr additive="base">
                                        <p:cTn id="18" dur="500" fill="hold"/>
                                        <p:tgtEl>
                                          <p:spTgt spid="9523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71186"/>
                                        </p:tgtEl>
                                        <p:attrNameLst>
                                          <p:attrName>style.visibility</p:attrName>
                                        </p:attrNameLst>
                                      </p:cBhvr>
                                      <p:to>
                                        <p:strVal val="visible"/>
                                      </p:to>
                                    </p:set>
                                    <p:anim calcmode="lin" valueType="num">
                                      <p:cBhvr additive="base">
                                        <p:cTn id="23" dur="500" fill="hold"/>
                                        <p:tgtEl>
                                          <p:spTgt spid="1671186"/>
                                        </p:tgtEl>
                                        <p:attrNameLst>
                                          <p:attrName>ppt_x</p:attrName>
                                        </p:attrNameLst>
                                      </p:cBhvr>
                                      <p:tavLst>
                                        <p:tav tm="0">
                                          <p:val>
                                            <p:strVal val="0-#ppt_w/2"/>
                                          </p:val>
                                        </p:tav>
                                        <p:tav tm="100000">
                                          <p:val>
                                            <p:strVal val="#ppt_x"/>
                                          </p:val>
                                        </p:tav>
                                      </p:tavLst>
                                    </p:anim>
                                    <p:anim calcmode="lin" valueType="num">
                                      <p:cBhvr additive="base">
                                        <p:cTn id="24" dur="500" fill="hold"/>
                                        <p:tgtEl>
                                          <p:spTgt spid="167118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671188"/>
                                        </p:tgtEl>
                                        <p:attrNameLst>
                                          <p:attrName>style.visibility</p:attrName>
                                        </p:attrNameLst>
                                      </p:cBhvr>
                                      <p:to>
                                        <p:strVal val="visible"/>
                                      </p:to>
                                    </p:set>
                                    <p:animEffect transition="in" filter="dissolve">
                                      <p:cBhvr>
                                        <p:cTn id="29" dur="500"/>
                                        <p:tgtEl>
                                          <p:spTgt spid="167118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71185"/>
                                        </p:tgtEl>
                                        <p:attrNameLst>
                                          <p:attrName>style.visibility</p:attrName>
                                        </p:attrNameLst>
                                      </p:cBhvr>
                                      <p:to>
                                        <p:strVal val="visible"/>
                                      </p:to>
                                    </p:set>
                                    <p:animEffect transition="in" filter="dissolve">
                                      <p:cBhvr>
                                        <p:cTn id="34" dur="500"/>
                                        <p:tgtEl>
                                          <p:spTgt spid="1671185"/>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1671187"/>
                                        </p:tgtEl>
                                        <p:attrNameLst>
                                          <p:attrName>style.visibility</p:attrName>
                                        </p:attrNameLst>
                                      </p:cBhvr>
                                      <p:to>
                                        <p:strVal val="visible"/>
                                      </p:to>
                                    </p:set>
                                    <p:anim calcmode="lin" valueType="num">
                                      <p:cBhvr>
                                        <p:cTn id="39" dur="500" fill="hold"/>
                                        <p:tgtEl>
                                          <p:spTgt spid="1671187"/>
                                        </p:tgtEl>
                                        <p:attrNameLst>
                                          <p:attrName>ppt_w</p:attrName>
                                        </p:attrNameLst>
                                      </p:cBhvr>
                                      <p:tavLst>
                                        <p:tav tm="0">
                                          <p:val>
                                            <p:fltVal val="0.000000"/>
                                          </p:val>
                                        </p:tav>
                                        <p:tav tm="100000">
                                          <p:val>
                                            <p:strVal val="#ppt_w"/>
                                          </p:val>
                                        </p:tav>
                                      </p:tavLst>
                                    </p:anim>
                                    <p:anim calcmode="lin" valueType="num">
                                      <p:cBhvr>
                                        <p:cTn id="40" dur="500" fill="hold"/>
                                        <p:tgtEl>
                                          <p:spTgt spid="167118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1171" grpId="0" advAuto="1000" build="p"/>
      <p:bldP spid="1671183" grpId="0" bldLvl="0" animBg="1"/>
      <p:bldP spid="1671185" grpId="0" bldLvl="0" animBg="1"/>
      <p:bldP spid="1671186" grpId="0" bldLvl="0" animBg="1"/>
      <p:bldP spid="1671187" grpId="0" bldLvl="0" animBg="1"/>
      <p:bldP spid="1671188"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981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1981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73219"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4.8 </a:t>
            </a:r>
            <a:r>
              <a:rPr lang="zh-CN" altLang="en-US" sz="2800" dirty="0">
                <a:solidFill>
                  <a:schemeClr val="tx2"/>
                </a:solidFill>
                <a:latin typeface="宋体" panose="02010600030101010101" pitchFamily="2" charset="-122"/>
                <a:ea typeface="华文楷体" panose="02010600040101010101" pitchFamily="2" charset="-122"/>
                <a:cs typeface="+mn-cs"/>
              </a:rPr>
              <a:t>条件运算符</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sp>
        <p:nvSpPr>
          <p:cNvPr id="1673220" name="AutoShape 4"/>
          <p:cNvSpPr/>
          <p:nvPr/>
        </p:nvSpPr>
        <p:spPr>
          <a:xfrm>
            <a:off x="3695700" y="825500"/>
            <a:ext cx="1600200" cy="457200"/>
          </a:xfrm>
          <a:prstGeom prst="wedgeRoundRectCallout">
            <a:avLst>
              <a:gd name="adj1" fmla="val -74009"/>
              <a:gd name="adj2" fmla="val 47917"/>
              <a:gd name="adj3" fmla="val 16667"/>
            </a:avLst>
          </a:prstGeom>
          <a:noFill/>
          <a:ln w="9525" cap="flat" cmpd="sng">
            <a:solidFill>
              <a:schemeClr val="accent1"/>
            </a:solidFill>
            <a:prstDash val="solid"/>
            <a:round/>
            <a:headEnd type="none" w="med" len="med"/>
            <a:tailEnd type="none" w="med" len="med"/>
          </a:ln>
          <a:effectLst>
            <a:prstShdw prst="shdw17" dist="17961" dir="2699999">
              <a:srgbClr val="708688"/>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三</a:t>
            </a:r>
            <a:r>
              <a:rPr lang="zh-CN" altLang="en-US" dirty="0">
                <a:latin typeface="华文楷体" panose="02010600040101010101" pitchFamily="2" charset="-122"/>
                <a:ea typeface="华文楷体" panose="02010600040101010101" pitchFamily="2" charset="-122"/>
              </a:rPr>
              <a:t>目运算符</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119814" name="Rectangle 5"/>
          <p:cNvSpPr/>
          <p:nvPr/>
        </p:nvSpPr>
        <p:spPr>
          <a:xfrm>
            <a:off x="5181600" y="3200400"/>
            <a:ext cx="3200400" cy="2743200"/>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pSp>
        <p:nvGrpSpPr>
          <p:cNvPr id="2" name="Group 6"/>
          <p:cNvGrpSpPr/>
          <p:nvPr/>
        </p:nvGrpSpPr>
        <p:grpSpPr>
          <a:xfrm>
            <a:off x="2590800" y="3962400"/>
            <a:ext cx="2590800" cy="2362200"/>
            <a:chOff x="3696" y="2064"/>
            <a:chExt cx="1632" cy="1488"/>
          </a:xfrm>
        </p:grpSpPr>
        <p:sp>
          <p:nvSpPr>
            <p:cNvPr id="119821" name="Rectangle 7"/>
            <p:cNvSpPr/>
            <p:nvPr/>
          </p:nvSpPr>
          <p:spPr>
            <a:xfrm>
              <a:off x="3696" y="2064"/>
              <a:ext cx="1632" cy="1488"/>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buClr>
                  <a:schemeClr val="tx2"/>
                </a:buClr>
                <a:buNone/>
              </a:pPr>
              <a:endParaRPr lang="en-US" altLang="zh-CN" dirty="0">
                <a:solidFill>
                  <a:schemeClr val="bg2"/>
                </a:solidFill>
                <a:latin typeface="Times New Roman" panose="02020603050405020304" pitchFamily="18" charset="0"/>
                <a:ea typeface="宋体" panose="02010600030101010101" pitchFamily="2" charset="-122"/>
              </a:endParaRPr>
            </a:p>
          </p:txBody>
        </p:sp>
        <p:grpSp>
          <p:nvGrpSpPr>
            <p:cNvPr id="119822" name="Group 8"/>
            <p:cNvGrpSpPr/>
            <p:nvPr/>
          </p:nvGrpSpPr>
          <p:grpSpPr>
            <a:xfrm>
              <a:off x="3744" y="2102"/>
              <a:ext cx="1584" cy="1412"/>
              <a:chOff x="3600" y="2102"/>
              <a:chExt cx="1584" cy="1412"/>
            </a:xfrm>
          </p:grpSpPr>
          <p:sp>
            <p:nvSpPr>
              <p:cNvPr id="119823" name="Line 9"/>
              <p:cNvSpPr/>
              <p:nvPr/>
            </p:nvSpPr>
            <p:spPr>
              <a:xfrm>
                <a:off x="3888" y="2544"/>
                <a:ext cx="336" cy="0"/>
              </a:xfrm>
              <a:prstGeom prst="line">
                <a:avLst/>
              </a:prstGeom>
              <a:ln w="9525" cap="flat" cmpd="sng">
                <a:solidFill>
                  <a:schemeClr val="tx1"/>
                </a:solidFill>
                <a:prstDash val="solid"/>
                <a:headEnd type="none" w="med" len="med"/>
                <a:tailEnd type="none" w="med" len="med"/>
              </a:ln>
            </p:spPr>
          </p:sp>
          <p:sp>
            <p:nvSpPr>
              <p:cNvPr id="119824" name="Line 10"/>
              <p:cNvSpPr/>
              <p:nvPr/>
            </p:nvSpPr>
            <p:spPr>
              <a:xfrm>
                <a:off x="3888" y="2880"/>
                <a:ext cx="336" cy="0"/>
              </a:xfrm>
              <a:prstGeom prst="line">
                <a:avLst/>
              </a:prstGeom>
              <a:ln w="9525" cap="flat" cmpd="sng">
                <a:solidFill>
                  <a:schemeClr val="tx1"/>
                </a:solidFill>
                <a:prstDash val="solid"/>
                <a:headEnd type="none" w="med" len="med"/>
                <a:tailEnd type="none" w="med" len="med"/>
              </a:ln>
            </p:spPr>
          </p:sp>
          <p:sp>
            <p:nvSpPr>
              <p:cNvPr id="119825" name="Line 11"/>
              <p:cNvSpPr/>
              <p:nvPr/>
            </p:nvSpPr>
            <p:spPr>
              <a:xfrm>
                <a:off x="4464" y="2736"/>
                <a:ext cx="336" cy="0"/>
              </a:xfrm>
              <a:prstGeom prst="line">
                <a:avLst/>
              </a:prstGeom>
              <a:ln w="9525" cap="flat" cmpd="sng">
                <a:solidFill>
                  <a:schemeClr val="tx1"/>
                </a:solidFill>
                <a:prstDash val="solid"/>
                <a:headEnd type="none" w="med" len="med"/>
                <a:tailEnd type="none" w="med" len="med"/>
              </a:ln>
            </p:spPr>
          </p:sp>
          <p:sp>
            <p:nvSpPr>
              <p:cNvPr id="119826" name="Text Box 12"/>
              <p:cNvSpPr txBox="1"/>
              <p:nvPr/>
            </p:nvSpPr>
            <p:spPr>
              <a:xfrm>
                <a:off x="3600" y="2438"/>
                <a:ext cx="336"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in1</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19827" name="Text Box 13"/>
              <p:cNvSpPr txBox="1"/>
              <p:nvPr/>
            </p:nvSpPr>
            <p:spPr>
              <a:xfrm>
                <a:off x="4752" y="2592"/>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out</a:t>
                </a:r>
                <a:endParaRPr lang="en-US" altLang="zh-CN" dirty="0">
                  <a:latin typeface="Times New Roman" panose="02020603050405020304" pitchFamily="18" charset="0"/>
                  <a:ea typeface="宋体" panose="02010600030101010101" pitchFamily="2" charset="-122"/>
                </a:endParaRPr>
              </a:p>
            </p:txBody>
          </p:sp>
          <p:sp>
            <p:nvSpPr>
              <p:cNvPr id="119828" name="Text Box 14"/>
              <p:cNvSpPr txBox="1"/>
              <p:nvPr/>
            </p:nvSpPr>
            <p:spPr>
              <a:xfrm>
                <a:off x="4032" y="2102"/>
                <a:ext cx="624"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MUX</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19829" name="Text Box 15"/>
              <p:cNvSpPr txBox="1"/>
              <p:nvPr/>
            </p:nvSpPr>
            <p:spPr>
              <a:xfrm>
                <a:off x="3600" y="2736"/>
                <a:ext cx="336"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in0</a:t>
                </a:r>
                <a:endParaRPr lang="en-US" altLang="zh-CN" dirty="0">
                  <a:latin typeface="Times New Roman" panose="02020603050405020304" pitchFamily="18" charset="0"/>
                  <a:ea typeface="宋体" panose="02010600030101010101" pitchFamily="2" charset="-122"/>
                </a:endParaRPr>
              </a:p>
            </p:txBody>
          </p:sp>
          <p:sp>
            <p:nvSpPr>
              <p:cNvPr id="119830" name="Text Box 16"/>
              <p:cNvSpPr txBox="1"/>
              <p:nvPr/>
            </p:nvSpPr>
            <p:spPr>
              <a:xfrm>
                <a:off x="4176" y="3264"/>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sel</a:t>
                </a:r>
                <a:endParaRPr lang="en-US" altLang="zh-CN" dirty="0">
                  <a:latin typeface="Times New Roman" panose="02020603050405020304" pitchFamily="18" charset="0"/>
                  <a:ea typeface="宋体" panose="02010600030101010101" pitchFamily="2" charset="-122"/>
                </a:endParaRPr>
              </a:p>
            </p:txBody>
          </p:sp>
          <p:sp>
            <p:nvSpPr>
              <p:cNvPr id="119831" name="AutoShape 17"/>
              <p:cNvSpPr/>
              <p:nvPr/>
            </p:nvSpPr>
            <p:spPr>
              <a:xfrm rot="-5426475">
                <a:off x="4032" y="2592"/>
                <a:ext cx="624" cy="240"/>
              </a:xfrm>
              <a:custGeom>
                <a:avLst/>
                <a:gdLst/>
                <a:ahLst/>
                <a:cxnLst>
                  <a:cxn ang="0">
                    <a:pos x="0" y="0"/>
                  </a:cxn>
                  <a:cxn ang="0">
                    <a:pos x="5" y="3"/>
                  </a:cxn>
                  <a:cxn ang="0">
                    <a:pos x="14" y="3"/>
                  </a:cxn>
                  <a:cxn ang="0">
                    <a:pos x="18" y="0"/>
                  </a:cxn>
                  <a:cxn ang="0">
                    <a:pos x="0" y="0"/>
                  </a:cxn>
                </a:cxnLst>
                <a:pathLst>
                  <a:path w="21600" h="21600">
                    <a:moveTo>
                      <a:pt x="0" y="0"/>
                    </a:moveTo>
                    <a:lnTo>
                      <a:pt x="5400" y="21600"/>
                    </a:lnTo>
                    <a:lnTo>
                      <a:pt x="16200" y="21600"/>
                    </a:lnTo>
                    <a:lnTo>
                      <a:pt x="21600" y="0"/>
                    </a:lnTo>
                    <a:lnTo>
                      <a:pt x="0" y="0"/>
                    </a:lnTo>
                    <a:close/>
                  </a:path>
                </a:pathLst>
              </a:custGeom>
              <a:solidFill>
                <a:srgbClr val="996600">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9832" name="Line 18"/>
              <p:cNvSpPr/>
              <p:nvPr/>
            </p:nvSpPr>
            <p:spPr>
              <a:xfrm>
                <a:off x="4320" y="2976"/>
                <a:ext cx="0" cy="288"/>
              </a:xfrm>
              <a:prstGeom prst="line">
                <a:avLst/>
              </a:prstGeom>
              <a:ln w="9525" cap="flat" cmpd="sng">
                <a:solidFill>
                  <a:schemeClr val="tx1"/>
                </a:solidFill>
                <a:prstDash val="solid"/>
                <a:headEnd type="none" w="med" len="med"/>
                <a:tailEnd type="none" w="med" len="med"/>
              </a:ln>
            </p:spPr>
          </p:sp>
        </p:grpSp>
      </p:grpSp>
      <p:sp>
        <p:nvSpPr>
          <p:cNvPr id="1673235" name="Text Box 19"/>
          <p:cNvSpPr txBox="1"/>
          <p:nvPr/>
        </p:nvSpPr>
        <p:spPr>
          <a:xfrm>
            <a:off x="1676400" y="2697163"/>
            <a:ext cx="4343400" cy="427037"/>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zh-CN" altLang="en-US" sz="2200" b="1" dirty="0">
                <a:latin typeface="宋体" panose="02010600030101010101" pitchFamily="2" charset="-122"/>
                <a:ea typeface="宋体" panose="02010600030101010101" pitchFamily="2" charset="-122"/>
              </a:rPr>
              <a:t>信号 </a:t>
            </a:r>
            <a:r>
              <a:rPr lang="en-US" altLang="zh-CN" sz="2200" b="1"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条件</a:t>
            </a:r>
            <a:r>
              <a:rPr lang="zh-CN" altLang="en-US" sz="2200" b="1" dirty="0">
                <a:solidFill>
                  <a:srgbClr val="FF0066"/>
                </a:solidFill>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表达式</a:t>
            </a:r>
            <a:r>
              <a:rPr lang="en-US" altLang="zh-CN" sz="2200" b="1" dirty="0">
                <a:latin typeface="宋体" panose="02010600030101010101" pitchFamily="2" charset="-122"/>
                <a:ea typeface="宋体" panose="02010600030101010101" pitchFamily="2" charset="-122"/>
              </a:rPr>
              <a:t>1</a:t>
            </a:r>
            <a:r>
              <a:rPr lang="zh-CN" altLang="en-US" sz="2200" b="1" dirty="0">
                <a:solidFill>
                  <a:srgbClr val="FF0066"/>
                </a:solidFill>
                <a:latin typeface="宋体" panose="02010600030101010101" pitchFamily="2" charset="-122"/>
                <a:ea typeface="宋体" panose="02010600030101010101" pitchFamily="2" charset="-122"/>
              </a:rPr>
              <a:t>：</a:t>
            </a:r>
            <a:r>
              <a:rPr lang="zh-CN" altLang="en-US" sz="2200" b="1" dirty="0">
                <a:latin typeface="宋体" panose="02010600030101010101" pitchFamily="2" charset="-122"/>
                <a:ea typeface="宋体" panose="02010600030101010101" pitchFamily="2" charset="-122"/>
              </a:rPr>
              <a:t>表达式</a:t>
            </a:r>
            <a:r>
              <a:rPr lang="en-US" altLang="zh-CN" sz="2200" b="1" dirty="0">
                <a:latin typeface="宋体" panose="02010600030101010101" pitchFamily="2" charset="-122"/>
                <a:ea typeface="宋体" panose="02010600030101010101" pitchFamily="2" charset="-122"/>
              </a:rPr>
              <a:t>2</a:t>
            </a:r>
            <a:endParaRPr lang="en-US" altLang="zh-CN" sz="2200" b="1" dirty="0">
              <a:latin typeface="宋体" panose="02010600030101010101" pitchFamily="2" charset="-122"/>
              <a:ea typeface="宋体" panose="02010600030101010101" pitchFamily="2" charset="-122"/>
            </a:endParaRPr>
          </a:p>
        </p:txBody>
      </p:sp>
      <p:sp>
        <p:nvSpPr>
          <p:cNvPr id="1673236" name="Rectangle 20"/>
          <p:cNvSpPr/>
          <p:nvPr/>
        </p:nvSpPr>
        <p:spPr>
          <a:xfrm>
            <a:off x="228600" y="2209800"/>
            <a:ext cx="8534400" cy="9906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10000"/>
              </a:lnSpc>
              <a:spcBef>
                <a:spcPct val="0"/>
              </a:spcBef>
              <a:buClr>
                <a:srgbClr val="3333FF"/>
              </a:buClr>
              <a:buFont typeface="Wingdings" panose="05000000000000000000" pitchFamily="2" charset="2"/>
              <a:buChar char="§"/>
            </a:pPr>
            <a:r>
              <a:rPr lang="zh-CN" altLang="en-US" sz="2400" b="1" dirty="0">
                <a:latin typeface="华文楷体" panose="02010600040101010101" pitchFamily="2" charset="-122"/>
                <a:ea typeface="华文楷体" panose="02010600040101010101" pitchFamily="2" charset="-122"/>
              </a:rPr>
              <a:t>条件运算符为</a:t>
            </a:r>
            <a:r>
              <a:rPr lang="zh-CN" altLang="en-US" sz="2400" b="1" dirty="0">
                <a:solidFill>
                  <a:srgbClr val="FF0066"/>
                </a:solidFill>
                <a:latin typeface="华文楷体" panose="02010600040101010101" pitchFamily="2" charset="-122"/>
                <a:ea typeface="华文楷体" panose="02010600040101010101" pitchFamily="2" charset="-122"/>
              </a:rPr>
              <a:t>？：</a:t>
            </a:r>
            <a:endParaRPr lang="zh-CN" altLang="en-US" sz="2400" b="1" dirty="0">
              <a:solidFill>
                <a:srgbClr val="FF0066"/>
              </a:solidFill>
              <a:latin typeface="华文楷体" panose="02010600040101010101" pitchFamily="2" charset="-122"/>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r>
              <a:rPr lang="zh-CN" altLang="en-US" sz="2400" b="1" dirty="0">
                <a:latin typeface="华文楷体" panose="02010600040101010101" pitchFamily="2" charset="-122"/>
                <a:ea typeface="华文楷体" panose="02010600040101010101" pitchFamily="2" charset="-122"/>
              </a:rPr>
              <a:t>用法：</a:t>
            </a:r>
            <a:endParaRPr lang="zh-CN" altLang="en-US" sz="2400" b="1" dirty="0">
              <a:latin typeface="华文楷体" panose="02010600040101010101" pitchFamily="2" charset="-122"/>
              <a:ea typeface="华文楷体" panose="02010600040101010101" pitchFamily="2" charset="-122"/>
            </a:endParaRPr>
          </a:p>
        </p:txBody>
      </p:sp>
      <p:sp>
        <p:nvSpPr>
          <p:cNvPr id="1673237" name="Rectangle 21"/>
          <p:cNvSpPr/>
          <p:nvPr/>
        </p:nvSpPr>
        <p:spPr>
          <a:xfrm>
            <a:off x="228600" y="3352800"/>
            <a:ext cx="8534400" cy="6096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10000"/>
              </a:lnSpc>
              <a:spcBef>
                <a:spcPct val="0"/>
              </a:spcBef>
              <a:buClr>
                <a:srgbClr val="3333FF"/>
              </a:buClr>
              <a:buFont typeface="Wingdings" panose="05000000000000000000" pitchFamily="2" charset="2"/>
              <a:buChar char="§"/>
            </a:pPr>
            <a:r>
              <a:rPr lang="en-US" altLang="zh-CN" sz="2400" b="1" dirty="0">
                <a:latin typeface="华文楷体" panose="02010600040101010101" pitchFamily="2" charset="-122"/>
                <a:ea typeface="华文楷体" panose="02010600040101010101" pitchFamily="2" charset="-122"/>
              </a:rPr>
              <a:t>[</a:t>
            </a:r>
            <a:r>
              <a:rPr lang="zh-CN" altLang="en-US" sz="2400" b="1" dirty="0">
                <a:solidFill>
                  <a:srgbClr val="FF0066"/>
                </a:solidFill>
                <a:latin typeface="华文楷体" panose="02010600040101010101" pitchFamily="2" charset="-122"/>
                <a:ea typeface="华文楷体" panose="02010600040101010101" pitchFamily="2" charset="-122"/>
              </a:rPr>
              <a:t>例</a:t>
            </a: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数据选择器</a:t>
            </a:r>
            <a:r>
              <a:rPr lang="en-US" altLang="zh-CN" sz="2400" b="1" dirty="0">
                <a:latin typeface="华文楷体" panose="02010600040101010101" pitchFamily="2" charset="-122"/>
                <a:ea typeface="华文楷体" panose="02010600040101010101" pitchFamily="2" charset="-122"/>
              </a:rPr>
              <a:t>assign out = sel? in1:in0</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
        <p:nvSpPr>
          <p:cNvPr id="1673238" name="AutoShape 22"/>
          <p:cNvSpPr/>
          <p:nvPr/>
        </p:nvSpPr>
        <p:spPr>
          <a:xfrm>
            <a:off x="5295900" y="1438275"/>
            <a:ext cx="2743200" cy="1104900"/>
          </a:xfrm>
          <a:prstGeom prst="wedgeRectCallout">
            <a:avLst>
              <a:gd name="adj1" fmla="val -71065"/>
              <a:gd name="adj2" fmla="val 65088"/>
            </a:avLst>
          </a:prstGeom>
          <a:noFill/>
          <a:ln w="9525" cap="flat" cmpd="sng">
            <a:solidFill>
              <a:schemeClr val="accent1"/>
            </a:solidFill>
            <a:prstDash val="solid"/>
            <a:round/>
            <a:headEnd type="none" w="med" len="med"/>
            <a:tailEnd type="none" w="med" len="med"/>
          </a:ln>
          <a:effectLst>
            <a:prstShdw prst="shdw17" dist="17961" dir="2699999">
              <a:srgbClr val="99997A"/>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10000"/>
              </a:lnSpc>
              <a:buClr>
                <a:schemeClr val="folHlink"/>
              </a:buClr>
              <a:buSzPct val="60000"/>
              <a:buFont typeface="Wingdings" panose="05000000000000000000" pitchFamily="2" charset="2"/>
              <a:buChar char="•"/>
            </a:pPr>
            <a:r>
              <a:rPr lang="zh-CN" altLang="en-US" b="1" dirty="0">
                <a:latin typeface="华文楷体" panose="02010600040101010101" pitchFamily="2" charset="-122"/>
                <a:ea typeface="华文楷体" panose="02010600040101010101" pitchFamily="2" charset="-122"/>
              </a:rPr>
              <a:t>当条件为</a:t>
            </a:r>
            <a:r>
              <a:rPr lang="zh-CN" altLang="en-US" b="1" dirty="0">
                <a:solidFill>
                  <a:srgbClr val="990000"/>
                </a:solidFill>
                <a:latin typeface="华文楷体" panose="02010600040101010101" pitchFamily="2" charset="-122"/>
                <a:ea typeface="华文楷体" panose="02010600040101010101" pitchFamily="2" charset="-122"/>
              </a:rPr>
              <a:t>真</a:t>
            </a:r>
            <a:r>
              <a:rPr lang="zh-CN" altLang="en-US" b="1" dirty="0">
                <a:latin typeface="华文楷体" panose="02010600040101010101" pitchFamily="2" charset="-122"/>
                <a:ea typeface="华文楷体" panose="02010600040101010101" pitchFamily="2" charset="-122"/>
              </a:rPr>
              <a:t>，信号取表达式</a:t>
            </a:r>
            <a:r>
              <a:rPr lang="en-US" altLang="zh-CN" b="1" dirty="0">
                <a:solidFill>
                  <a:srgbClr val="990000"/>
                </a:solidFill>
                <a:latin typeface="华文楷体" panose="02010600040101010101" pitchFamily="2" charset="-122"/>
                <a:ea typeface="华文楷体" panose="02010600040101010101" pitchFamily="2" charset="-122"/>
              </a:rPr>
              <a:t>1</a:t>
            </a:r>
            <a:r>
              <a:rPr lang="zh-CN" altLang="en-US" b="1" dirty="0">
                <a:latin typeface="华文楷体" panose="02010600040101010101" pitchFamily="2" charset="-122"/>
                <a:ea typeface="华文楷体" panose="02010600040101010101" pitchFamily="2" charset="-122"/>
              </a:rPr>
              <a:t>的值；为</a:t>
            </a:r>
            <a:r>
              <a:rPr lang="zh-CN" altLang="en-US" b="1" dirty="0">
                <a:solidFill>
                  <a:srgbClr val="990000"/>
                </a:solidFill>
                <a:latin typeface="华文楷体" panose="02010600040101010101" pitchFamily="2" charset="-122"/>
                <a:ea typeface="华文楷体" panose="02010600040101010101" pitchFamily="2" charset="-122"/>
              </a:rPr>
              <a:t>假</a:t>
            </a:r>
            <a:r>
              <a:rPr lang="zh-CN" altLang="en-US" b="1" dirty="0">
                <a:latin typeface="华文楷体" panose="02010600040101010101" pitchFamily="2" charset="-122"/>
                <a:ea typeface="华文楷体" panose="02010600040101010101" pitchFamily="2" charset="-122"/>
              </a:rPr>
              <a:t>，则取表达式</a:t>
            </a:r>
            <a:r>
              <a:rPr lang="en-US" altLang="zh-CN" b="1" dirty="0">
                <a:solidFill>
                  <a:srgbClr val="990000"/>
                </a:solidFill>
                <a:latin typeface="华文楷体" panose="02010600040101010101" pitchFamily="2" charset="-122"/>
                <a:ea typeface="华文楷体" panose="02010600040101010101" pitchFamily="2" charset="-122"/>
              </a:rPr>
              <a:t>2</a:t>
            </a:r>
            <a:r>
              <a:rPr lang="zh-CN" altLang="en-US" b="1" dirty="0">
                <a:latin typeface="华文楷体" panose="02010600040101010101" pitchFamily="2" charset="-122"/>
                <a:ea typeface="华文楷体" panose="02010600040101010101" pitchFamily="2" charset="-122"/>
              </a:rPr>
              <a:t>的值。</a:t>
            </a:r>
            <a:endParaRPr lang="zh-CN" altLang="en-US" b="1" dirty="0">
              <a:latin typeface="华文楷体" panose="02010600040101010101" pitchFamily="2" charset="-122"/>
              <a:ea typeface="华文楷体" panose="02010600040101010101" pitchFamily="2" charset="-122"/>
            </a:endParaRPr>
          </a:p>
        </p:txBody>
      </p:sp>
      <p:sp>
        <p:nvSpPr>
          <p:cNvPr id="1673240" name="AutoShape 24"/>
          <p:cNvSpPr/>
          <p:nvPr/>
        </p:nvSpPr>
        <p:spPr>
          <a:xfrm>
            <a:off x="5762625" y="5257800"/>
            <a:ext cx="2276475" cy="674688"/>
          </a:xfrm>
          <a:prstGeom prst="wedgeRoundRectCallout">
            <a:avLst>
              <a:gd name="adj1" fmla="val -73991"/>
              <a:gd name="adj2" fmla="val -47884"/>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b="1" dirty="0">
                <a:latin typeface="宋体" panose="02010600030101010101" pitchFamily="2" charset="-122"/>
                <a:ea typeface="宋体" panose="02010600030101010101" pitchFamily="2" charset="-122"/>
              </a:rPr>
              <a:t>sel=1</a:t>
            </a:r>
            <a:r>
              <a:rPr lang="zh-CN" altLang="en-US" b="1" dirty="0">
                <a:latin typeface="宋体" panose="02010600030101010101" pitchFamily="2" charset="-122"/>
                <a:ea typeface="宋体" panose="02010600030101010101" pitchFamily="2" charset="-122"/>
              </a:rPr>
              <a:t>时</a:t>
            </a:r>
            <a:r>
              <a:rPr lang="en-US" altLang="zh-CN" b="1" dirty="0">
                <a:latin typeface="宋体" panose="02010600030101010101" pitchFamily="2" charset="-122"/>
                <a:ea typeface="宋体" panose="02010600030101010101" pitchFamily="2" charset="-122"/>
              </a:rPr>
              <a:t>out=in1</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sel=0</a:t>
            </a:r>
            <a:r>
              <a:rPr lang="zh-CN" altLang="en-US" b="1" dirty="0">
                <a:latin typeface="宋体" panose="02010600030101010101" pitchFamily="2" charset="-122"/>
                <a:ea typeface="宋体" panose="02010600030101010101" pitchFamily="2" charset="-122"/>
              </a:rPr>
              <a:t>时</a:t>
            </a:r>
            <a:r>
              <a:rPr lang="en-US" altLang="zh-CN" b="1" dirty="0">
                <a:latin typeface="宋体" panose="02010600030101010101" pitchFamily="2" charset="-122"/>
                <a:ea typeface="宋体" panose="02010600030101010101" pitchFamily="2" charset="-122"/>
              </a:rPr>
              <a:t>out=in0</a:t>
            </a:r>
            <a:endParaRPr lang="en-US" altLang="zh-CN"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73219"/>
                                        </p:tgtEl>
                                        <p:attrNameLst>
                                          <p:attrName>style.visibility</p:attrName>
                                        </p:attrNameLst>
                                      </p:cBhvr>
                                      <p:to>
                                        <p:strVal val="visible"/>
                                      </p:to>
                                    </p:set>
                                    <p:anim calcmode="lin" valueType="num">
                                      <p:cBhvr additive="base">
                                        <p:cTn id="7" dur="500" fill="hold"/>
                                        <p:tgtEl>
                                          <p:spTgt spid="1673219"/>
                                        </p:tgtEl>
                                        <p:attrNameLst>
                                          <p:attrName>ppt_x</p:attrName>
                                        </p:attrNameLst>
                                      </p:cBhvr>
                                      <p:tavLst>
                                        <p:tav tm="0">
                                          <p:val>
                                            <p:strVal val="0-#ppt_w/2"/>
                                          </p:val>
                                        </p:tav>
                                        <p:tav tm="100000">
                                          <p:val>
                                            <p:strVal val="#ppt_x"/>
                                          </p:val>
                                        </p:tav>
                                      </p:tavLst>
                                    </p:anim>
                                    <p:anim calcmode="lin" valueType="num">
                                      <p:cBhvr additive="base">
                                        <p:cTn id="8" dur="500" fill="hold"/>
                                        <p:tgtEl>
                                          <p:spTgt spid="16732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73220"/>
                                        </p:tgtEl>
                                        <p:attrNameLst>
                                          <p:attrName>style.visibility</p:attrName>
                                        </p:attrNameLst>
                                      </p:cBhvr>
                                      <p:to>
                                        <p:strVal val="visible"/>
                                      </p:to>
                                    </p:set>
                                    <p:animEffect transition="in" filter="dissolve">
                                      <p:cBhvr>
                                        <p:cTn id="12" dur="500"/>
                                        <p:tgtEl>
                                          <p:spTgt spid="167322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73236"/>
                                        </p:tgtEl>
                                        <p:attrNameLst>
                                          <p:attrName>style.visibility</p:attrName>
                                        </p:attrNameLst>
                                      </p:cBhvr>
                                      <p:to>
                                        <p:strVal val="visible"/>
                                      </p:to>
                                    </p:set>
                                    <p:anim calcmode="lin" valueType="num">
                                      <p:cBhvr additive="base">
                                        <p:cTn id="17" dur="500" fill="hold"/>
                                        <p:tgtEl>
                                          <p:spTgt spid="1673236"/>
                                        </p:tgtEl>
                                        <p:attrNameLst>
                                          <p:attrName>ppt_x</p:attrName>
                                        </p:attrNameLst>
                                      </p:cBhvr>
                                      <p:tavLst>
                                        <p:tav tm="0">
                                          <p:val>
                                            <p:strVal val="0-#ppt_w/2"/>
                                          </p:val>
                                        </p:tav>
                                        <p:tav tm="100000">
                                          <p:val>
                                            <p:strVal val="#ppt_x"/>
                                          </p:val>
                                        </p:tav>
                                      </p:tavLst>
                                    </p:anim>
                                    <p:anim calcmode="lin" valueType="num">
                                      <p:cBhvr additive="base">
                                        <p:cTn id="18" dur="500" fill="hold"/>
                                        <p:tgtEl>
                                          <p:spTgt spid="167323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37" fill="hold" grpId="0" nodeType="clickEffect">
                                  <p:stCondLst>
                                    <p:cond delay="0"/>
                                  </p:stCondLst>
                                  <p:childTnLst>
                                    <p:set>
                                      <p:cBhvr>
                                        <p:cTn id="22" dur="1" fill="hold">
                                          <p:stCondLst>
                                            <p:cond delay="0"/>
                                          </p:stCondLst>
                                        </p:cTn>
                                        <p:tgtEl>
                                          <p:spTgt spid="1673235"/>
                                        </p:tgtEl>
                                        <p:attrNameLst>
                                          <p:attrName>style.visibility</p:attrName>
                                        </p:attrNameLst>
                                      </p:cBhvr>
                                      <p:to>
                                        <p:strVal val="visible"/>
                                      </p:to>
                                    </p:set>
                                    <p:animEffect transition="in" filter="barn(outVertical)">
                                      <p:cBhvr>
                                        <p:cTn id="23" dur="500"/>
                                        <p:tgtEl>
                                          <p:spTgt spid="1673235"/>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1673238"/>
                                        </p:tgtEl>
                                        <p:attrNameLst>
                                          <p:attrName>style.visibility</p:attrName>
                                        </p:attrNameLst>
                                      </p:cBhvr>
                                      <p:to>
                                        <p:strVal val="visible"/>
                                      </p:to>
                                    </p:set>
                                    <p:animEffect transition="in" filter="slide(fromTop)">
                                      <p:cBhvr>
                                        <p:cTn id="28" dur="500"/>
                                        <p:tgtEl>
                                          <p:spTgt spid="167323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673237"/>
                                        </p:tgtEl>
                                        <p:attrNameLst>
                                          <p:attrName>style.visibility</p:attrName>
                                        </p:attrNameLst>
                                      </p:cBhvr>
                                      <p:to>
                                        <p:strVal val="visible"/>
                                      </p:to>
                                    </p:set>
                                    <p:anim calcmode="lin" valueType="num">
                                      <p:cBhvr additive="base">
                                        <p:cTn id="33" dur="500" fill="hold"/>
                                        <p:tgtEl>
                                          <p:spTgt spid="1673237"/>
                                        </p:tgtEl>
                                        <p:attrNameLst>
                                          <p:attrName>ppt_x</p:attrName>
                                        </p:attrNameLst>
                                      </p:cBhvr>
                                      <p:tavLst>
                                        <p:tav tm="0">
                                          <p:val>
                                            <p:strVal val="0-#ppt_w/2"/>
                                          </p:val>
                                        </p:tav>
                                        <p:tav tm="100000">
                                          <p:val>
                                            <p:strVal val="#ppt_x"/>
                                          </p:val>
                                        </p:tav>
                                      </p:tavLst>
                                    </p:anim>
                                    <p:anim calcmode="lin" valueType="num">
                                      <p:cBhvr additive="base">
                                        <p:cTn id="34" dur="500" fill="hold"/>
                                        <p:tgtEl>
                                          <p:spTgt spid="167323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ppt_x"/>
                                          </p:val>
                                        </p:tav>
                                        <p:tav tm="100000">
                                          <p:val>
                                            <p:strVal val="#ppt_x"/>
                                          </p:val>
                                        </p:tav>
                                      </p:tavLst>
                                    </p:anim>
                                    <p:anim calcmode="lin" valueType="num">
                                      <p:cBhvr additive="base">
                                        <p:cTn id="4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673240"/>
                                        </p:tgtEl>
                                        <p:attrNameLst>
                                          <p:attrName>style.visibility</p:attrName>
                                        </p:attrNameLst>
                                      </p:cBhvr>
                                      <p:to>
                                        <p:strVal val="visible"/>
                                      </p:to>
                                    </p:set>
                                    <p:animEffect transition="in" filter="dissolve">
                                      <p:cBhvr>
                                        <p:cTn id="45" dur="500"/>
                                        <p:tgtEl>
                                          <p:spTgt spid="1673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3219" grpId="0"/>
      <p:bldP spid="1673220" grpId="0" bldLvl="0" animBg="1"/>
      <p:bldP spid="1673235" grpId="0" bldLvl="0" animBg="1"/>
      <p:bldP spid="1673236" grpId="0"/>
      <p:bldP spid="1673237" grpId="0"/>
      <p:bldP spid="1673238" grpId="0" bldLvl="0" animBg="1"/>
      <p:bldP spid="1673240"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185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2185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75267" name="Rectangle 3"/>
          <p:cNvSpPr>
            <a:spLocks noGrp="1"/>
          </p:cNvSpPr>
          <p:nvPr>
            <p:ph idx="1"/>
          </p:nvPr>
        </p:nvSpPr>
        <p:spPr>
          <a:xfrm>
            <a:off x="539750" y="857250"/>
            <a:ext cx="7921625" cy="4719638"/>
          </a:xfrm>
        </p:spPr>
        <p:txBody>
          <a:bodyPr vert="horz" wrap="square" lIns="91440" tIns="45720" rIns="91440" bIns="45720" anchor="t" anchorCtr="0"/>
          <a:p>
            <a:pPr algn="just" eaLnBrk="1" hangingPunct="1">
              <a:lnSpc>
                <a:spcPct val="120000"/>
              </a:lnSpc>
            </a:pPr>
            <a:r>
              <a:rPr lang="en-US" altLang="zh-CN" dirty="0">
                <a:solidFill>
                  <a:schemeClr val="tx2"/>
                </a:solidFill>
                <a:latin typeface="华文楷体" panose="02010600040101010101" pitchFamily="2" charset="-122"/>
                <a:ea typeface="黑体" panose="02010609060101010101" pitchFamily="49" charset="-122"/>
                <a:cs typeface="+mn-cs"/>
              </a:rPr>
              <a:t>4.9 </a:t>
            </a:r>
            <a:r>
              <a:rPr lang="zh-CN" altLang="en-US" dirty="0">
                <a:solidFill>
                  <a:schemeClr val="tx2"/>
                </a:solidFill>
                <a:latin typeface="华文楷体" panose="02010600040101010101" pitchFamily="2" charset="-122"/>
                <a:ea typeface="华文楷体" panose="02010600040101010101" pitchFamily="2" charset="-122"/>
                <a:cs typeface="+mn-cs"/>
              </a:rPr>
              <a:t>位拼接运算符</a:t>
            </a:r>
            <a:endParaRPr lang="zh-CN" altLang="en-US" dirty="0">
              <a:solidFill>
                <a:schemeClr val="tx2"/>
              </a:solidFill>
              <a:latin typeface="华文楷体" panose="02010600040101010101" pitchFamily="2" charset="-122"/>
              <a:ea typeface="华文楷体" panose="02010600040101010101" pitchFamily="2" charset="-122"/>
              <a:cs typeface="+mn-cs"/>
            </a:endParaRPr>
          </a:p>
          <a:p>
            <a:pPr algn="just">
              <a:lnSpc>
                <a:spcPct val="120000"/>
              </a:lnSpc>
              <a:spcBef>
                <a:spcPct val="0"/>
              </a:spcBef>
            </a:pPr>
            <a:r>
              <a:rPr lang="zh-CN" altLang="en-US" sz="2200" dirty="0">
                <a:latin typeface="华文楷体" panose="02010600040101010101" pitchFamily="2" charset="-122"/>
                <a:ea typeface="华文楷体" panose="02010600040101010101" pitchFamily="2" charset="-122"/>
                <a:cs typeface="+mn-cs"/>
              </a:rPr>
              <a:t>位拼接运算符为</a:t>
            </a:r>
            <a:r>
              <a:rPr lang="en-US" altLang="zh-CN" sz="2200" dirty="0">
                <a:solidFill>
                  <a:srgbClr val="FF0066"/>
                </a:solidFill>
                <a:latin typeface="华文楷体" panose="02010600040101010101" pitchFamily="2" charset="-122"/>
                <a:ea typeface="黑体" panose="02010609060101010101" pitchFamily="49" charset="-122"/>
                <a:cs typeface="+mn-cs"/>
              </a:rPr>
              <a:t>{ }</a:t>
            </a:r>
            <a:endParaRPr lang="en-US" altLang="zh-CN" sz="2200" dirty="0">
              <a:solidFill>
                <a:srgbClr val="FF0066"/>
              </a:solidFill>
              <a:latin typeface="华文楷体" panose="02010600040101010101" pitchFamily="2" charset="-122"/>
              <a:ea typeface="黑体" panose="02010609060101010101" pitchFamily="49" charset="-122"/>
              <a:cs typeface="+mn-cs"/>
            </a:endParaRPr>
          </a:p>
          <a:p>
            <a:pPr algn="just">
              <a:lnSpc>
                <a:spcPct val="120000"/>
              </a:lnSpc>
              <a:spcBef>
                <a:spcPct val="0"/>
              </a:spcBef>
            </a:pPr>
            <a:r>
              <a:rPr lang="zh-CN" altLang="en-US" sz="2200" dirty="0">
                <a:latin typeface="华文楷体" panose="02010600040101010101" pitchFamily="2" charset="-122"/>
                <a:ea typeface="华文楷体" panose="02010600040101010101" pitchFamily="2" charset="-122"/>
                <a:cs typeface="+mn-cs"/>
              </a:rPr>
              <a:t>用于将两个或多个信号的某些位拼接起来，表示一个</a:t>
            </a:r>
            <a:r>
              <a:rPr lang="zh-CN" altLang="en-US" sz="2200" dirty="0">
                <a:solidFill>
                  <a:srgbClr val="FF33CC"/>
                </a:solidFill>
                <a:latin typeface="华文楷体" panose="02010600040101010101" pitchFamily="2" charset="-122"/>
                <a:ea typeface="华文楷体" panose="02010600040101010101" pitchFamily="2" charset="-122"/>
                <a:cs typeface="+mn-cs"/>
              </a:rPr>
              <a:t>整体</a:t>
            </a:r>
            <a:r>
              <a:rPr lang="zh-CN" altLang="en-US" sz="2200" dirty="0">
                <a:latin typeface="华文楷体" panose="02010600040101010101" pitchFamily="2" charset="-122"/>
                <a:ea typeface="华文楷体" panose="02010600040101010101" pitchFamily="2" charset="-122"/>
                <a:cs typeface="+mn-cs"/>
              </a:rPr>
              <a:t>信号。</a:t>
            </a:r>
            <a:endParaRPr lang="zh-CN" altLang="en-US" sz="2200" dirty="0">
              <a:latin typeface="华文楷体" panose="02010600040101010101" pitchFamily="2" charset="-122"/>
              <a:ea typeface="华文楷体" panose="02010600040101010101" pitchFamily="2" charset="-122"/>
              <a:cs typeface="+mn-cs"/>
            </a:endParaRPr>
          </a:p>
          <a:p>
            <a:pPr algn="just">
              <a:lnSpc>
                <a:spcPct val="120000"/>
              </a:lnSpc>
              <a:spcBef>
                <a:spcPct val="0"/>
              </a:spcBef>
            </a:pPr>
            <a:r>
              <a:rPr lang="zh-CN" altLang="en-US" sz="2200" dirty="0">
                <a:latin typeface="华文楷体" panose="02010600040101010101" pitchFamily="2" charset="-122"/>
                <a:ea typeface="华文楷体" panose="02010600040101010101" pitchFamily="2" charset="-122"/>
                <a:cs typeface="+mn-cs"/>
              </a:rPr>
              <a:t>用法：</a:t>
            </a:r>
            <a:endParaRPr lang="zh-CN" altLang="en-US" sz="2200" dirty="0">
              <a:latin typeface="华文楷体" panose="02010600040101010101" pitchFamily="2" charset="-122"/>
              <a:ea typeface="华文楷体" panose="02010600040101010101" pitchFamily="2" charset="-122"/>
              <a:cs typeface="+mn-cs"/>
            </a:endParaRPr>
          </a:p>
        </p:txBody>
      </p:sp>
      <p:sp>
        <p:nvSpPr>
          <p:cNvPr id="121861" name="Rectangle 4"/>
          <p:cNvSpPr/>
          <p:nvPr/>
        </p:nvSpPr>
        <p:spPr>
          <a:xfrm>
            <a:off x="5181600" y="3200400"/>
            <a:ext cx="3200400" cy="2743200"/>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675269" name="Text Box 5"/>
          <p:cNvSpPr txBox="1"/>
          <p:nvPr/>
        </p:nvSpPr>
        <p:spPr>
          <a:xfrm>
            <a:off x="1709738" y="2617788"/>
            <a:ext cx="6862762" cy="3968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信号</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的某几位，信号</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的某几位，</a:t>
            </a:r>
            <a:r>
              <a:rPr lang="en-US" altLang="zh-CN"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，信号</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的某几位</a:t>
            </a:r>
            <a:r>
              <a:rPr lang="en-US" altLang="zh-CN" b="1" dirty="0">
                <a:solidFill>
                  <a:srgbClr val="FF0066"/>
                </a:solidFill>
                <a:latin typeface="宋体" panose="02010600030101010101" pitchFamily="2" charset="-122"/>
                <a:ea typeface="宋体" panose="02010600030101010101" pitchFamily="2" charset="-122"/>
              </a:rPr>
              <a:t>}</a:t>
            </a:r>
            <a:endParaRPr lang="en-US" altLang="zh-CN" b="1" dirty="0">
              <a:solidFill>
                <a:srgbClr val="FF0066"/>
              </a:solidFill>
              <a:latin typeface="宋体" panose="02010600030101010101" pitchFamily="2" charset="-122"/>
              <a:ea typeface="宋体" panose="02010600030101010101" pitchFamily="2" charset="-122"/>
            </a:endParaRPr>
          </a:p>
        </p:txBody>
      </p:sp>
      <p:sp>
        <p:nvSpPr>
          <p:cNvPr id="1675271" name="Rectangle 7"/>
          <p:cNvSpPr/>
          <p:nvPr/>
        </p:nvSpPr>
        <p:spPr>
          <a:xfrm>
            <a:off x="419100" y="3014663"/>
            <a:ext cx="8534400" cy="34544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a:lnSpc>
                <a:spcPct val="120000"/>
              </a:lnSpc>
              <a:spcBef>
                <a:spcPct val="0"/>
              </a:spcBef>
              <a:buClr>
                <a:srgbClr val="3333FF"/>
              </a:buClr>
              <a:buFont typeface="Wingdings" panose="05000000000000000000" pitchFamily="2" charset="2"/>
              <a:buChar char="§"/>
            </a:pPr>
            <a:r>
              <a:rPr lang="zh-CN" altLang="en-US" sz="2200" b="1" dirty="0">
                <a:latin typeface="Times New Roman" panose="02020603050405020304" pitchFamily="18" charset="0"/>
                <a:ea typeface="华文楷体" panose="02010600040101010101" pitchFamily="2" charset="-122"/>
              </a:rPr>
              <a:t>例如在进行加法运算时，可将进位输出与和拼接在一起使用。</a:t>
            </a:r>
            <a:endParaRPr lang="zh-CN" altLang="en-US" sz="2200" b="1"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en-US" altLang="zh-CN" sz="2400" dirty="0">
                <a:latin typeface="Times New Roman" panose="02020603050405020304" pitchFamily="18" charset="0"/>
                <a:ea typeface="华文楷体" panose="02010600040101010101" pitchFamily="2" charset="-122"/>
              </a:rPr>
              <a:t>[</a:t>
            </a:r>
            <a:r>
              <a:rPr lang="zh-CN" altLang="en-US" sz="2400" dirty="0">
                <a:solidFill>
                  <a:srgbClr val="FF3399"/>
                </a:solidFill>
                <a:latin typeface="Times New Roman" panose="02020603050405020304" pitchFamily="18" charset="0"/>
                <a:ea typeface="华文楷体" panose="02010600040101010101" pitchFamily="2" charset="-122"/>
              </a:rPr>
              <a:t>例</a:t>
            </a:r>
            <a:r>
              <a:rPr lang="en-US" altLang="zh-CN" sz="2400" dirty="0">
                <a:solidFill>
                  <a:srgbClr val="FF3399"/>
                </a:solidFill>
                <a:latin typeface="Times New Roman" panose="02020603050405020304" pitchFamily="18" charset="0"/>
                <a:ea typeface="华文楷体" panose="02010600040101010101" pitchFamily="2" charset="-122"/>
              </a:rPr>
              <a:t>1</a:t>
            </a:r>
            <a:r>
              <a:rPr lang="en-US" altLang="zh-CN" sz="2400" dirty="0">
                <a:latin typeface="Times New Roman" panose="02020603050405020304" pitchFamily="18" charset="0"/>
                <a:ea typeface="华文楷体" panose="02010600040101010101" pitchFamily="2" charset="-122"/>
              </a:rPr>
              <a:t>] output [3:0] sum;                             //</a:t>
            </a:r>
            <a:r>
              <a:rPr lang="zh-CN" altLang="en-US" sz="2400" dirty="0">
                <a:latin typeface="Times New Roman" panose="02020603050405020304" pitchFamily="18" charset="0"/>
                <a:ea typeface="华文楷体" panose="02010600040101010101" pitchFamily="2" charset="-122"/>
              </a:rPr>
              <a:t>和</a:t>
            </a:r>
            <a:endParaRPr lang="zh-CN" altLang="en-US" sz="2400"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output cout;                                    //</a:t>
            </a:r>
            <a:r>
              <a:rPr lang="zh-CN" altLang="en-US" sz="2200" b="1" dirty="0">
                <a:latin typeface="Times New Roman" panose="02020603050405020304" pitchFamily="18" charset="0"/>
                <a:ea typeface="华文楷体" panose="02010600040101010101" pitchFamily="2" charset="-122"/>
              </a:rPr>
              <a:t>进位输出</a:t>
            </a:r>
            <a:endParaRPr lang="zh-CN" altLang="en-US" sz="2400"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input[3:0] ina,inb;</a:t>
            </a:r>
            <a:endParaRPr lang="en-US" altLang="zh-CN" sz="2400"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en-US" altLang="zh-CN" sz="2400" dirty="0">
                <a:latin typeface="Times New Roman" panose="02020603050405020304" pitchFamily="18" charset="0"/>
                <a:ea typeface="华文楷体" panose="02010600040101010101" pitchFamily="2" charset="-122"/>
              </a:rPr>
              <a:t>               input cin;</a:t>
            </a:r>
            <a:endParaRPr lang="en-US" altLang="zh-CN" sz="2400"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en-US" altLang="zh-CN" sz="2400" dirty="0">
                <a:latin typeface="Times New Roman" panose="02020603050405020304" pitchFamily="18" charset="0"/>
                <a:ea typeface="华文楷体" panose="02010600040101010101" pitchFamily="2" charset="-122"/>
              </a:rPr>
              <a:t>               assign {cout,sum} = ina + inb +cin</a:t>
            </a:r>
            <a:r>
              <a:rPr lang="zh-CN" altLang="en-US" sz="2400" dirty="0">
                <a:latin typeface="Times New Roman" panose="02020603050405020304" pitchFamily="18" charset="0"/>
                <a:ea typeface="华文楷体" panose="02010600040101010101" pitchFamily="2" charset="-122"/>
              </a:rPr>
              <a:t>；</a:t>
            </a:r>
            <a:endParaRPr lang="zh-CN" altLang="en-US" sz="2400" dirty="0">
              <a:latin typeface="Times New Roman" panose="02020603050405020304" pitchFamily="18" charset="0"/>
              <a:ea typeface="华文楷体" panose="02010600040101010101" pitchFamily="2" charset="-122"/>
            </a:endParaRPr>
          </a:p>
          <a:p>
            <a:pPr marL="342900" lvl="0" indent="-342900" algn="just">
              <a:lnSpc>
                <a:spcPct val="120000"/>
              </a:lnSpc>
              <a:spcBef>
                <a:spcPct val="0"/>
              </a:spcBef>
              <a:buClr>
                <a:srgbClr val="3333FF"/>
              </a:buClr>
              <a:buFont typeface="Wingdings" panose="05000000000000000000" pitchFamily="2" charset="2"/>
              <a:buChar char="•"/>
            </a:pPr>
            <a:r>
              <a:rPr lang="zh-CN" altLang="en-US" sz="2400" dirty="0">
                <a:latin typeface="Times New Roman" panose="02020603050405020304" pitchFamily="18" charset="0"/>
                <a:ea typeface="华文楷体" panose="02010600040101010101" pitchFamily="2" charset="-122"/>
              </a:rPr>
              <a:t>                              </a:t>
            </a:r>
            <a:r>
              <a:rPr lang="en-US" altLang="zh-CN" sz="2400"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进位与和拼接</a:t>
            </a:r>
            <a:r>
              <a:rPr lang="en-US" altLang="zh-CN" sz="2400" dirty="0">
                <a:latin typeface="Times New Roman" panose="02020603050405020304" pitchFamily="18" charset="0"/>
                <a:ea typeface="华文楷体" panose="02010600040101010101" pitchFamily="2" charset="-122"/>
              </a:rPr>
              <a:t>[</a:t>
            </a:r>
            <a:r>
              <a:rPr lang="zh-CN" altLang="en-US" sz="2400" dirty="0">
                <a:solidFill>
                  <a:srgbClr val="FF3399"/>
                </a:solidFill>
                <a:latin typeface="Times New Roman" panose="02020603050405020304" pitchFamily="18" charset="0"/>
                <a:ea typeface="华文楷体" panose="02010600040101010101" pitchFamily="2" charset="-122"/>
              </a:rPr>
              <a:t>例</a:t>
            </a:r>
            <a:r>
              <a:rPr lang="en-US" altLang="zh-CN" sz="2400" dirty="0">
                <a:solidFill>
                  <a:srgbClr val="FF3399"/>
                </a:solidFill>
                <a:latin typeface="Times New Roman" panose="02020603050405020304" pitchFamily="18" charset="0"/>
                <a:ea typeface="华文楷体" panose="02010600040101010101" pitchFamily="2" charset="-122"/>
              </a:rPr>
              <a:t>2</a:t>
            </a:r>
            <a:r>
              <a:rPr lang="en-US" altLang="zh-CN" sz="2400" dirty="0">
                <a:latin typeface="Times New Roman" panose="02020603050405020304" pitchFamily="18" charset="0"/>
                <a:ea typeface="华文楷体" panose="02010600040101010101" pitchFamily="2" charset="-122"/>
              </a:rPr>
              <a:t>] {a,b[3:0],w,3’b101}                                             			//= {a,b[3],b[2],b[1],b[0],w,1’b1,1’b0,1’b1}</a:t>
            </a: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75267"/>
                                        </p:tgtEl>
                                        <p:attrNameLst>
                                          <p:attrName>style.visibility</p:attrName>
                                        </p:attrNameLst>
                                      </p:cBhvr>
                                      <p:to>
                                        <p:strVal val="visible"/>
                                      </p:to>
                                    </p:set>
                                    <p:anim calcmode="lin" valueType="num">
                                      <p:cBhvr additive="base">
                                        <p:cTn id="7" dur="500" fill="hold"/>
                                        <p:tgtEl>
                                          <p:spTgt spid="1675267"/>
                                        </p:tgtEl>
                                        <p:attrNameLst>
                                          <p:attrName>ppt_x</p:attrName>
                                        </p:attrNameLst>
                                      </p:cBhvr>
                                      <p:tavLst>
                                        <p:tav tm="0">
                                          <p:val>
                                            <p:strVal val="0-#ppt_w/2"/>
                                          </p:val>
                                        </p:tav>
                                        <p:tav tm="100000">
                                          <p:val>
                                            <p:strVal val="#ppt_x"/>
                                          </p:val>
                                        </p:tav>
                                      </p:tavLst>
                                    </p:anim>
                                    <p:anim calcmode="lin" valueType="num">
                                      <p:cBhvr additive="base">
                                        <p:cTn id="8" dur="500" fill="hold"/>
                                        <p:tgtEl>
                                          <p:spTgt spid="16752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675269"/>
                                        </p:tgtEl>
                                        <p:attrNameLst>
                                          <p:attrName>style.visibility</p:attrName>
                                        </p:attrNameLst>
                                      </p:cBhvr>
                                      <p:to>
                                        <p:strVal val="visible"/>
                                      </p:to>
                                    </p:set>
                                    <p:anim calcmode="lin" valueType="num">
                                      <p:cBhvr>
                                        <p:cTn id="13" dur="500" fill="hold"/>
                                        <p:tgtEl>
                                          <p:spTgt spid="1675269"/>
                                        </p:tgtEl>
                                        <p:attrNameLst>
                                          <p:attrName>ppt_x</p:attrName>
                                        </p:attrNameLst>
                                      </p:cBhvr>
                                      <p:tavLst>
                                        <p:tav tm="0">
                                          <p:val>
                                            <p:strVal val="#ppt_x-#ppt_w/2"/>
                                          </p:val>
                                        </p:tav>
                                        <p:tav tm="100000">
                                          <p:val>
                                            <p:strVal val="#ppt_x"/>
                                          </p:val>
                                        </p:tav>
                                      </p:tavLst>
                                    </p:anim>
                                    <p:anim calcmode="lin" valueType="num">
                                      <p:cBhvr>
                                        <p:cTn id="14" dur="500" fill="hold"/>
                                        <p:tgtEl>
                                          <p:spTgt spid="1675269"/>
                                        </p:tgtEl>
                                        <p:attrNameLst>
                                          <p:attrName>ppt_y</p:attrName>
                                        </p:attrNameLst>
                                      </p:cBhvr>
                                      <p:tavLst>
                                        <p:tav tm="0">
                                          <p:val>
                                            <p:strVal val="#ppt_y"/>
                                          </p:val>
                                        </p:tav>
                                        <p:tav tm="100000">
                                          <p:val>
                                            <p:strVal val="#ppt_y"/>
                                          </p:val>
                                        </p:tav>
                                      </p:tavLst>
                                    </p:anim>
                                    <p:anim calcmode="lin" valueType="num">
                                      <p:cBhvr>
                                        <p:cTn id="15" dur="500" fill="hold"/>
                                        <p:tgtEl>
                                          <p:spTgt spid="1675269"/>
                                        </p:tgtEl>
                                        <p:attrNameLst>
                                          <p:attrName>ppt_w</p:attrName>
                                        </p:attrNameLst>
                                      </p:cBhvr>
                                      <p:tavLst>
                                        <p:tav tm="0">
                                          <p:val>
                                            <p:fltVal val="0.000000"/>
                                          </p:val>
                                        </p:tav>
                                        <p:tav tm="100000">
                                          <p:val>
                                            <p:strVal val="#ppt_w"/>
                                          </p:val>
                                        </p:tav>
                                      </p:tavLst>
                                    </p:anim>
                                    <p:anim calcmode="lin" valueType="num">
                                      <p:cBhvr>
                                        <p:cTn id="16" dur="500" fill="hold"/>
                                        <p:tgtEl>
                                          <p:spTgt spid="1675269"/>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675271"/>
                                        </p:tgtEl>
                                        <p:attrNameLst>
                                          <p:attrName>style.visibility</p:attrName>
                                        </p:attrNameLst>
                                      </p:cBhvr>
                                      <p:to>
                                        <p:strVal val="visible"/>
                                      </p:to>
                                    </p:set>
                                    <p:anim calcmode="lin" valueType="num">
                                      <p:cBhvr additive="base">
                                        <p:cTn id="21" dur="500" fill="hold"/>
                                        <p:tgtEl>
                                          <p:spTgt spid="1675271"/>
                                        </p:tgtEl>
                                        <p:attrNameLst>
                                          <p:attrName>ppt_x</p:attrName>
                                        </p:attrNameLst>
                                      </p:cBhvr>
                                      <p:tavLst>
                                        <p:tav tm="0">
                                          <p:val>
                                            <p:strVal val="0-#ppt_w/2"/>
                                          </p:val>
                                        </p:tav>
                                        <p:tav tm="100000">
                                          <p:val>
                                            <p:strVal val="#ppt_x"/>
                                          </p:val>
                                        </p:tav>
                                      </p:tavLst>
                                    </p:anim>
                                    <p:anim calcmode="lin" valueType="num">
                                      <p:cBhvr additive="base">
                                        <p:cTn id="22" dur="500" fill="hold"/>
                                        <p:tgtEl>
                                          <p:spTgt spid="16752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5267" grpId="0"/>
      <p:bldP spid="1675269" grpId="0" bldLvl="0" animBg="1"/>
      <p:bldP spid="1675271"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390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2390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2111491" name="Rectangle 3"/>
          <p:cNvSpPr>
            <a:spLocks noGrp="1"/>
          </p:cNvSpPr>
          <p:nvPr>
            <p:ph idx="1"/>
          </p:nvPr>
        </p:nvSpPr>
        <p:spPr/>
        <p:txBody>
          <a:bodyPr vert="horz" wrap="square" lIns="91440" tIns="45720" rIns="91440" bIns="45720" anchor="t" anchorCtr="0"/>
          <a:p>
            <a:pPr algn="just">
              <a:lnSpc>
                <a:spcPct val="110000"/>
              </a:lnSpc>
              <a:spcBef>
                <a:spcPct val="0"/>
              </a:spcBef>
            </a:pPr>
            <a:endParaRPr lang="zh-CN" altLang="en-US" dirty="0">
              <a:latin typeface="方正姚体" panose="02010601030101010101" pitchFamily="2" charset="-122"/>
              <a:ea typeface="方正姚体" panose="02010601030101010101" pitchFamily="2" charset="-122"/>
              <a:cs typeface="+mn-cs"/>
            </a:endParaRPr>
          </a:p>
          <a:p>
            <a:pPr algn="just">
              <a:lnSpc>
                <a:spcPct val="110000"/>
              </a:lnSpc>
              <a:spcBef>
                <a:spcPct val="0"/>
              </a:spcBef>
            </a:pPr>
            <a:endParaRPr lang="zh-CN" altLang="en-US" dirty="0">
              <a:latin typeface="方正姚体" panose="02010601030101010101" pitchFamily="2" charset="-122"/>
              <a:ea typeface="方正姚体" panose="02010601030101010101" pitchFamily="2" charset="-122"/>
              <a:cs typeface="+mn-cs"/>
            </a:endParaRPr>
          </a:p>
          <a:p>
            <a:pPr algn="just">
              <a:lnSpc>
                <a:spcPct val="110000"/>
              </a:lnSpc>
              <a:spcBef>
                <a:spcPct val="0"/>
              </a:spcBef>
            </a:pPr>
            <a:endParaRPr lang="zh-CN" altLang="en-US" dirty="0">
              <a:latin typeface="方正姚体" panose="02010601030101010101" pitchFamily="2" charset="-122"/>
              <a:ea typeface="方正姚体" panose="02010601030101010101" pitchFamily="2" charset="-122"/>
              <a:cs typeface="+mn-cs"/>
            </a:endParaRPr>
          </a:p>
          <a:p>
            <a:pPr algn="just">
              <a:lnSpc>
                <a:spcPct val="110000"/>
              </a:lnSpc>
              <a:spcBef>
                <a:spcPct val="0"/>
              </a:spcBef>
            </a:pPr>
            <a:r>
              <a:rPr lang="zh-CN" altLang="en-US" dirty="0">
                <a:latin typeface="华文楷体" panose="02010600040101010101" pitchFamily="2" charset="-122"/>
                <a:ea typeface="华文楷体" panose="02010600040101010101" pitchFamily="2" charset="-122"/>
                <a:cs typeface="+mn-cs"/>
              </a:rPr>
              <a:t>可用</a:t>
            </a:r>
            <a:r>
              <a:rPr lang="zh-CN" altLang="en-US" dirty="0">
                <a:solidFill>
                  <a:srgbClr val="FF33CC"/>
                </a:solidFill>
                <a:latin typeface="华文楷体" panose="02010600040101010101" pitchFamily="2" charset="-122"/>
                <a:ea typeface="华文楷体" panose="02010600040101010101" pitchFamily="2" charset="-122"/>
                <a:cs typeface="+mn-cs"/>
              </a:rPr>
              <a:t>重复法</a:t>
            </a:r>
            <a:r>
              <a:rPr lang="zh-CN" altLang="en-US" dirty="0">
                <a:latin typeface="华文楷体" panose="02010600040101010101" pitchFamily="2" charset="-122"/>
                <a:ea typeface="华文楷体" panose="02010600040101010101" pitchFamily="2" charset="-122"/>
                <a:cs typeface="+mn-cs"/>
              </a:rPr>
              <a:t>简化表达式，如：</a:t>
            </a:r>
            <a:r>
              <a:rPr lang="en-US" altLang="zh-CN" dirty="0">
                <a:latin typeface="华文楷体" panose="02010600040101010101" pitchFamily="2" charset="-122"/>
                <a:ea typeface="黑体" panose="02010609060101010101" pitchFamily="49" charset="-122"/>
                <a:cs typeface="+mn-cs"/>
              </a:rPr>
              <a:t>{</a:t>
            </a:r>
            <a:r>
              <a:rPr lang="en-US" altLang="zh-CN" dirty="0">
                <a:solidFill>
                  <a:srgbClr val="FF0066"/>
                </a:solidFill>
                <a:latin typeface="华文楷体" panose="02010600040101010101" pitchFamily="2" charset="-122"/>
                <a:ea typeface="黑体" panose="02010609060101010101" pitchFamily="49" charset="-122"/>
                <a:cs typeface="+mn-cs"/>
              </a:rPr>
              <a:t>4</a:t>
            </a:r>
            <a:r>
              <a:rPr lang="en-US" altLang="zh-CN" dirty="0">
                <a:latin typeface="华文楷体" panose="02010600040101010101" pitchFamily="2" charset="-122"/>
                <a:ea typeface="黑体" panose="02010609060101010101" pitchFamily="49" charset="-122"/>
                <a:cs typeface="+mn-cs"/>
              </a:rPr>
              <a:t>{w}} //</a:t>
            </a:r>
            <a:r>
              <a:rPr lang="zh-CN" altLang="en-US" dirty="0">
                <a:latin typeface="华文楷体" panose="02010600040101010101" pitchFamily="2" charset="-122"/>
                <a:ea typeface="华文楷体" panose="02010600040101010101" pitchFamily="2" charset="-122"/>
                <a:cs typeface="+mn-cs"/>
              </a:rPr>
              <a:t>等同于</a:t>
            </a:r>
            <a:r>
              <a:rPr lang="en-US" altLang="zh-CN" dirty="0">
                <a:latin typeface="华文楷体" panose="02010600040101010101" pitchFamily="2" charset="-122"/>
                <a:ea typeface="黑体" panose="02010609060101010101" pitchFamily="49" charset="-122"/>
                <a:cs typeface="+mn-cs"/>
              </a:rPr>
              <a:t>{w,w,w,w}</a:t>
            </a:r>
            <a:endParaRPr lang="en-US" altLang="zh-CN" dirty="0">
              <a:latin typeface="华文楷体" panose="02010600040101010101" pitchFamily="2" charset="-122"/>
              <a:ea typeface="黑体" panose="02010609060101010101" pitchFamily="49" charset="-122"/>
              <a:cs typeface="+mn-cs"/>
            </a:endParaRPr>
          </a:p>
          <a:p>
            <a:pPr algn="just">
              <a:lnSpc>
                <a:spcPct val="110000"/>
              </a:lnSpc>
              <a:spcBef>
                <a:spcPct val="0"/>
              </a:spcBef>
            </a:pPr>
            <a:r>
              <a:rPr lang="zh-CN" altLang="en-US" dirty="0">
                <a:latin typeface="华文楷体" panose="02010600040101010101" pitchFamily="2" charset="-122"/>
                <a:ea typeface="华文楷体" panose="02010600040101010101" pitchFamily="2" charset="-122"/>
                <a:cs typeface="+mn-cs"/>
              </a:rPr>
              <a:t>还可用</a:t>
            </a:r>
            <a:r>
              <a:rPr lang="zh-CN" altLang="en-US" dirty="0">
                <a:solidFill>
                  <a:srgbClr val="FF33CC"/>
                </a:solidFill>
                <a:latin typeface="华文楷体" panose="02010600040101010101" pitchFamily="2" charset="-122"/>
                <a:ea typeface="华文楷体" panose="02010600040101010101" pitchFamily="2" charset="-122"/>
                <a:cs typeface="+mn-cs"/>
              </a:rPr>
              <a:t>嵌套方式</a:t>
            </a:r>
            <a:r>
              <a:rPr lang="zh-CN" altLang="en-US" dirty="0">
                <a:latin typeface="华文楷体" panose="02010600040101010101" pitchFamily="2" charset="-122"/>
                <a:ea typeface="华文楷体" panose="02010600040101010101" pitchFamily="2" charset="-122"/>
                <a:cs typeface="+mn-cs"/>
              </a:rPr>
              <a:t>简化书写，如：</a:t>
            </a:r>
            <a:endParaRPr lang="zh-CN" altLang="en-US" dirty="0">
              <a:latin typeface="华文楷体" panose="02010600040101010101" pitchFamily="2" charset="-122"/>
              <a:ea typeface="华文楷体" panose="02010600040101010101" pitchFamily="2" charset="-122"/>
              <a:cs typeface="+mn-cs"/>
            </a:endParaRPr>
          </a:p>
          <a:p>
            <a:pPr algn="just">
              <a:lnSpc>
                <a:spcPct val="110000"/>
              </a:lnSpc>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黑体" panose="02010609060101010101" pitchFamily="49" charset="-122"/>
                <a:cs typeface="+mn-cs"/>
              </a:rPr>
              <a:t>{b,</a:t>
            </a:r>
            <a:r>
              <a:rPr lang="en-US" altLang="zh-CN" dirty="0">
                <a:solidFill>
                  <a:srgbClr val="FF0066"/>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3</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a,b</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solidFill>
                  <a:srgbClr val="FF0066"/>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 //</a:t>
            </a:r>
            <a:r>
              <a:rPr lang="zh-CN" altLang="en-US" dirty="0">
                <a:latin typeface="华文楷体" panose="02010600040101010101" pitchFamily="2" charset="-122"/>
                <a:ea typeface="华文楷体" panose="02010600040101010101" pitchFamily="2" charset="-122"/>
                <a:cs typeface="+mn-cs"/>
              </a:rPr>
              <a:t>等同于</a:t>
            </a:r>
            <a:r>
              <a:rPr lang="en-US" altLang="zh-CN" dirty="0">
                <a:latin typeface="华文楷体" panose="02010600040101010101" pitchFamily="2" charset="-122"/>
                <a:ea typeface="黑体" panose="02010609060101010101" pitchFamily="49" charset="-122"/>
                <a:cs typeface="+mn-cs"/>
              </a:rPr>
              <a:t>{b,</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a,b</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a,b</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a,b</a:t>
            </a:r>
            <a:r>
              <a:rPr lang="en-US" altLang="zh-CN" dirty="0">
                <a:solidFill>
                  <a:srgbClr val="FF6600"/>
                </a:solidFill>
                <a:latin typeface="华文楷体" panose="02010600040101010101" pitchFamily="2" charset="-122"/>
                <a:ea typeface="黑体" panose="02010609060101010101" pitchFamily="49" charset="-122"/>
                <a:cs typeface="+mn-cs"/>
              </a:rPr>
              <a:t>}</a:t>
            </a:r>
            <a:r>
              <a:rPr lang="en-US" altLang="zh-CN" dirty="0">
                <a:latin typeface="华文楷体" panose="02010600040101010101" pitchFamily="2" charset="-122"/>
                <a:ea typeface="黑体" panose="02010609060101010101" pitchFamily="49" charset="-122"/>
                <a:cs typeface="+mn-cs"/>
              </a:rPr>
              <a:t>}</a:t>
            </a:r>
            <a:r>
              <a:rPr lang="zh-CN" altLang="en-US" dirty="0">
                <a:latin typeface="华文楷体" panose="02010600040101010101" pitchFamily="2" charset="-122"/>
                <a:ea typeface="华文楷体" panose="02010600040101010101" pitchFamily="2" charset="-122"/>
                <a:cs typeface="+mn-cs"/>
              </a:rPr>
              <a:t>，也等同于</a:t>
            </a:r>
            <a:r>
              <a:rPr lang="en-US" altLang="zh-CN" dirty="0">
                <a:latin typeface="华文楷体" panose="02010600040101010101" pitchFamily="2" charset="-122"/>
                <a:ea typeface="黑体" panose="02010609060101010101" pitchFamily="49" charset="-122"/>
                <a:cs typeface="+mn-cs"/>
              </a:rPr>
              <a:t>{b,a,b,a,b,a,b}</a:t>
            </a:r>
            <a:endParaRPr lang="en-US" altLang="zh-CN" dirty="0">
              <a:latin typeface="华文楷体" panose="02010600040101010101" pitchFamily="2" charset="-122"/>
              <a:ea typeface="黑体" panose="02010609060101010101" pitchFamily="49" charset="-122"/>
              <a:cs typeface="+mn-cs"/>
            </a:endParaRPr>
          </a:p>
        </p:txBody>
      </p:sp>
      <p:sp>
        <p:nvSpPr>
          <p:cNvPr id="123909" name="Rectangle 4"/>
          <p:cNvSpPr/>
          <p:nvPr/>
        </p:nvSpPr>
        <p:spPr>
          <a:xfrm>
            <a:off x="5181600" y="3200400"/>
            <a:ext cx="3200400" cy="2743200"/>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2111494" name="AutoShape 6"/>
          <p:cNvSpPr/>
          <p:nvPr/>
        </p:nvSpPr>
        <p:spPr>
          <a:xfrm>
            <a:off x="4743450" y="984250"/>
            <a:ext cx="2797175" cy="719138"/>
          </a:xfrm>
          <a:prstGeom prst="wedgeRoundRectCallout">
            <a:avLst>
              <a:gd name="adj1" fmla="val -42338"/>
              <a:gd name="adj2" fmla="val 117329"/>
              <a:gd name="adj3" fmla="val 16667"/>
            </a:avLst>
          </a:prstGeom>
          <a:noFill/>
          <a:ln w="9525" cap="flat" cmpd="sng">
            <a:solidFill>
              <a:schemeClr val="accent1"/>
            </a:solidFill>
            <a:prstDash val="solid"/>
            <a:round/>
            <a:headEnd type="none" w="med" len="med"/>
            <a:tailEnd type="none" w="med" len="med"/>
          </a:ln>
          <a:effectLst>
            <a:prstShdw prst="shdw17" dist="17961" dir="2699999">
              <a:srgbClr val="708688"/>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用于表示重复的表达式必须为</a:t>
            </a:r>
            <a:r>
              <a:rPr lang="zh-CN" altLang="en-US" b="1" dirty="0">
                <a:solidFill>
                  <a:srgbClr val="FF0066"/>
                </a:solidFill>
                <a:latin typeface="华文楷体" panose="02010600040101010101" pitchFamily="2" charset="-122"/>
                <a:ea typeface="华文楷体" panose="02010600040101010101" pitchFamily="2" charset="-122"/>
              </a:rPr>
              <a:t>常数</a:t>
            </a:r>
            <a:r>
              <a:rPr lang="zh-CN" altLang="en-US" dirty="0">
                <a:latin typeface="华文楷体" panose="02010600040101010101" pitchFamily="2" charset="-122"/>
                <a:ea typeface="华文楷体" panose="02010600040101010101" pitchFamily="2" charset="-122"/>
              </a:rPr>
              <a:t>表达式！</a:t>
            </a:r>
            <a:endParaRPr lang="zh-CN" altLang="en-US" dirty="0">
              <a:solidFill>
                <a:srgbClr val="FF0066"/>
              </a:solidFill>
              <a:latin typeface="华文楷体" panose="02010600040101010101" pitchFamily="2" charset="-122"/>
              <a:ea typeface="华文楷体" panose="02010600040101010101" pitchFamily="2" charset="-122"/>
            </a:endParaRPr>
          </a:p>
        </p:txBody>
      </p:sp>
      <p:sp>
        <p:nvSpPr>
          <p:cNvPr id="2111496" name="Rectangle 8"/>
          <p:cNvSpPr/>
          <p:nvPr/>
        </p:nvSpPr>
        <p:spPr>
          <a:xfrm>
            <a:off x="765175" y="3876675"/>
            <a:ext cx="7772400" cy="2120900"/>
          </a:xfrm>
          <a:prstGeom prst="rect">
            <a:avLst/>
          </a:prstGeom>
          <a:noFill/>
          <a:ln w="12700" cap="flat" cmpd="sng">
            <a:solidFill>
              <a:srgbClr val="89A4A7"/>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marR="0" lvl="0" indent="-281305" algn="just" defTabSz="914400" rtl="0" eaLnBrk="0" fontAlgn="base" latinLnBrk="0" hangingPunct="0">
              <a:lnSpc>
                <a:spcPct val="110000"/>
              </a:lnSpc>
              <a:spcBef>
                <a:spcPct val="0"/>
              </a:spcBef>
              <a:spcAft>
                <a:spcPct val="0"/>
              </a:spcAft>
              <a:buClr>
                <a:schemeClr val="hlink"/>
              </a:buClr>
              <a:buSzTx/>
              <a:buFont typeface="Wingdings" panose="05000000000000000000" pitchFamily="2" charset="2"/>
              <a:buChar char="v"/>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在位拼接表达式中，不允许存在没有指明位数的信号，必须指明信号的位数；若未指明，则</a:t>
            </a:r>
            <a:r>
              <a:rPr kumimoji="0" lang="zh-CN" altLang="en-US" sz="2400" b="1" i="0" u="none" strike="noStrike" kern="1200" cap="none" spc="0" normalizeH="0" baseline="0" noProof="1">
                <a:ln>
                  <a:noFill/>
                </a:ln>
                <a:solidFill>
                  <a:srgbClr val="990000"/>
                </a:solidFill>
                <a:effectLst/>
                <a:uLnTx/>
                <a:uFillTx/>
                <a:latin typeface="华文楷体" panose="02010600040101010101" pitchFamily="2" charset="-122"/>
                <a:ea typeface="华文楷体" panose="02010600040101010101" pitchFamily="2" charset="-122"/>
                <a:cs typeface="+mn-cs"/>
                <a:sym typeface="+mn-ea"/>
              </a:rPr>
              <a:t>默认为</a:t>
            </a:r>
            <a:r>
              <a:rPr kumimoji="0" lang="en-US" altLang="zh-CN" sz="2400" b="1" i="0" u="none" strike="noStrike" kern="1200" cap="none" spc="0" normalizeH="0" baseline="0" noProof="1">
                <a:ln>
                  <a:noFill/>
                </a:ln>
                <a:solidFill>
                  <a:srgbClr val="990000"/>
                </a:solidFill>
                <a:effectLst/>
                <a:uLnTx/>
                <a:uFillTx/>
                <a:latin typeface="华文楷体" panose="02010600040101010101" pitchFamily="2" charset="-122"/>
                <a:ea typeface="华文楷体" panose="02010600040101010101" pitchFamily="2" charset="-122"/>
                <a:cs typeface="+mn-cs"/>
                <a:sym typeface="+mn-ea"/>
              </a:rPr>
              <a:t>32</a:t>
            </a:r>
            <a:r>
              <a:rPr kumimoji="0" lang="zh-CN" altLang="en-US" sz="2400" b="1" i="0" u="none" strike="noStrike" kern="1200" cap="none" spc="0" normalizeH="0" baseline="0" noProof="1">
                <a:ln>
                  <a:noFill/>
                </a:ln>
                <a:solidFill>
                  <a:srgbClr val="990000"/>
                </a:solidFill>
                <a:effectLst/>
                <a:uLnTx/>
                <a:uFillTx/>
                <a:latin typeface="华文楷体" panose="02010600040101010101" pitchFamily="2" charset="-122"/>
                <a:ea typeface="华文楷体" panose="02010600040101010101" pitchFamily="2" charset="-122"/>
                <a:cs typeface="+mn-cs"/>
                <a:sym typeface="+mn-ea"/>
              </a:rPr>
              <a:t>位的二进制数</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281305" marR="0" lvl="0" indent="-281305" algn="just" defTabSz="914400" rtl="0" eaLnBrk="0" fontAlgn="base" latinLnBrk="0" hangingPunct="0">
              <a:lnSpc>
                <a:spcPct val="110000"/>
              </a:lnSpc>
              <a:spcBef>
                <a:spcPct val="0"/>
              </a:spcBef>
              <a:spcAft>
                <a:spcPct val="0"/>
              </a:spcAft>
              <a:buClr>
                <a:schemeClr val="hlink"/>
              </a:buClr>
              <a:buSzTx/>
              <a:buFont typeface="Wingdings" panose="05000000000000000000" pitchFamily="2" charset="2"/>
              <a:buChar char="v"/>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如</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{1,0} = 64’h00000001_00000000</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0"/>
              </a:spcBef>
              <a:spcAft>
                <a:spcPct val="0"/>
              </a:spcAft>
              <a:buClr>
                <a:schemeClr val="hlink"/>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     注意</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{1,0}</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不等于</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2‘b10</a:t>
            </a:r>
            <a:endPar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11491"/>
                                        </p:tgtEl>
                                        <p:attrNameLst>
                                          <p:attrName>style.visibility</p:attrName>
                                        </p:attrNameLst>
                                      </p:cBhvr>
                                      <p:to>
                                        <p:strVal val="visible"/>
                                      </p:to>
                                    </p:set>
                                    <p:anim calcmode="lin" valueType="num">
                                      <p:cBhvr additive="base">
                                        <p:cTn id="7" dur="500" fill="hold"/>
                                        <p:tgtEl>
                                          <p:spTgt spid="2111491"/>
                                        </p:tgtEl>
                                        <p:attrNameLst>
                                          <p:attrName>ppt_x</p:attrName>
                                        </p:attrNameLst>
                                      </p:cBhvr>
                                      <p:tavLst>
                                        <p:tav tm="0">
                                          <p:val>
                                            <p:strVal val="0-#ppt_w/2"/>
                                          </p:val>
                                        </p:tav>
                                        <p:tav tm="100000">
                                          <p:val>
                                            <p:strVal val="#ppt_x"/>
                                          </p:val>
                                        </p:tav>
                                      </p:tavLst>
                                    </p:anim>
                                    <p:anim calcmode="lin" valueType="num">
                                      <p:cBhvr additive="base">
                                        <p:cTn id="8" dur="500" fill="hold"/>
                                        <p:tgtEl>
                                          <p:spTgt spid="21114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111494"/>
                                        </p:tgtEl>
                                        <p:attrNameLst>
                                          <p:attrName>style.visibility</p:attrName>
                                        </p:attrNameLst>
                                      </p:cBhvr>
                                      <p:to>
                                        <p:strVal val="visible"/>
                                      </p:to>
                                    </p:set>
                                    <p:animEffect transition="in" filter="dissolve">
                                      <p:cBhvr>
                                        <p:cTn id="13" dur="500"/>
                                        <p:tgtEl>
                                          <p:spTgt spid="211149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11496"/>
                                        </p:tgtEl>
                                        <p:attrNameLst>
                                          <p:attrName>style.visibility</p:attrName>
                                        </p:attrNameLst>
                                      </p:cBhvr>
                                      <p:to>
                                        <p:strVal val="visible"/>
                                      </p:to>
                                    </p:set>
                                    <p:anim calcmode="lin" valueType="num">
                                      <p:cBhvr additive="base">
                                        <p:cTn id="18" dur="500" fill="hold"/>
                                        <p:tgtEl>
                                          <p:spTgt spid="2111496"/>
                                        </p:tgtEl>
                                        <p:attrNameLst>
                                          <p:attrName>ppt_x</p:attrName>
                                        </p:attrNameLst>
                                      </p:cBhvr>
                                      <p:tavLst>
                                        <p:tav tm="0">
                                          <p:val>
                                            <p:strVal val="#ppt_x"/>
                                          </p:val>
                                        </p:tav>
                                        <p:tav tm="100000">
                                          <p:val>
                                            <p:strVal val="#ppt_x"/>
                                          </p:val>
                                        </p:tav>
                                      </p:tavLst>
                                    </p:anim>
                                    <p:anim calcmode="lin" valueType="num">
                                      <p:cBhvr additive="base">
                                        <p:cTn id="19" dur="500" fill="hold"/>
                                        <p:tgtEl>
                                          <p:spTgt spid="21114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1491" grpId="0"/>
      <p:bldP spid="2111494" grpId="0" bldLvl="0" animBg="1"/>
      <p:bldP spid="2111496"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595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2595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4  </a:t>
            </a:r>
            <a:r>
              <a:rPr lang="zh-CN" altLang="en-US" dirty="0">
                <a:latin typeface="华文楷体" panose="02010600040101010101" pitchFamily="2" charset="-122"/>
                <a:ea typeface="黑体" panose="02010609060101010101" pitchFamily="49" charset="-122"/>
                <a:cs typeface="+mj-cs"/>
              </a:rPr>
              <a:t>运算符及表达式</a:t>
            </a:r>
            <a:endParaRPr lang="zh-CN" altLang="en-US" dirty="0">
              <a:latin typeface="华文楷体" panose="02010600040101010101" pitchFamily="2" charset="-122"/>
              <a:ea typeface="黑体" panose="02010609060101010101" pitchFamily="49" charset="-122"/>
              <a:cs typeface="+mj-cs"/>
            </a:endParaRPr>
          </a:p>
        </p:txBody>
      </p:sp>
      <p:sp>
        <p:nvSpPr>
          <p:cNvPr id="1677315"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宋体" panose="02010600030101010101" pitchFamily="2" charset="-122"/>
                <a:ea typeface="黑体" panose="02010609060101010101" pitchFamily="49" charset="-122"/>
                <a:cs typeface="+mn-cs"/>
              </a:rPr>
              <a:t>4.10 </a:t>
            </a:r>
            <a:r>
              <a:rPr lang="zh-CN" altLang="en-US" dirty="0">
                <a:solidFill>
                  <a:schemeClr val="tx2"/>
                </a:solidFill>
                <a:latin typeface="宋体" panose="02010600030101010101" pitchFamily="2" charset="-122"/>
                <a:ea typeface="华文楷体" panose="02010600040101010101" pitchFamily="2" charset="-122"/>
                <a:cs typeface="+mn-cs"/>
              </a:rPr>
              <a:t>运算符的优先级</a:t>
            </a:r>
            <a:endParaRPr lang="zh-CN" altLang="en-US" dirty="0">
              <a:solidFill>
                <a:schemeClr val="tx2"/>
              </a:solidFill>
              <a:latin typeface="宋体" panose="02010600030101010101" pitchFamily="2" charset="-122"/>
              <a:ea typeface="华文楷体" panose="02010600040101010101" pitchFamily="2" charset="-122"/>
              <a:cs typeface="+mn-cs"/>
            </a:endParaRPr>
          </a:p>
        </p:txBody>
      </p:sp>
      <p:sp>
        <p:nvSpPr>
          <p:cNvPr id="125957" name="Rectangle 4"/>
          <p:cNvSpPr/>
          <p:nvPr/>
        </p:nvSpPr>
        <p:spPr>
          <a:xfrm>
            <a:off x="5181600" y="3200400"/>
            <a:ext cx="3200400" cy="2743200"/>
          </a:xfrm>
          <a:prstGeom prst="rect">
            <a:avLst/>
          </a:prstGeom>
          <a:no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graphicFrame>
        <p:nvGraphicFramePr>
          <p:cNvPr id="99334" name="表格 99333"/>
          <p:cNvGraphicFramePr/>
          <p:nvPr/>
        </p:nvGraphicFramePr>
        <p:xfrm>
          <a:off x="581025" y="2359025"/>
          <a:ext cx="5197475" cy="3997325"/>
        </p:xfrm>
        <a:graphic>
          <a:graphicData uri="http://schemas.openxmlformats.org/drawingml/2006/table">
            <a:tbl>
              <a:tblPr/>
              <a:tblGrid>
                <a:gridCol w="1676400"/>
                <a:gridCol w="2438400"/>
                <a:gridCol w="1082675"/>
              </a:tblGrid>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类  别</a:t>
                      </a:r>
                      <a:endParaRPr lang="zh-CN" altLang="en-US" sz="180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运  算  符</a:t>
                      </a:r>
                      <a:endParaRPr lang="zh-CN" altLang="en-US" sz="180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优先级</a:t>
                      </a:r>
                      <a:endParaRPr lang="zh-CN" altLang="en-US" sz="180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逻辑、位运算符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  ~</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rowSpan="1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高</a:t>
                      </a: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endParaRPr lang="zh-CN" altLang="en-US" sz="18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低</a:t>
                      </a:r>
                      <a:endParaRPr lang="zh-CN" altLang="en-US"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r>
              <a:tr h="305001">
                <a:tc rowSpan="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算术运算符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  /  %</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6088">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  －</a:t>
                      </a:r>
                      <a:endParaRPr lang="zh-CN" altLang="en-US"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移位运算符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&lt;&lt;  &gt;&gt;</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关系运算符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&lt;  &lt;=  &gt;  &gt;=</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等式运算符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 =  ! =  ===  !==</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rowSpan="3">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缩减、位运算符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&amp;  ~&amp;</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36222">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  ^~</a:t>
                      </a:r>
                      <a:endParaRPr lang="en-US" altLang="zh-CN" sz="20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  ~|</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rowSpan="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逻辑运算符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&amp;&amp;</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ahoma" panose="020B0604030504040204" pitchFamily="34" charset="0"/>
                        </a:rPr>
                        <a:t>||</a:t>
                      </a:r>
                      <a:endParaRPr lang="en-US" altLang="zh-CN"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tcPr>
                </a:tc>
              </a:tr>
              <a:tr h="30500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条件运算符</a:t>
                      </a:r>
                      <a:endParaRPr lang="zh-CN" altLang="en-US" sz="1800" b="0" dirty="0">
                        <a:solidFill>
                          <a:schemeClr val="tx1"/>
                        </a:solidFill>
                        <a:latin typeface="Tahoma" panose="020B0604030504040204" pitchFamily="34" charset="0"/>
                      </a:endParaRPr>
                    </a:p>
                  </a:txBody>
                  <a:tcPr marL="30724" marR="30724" marT="15347" marB="1534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ahoma" panose="020B0604030504040204" pitchFamily="34" charset="0"/>
                        </a:rPr>
                        <a:t>？：</a:t>
                      </a:r>
                      <a:endParaRPr lang="zh-CN" altLang="en-US" sz="1800" b="0" dirty="0">
                        <a:solidFill>
                          <a:schemeClr val="tx1"/>
                        </a:solidFill>
                        <a:latin typeface="Tahoma" panose="020B0604030504040204" pitchFamily="34" charset="0"/>
                      </a:endParaRPr>
                    </a:p>
                  </a:txBody>
                  <a:tcPr marL="30724" marR="30724" marT="15347" marB="1534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CCFF"/>
                    </a:solidFill>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r>
            </a:tbl>
          </a:graphicData>
        </a:graphic>
      </p:graphicFrame>
      <p:sp>
        <p:nvSpPr>
          <p:cNvPr id="1677360" name="Rectangle 48"/>
          <p:cNvSpPr/>
          <p:nvPr/>
        </p:nvSpPr>
        <p:spPr>
          <a:xfrm>
            <a:off x="1595438" y="1873250"/>
            <a:ext cx="3200400" cy="368300"/>
          </a:xfrm>
          <a:prstGeom prst="rect">
            <a:avLst/>
          </a:prstGeom>
          <a:noFill/>
          <a:ln w="9525" cap="flat" cmpd="sng">
            <a:solidFill>
              <a:schemeClr val="accent1"/>
            </a:solidFill>
            <a:prstDash val="solid"/>
            <a:round/>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0"/>
              </a:spcBef>
              <a:buNone/>
            </a:pPr>
            <a:r>
              <a:rPr lang="zh-CN" altLang="en-US" sz="2200" b="1" dirty="0">
                <a:latin typeface="华文楷体" panose="02010600040101010101" pitchFamily="2" charset="-122"/>
                <a:ea typeface="华文楷体" panose="02010600040101010101" pitchFamily="2" charset="-122"/>
              </a:rPr>
              <a:t>表</a:t>
            </a:r>
            <a:r>
              <a:rPr lang="en-US" altLang="zh-CN" sz="2200" b="1" dirty="0">
                <a:latin typeface="华文楷体" panose="02010600040101010101" pitchFamily="2" charset="-122"/>
                <a:ea typeface="华文楷体" panose="02010600040101010101" pitchFamily="2" charset="-122"/>
              </a:rPr>
              <a:t>3-3  </a:t>
            </a:r>
            <a:r>
              <a:rPr lang="zh-CN" altLang="en-US" sz="2200" b="1" dirty="0">
                <a:latin typeface="华文楷体" panose="02010600040101010101" pitchFamily="2" charset="-122"/>
                <a:ea typeface="华文楷体" panose="02010600040101010101" pitchFamily="2" charset="-122"/>
              </a:rPr>
              <a:t>运算符的优先级</a:t>
            </a:r>
            <a:endParaRPr lang="zh-CN" altLang="en-US" sz="2200" b="1" dirty="0">
              <a:latin typeface="华文楷体" panose="02010600040101010101" pitchFamily="2" charset="-122"/>
              <a:ea typeface="华文楷体" panose="02010600040101010101" pitchFamily="2" charset="-122"/>
            </a:endParaRPr>
          </a:p>
        </p:txBody>
      </p:sp>
      <p:sp>
        <p:nvSpPr>
          <p:cNvPr id="1677361" name="Text Box 49"/>
          <p:cNvSpPr txBox="1"/>
          <p:nvPr/>
        </p:nvSpPr>
        <p:spPr>
          <a:xfrm>
            <a:off x="6027738" y="3028950"/>
            <a:ext cx="2947987" cy="2527300"/>
          </a:xfrm>
          <a:prstGeom prst="rect">
            <a:avLst/>
          </a:prstGeom>
          <a:noFill/>
          <a:ln w="12700" cap="flat" cmpd="sng">
            <a:solidFill>
              <a:srgbClr val="89A4A7"/>
            </a:solidFill>
            <a:prstDash val="solid"/>
            <a:miter/>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5580" lvl="0" indent="-195580" eaLnBrk="1" hangingPunct="1">
              <a:lnSpc>
                <a:spcPct val="120000"/>
              </a:lnSpc>
              <a:spcBef>
                <a:spcPct val="0"/>
              </a:spcBef>
              <a:buClr>
                <a:srgbClr val="FF0000"/>
              </a:buClr>
              <a:buSzPct val="80000"/>
              <a:buFont typeface="Wingdings" panose="05000000000000000000" pitchFamily="2" charset="2"/>
              <a:buChar char="Ø"/>
            </a:pPr>
            <a:r>
              <a:rPr lang="zh-CN" altLang="en-US" sz="2200" b="1" dirty="0">
                <a:latin typeface="Times New Roman" panose="02020603050405020304" pitchFamily="18" charset="0"/>
                <a:ea typeface="华文楷体" panose="02010600040101010101" pitchFamily="2" charset="-122"/>
              </a:rPr>
              <a:t>为提高程序的可读性，建议使用</a:t>
            </a:r>
            <a:r>
              <a:rPr lang="zh-CN" altLang="en-US" sz="2200" b="1" dirty="0">
                <a:solidFill>
                  <a:srgbClr val="FF66CC"/>
                </a:solidFill>
                <a:latin typeface="Times New Roman" panose="02020603050405020304" pitchFamily="18" charset="0"/>
                <a:ea typeface="华文楷体" panose="02010600040101010101" pitchFamily="2" charset="-122"/>
              </a:rPr>
              <a:t>括号</a:t>
            </a:r>
            <a:r>
              <a:rPr lang="zh-CN" altLang="en-US" sz="2200" b="1" dirty="0">
                <a:latin typeface="Times New Roman" panose="02020603050405020304" pitchFamily="18" charset="0"/>
                <a:ea typeface="华文楷体" panose="02010600040101010101" pitchFamily="2" charset="-122"/>
              </a:rPr>
              <a:t>来控制运算的优先级！</a:t>
            </a:r>
            <a:endParaRPr lang="zh-CN" altLang="en-US" sz="2200" b="1" dirty="0">
              <a:latin typeface="Times New Roman" panose="02020603050405020304" pitchFamily="18" charset="0"/>
              <a:ea typeface="华文楷体" panose="02010600040101010101" pitchFamily="2" charset="-122"/>
            </a:endParaRPr>
          </a:p>
          <a:p>
            <a:pPr marL="195580" lvl="0" indent="-195580" eaLnBrk="1" hangingPunct="1">
              <a:lnSpc>
                <a:spcPct val="120000"/>
              </a:lnSpc>
              <a:spcBef>
                <a:spcPct val="0"/>
              </a:spcBef>
              <a:buClr>
                <a:srgbClr val="FF0000"/>
              </a:buClr>
              <a:buSzPct val="80000"/>
              <a:buFont typeface="Wingdings" panose="05000000000000000000" pitchFamily="2" charset="2"/>
              <a:buChar char="Ø"/>
            </a:pPr>
            <a:r>
              <a:rPr lang="en-US" altLang="zh-CN" sz="2200" dirty="0">
                <a:latin typeface="Times New Roman" panose="02020603050405020304" pitchFamily="18" charset="0"/>
                <a:ea typeface="华文楷体" panose="02010600040101010101" pitchFamily="2" charset="-122"/>
              </a:rPr>
              <a:t>[</a:t>
            </a:r>
            <a:r>
              <a:rPr lang="zh-CN" altLang="en-US" sz="2200" dirty="0">
                <a:solidFill>
                  <a:srgbClr val="FF0066"/>
                </a:solidFill>
                <a:latin typeface="Times New Roman" panose="02020603050405020304" pitchFamily="18" charset="0"/>
                <a:ea typeface="华文楷体" panose="02010600040101010101" pitchFamily="2" charset="-122"/>
              </a:rPr>
              <a:t>例</a:t>
            </a:r>
            <a:r>
              <a:rPr lang="en-US" altLang="zh-CN" sz="2200" dirty="0">
                <a:latin typeface="Times New Roman" panose="02020603050405020304" pitchFamily="18" charset="0"/>
                <a:ea typeface="华文楷体" panose="02010600040101010101" pitchFamily="2" charset="-122"/>
              </a:rPr>
              <a:t>]</a:t>
            </a:r>
            <a:r>
              <a:rPr lang="zh-CN" altLang="en-US" sz="2200" dirty="0">
                <a:latin typeface="Times New Roman" panose="02020603050405020304" pitchFamily="18" charset="0"/>
                <a:ea typeface="华文楷体" panose="02010600040101010101" pitchFamily="2" charset="-122"/>
              </a:rPr>
              <a:t>（</a:t>
            </a:r>
            <a:r>
              <a:rPr lang="en-US" altLang="zh-CN" sz="2200" dirty="0">
                <a:latin typeface="Times New Roman" panose="02020603050405020304" pitchFamily="18" charset="0"/>
                <a:ea typeface="华文楷体" panose="02010600040101010101" pitchFamily="2" charset="-122"/>
              </a:rPr>
              <a:t>a&gt;b)&amp;&amp;(b&gt;c) </a:t>
            </a:r>
            <a:endParaRPr lang="en-US" altLang="zh-CN" sz="2200" dirty="0">
              <a:latin typeface="Times New Roman" panose="02020603050405020304" pitchFamily="18" charset="0"/>
              <a:ea typeface="华文楷体" panose="02010600040101010101" pitchFamily="2" charset="-122"/>
            </a:endParaRPr>
          </a:p>
          <a:p>
            <a:pPr marL="195580" lvl="0" indent="-195580" eaLnBrk="1" hangingPunct="1">
              <a:lnSpc>
                <a:spcPct val="120000"/>
              </a:lnSpc>
              <a:spcBef>
                <a:spcPct val="0"/>
              </a:spcBef>
              <a:buClr>
                <a:srgbClr val="FF0000"/>
              </a:buClr>
              <a:buSzPct val="80000"/>
              <a:buFont typeface="Wingdings" panose="05000000000000000000" pitchFamily="2" charset="2"/>
              <a:buChar char="•"/>
            </a:pPr>
            <a:r>
              <a:rPr lang="en-US" altLang="zh-CN" sz="2200" dirty="0">
                <a:latin typeface="Times New Roman" panose="02020603050405020304" pitchFamily="18" charset="0"/>
                <a:ea typeface="华文楷体" panose="02010600040101010101" pitchFamily="2" charset="-122"/>
              </a:rPr>
              <a:t>        </a:t>
            </a:r>
            <a:r>
              <a:rPr lang="zh-CN" altLang="en-US" sz="2200" dirty="0">
                <a:latin typeface="Times New Roman" panose="02020603050405020304" pitchFamily="18" charset="0"/>
                <a:ea typeface="华文楷体" panose="02010600040101010101" pitchFamily="2" charset="-122"/>
              </a:rPr>
              <a:t>（</a:t>
            </a:r>
            <a:r>
              <a:rPr lang="en-US" altLang="zh-CN" sz="2200" dirty="0">
                <a:latin typeface="Times New Roman" panose="02020603050405020304" pitchFamily="18" charset="0"/>
                <a:ea typeface="华文楷体" panose="02010600040101010101" pitchFamily="2" charset="-122"/>
              </a:rPr>
              <a:t>a= =b)||(x= = y) </a:t>
            </a:r>
            <a:endParaRPr lang="en-US" altLang="zh-CN" sz="2200" dirty="0">
              <a:latin typeface="Times New Roman" panose="02020603050405020304" pitchFamily="18" charset="0"/>
              <a:ea typeface="华文楷体" panose="02010600040101010101" pitchFamily="2" charset="-122"/>
            </a:endParaRPr>
          </a:p>
          <a:p>
            <a:pPr marL="195580" lvl="0" indent="-195580" eaLnBrk="1" hangingPunct="1">
              <a:lnSpc>
                <a:spcPct val="120000"/>
              </a:lnSpc>
              <a:spcBef>
                <a:spcPct val="0"/>
              </a:spcBef>
              <a:buClr>
                <a:srgbClr val="FF0000"/>
              </a:buClr>
              <a:buSzPct val="80000"/>
              <a:buFont typeface="Wingdings" panose="05000000000000000000" pitchFamily="2" charset="2"/>
              <a:buChar char="•"/>
            </a:pPr>
            <a:r>
              <a:rPr lang="en-US" altLang="zh-CN" sz="2200" dirty="0">
                <a:latin typeface="Times New Roman" panose="02020603050405020304" pitchFamily="18" charset="0"/>
                <a:ea typeface="华文楷体" panose="02010600040101010101" pitchFamily="2" charset="-122"/>
              </a:rPr>
              <a:t>        </a:t>
            </a:r>
            <a:r>
              <a:rPr lang="zh-CN" altLang="en-US" sz="2200" dirty="0">
                <a:latin typeface="Times New Roman" panose="02020603050405020304" pitchFamily="18" charset="0"/>
                <a:ea typeface="华文楷体" panose="02010600040101010101" pitchFamily="2" charset="-122"/>
              </a:rPr>
              <a:t>（</a:t>
            </a:r>
            <a:r>
              <a:rPr lang="en-US" altLang="zh-CN" sz="2200" dirty="0">
                <a:latin typeface="Times New Roman" panose="02020603050405020304" pitchFamily="18" charset="0"/>
                <a:ea typeface="华文楷体" panose="02010600040101010101" pitchFamily="2" charset="-122"/>
              </a:rPr>
              <a:t>!a)||(a&gt;b)</a:t>
            </a:r>
            <a:endParaRPr lang="en-US" altLang="zh-CN" sz="2200" dirty="0">
              <a:latin typeface="Times New Roman" panose="02020603050405020304" pitchFamily="18" charset="0"/>
              <a:ea typeface="华文楷体" panose="02010600040101010101" pitchFamily="2" charset="-122"/>
            </a:endParaRPr>
          </a:p>
        </p:txBody>
      </p:sp>
      <p:sp>
        <p:nvSpPr>
          <p:cNvPr id="1677362" name="Line 50"/>
          <p:cNvSpPr/>
          <p:nvPr/>
        </p:nvSpPr>
        <p:spPr>
          <a:xfrm>
            <a:off x="5251450" y="3009900"/>
            <a:ext cx="0" cy="2870200"/>
          </a:xfrm>
          <a:prstGeom prst="line">
            <a:avLst/>
          </a:prstGeom>
          <a:ln w="22225" cap="flat" cmpd="sng">
            <a:solidFill>
              <a:srgbClr val="FF3399"/>
            </a:solidFill>
            <a:prstDash val="solid"/>
            <a:headEnd type="none" w="med" len="med"/>
            <a:tailEnd type="triangle" w="med" len="med"/>
          </a:ln>
        </p:spPr>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77315"/>
                                        </p:tgtEl>
                                        <p:attrNameLst>
                                          <p:attrName>style.visibility</p:attrName>
                                        </p:attrNameLst>
                                      </p:cBhvr>
                                      <p:to>
                                        <p:strVal val="visible"/>
                                      </p:to>
                                    </p:set>
                                    <p:anim calcmode="lin" valueType="num">
                                      <p:cBhvr additive="base">
                                        <p:cTn id="7" dur="500" fill="hold"/>
                                        <p:tgtEl>
                                          <p:spTgt spid="1677315"/>
                                        </p:tgtEl>
                                        <p:attrNameLst>
                                          <p:attrName>ppt_x</p:attrName>
                                        </p:attrNameLst>
                                      </p:cBhvr>
                                      <p:tavLst>
                                        <p:tav tm="0">
                                          <p:val>
                                            <p:strVal val="0-#ppt_w/2"/>
                                          </p:val>
                                        </p:tav>
                                        <p:tav tm="100000">
                                          <p:val>
                                            <p:strVal val="#ppt_x"/>
                                          </p:val>
                                        </p:tav>
                                      </p:tavLst>
                                    </p:anim>
                                    <p:anim calcmode="lin" valueType="num">
                                      <p:cBhvr additive="base">
                                        <p:cTn id="8" dur="500" fill="hold"/>
                                        <p:tgtEl>
                                          <p:spTgt spid="16773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77360"/>
                                        </p:tgtEl>
                                        <p:attrNameLst>
                                          <p:attrName>style.visibility</p:attrName>
                                        </p:attrNameLst>
                                      </p:cBhvr>
                                      <p:to>
                                        <p:strVal val="visible"/>
                                      </p:to>
                                    </p:set>
                                    <p:anim calcmode="lin" valueType="num">
                                      <p:cBhvr>
                                        <p:cTn id="13" dur="500" fill="hold"/>
                                        <p:tgtEl>
                                          <p:spTgt spid="1677360"/>
                                        </p:tgtEl>
                                        <p:attrNameLst>
                                          <p:attrName>ppt_w</p:attrName>
                                        </p:attrNameLst>
                                      </p:cBhvr>
                                      <p:tavLst>
                                        <p:tav tm="0">
                                          <p:val>
                                            <p:fltVal val="0.000000"/>
                                          </p:val>
                                        </p:tav>
                                        <p:tav tm="100000">
                                          <p:val>
                                            <p:strVal val="#ppt_w"/>
                                          </p:val>
                                        </p:tav>
                                      </p:tavLst>
                                    </p:anim>
                                    <p:anim calcmode="lin" valueType="num">
                                      <p:cBhvr>
                                        <p:cTn id="14" dur="500" fill="hold"/>
                                        <p:tgtEl>
                                          <p:spTgt spid="1677360"/>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12" fill="hold" nodeType="afterEffect">
                                  <p:stCondLst>
                                    <p:cond delay="0"/>
                                  </p:stCondLst>
                                  <p:childTnLst>
                                    <p:set>
                                      <p:cBhvr>
                                        <p:cTn id="17" dur="1" fill="hold">
                                          <p:stCondLst>
                                            <p:cond delay="0"/>
                                          </p:stCondLst>
                                        </p:cTn>
                                        <p:tgtEl>
                                          <p:spTgt spid="99334"/>
                                        </p:tgtEl>
                                        <p:attrNameLst>
                                          <p:attrName>style.visibility</p:attrName>
                                        </p:attrNameLst>
                                      </p:cBhvr>
                                      <p:to>
                                        <p:strVal val="visible"/>
                                      </p:to>
                                    </p:set>
                                    <p:anim calcmode="lin" valueType="num">
                                      <p:cBhvr additive="base">
                                        <p:cTn id="18" dur="500" fill="hold"/>
                                        <p:tgtEl>
                                          <p:spTgt spid="99334"/>
                                        </p:tgtEl>
                                        <p:attrNameLst>
                                          <p:attrName>ppt_x</p:attrName>
                                        </p:attrNameLst>
                                      </p:cBhvr>
                                      <p:tavLst>
                                        <p:tav tm="0">
                                          <p:val>
                                            <p:strVal val="0-#ppt_w/2"/>
                                          </p:val>
                                        </p:tav>
                                        <p:tav tm="100000">
                                          <p:val>
                                            <p:strVal val="#ppt_x"/>
                                          </p:val>
                                        </p:tav>
                                      </p:tavLst>
                                    </p:anim>
                                    <p:anim calcmode="lin" valueType="num">
                                      <p:cBhvr additive="base">
                                        <p:cTn id="19" dur="500" fill="hold"/>
                                        <p:tgtEl>
                                          <p:spTgt spid="9933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 fill="hold" nodeType="clickEffect">
                                  <p:stCondLst>
                                    <p:cond delay="0"/>
                                  </p:stCondLst>
                                  <p:childTnLst>
                                    <p:set>
                                      <p:cBhvr>
                                        <p:cTn id="23" dur="1" fill="hold">
                                          <p:stCondLst>
                                            <p:cond delay="0"/>
                                          </p:stCondLst>
                                        </p:cTn>
                                        <p:tgtEl>
                                          <p:spTgt spid="1677362"/>
                                        </p:tgtEl>
                                        <p:attrNameLst>
                                          <p:attrName>style.visibility</p:attrName>
                                        </p:attrNameLst>
                                      </p:cBhvr>
                                      <p:to>
                                        <p:strVal val="visible"/>
                                      </p:to>
                                    </p:set>
                                    <p:anim calcmode="lin" valueType="num">
                                      <p:cBhvr>
                                        <p:cTn id="24" dur="500" fill="hold"/>
                                        <p:tgtEl>
                                          <p:spTgt spid="1677362"/>
                                        </p:tgtEl>
                                        <p:attrNameLst>
                                          <p:attrName>ppt_x</p:attrName>
                                        </p:attrNameLst>
                                      </p:cBhvr>
                                      <p:tavLst>
                                        <p:tav tm="0">
                                          <p:val>
                                            <p:strVal val="#ppt_x"/>
                                          </p:val>
                                        </p:tav>
                                        <p:tav tm="100000">
                                          <p:val>
                                            <p:strVal val="#ppt_x"/>
                                          </p:val>
                                        </p:tav>
                                      </p:tavLst>
                                    </p:anim>
                                    <p:anim calcmode="lin" valueType="num">
                                      <p:cBhvr>
                                        <p:cTn id="25" dur="500" fill="hold"/>
                                        <p:tgtEl>
                                          <p:spTgt spid="1677362"/>
                                        </p:tgtEl>
                                        <p:attrNameLst>
                                          <p:attrName>ppt_y</p:attrName>
                                        </p:attrNameLst>
                                      </p:cBhvr>
                                      <p:tavLst>
                                        <p:tav tm="0">
                                          <p:val>
                                            <p:strVal val="#ppt_y-#ppt_h/2"/>
                                          </p:val>
                                        </p:tav>
                                        <p:tav tm="100000">
                                          <p:val>
                                            <p:strVal val="#ppt_y"/>
                                          </p:val>
                                        </p:tav>
                                      </p:tavLst>
                                    </p:anim>
                                    <p:anim calcmode="lin" valueType="num">
                                      <p:cBhvr>
                                        <p:cTn id="26" dur="500" fill="hold"/>
                                        <p:tgtEl>
                                          <p:spTgt spid="1677362"/>
                                        </p:tgtEl>
                                        <p:attrNameLst>
                                          <p:attrName>ppt_w</p:attrName>
                                        </p:attrNameLst>
                                      </p:cBhvr>
                                      <p:tavLst>
                                        <p:tav tm="0">
                                          <p:val>
                                            <p:strVal val="#ppt_w"/>
                                          </p:val>
                                        </p:tav>
                                        <p:tav tm="100000">
                                          <p:val>
                                            <p:strVal val="#ppt_w"/>
                                          </p:val>
                                        </p:tav>
                                      </p:tavLst>
                                    </p:anim>
                                    <p:anim calcmode="lin" valueType="num">
                                      <p:cBhvr>
                                        <p:cTn id="27" dur="500" fill="hold"/>
                                        <p:tgtEl>
                                          <p:spTgt spid="1677362"/>
                                        </p:tgtEl>
                                        <p:attrNameLst>
                                          <p:attrName>ppt_h</p:attrName>
                                        </p:attrNameLst>
                                      </p:cBhvr>
                                      <p:tavLst>
                                        <p:tav tm="0">
                                          <p:val>
                                            <p:fltVal val="0.00000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1677361"/>
                                        </p:tgtEl>
                                        <p:attrNameLst>
                                          <p:attrName>style.visibility</p:attrName>
                                        </p:attrNameLst>
                                      </p:cBhvr>
                                      <p:to>
                                        <p:strVal val="visible"/>
                                      </p:to>
                                    </p:set>
                                    <p:anim calcmode="lin" valueType="num">
                                      <p:cBhvr additive="base">
                                        <p:cTn id="32" dur="500" fill="hold"/>
                                        <p:tgtEl>
                                          <p:spTgt spid="1677361"/>
                                        </p:tgtEl>
                                        <p:attrNameLst>
                                          <p:attrName>ppt_x</p:attrName>
                                        </p:attrNameLst>
                                      </p:cBhvr>
                                      <p:tavLst>
                                        <p:tav tm="0">
                                          <p:val>
                                            <p:strVal val="1+#ppt_w/2"/>
                                          </p:val>
                                        </p:tav>
                                        <p:tav tm="100000">
                                          <p:val>
                                            <p:strVal val="#ppt_x"/>
                                          </p:val>
                                        </p:tav>
                                      </p:tavLst>
                                    </p:anim>
                                    <p:anim calcmode="lin" valueType="num">
                                      <p:cBhvr additive="base">
                                        <p:cTn id="33" dur="500" fill="hold"/>
                                        <p:tgtEl>
                                          <p:spTgt spid="16773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7315" grpId="0"/>
      <p:bldP spid="1677360" grpId="0" bldLvl="0" animBg="1"/>
      <p:bldP spid="167736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800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083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5  </a:t>
            </a:r>
            <a:r>
              <a:rPr lang="zh-CN" altLang="en-US" dirty="0">
                <a:latin typeface="华文楷体" panose="02010600040101010101" pitchFamily="2" charset="-122"/>
                <a:ea typeface="黑体" panose="02010609060101010101" pitchFamily="49" charset="-122"/>
                <a:cs typeface="+mj-cs"/>
              </a:rPr>
              <a:t>语句</a:t>
            </a:r>
            <a:endParaRPr lang="zh-CN" altLang="en-US" dirty="0">
              <a:latin typeface="华文楷体" panose="02010600040101010101" pitchFamily="2" charset="-122"/>
              <a:ea typeface="黑体" panose="02010609060101010101" pitchFamily="49" charset="-122"/>
              <a:cs typeface="+mj-cs"/>
            </a:endParaRPr>
          </a:p>
        </p:txBody>
      </p:sp>
      <p:sp>
        <p:nvSpPr>
          <p:cNvPr id="2040835" name="Rectangle 3"/>
          <p:cNvSpPr>
            <a:spLocks noGrp="1"/>
          </p:cNvSpPr>
          <p:nvPr>
            <p:ph idx="1"/>
          </p:nvPr>
        </p:nvSpPr>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5.1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赋值语句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5.2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块语句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5.3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条件语句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5.4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循环语句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5.5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结构说明语句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
                <a:srgbClr val="FF9900"/>
              </a:buClr>
              <a:buSzPct val="65000"/>
              <a:buFont typeface="Wingdings" panose="05000000000000000000" pitchFamily="2" charset="2"/>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5.6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编译预处理语句</a:t>
            </a: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0834"/>
                                        </p:tgtEl>
                                        <p:attrNameLst>
                                          <p:attrName>style.visibility</p:attrName>
                                        </p:attrNameLst>
                                      </p:cBhvr>
                                      <p:to>
                                        <p:strVal val="visible"/>
                                      </p:to>
                                    </p:set>
                                    <p:anim calcmode="lin" valueType="num">
                                      <p:cBhvr additive="base">
                                        <p:cTn id="7" dur="500" fill="hold"/>
                                        <p:tgtEl>
                                          <p:spTgt spid="2040834"/>
                                        </p:tgtEl>
                                        <p:attrNameLst>
                                          <p:attrName>ppt_x</p:attrName>
                                        </p:attrNameLst>
                                      </p:cBhvr>
                                      <p:tavLst>
                                        <p:tav tm="0">
                                          <p:val>
                                            <p:strVal val="#ppt_x"/>
                                          </p:val>
                                        </p:tav>
                                        <p:tav tm="100000">
                                          <p:val>
                                            <p:strVal val="#ppt_x"/>
                                          </p:val>
                                        </p:tav>
                                      </p:tavLst>
                                    </p:anim>
                                    <p:anim calcmode="lin" valueType="num">
                                      <p:cBhvr additive="base">
                                        <p:cTn id="8" dur="500" fill="hold"/>
                                        <p:tgtEl>
                                          <p:spTgt spid="204083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0835"/>
                                        </p:tgtEl>
                                        <p:attrNameLst>
                                          <p:attrName>style.visibility</p:attrName>
                                        </p:attrNameLst>
                                      </p:cBhvr>
                                      <p:to>
                                        <p:strVal val="visible"/>
                                      </p:to>
                                    </p:set>
                                    <p:anim calcmode="lin" valueType="num">
                                      <p:cBhvr additive="base">
                                        <p:cTn id="12" dur="500" fill="hold"/>
                                        <p:tgtEl>
                                          <p:spTgt spid="2040835"/>
                                        </p:tgtEl>
                                        <p:attrNameLst>
                                          <p:attrName>ppt_x</p:attrName>
                                        </p:attrNameLst>
                                      </p:cBhvr>
                                      <p:tavLst>
                                        <p:tav tm="0">
                                          <p:val>
                                            <p:strVal val="0-#ppt_w/2"/>
                                          </p:val>
                                        </p:tav>
                                        <p:tav tm="100000">
                                          <p:val>
                                            <p:strVal val="#ppt_x"/>
                                          </p:val>
                                        </p:tav>
                                      </p:tavLst>
                                    </p:anim>
                                    <p:anim calcmode="lin" valueType="num">
                                      <p:cBhvr additive="base">
                                        <p:cTn id="13" dur="500" fill="hold"/>
                                        <p:tgtEl>
                                          <p:spTgt spid="204083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0834" grpId="0"/>
      <p:bldP spid="2040835" grpId="0"/>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290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2902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5  </a:t>
            </a:r>
            <a:r>
              <a:rPr lang="zh-CN" altLang="en-US" dirty="0">
                <a:latin typeface="华文楷体" panose="02010600040101010101" pitchFamily="2" charset="-122"/>
                <a:ea typeface="黑体" panose="02010609060101010101" pitchFamily="49" charset="-122"/>
                <a:cs typeface="+mj-cs"/>
              </a:rPr>
              <a:t>语句</a:t>
            </a:r>
            <a:endParaRPr lang="zh-CN" altLang="en-US" dirty="0">
              <a:latin typeface="华文楷体" panose="02010600040101010101" pitchFamily="2" charset="-122"/>
              <a:ea typeface="黑体" panose="02010609060101010101" pitchFamily="49" charset="-122"/>
              <a:cs typeface="+mj-cs"/>
            </a:endParaRPr>
          </a:p>
        </p:txBody>
      </p:sp>
      <p:graphicFrame>
        <p:nvGraphicFramePr>
          <p:cNvPr id="2" name="内容占位符 1"/>
          <p:cNvGraphicFramePr>
            <a:graphicFrameLocks noGrp="1"/>
          </p:cNvGraphicFramePr>
          <p:nvPr>
            <p:ph idx="4294967295"/>
          </p:nvPr>
        </p:nvGraphicFramePr>
        <p:xfrm>
          <a:off x="1978025" y="1182688"/>
          <a:ext cx="4973638" cy="5227640"/>
        </p:xfrm>
        <a:graphic>
          <a:graphicData uri="http://schemas.openxmlformats.org/drawingml/2006/table">
            <a:tbl>
              <a:tblPr/>
              <a:tblGrid>
                <a:gridCol w="2026156"/>
                <a:gridCol w="2947482"/>
              </a:tblGrid>
              <a:tr h="305020">
                <a:tc rowSpan="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赋值语句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imes New Roman" panose="02020603050405020304" pitchFamily="18" charset="0"/>
                        </a:rPr>
                        <a:t>连续赋值语句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b="0" dirty="0">
                          <a:solidFill>
                            <a:schemeClr val="tx1"/>
                          </a:solidFill>
                          <a:latin typeface="Times New Roman" panose="02020603050405020304" pitchFamily="18" charset="0"/>
                        </a:rPr>
                        <a:t>过程赋值语句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rowSpan="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块语句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begin_end</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34737">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dirty="0">
                          <a:solidFill>
                            <a:srgbClr val="FF3399"/>
                          </a:solidFill>
                          <a:latin typeface="Times New Roman" panose="02020603050405020304" pitchFamily="18" charset="0"/>
                        </a:rPr>
                        <a:t>fork_join</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6182">
                <a:tc rowSpan="2">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条件语句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if_else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case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rowSpan="4">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endParaRPr lang="en-US" altLang="zh-CN" sz="180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循环语句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folHlink"/>
                          </a:solidFill>
                          <a:latin typeface="Times New Roman" panose="02020603050405020304" pitchFamily="18" charset="0"/>
                        </a:rPr>
                        <a:t>forever</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777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folHlink"/>
                          </a:solidFill>
                          <a:latin typeface="Times New Roman" panose="02020603050405020304" pitchFamily="18" charset="0"/>
                        </a:rPr>
                        <a:t>repeat</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folHlink"/>
                          </a:solidFill>
                          <a:latin typeface="Times New Roman" panose="02020603050405020304" pitchFamily="18" charset="0"/>
                        </a:rPr>
                        <a:t>while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for</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rowSpan="4">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endParaRPr lang="en-US" altLang="zh-CN" sz="180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结构说明语句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dirty="0">
                          <a:solidFill>
                            <a:srgbClr val="FF3399"/>
                          </a:solidFill>
                          <a:latin typeface="Times New Roman" panose="02020603050405020304" pitchFamily="18" charset="0"/>
                        </a:rPr>
                        <a:t>initial</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6183">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always</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12528">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folHlink"/>
                          </a:solidFill>
                          <a:latin typeface="Times New Roman" panose="02020603050405020304" pitchFamily="18" charset="0"/>
                        </a:rPr>
                        <a:t>task</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function</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rowSpan="3">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endParaRPr lang="en-US" altLang="zh-CN" sz="180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1800" dirty="0">
                          <a:solidFill>
                            <a:schemeClr val="tx1"/>
                          </a:solidFill>
                          <a:latin typeface="Tahoma" panose="020B0604030504040204" pitchFamily="34" charset="0"/>
                        </a:rPr>
                        <a:t>编译预处理语句</a:t>
                      </a:r>
                      <a:endParaRPr lang="zh-CN" altLang="en-US" sz="1800" dirty="0">
                        <a:solidFill>
                          <a:schemeClr val="tx1"/>
                        </a:solidFill>
                        <a:latin typeface="Tahoma" panose="020B0604030504040204" pitchFamily="34" charset="0"/>
                      </a:endParaRPr>
                    </a:p>
                  </a:txBody>
                  <a:tcPr marL="30722" marR="30722" marT="15352" marB="1535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DD"/>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b="0" dirty="0">
                          <a:solidFill>
                            <a:schemeClr val="tx1"/>
                          </a:solidFill>
                          <a:latin typeface="Times New Roman" panose="02020603050405020304" pitchFamily="18" charset="0"/>
                        </a:rPr>
                        <a:t>‘define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dirty="0">
                          <a:solidFill>
                            <a:srgbClr val="FF3399"/>
                          </a:solidFill>
                          <a:latin typeface="Times New Roman" panose="02020603050405020304" pitchFamily="18" charset="0"/>
                        </a:rPr>
                        <a:t>‘include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DD"/>
                    </a:solidFill>
                  </a:tcPr>
                </a:tc>
              </a:tr>
              <a:tr h="30502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1800" dirty="0">
                          <a:solidFill>
                            <a:srgbClr val="FF3399"/>
                          </a:solidFill>
                          <a:latin typeface="Times New Roman" panose="02020603050405020304" pitchFamily="18" charset="0"/>
                        </a:rPr>
                        <a:t>‘timescale</a:t>
                      </a:r>
                      <a:r>
                        <a:rPr lang="zh-CN" altLang="en-US" sz="1800" b="0" dirty="0">
                          <a:solidFill>
                            <a:schemeClr val="tx1"/>
                          </a:solidFill>
                          <a:latin typeface="Times New Roman" panose="02020603050405020304" pitchFamily="18" charset="0"/>
                        </a:rPr>
                        <a:t>语句</a:t>
                      </a:r>
                      <a:endParaRPr lang="zh-CN" altLang="en-US" sz="1800" b="0" dirty="0">
                        <a:solidFill>
                          <a:schemeClr val="tx1"/>
                        </a:solidFill>
                        <a:latin typeface="Times New Roman" panose="02020603050405020304" pitchFamily="18" charset="0"/>
                      </a:endParaRPr>
                    </a:p>
                  </a:txBody>
                  <a:tcPr marL="30722" marR="30722" marT="15352" marB="1535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DD"/>
                    </a:solidFill>
                  </a:tcPr>
                </a:tc>
              </a:tr>
            </a:tbl>
          </a:graphicData>
        </a:graphic>
      </p:graphicFrame>
    </p:spTree>
  </p:cSld>
  <p:clrMapOvr>
    <a:masterClrMapping/>
  </p:clrMapOvr>
  <p:transition spd="med">
    <p:blinds dir="vert"/>
    <p:sndAc>
      <p:stSnd>
        <p:snd r:embed="rId1" name="projctor.wav"/>
      </p:stSnd>
    </p:sndAc>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107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185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2041859" name="Rectangle 3"/>
          <p:cNvSpPr>
            <a:spLocks noGrp="1"/>
          </p:cNvSpPr>
          <p:nvPr>
            <p:ph idx="1"/>
          </p:nvPr>
        </p:nvSpPr>
        <p:spPr/>
        <p:txBody>
          <a:bodyPr vert="horz" wrap="square" lIns="91440" tIns="45720" rIns="91440" bIns="45720" anchor="t" anchorCtr="0"/>
          <a:p>
            <a:pPr eaLnBrk="1" hangingPunct="1"/>
            <a:r>
              <a:rPr lang="en-US" altLang="zh-CN" sz="2800" dirty="0">
                <a:solidFill>
                  <a:schemeClr val="tx2"/>
                </a:solidFill>
                <a:latin typeface="华文楷体" panose="02010600040101010101" pitchFamily="2" charset="-122"/>
                <a:ea typeface="华文楷体" panose="02010600040101010101" pitchFamily="2" charset="-122"/>
                <a:cs typeface="+mn-cs"/>
              </a:rPr>
              <a:t>6.1 </a:t>
            </a:r>
            <a:r>
              <a:rPr lang="zh-CN" altLang="en-US" sz="2800" dirty="0">
                <a:solidFill>
                  <a:schemeClr val="tx2"/>
                </a:solidFill>
                <a:latin typeface="华文楷体" panose="02010600040101010101" pitchFamily="2" charset="-122"/>
                <a:ea typeface="华文楷体" panose="02010600040101010101" pitchFamily="2" charset="-122"/>
                <a:cs typeface="+mn-cs"/>
              </a:rPr>
              <a:t>赋值语句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r>
              <a:rPr lang="en-US" altLang="zh-CN" sz="2800" dirty="0">
                <a:solidFill>
                  <a:schemeClr val="tx2"/>
                </a:solidFill>
                <a:latin typeface="华文楷体" panose="02010600040101010101" pitchFamily="2" charset="-122"/>
                <a:ea typeface="华文楷体" panose="02010600040101010101" pitchFamily="2" charset="-122"/>
                <a:cs typeface="+mn-cs"/>
              </a:rPr>
              <a:t>6.2</a:t>
            </a:r>
            <a:r>
              <a:rPr lang="zh-CN" altLang="en-US" sz="2800" dirty="0">
                <a:solidFill>
                  <a:schemeClr val="tx2"/>
                </a:solidFill>
                <a:latin typeface="华文楷体" panose="02010600040101010101" pitchFamily="2" charset="-122"/>
                <a:ea typeface="华文楷体" panose="02010600040101010101" pitchFamily="2" charset="-122"/>
                <a:cs typeface="+mn-cs"/>
              </a:rPr>
              <a:t>非阻塞赋值与阻塞赋值的区别</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r>
              <a:rPr lang="en-US" altLang="zh-CN" sz="2800" dirty="0">
                <a:solidFill>
                  <a:schemeClr val="tx2"/>
                </a:solidFill>
                <a:latin typeface="华文楷体" panose="02010600040101010101" pitchFamily="2" charset="-122"/>
                <a:ea typeface="华文楷体" panose="02010600040101010101" pitchFamily="2" charset="-122"/>
                <a:cs typeface="+mn-cs"/>
              </a:rPr>
              <a:t>6.3</a:t>
            </a:r>
            <a:r>
              <a:rPr lang="zh-CN" altLang="en-US" sz="2800" dirty="0">
                <a:solidFill>
                  <a:schemeClr val="tx2"/>
                </a:solidFill>
                <a:latin typeface="华文楷体" panose="02010600040101010101" pitchFamily="2" charset="-122"/>
                <a:ea typeface="华文楷体" panose="02010600040101010101" pitchFamily="2" charset="-122"/>
                <a:cs typeface="+mn-cs"/>
              </a:rPr>
              <a:t>块语句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endParaRPr lang="en-US" altLang="zh-CN" dirty="0">
              <a:solidFill>
                <a:srgbClr val="FF0000"/>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1858"/>
                                        </p:tgtEl>
                                        <p:attrNameLst>
                                          <p:attrName>style.visibility</p:attrName>
                                        </p:attrNameLst>
                                      </p:cBhvr>
                                      <p:to>
                                        <p:strVal val="visible"/>
                                      </p:to>
                                    </p:set>
                                    <p:anim calcmode="lin" valueType="num">
                                      <p:cBhvr additive="base">
                                        <p:cTn id="7" dur="500" fill="hold"/>
                                        <p:tgtEl>
                                          <p:spTgt spid="2041858"/>
                                        </p:tgtEl>
                                        <p:attrNameLst>
                                          <p:attrName>ppt_x</p:attrName>
                                        </p:attrNameLst>
                                      </p:cBhvr>
                                      <p:tavLst>
                                        <p:tav tm="0">
                                          <p:val>
                                            <p:strVal val="#ppt_x"/>
                                          </p:val>
                                        </p:tav>
                                        <p:tav tm="100000">
                                          <p:val>
                                            <p:strVal val="#ppt_x"/>
                                          </p:val>
                                        </p:tav>
                                      </p:tavLst>
                                    </p:anim>
                                    <p:anim calcmode="lin" valueType="num">
                                      <p:cBhvr additive="base">
                                        <p:cTn id="8" dur="500" fill="hold"/>
                                        <p:tgtEl>
                                          <p:spTgt spid="204185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1859"/>
                                        </p:tgtEl>
                                        <p:attrNameLst>
                                          <p:attrName>style.visibility</p:attrName>
                                        </p:attrNameLst>
                                      </p:cBhvr>
                                      <p:to>
                                        <p:strVal val="visible"/>
                                      </p:to>
                                    </p:set>
                                    <p:anim calcmode="lin" valueType="num">
                                      <p:cBhvr additive="base">
                                        <p:cTn id="12" dur="500" fill="hold"/>
                                        <p:tgtEl>
                                          <p:spTgt spid="2041859"/>
                                        </p:tgtEl>
                                        <p:attrNameLst>
                                          <p:attrName>ppt_x</p:attrName>
                                        </p:attrNameLst>
                                      </p:cBhvr>
                                      <p:tavLst>
                                        <p:tav tm="0">
                                          <p:val>
                                            <p:strVal val="0-#ppt_w/2"/>
                                          </p:val>
                                        </p:tav>
                                        <p:tav tm="100000">
                                          <p:val>
                                            <p:strVal val="#ppt_x"/>
                                          </p:val>
                                        </p:tav>
                                      </p:tavLst>
                                    </p:anim>
                                    <p:anim calcmode="lin" valueType="num">
                                      <p:cBhvr additive="base">
                                        <p:cTn id="13" dur="500" fill="hold"/>
                                        <p:tgtEl>
                                          <p:spTgt spid="204185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1858" grpId="0"/>
      <p:bldP spid="2041859"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20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3209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83459" name="Rectangle 3"/>
          <p:cNvSpPr>
            <a:spLocks noGrp="1"/>
          </p:cNvSpPr>
          <p:nvPr>
            <p:ph idx="1"/>
          </p:nvPr>
        </p:nvSpPr>
        <p:spPr/>
        <p:txBody>
          <a:bodyPr vert="horz" wrap="square" lIns="91440" tIns="45720" rIns="91440" bIns="45720" anchor="t" anchorCtr="0"/>
          <a:p>
            <a:pPr algn="just" eaLnBrk="1" hangingPunct="1">
              <a:lnSpc>
                <a:spcPct val="120000"/>
              </a:lnSpc>
            </a:pPr>
            <a:r>
              <a:rPr lang="en-US" altLang="zh-CN" sz="2800" dirty="0">
                <a:solidFill>
                  <a:schemeClr val="tx2"/>
                </a:solidFill>
                <a:latin typeface="宋体" panose="02010600030101010101" pitchFamily="2" charset="-122"/>
                <a:ea typeface="黑体" panose="02010609060101010101" pitchFamily="49" charset="-122"/>
                <a:cs typeface="+mn-cs"/>
              </a:rPr>
              <a:t>6.1 </a:t>
            </a:r>
            <a:r>
              <a:rPr lang="zh-CN" altLang="en-US" sz="2800" dirty="0">
                <a:solidFill>
                  <a:schemeClr val="tx2"/>
                </a:solidFill>
                <a:latin typeface="宋体" panose="02010600030101010101" pitchFamily="2" charset="-122"/>
                <a:ea typeface="华文楷体" panose="02010600040101010101" pitchFamily="2" charset="-122"/>
                <a:cs typeface="+mn-cs"/>
              </a:rPr>
              <a:t>赋值语句</a:t>
            </a:r>
            <a:endParaRPr lang="zh-CN" altLang="en-US" sz="2800" dirty="0">
              <a:solidFill>
                <a:schemeClr val="tx2"/>
              </a:solidFill>
              <a:latin typeface="宋体" panose="02010600030101010101" pitchFamily="2" charset="-122"/>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分为两类：</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solidFill>
                  <a:srgbClr val="FF0066"/>
                </a:solidFill>
                <a:latin typeface="Times New Roman" panose="02020603050405020304" pitchFamily="18" charset="0"/>
                <a:ea typeface="华文楷体" panose="02010600040101010101" pitchFamily="2" charset="-122"/>
                <a:cs typeface="+mn-cs"/>
              </a:rPr>
              <a:t>（</a:t>
            </a:r>
            <a:r>
              <a:rPr lang="en-US" altLang="zh-CN" dirty="0">
                <a:solidFill>
                  <a:srgbClr val="FF0066"/>
                </a:solidFill>
                <a:latin typeface="Times New Roman" panose="02020603050405020304" pitchFamily="18" charset="0"/>
                <a:ea typeface="黑体" panose="02010609060101010101" pitchFamily="49" charset="-122"/>
                <a:cs typeface="+mn-cs"/>
              </a:rPr>
              <a:t>1</a:t>
            </a:r>
            <a:r>
              <a:rPr lang="zh-CN" altLang="zh-CN" dirty="0">
                <a:solidFill>
                  <a:srgbClr val="FF0066"/>
                </a:solidFill>
                <a:latin typeface="Times New Roman" panose="02020603050405020304" pitchFamily="18" charset="0"/>
                <a:ea typeface="华文楷体" panose="02010600040101010101" pitchFamily="2" charset="-122"/>
                <a:cs typeface="+mn-cs"/>
              </a:rPr>
              <a:t>）连续</a:t>
            </a:r>
            <a:r>
              <a:rPr lang="zh-CN" altLang="zh-CN" dirty="0">
                <a:latin typeface="Times New Roman" panose="02020603050405020304" pitchFamily="18" charset="0"/>
                <a:ea typeface="华文楷体" panose="02010600040101010101" pitchFamily="2" charset="-122"/>
                <a:cs typeface="+mn-cs"/>
              </a:rPr>
              <a:t>赋值语句——</a:t>
            </a:r>
            <a:r>
              <a:rPr lang="en-US" altLang="zh-CN" dirty="0">
                <a:latin typeface="Times New Roman" panose="02020603050405020304" pitchFamily="18" charset="0"/>
                <a:ea typeface="黑体" panose="02010609060101010101" pitchFamily="49" charset="-122"/>
                <a:cs typeface="+mn-cs"/>
              </a:rPr>
              <a:t>assign</a:t>
            </a:r>
            <a:r>
              <a:rPr lang="zh-CN" altLang="en-US" dirty="0">
                <a:latin typeface="Times New Roman" panose="02020603050405020304" pitchFamily="18" charset="0"/>
                <a:ea typeface="华文楷体" panose="02010600040101010101" pitchFamily="2" charset="-122"/>
                <a:cs typeface="+mn-cs"/>
              </a:rPr>
              <a:t>语句，用于对</a:t>
            </a:r>
            <a:r>
              <a:rPr lang="en-US" altLang="zh-CN" dirty="0">
                <a:solidFill>
                  <a:srgbClr val="FF33CC"/>
                </a:solidFill>
                <a:latin typeface="Times New Roman" panose="02020603050405020304" pitchFamily="18" charset="0"/>
                <a:ea typeface="黑体" panose="02010609060101010101" pitchFamily="49" charset="-122"/>
                <a:cs typeface="+mn-cs"/>
              </a:rPr>
              <a:t>wire</a:t>
            </a:r>
            <a:r>
              <a:rPr lang="zh-CN" altLang="en-US" dirty="0">
                <a:latin typeface="Times New Roman" panose="02020603050405020304" pitchFamily="18" charset="0"/>
                <a:ea typeface="华文楷体" panose="02010600040101010101" pitchFamily="2" charset="-122"/>
                <a:cs typeface="+mn-cs"/>
              </a:rPr>
              <a:t>型变量赋值，是描述    </a:t>
            </a:r>
            <a:r>
              <a:rPr lang="en-US" altLang="zh-CN" dirty="0">
                <a:latin typeface="Times New Roman" panose="02020603050405020304" pitchFamily="18" charset="0"/>
                <a:ea typeface="黑体" panose="02010609060101010101" pitchFamily="49" charset="-122"/>
                <a:cs typeface="+mn-cs"/>
              </a:rPr>
              <a:t>	</a:t>
            </a:r>
            <a:r>
              <a:rPr lang="zh-CN" altLang="en-US" dirty="0">
                <a:solidFill>
                  <a:srgbClr val="FF33CC"/>
                </a:solidFill>
                <a:latin typeface="Times New Roman" panose="02020603050405020304" pitchFamily="18" charset="0"/>
                <a:ea typeface="华文楷体" panose="02010600040101010101" pitchFamily="2" charset="-122"/>
                <a:cs typeface="+mn-cs"/>
              </a:rPr>
              <a:t>组合逻辑</a:t>
            </a:r>
            <a:r>
              <a:rPr lang="zh-CN" altLang="en-US" dirty="0">
                <a:latin typeface="Times New Roman" panose="02020603050405020304" pitchFamily="18" charset="0"/>
                <a:ea typeface="华文楷体" panose="02010600040101010101" pitchFamily="2" charset="-122"/>
                <a:cs typeface="+mn-cs"/>
              </a:rPr>
              <a:t>最常用的方法之一。</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		[</a:t>
            </a:r>
            <a:r>
              <a:rPr lang="zh-CN" altLang="en-US" dirty="0">
                <a:solidFill>
                  <a:srgbClr val="FF3399"/>
                </a:solidFill>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 assign c=a&amp;b;    //a</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b</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c</a:t>
            </a:r>
            <a:r>
              <a:rPr lang="zh-CN" altLang="en-US" dirty="0">
                <a:latin typeface="Times New Roman" panose="02020603050405020304" pitchFamily="18" charset="0"/>
                <a:ea typeface="华文楷体" panose="02010600040101010101" pitchFamily="2" charset="-122"/>
                <a:cs typeface="+mn-cs"/>
              </a:rPr>
              <a:t>均为</a:t>
            </a:r>
            <a:r>
              <a:rPr lang="en-US" altLang="zh-CN" dirty="0">
                <a:latin typeface="Times New Roman" panose="02020603050405020304" pitchFamily="18" charset="0"/>
                <a:ea typeface="黑体" panose="02010609060101010101" pitchFamily="49" charset="-122"/>
                <a:cs typeface="+mn-cs"/>
              </a:rPr>
              <a:t>wire</a:t>
            </a:r>
            <a:r>
              <a:rPr lang="zh-CN" altLang="en-US" dirty="0">
                <a:latin typeface="Times New Roman" panose="02020603050405020304" pitchFamily="18" charset="0"/>
                <a:ea typeface="华文楷体" panose="02010600040101010101" pitchFamily="2" charset="-122"/>
                <a:cs typeface="+mn-cs"/>
              </a:rPr>
              <a:t>型变量</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endParaRPr lang="zh-CN" altLang="en-US" dirty="0">
              <a:solidFill>
                <a:srgbClr val="009900"/>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solidFill>
                  <a:srgbClr val="FF0066"/>
                </a:solidFill>
                <a:latin typeface="Times New Roman" panose="02020603050405020304" pitchFamily="18" charset="0"/>
                <a:ea typeface="华文楷体" panose="02010600040101010101" pitchFamily="2" charset="-122"/>
                <a:cs typeface="+mn-cs"/>
              </a:rPr>
              <a:t>（</a:t>
            </a:r>
            <a:r>
              <a:rPr lang="en-US" altLang="zh-CN" dirty="0">
                <a:solidFill>
                  <a:srgbClr val="FF0066"/>
                </a:solidFill>
                <a:latin typeface="Times New Roman" panose="02020603050405020304" pitchFamily="18" charset="0"/>
                <a:ea typeface="黑体" panose="02010609060101010101" pitchFamily="49" charset="-122"/>
                <a:cs typeface="+mn-cs"/>
              </a:rPr>
              <a:t>2</a:t>
            </a:r>
            <a:r>
              <a:rPr lang="zh-CN" altLang="zh-CN" dirty="0">
                <a:solidFill>
                  <a:srgbClr val="FF0066"/>
                </a:solidFill>
                <a:latin typeface="Times New Roman" panose="02020603050405020304" pitchFamily="18" charset="0"/>
                <a:ea typeface="华文楷体" panose="02010600040101010101" pitchFamily="2" charset="-122"/>
                <a:cs typeface="+mn-cs"/>
              </a:rPr>
              <a:t>）过程</a:t>
            </a:r>
            <a:r>
              <a:rPr lang="zh-CN" altLang="zh-CN" dirty="0">
                <a:latin typeface="Times New Roman" panose="02020603050405020304" pitchFamily="18" charset="0"/>
                <a:ea typeface="华文楷体" panose="02010600040101010101" pitchFamily="2" charset="-122"/>
                <a:cs typeface="+mn-cs"/>
              </a:rPr>
              <a:t>赋值语句——</a:t>
            </a:r>
            <a:r>
              <a:rPr lang="zh-CN" altLang="en-US" dirty="0">
                <a:latin typeface="Times New Roman" panose="02020603050405020304" pitchFamily="18" charset="0"/>
                <a:ea typeface="华文楷体" panose="02010600040101010101" pitchFamily="2" charset="-122"/>
                <a:cs typeface="+mn-cs"/>
              </a:rPr>
              <a:t>用于对</a:t>
            </a:r>
            <a:r>
              <a:rPr lang="en-US" altLang="zh-CN" dirty="0">
                <a:solidFill>
                  <a:srgbClr val="FF33CC"/>
                </a:solidFill>
                <a:latin typeface="Times New Roman" panose="02020603050405020304" pitchFamily="18" charset="0"/>
                <a:ea typeface="黑体" panose="02010609060101010101" pitchFamily="49" charset="-122"/>
                <a:cs typeface="+mn-cs"/>
              </a:rPr>
              <a:t>reg</a:t>
            </a:r>
            <a:r>
              <a:rPr lang="zh-CN" altLang="en-US" dirty="0">
                <a:latin typeface="Times New Roman" panose="02020603050405020304" pitchFamily="18" charset="0"/>
                <a:ea typeface="华文楷体" panose="02010600040101010101" pitchFamily="2" charset="-122"/>
                <a:cs typeface="+mn-cs"/>
              </a:rPr>
              <a:t>型变量赋值，有两种方式：</a:t>
            </a:r>
            <a:endParaRPr lang="zh-CN" altLang="en-US" dirty="0">
              <a:latin typeface="Times New Roman" panose="02020603050405020304" pitchFamily="18" charset="0"/>
              <a:ea typeface="华文楷体" panose="02010600040101010101" pitchFamily="2" charset="-122"/>
              <a:cs typeface="+mn-cs"/>
            </a:endParaRPr>
          </a:p>
          <a:p>
            <a:pPr lvl="1" eaLnBrk="1" hangingPunct="1">
              <a:lnSpc>
                <a:spcPct val="110000"/>
              </a:lnSpc>
            </a:pP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华文楷体" panose="02010600040101010101" pitchFamily="2" charset="-122"/>
              </a:rPr>
              <a:t>非阻塞（</a:t>
            </a:r>
            <a:r>
              <a:rPr lang="zh-CN" altLang="zh-CN" dirty="0">
                <a:latin typeface="Times New Roman" panose="02020603050405020304" pitchFamily="18" charset="0"/>
                <a:ea typeface="华文楷体" panose="02010600040101010101" pitchFamily="2" charset="-122"/>
              </a:rPr>
              <a:t>non-blocking)赋值方式：</a:t>
            </a:r>
            <a:endParaRPr lang="zh-CN" altLang="zh-CN" dirty="0">
              <a:latin typeface="Times New Roman" panose="02020603050405020304" pitchFamily="18" charset="0"/>
              <a:ea typeface="华文楷体" panose="02010600040101010101" pitchFamily="2" charset="-122"/>
            </a:endParaRPr>
          </a:p>
          <a:p>
            <a:pPr eaLnBrk="1" hangingPunct="1">
              <a:lnSpc>
                <a:spcPct val="110000"/>
              </a:lnSpc>
            </a:pPr>
            <a:r>
              <a:rPr lang="zh-CN"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赋值符号为</a:t>
            </a:r>
            <a:r>
              <a:rPr lang="en-US" altLang="zh-CN" dirty="0">
                <a:solidFill>
                  <a:srgbClr val="FF0066"/>
                </a:solidFill>
                <a:latin typeface="Times New Roman" panose="02020603050405020304" pitchFamily="18" charset="0"/>
                <a:ea typeface="黑体" panose="02010609060101010101" pitchFamily="49" charset="-122"/>
                <a:cs typeface="+mn-cs"/>
              </a:rPr>
              <a:t>&lt;=</a:t>
            </a:r>
            <a:r>
              <a:rPr lang="zh-CN" altLang="en-US" dirty="0">
                <a:latin typeface="Times New Roman" panose="02020603050405020304" pitchFamily="18" charset="0"/>
                <a:ea typeface="华文楷体" panose="02010600040101010101" pitchFamily="2" charset="-122"/>
                <a:cs typeface="+mn-cs"/>
              </a:rPr>
              <a:t>，如</a:t>
            </a:r>
            <a:r>
              <a:rPr lang="zh-CN" altLang="zh-CN" dirty="0">
                <a:latin typeface="Times New Roman" panose="02020603050405020304" pitchFamily="18" charset="0"/>
                <a:ea typeface="华文楷体" panose="02010600040101010101" pitchFamily="2" charset="-122"/>
                <a:cs typeface="+mn-cs"/>
              </a:rPr>
              <a:t> b </a:t>
            </a:r>
            <a:r>
              <a:rPr lang="zh-CN" altLang="zh-CN" dirty="0">
                <a:solidFill>
                  <a:srgbClr val="FF0066"/>
                </a:solidFill>
                <a:latin typeface="Times New Roman" panose="02020603050405020304" pitchFamily="18" charset="0"/>
                <a:ea typeface="华文楷体" panose="02010600040101010101" pitchFamily="2" charset="-122"/>
                <a:cs typeface="+mn-cs"/>
              </a:rPr>
              <a:t>&lt;=</a:t>
            </a:r>
            <a:r>
              <a:rPr lang="zh-CN" altLang="zh-CN" dirty="0">
                <a:latin typeface="Times New Roman" panose="02020603050405020304" pitchFamily="18" charset="0"/>
                <a:ea typeface="华文楷体" panose="02010600040101010101" pitchFamily="2" charset="-122"/>
                <a:cs typeface="+mn-cs"/>
              </a:rPr>
              <a:t> a ； </a:t>
            </a:r>
            <a:endParaRPr lang="zh-CN" altLang="en-US" dirty="0">
              <a:latin typeface="Times New Roman" panose="02020603050405020304" pitchFamily="18" charset="0"/>
              <a:ea typeface="华文楷体" panose="02010600040101010101" pitchFamily="2" charset="-122"/>
              <a:cs typeface="+mn-cs"/>
            </a:endParaRPr>
          </a:p>
          <a:p>
            <a:pPr lvl="1" eaLnBrk="1" hangingPunct="1">
              <a:lnSpc>
                <a:spcPct val="110000"/>
              </a:lnSpc>
            </a:pP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华文楷体" panose="02010600040101010101" pitchFamily="2" charset="-122"/>
              </a:rPr>
              <a:t>阻塞（</a:t>
            </a:r>
            <a:r>
              <a:rPr lang="zh-CN" altLang="zh-CN" dirty="0">
                <a:latin typeface="Times New Roman" panose="02020603050405020304" pitchFamily="18" charset="0"/>
                <a:ea typeface="华文楷体" panose="02010600040101010101" pitchFamily="2" charset="-122"/>
              </a:rPr>
              <a:t>blocking)赋值方式：</a:t>
            </a:r>
            <a:endParaRPr lang="zh-CN" altLang="zh-CN" dirty="0">
              <a:latin typeface="Times New Roman" panose="02020603050405020304" pitchFamily="18" charset="0"/>
              <a:ea typeface="华文楷体" panose="02010600040101010101" pitchFamily="2" charset="-122"/>
            </a:endParaRPr>
          </a:p>
          <a:p>
            <a:pPr eaLnBrk="1" hangingPunct="1">
              <a:lnSpc>
                <a:spcPct val="110000"/>
              </a:lnSpc>
            </a:pPr>
            <a:r>
              <a:rPr lang="zh-CN"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  赋值符号为</a:t>
            </a:r>
            <a:r>
              <a:rPr lang="en-US" altLang="zh-CN" dirty="0">
                <a:solidFill>
                  <a:srgbClr val="FF0066"/>
                </a:solidFill>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，如</a:t>
            </a:r>
            <a:r>
              <a:rPr lang="zh-CN" altLang="zh-CN" dirty="0">
                <a:latin typeface="Times New Roman" panose="02020603050405020304" pitchFamily="18" charset="0"/>
                <a:ea typeface="华文楷体" panose="02010600040101010101" pitchFamily="2" charset="-122"/>
                <a:cs typeface="+mn-cs"/>
              </a:rPr>
              <a:t> b </a:t>
            </a:r>
            <a:r>
              <a:rPr lang="zh-CN" altLang="zh-CN" dirty="0">
                <a:solidFill>
                  <a:srgbClr val="FF0066"/>
                </a:solidFill>
                <a:latin typeface="Times New Roman" panose="02020603050405020304" pitchFamily="18" charset="0"/>
                <a:ea typeface="华文楷体" panose="02010600040101010101" pitchFamily="2" charset="-122"/>
                <a:cs typeface="+mn-cs"/>
              </a:rPr>
              <a:t>=</a:t>
            </a:r>
            <a:r>
              <a:rPr lang="zh-CN" altLang="zh-CN" dirty="0">
                <a:latin typeface="Times New Roman" panose="02020603050405020304" pitchFamily="18" charset="0"/>
                <a:ea typeface="华文楷体" panose="02010600040101010101" pitchFamily="2" charset="-122"/>
                <a:cs typeface="+mn-cs"/>
              </a:rPr>
              <a:t> a ； </a:t>
            </a:r>
            <a:endParaRPr lang="zh-CN" altLang="en-US" dirty="0">
              <a:latin typeface="Times New Roman" panose="02020603050405020304" pitchFamily="18" charset="0"/>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3459"/>
                                        </p:tgtEl>
                                        <p:attrNameLst>
                                          <p:attrName>style.visibility</p:attrName>
                                        </p:attrNameLst>
                                      </p:cBhvr>
                                      <p:to>
                                        <p:strVal val="visible"/>
                                      </p:to>
                                    </p:set>
                                    <p:anim calcmode="lin" valueType="num">
                                      <p:cBhvr additive="base">
                                        <p:cTn id="7" dur="500" fill="hold"/>
                                        <p:tgtEl>
                                          <p:spTgt spid="1683459"/>
                                        </p:tgtEl>
                                        <p:attrNameLst>
                                          <p:attrName>ppt_x</p:attrName>
                                        </p:attrNameLst>
                                      </p:cBhvr>
                                      <p:tavLst>
                                        <p:tav tm="0">
                                          <p:val>
                                            <p:strVal val="0-#ppt_w/2"/>
                                          </p:val>
                                        </p:tav>
                                        <p:tav tm="100000">
                                          <p:val>
                                            <p:strVal val="#ppt_x"/>
                                          </p:val>
                                        </p:tav>
                                      </p:tavLst>
                                    </p:anim>
                                    <p:anim calcmode="lin" valueType="num">
                                      <p:cBhvr additive="base">
                                        <p:cTn id="8" dur="500" fill="hold"/>
                                        <p:tgtEl>
                                          <p:spTgt spid="16834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3459"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41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341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8550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10000"/>
              </a:lnSpc>
              <a:spcBef>
                <a:spcPct val="20000"/>
              </a:spcBef>
              <a:spcAft>
                <a:spcPct val="0"/>
              </a:spcAft>
              <a:buClrTx/>
              <a:buSzTx/>
              <a:buFontTx/>
              <a:buNone/>
              <a:defRPr/>
            </a:pPr>
            <a:r>
              <a:rPr kumimoji="0" lang="en-US"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6.2 </a:t>
            </a:r>
            <a:r>
              <a:rPr kumimoji="0" lang="zh-CN" altLang="en-US"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非阻塞赋值与阻塞</a:t>
            </a:r>
            <a:r>
              <a:rPr kumimoji="0" lang="zh-CN"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rPr>
              <a:t>赋值的区别</a:t>
            </a:r>
            <a:endParaRPr kumimoji="0" lang="zh-CN" altLang="zh-CN" sz="2800" b="0" i="0" u="none" strike="noStrike" kern="0" cap="none" spc="0" normalizeH="0" baseline="0" noProof="1">
              <a:ln>
                <a:noFill/>
              </a:ln>
              <a:solidFill>
                <a:schemeClr val="tx2"/>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1. </a:t>
            </a:r>
            <a:r>
              <a:rPr kumimoji="0" lang="zh-CN" altLang="en-US"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非阻塞</a:t>
            </a:r>
            <a:r>
              <a:rPr kumimoji="0" lang="zh-CN" altLang="zh-CN"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赋值方式</a:t>
            </a:r>
            <a:endParaRPr kumimoji="0" lang="zh-CN" altLang="zh-CN" sz="28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always @(posedge clk)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begin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b &lt;=  a ;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c &lt;= b;</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华文楷体" panose="02010600040101010101" pitchFamily="2" charset="-122"/>
                <a:ea typeface="华文楷体" panose="02010600040101010101" pitchFamily="2" charset="-122"/>
                <a:cs typeface="+mn-cs"/>
              </a:rPr>
              <a:t>end</a:t>
            </a:r>
            <a:endParaRPr kumimoji="0" lang="en-US" altLang="zh-CN" sz="26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grpSp>
        <p:nvGrpSpPr>
          <p:cNvPr id="2" name="Group 4"/>
          <p:cNvGrpSpPr/>
          <p:nvPr/>
        </p:nvGrpSpPr>
        <p:grpSpPr>
          <a:xfrm>
            <a:off x="4127500" y="2613025"/>
            <a:ext cx="4800600" cy="2362200"/>
            <a:chOff x="2544" y="1632"/>
            <a:chExt cx="3024" cy="1488"/>
          </a:xfrm>
        </p:grpSpPr>
        <p:sp>
          <p:nvSpPr>
            <p:cNvPr id="134152" name="Rectangle 5"/>
            <p:cNvSpPr/>
            <p:nvPr/>
          </p:nvSpPr>
          <p:spPr>
            <a:xfrm>
              <a:off x="2544" y="1632"/>
              <a:ext cx="3024" cy="1488"/>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134153" name="Line 6"/>
            <p:cNvSpPr/>
            <p:nvPr/>
          </p:nvSpPr>
          <p:spPr>
            <a:xfrm>
              <a:off x="3936" y="2496"/>
              <a:ext cx="384" cy="0"/>
            </a:xfrm>
            <a:prstGeom prst="line">
              <a:avLst/>
            </a:prstGeom>
            <a:ln w="9525" cap="flat" cmpd="sng">
              <a:solidFill>
                <a:schemeClr val="tx1"/>
              </a:solidFill>
              <a:prstDash val="solid"/>
              <a:headEnd type="none" w="med" len="med"/>
              <a:tailEnd type="none" w="med" len="med"/>
            </a:ln>
          </p:spPr>
        </p:sp>
        <p:sp>
          <p:nvSpPr>
            <p:cNvPr id="134154" name="Text Box 7"/>
            <p:cNvSpPr txBox="1"/>
            <p:nvPr/>
          </p:nvSpPr>
          <p:spPr>
            <a:xfrm>
              <a:off x="2832" y="2016"/>
              <a:ext cx="384"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clk</a:t>
              </a:r>
              <a:endParaRPr lang="en-US" altLang="zh-CN" dirty="0">
                <a:latin typeface="Times New Roman" panose="02020603050405020304" pitchFamily="18" charset="0"/>
                <a:ea typeface="宋体" panose="02010600030101010101" pitchFamily="2" charset="-122"/>
              </a:endParaRPr>
            </a:p>
          </p:txBody>
        </p:sp>
        <p:sp>
          <p:nvSpPr>
            <p:cNvPr id="134155" name="Text Box 8"/>
            <p:cNvSpPr txBox="1"/>
            <p:nvPr/>
          </p:nvSpPr>
          <p:spPr>
            <a:xfrm>
              <a:off x="3360" y="2640"/>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DFF</a:t>
              </a:r>
              <a:endParaRPr lang="en-US" altLang="zh-CN" dirty="0">
                <a:latin typeface="Times New Roman" panose="02020603050405020304" pitchFamily="18" charset="0"/>
                <a:ea typeface="宋体" panose="02010600030101010101" pitchFamily="2" charset="-122"/>
              </a:endParaRPr>
            </a:p>
          </p:txBody>
        </p:sp>
        <p:sp>
          <p:nvSpPr>
            <p:cNvPr id="134156" name="Text Box 9"/>
            <p:cNvSpPr txBox="1"/>
            <p:nvPr/>
          </p:nvSpPr>
          <p:spPr>
            <a:xfrm>
              <a:off x="5376" y="2496"/>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c</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34157" name="Rectangle 10"/>
            <p:cNvSpPr/>
            <p:nvPr/>
          </p:nvSpPr>
          <p:spPr>
            <a:xfrm>
              <a:off x="3264" y="2160"/>
              <a:ext cx="672" cy="480"/>
            </a:xfrm>
            <a:prstGeom prst="rect">
              <a:avLst/>
            </a:prstGeom>
            <a:solidFill>
              <a:srgbClr val="9966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34158" name="Line 11"/>
            <p:cNvSpPr/>
            <p:nvPr/>
          </p:nvSpPr>
          <p:spPr>
            <a:xfrm>
              <a:off x="2832" y="2496"/>
              <a:ext cx="432" cy="0"/>
            </a:xfrm>
            <a:prstGeom prst="line">
              <a:avLst/>
            </a:prstGeom>
            <a:ln w="9525" cap="flat" cmpd="sng">
              <a:solidFill>
                <a:schemeClr val="tx1"/>
              </a:solidFill>
              <a:prstDash val="solid"/>
              <a:headEnd type="none" w="med" len="med"/>
              <a:tailEnd type="none" w="med" len="med"/>
            </a:ln>
          </p:spPr>
        </p:sp>
        <p:sp>
          <p:nvSpPr>
            <p:cNvPr id="134159" name="Line 12"/>
            <p:cNvSpPr/>
            <p:nvPr/>
          </p:nvSpPr>
          <p:spPr>
            <a:xfrm>
              <a:off x="4176" y="2304"/>
              <a:ext cx="144" cy="0"/>
            </a:xfrm>
            <a:prstGeom prst="line">
              <a:avLst/>
            </a:prstGeom>
            <a:ln w="9525" cap="flat" cmpd="sng">
              <a:solidFill>
                <a:schemeClr val="tx1"/>
              </a:solidFill>
              <a:prstDash val="solid"/>
              <a:headEnd type="none" w="med" len="med"/>
              <a:tailEnd type="none" w="med" len="med"/>
            </a:ln>
          </p:spPr>
        </p:sp>
        <p:sp>
          <p:nvSpPr>
            <p:cNvPr id="134160" name="Line 13"/>
            <p:cNvSpPr/>
            <p:nvPr/>
          </p:nvSpPr>
          <p:spPr>
            <a:xfrm>
              <a:off x="2832" y="2304"/>
              <a:ext cx="432" cy="0"/>
            </a:xfrm>
            <a:prstGeom prst="line">
              <a:avLst/>
            </a:prstGeom>
            <a:ln w="9525" cap="flat" cmpd="sng">
              <a:solidFill>
                <a:schemeClr val="tx1"/>
              </a:solidFill>
              <a:prstDash val="solid"/>
              <a:headEnd type="none" w="med" len="med"/>
              <a:tailEnd type="none" w="med" len="med"/>
            </a:ln>
          </p:spPr>
        </p:sp>
        <p:sp>
          <p:nvSpPr>
            <p:cNvPr id="134161" name="Text Box 14"/>
            <p:cNvSpPr txBox="1"/>
            <p:nvPr/>
          </p:nvSpPr>
          <p:spPr>
            <a:xfrm>
              <a:off x="3264" y="2352"/>
              <a:ext cx="192" cy="44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D      </a:t>
              </a:r>
              <a:endParaRPr lang="en-US" altLang="zh-CN" dirty="0">
                <a:latin typeface="Times New Roman" panose="02020603050405020304" pitchFamily="18" charset="0"/>
                <a:ea typeface="宋体" panose="02010600030101010101" pitchFamily="2" charset="-122"/>
              </a:endParaRPr>
            </a:p>
          </p:txBody>
        </p:sp>
        <p:sp>
          <p:nvSpPr>
            <p:cNvPr id="134162" name="Text Box 15"/>
            <p:cNvSpPr txBox="1"/>
            <p:nvPr/>
          </p:nvSpPr>
          <p:spPr>
            <a:xfrm>
              <a:off x="3696" y="2352"/>
              <a:ext cx="192" cy="250"/>
            </a:xfrm>
            <a:prstGeom prst="rect">
              <a:avLst/>
            </a:prstGeom>
            <a:solidFill>
              <a:srgbClr val="996600"/>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sp>
          <p:nvSpPr>
            <p:cNvPr id="134163" name="Line 16"/>
            <p:cNvSpPr/>
            <p:nvPr/>
          </p:nvSpPr>
          <p:spPr>
            <a:xfrm>
              <a:off x="3264" y="2256"/>
              <a:ext cx="144" cy="48"/>
            </a:xfrm>
            <a:prstGeom prst="line">
              <a:avLst/>
            </a:prstGeom>
            <a:ln w="9525" cap="flat" cmpd="sng">
              <a:solidFill>
                <a:srgbClr val="FFFFFF"/>
              </a:solidFill>
              <a:prstDash val="solid"/>
              <a:headEnd type="none" w="med" len="med"/>
              <a:tailEnd type="none" w="med" len="med"/>
            </a:ln>
          </p:spPr>
        </p:sp>
        <p:sp>
          <p:nvSpPr>
            <p:cNvPr id="134164" name="Line 17"/>
            <p:cNvSpPr/>
            <p:nvPr/>
          </p:nvSpPr>
          <p:spPr>
            <a:xfrm flipH="1">
              <a:off x="3264" y="2304"/>
              <a:ext cx="144" cy="48"/>
            </a:xfrm>
            <a:prstGeom prst="line">
              <a:avLst/>
            </a:prstGeom>
            <a:ln w="9525" cap="flat" cmpd="sng">
              <a:solidFill>
                <a:srgbClr val="FFFFFF"/>
              </a:solidFill>
              <a:prstDash val="solid"/>
              <a:headEnd type="none" w="med" len="med"/>
              <a:tailEnd type="none" w="med" len="med"/>
            </a:ln>
          </p:spPr>
        </p:sp>
        <p:sp>
          <p:nvSpPr>
            <p:cNvPr id="134165" name="Rectangle 18"/>
            <p:cNvSpPr/>
            <p:nvPr/>
          </p:nvSpPr>
          <p:spPr>
            <a:xfrm>
              <a:off x="4320" y="2160"/>
              <a:ext cx="672" cy="480"/>
            </a:xfrm>
            <a:prstGeom prst="rect">
              <a:avLst/>
            </a:prstGeom>
            <a:solidFill>
              <a:srgbClr val="9966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34166" name="Line 19"/>
            <p:cNvSpPr/>
            <p:nvPr/>
          </p:nvSpPr>
          <p:spPr>
            <a:xfrm>
              <a:off x="4992" y="2544"/>
              <a:ext cx="384" cy="0"/>
            </a:xfrm>
            <a:prstGeom prst="line">
              <a:avLst/>
            </a:prstGeom>
            <a:ln w="9525" cap="flat" cmpd="sng">
              <a:solidFill>
                <a:schemeClr val="tx1"/>
              </a:solidFill>
              <a:prstDash val="solid"/>
              <a:headEnd type="none" w="med" len="med"/>
              <a:tailEnd type="none" w="med" len="med"/>
            </a:ln>
          </p:spPr>
        </p:sp>
        <p:sp>
          <p:nvSpPr>
            <p:cNvPr id="134167" name="Line 20"/>
            <p:cNvSpPr/>
            <p:nvPr/>
          </p:nvSpPr>
          <p:spPr>
            <a:xfrm>
              <a:off x="3120" y="1920"/>
              <a:ext cx="1056" cy="0"/>
            </a:xfrm>
            <a:prstGeom prst="line">
              <a:avLst/>
            </a:prstGeom>
            <a:ln w="9525" cap="flat" cmpd="sng">
              <a:solidFill>
                <a:schemeClr val="tx1"/>
              </a:solidFill>
              <a:prstDash val="solid"/>
              <a:headEnd type="none" w="med" len="med"/>
              <a:tailEnd type="none" w="med" len="med"/>
            </a:ln>
          </p:spPr>
        </p:sp>
        <p:sp>
          <p:nvSpPr>
            <p:cNvPr id="134168" name="Text Box 21"/>
            <p:cNvSpPr txBox="1"/>
            <p:nvPr/>
          </p:nvSpPr>
          <p:spPr>
            <a:xfrm>
              <a:off x="4320" y="2352"/>
              <a:ext cx="192" cy="44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D      </a:t>
              </a:r>
              <a:endParaRPr lang="en-US" altLang="zh-CN" dirty="0">
                <a:latin typeface="Times New Roman" panose="02020603050405020304" pitchFamily="18" charset="0"/>
                <a:ea typeface="宋体" panose="02010600030101010101" pitchFamily="2" charset="-122"/>
              </a:endParaRPr>
            </a:p>
          </p:txBody>
        </p:sp>
        <p:sp>
          <p:nvSpPr>
            <p:cNvPr id="134169" name="Text Box 22"/>
            <p:cNvSpPr txBox="1"/>
            <p:nvPr/>
          </p:nvSpPr>
          <p:spPr>
            <a:xfrm>
              <a:off x="4704" y="2352"/>
              <a:ext cx="192" cy="250"/>
            </a:xfrm>
            <a:prstGeom prst="rect">
              <a:avLst/>
            </a:prstGeom>
            <a:solidFill>
              <a:srgbClr val="996600"/>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sp>
          <p:nvSpPr>
            <p:cNvPr id="134170" name="Line 23"/>
            <p:cNvSpPr/>
            <p:nvPr/>
          </p:nvSpPr>
          <p:spPr>
            <a:xfrm>
              <a:off x="4320" y="2256"/>
              <a:ext cx="144" cy="48"/>
            </a:xfrm>
            <a:prstGeom prst="line">
              <a:avLst/>
            </a:prstGeom>
            <a:ln w="9525" cap="flat" cmpd="sng">
              <a:solidFill>
                <a:srgbClr val="FFFFFF"/>
              </a:solidFill>
              <a:prstDash val="solid"/>
              <a:headEnd type="none" w="med" len="med"/>
              <a:tailEnd type="none" w="med" len="med"/>
            </a:ln>
          </p:spPr>
        </p:sp>
        <p:sp>
          <p:nvSpPr>
            <p:cNvPr id="134171" name="Line 24"/>
            <p:cNvSpPr/>
            <p:nvPr/>
          </p:nvSpPr>
          <p:spPr>
            <a:xfrm flipH="1">
              <a:off x="4320" y="2304"/>
              <a:ext cx="144" cy="48"/>
            </a:xfrm>
            <a:prstGeom prst="line">
              <a:avLst/>
            </a:prstGeom>
            <a:ln w="9525" cap="flat" cmpd="sng">
              <a:solidFill>
                <a:srgbClr val="FFFFFF"/>
              </a:solidFill>
              <a:prstDash val="solid"/>
              <a:headEnd type="none" w="med" len="med"/>
              <a:tailEnd type="none" w="med" len="med"/>
            </a:ln>
          </p:spPr>
        </p:sp>
        <p:sp>
          <p:nvSpPr>
            <p:cNvPr id="134172" name="Line 25"/>
            <p:cNvSpPr/>
            <p:nvPr/>
          </p:nvSpPr>
          <p:spPr>
            <a:xfrm>
              <a:off x="4176" y="1920"/>
              <a:ext cx="0" cy="384"/>
            </a:xfrm>
            <a:prstGeom prst="line">
              <a:avLst/>
            </a:prstGeom>
            <a:ln w="9525" cap="flat" cmpd="sng">
              <a:solidFill>
                <a:schemeClr val="tx1"/>
              </a:solidFill>
              <a:prstDash val="solid"/>
              <a:headEnd type="none" w="med" len="med"/>
              <a:tailEnd type="none" w="med" len="med"/>
            </a:ln>
          </p:spPr>
        </p:sp>
        <p:sp>
          <p:nvSpPr>
            <p:cNvPr id="134173" name="Line 26"/>
            <p:cNvSpPr/>
            <p:nvPr/>
          </p:nvSpPr>
          <p:spPr>
            <a:xfrm>
              <a:off x="3120" y="1920"/>
              <a:ext cx="0" cy="384"/>
            </a:xfrm>
            <a:prstGeom prst="line">
              <a:avLst/>
            </a:prstGeom>
            <a:ln w="9525" cap="flat" cmpd="sng">
              <a:solidFill>
                <a:schemeClr val="tx1"/>
              </a:solidFill>
              <a:prstDash val="solid"/>
              <a:headEnd type="none" w="med" len="med"/>
              <a:tailEnd type="none" w="med" len="med"/>
            </a:ln>
          </p:spPr>
        </p:sp>
        <p:sp>
          <p:nvSpPr>
            <p:cNvPr id="134174" name="Text Box 27"/>
            <p:cNvSpPr txBox="1"/>
            <p:nvPr/>
          </p:nvSpPr>
          <p:spPr>
            <a:xfrm>
              <a:off x="2832" y="254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34175" name="Text Box 28"/>
            <p:cNvSpPr txBox="1"/>
            <p:nvPr/>
          </p:nvSpPr>
          <p:spPr>
            <a:xfrm>
              <a:off x="4032" y="254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sp>
          <p:nvSpPr>
            <p:cNvPr id="134176" name="Text Box 29"/>
            <p:cNvSpPr txBox="1"/>
            <p:nvPr/>
          </p:nvSpPr>
          <p:spPr>
            <a:xfrm>
              <a:off x="4464" y="2640"/>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DFF</a:t>
              </a:r>
              <a:endParaRPr lang="en-US" altLang="zh-CN" dirty="0">
                <a:latin typeface="Times New Roman" panose="02020603050405020304" pitchFamily="18" charset="0"/>
                <a:ea typeface="宋体" panose="02010600030101010101" pitchFamily="2" charset="-122"/>
              </a:endParaRPr>
            </a:p>
          </p:txBody>
        </p:sp>
      </p:grpSp>
      <p:sp>
        <p:nvSpPr>
          <p:cNvPr id="1685534" name="AutoShape 30"/>
          <p:cNvSpPr/>
          <p:nvPr/>
        </p:nvSpPr>
        <p:spPr>
          <a:xfrm>
            <a:off x="1908175" y="4319588"/>
            <a:ext cx="1947863" cy="1009650"/>
          </a:xfrm>
          <a:prstGeom prst="wedgeRoundRectCallout">
            <a:avLst>
              <a:gd name="adj1" fmla="val -43889"/>
              <a:gd name="adj2" fmla="val -80662"/>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5C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非阻塞</a:t>
            </a:r>
            <a:r>
              <a:rPr lang="zh-CN" altLang="zh-CN" b="1" dirty="0">
                <a:latin typeface="华文楷体" panose="02010600040101010101" pitchFamily="2" charset="-122"/>
                <a:ea typeface="华文楷体" panose="02010600040101010101" pitchFamily="2" charset="-122"/>
              </a:rPr>
              <a:t>赋值</a:t>
            </a:r>
            <a:r>
              <a:rPr lang="zh-CN" altLang="en-US" b="1" dirty="0">
                <a:latin typeface="华文楷体" panose="02010600040101010101" pitchFamily="2" charset="-122"/>
                <a:ea typeface="华文楷体" panose="02010600040101010101" pitchFamily="2" charset="-122"/>
              </a:rPr>
              <a:t>在</a:t>
            </a:r>
            <a:r>
              <a:rPr lang="zh-CN" altLang="en-US" b="1" dirty="0">
                <a:solidFill>
                  <a:srgbClr val="CC3300"/>
                </a:solidFill>
                <a:latin typeface="华文楷体" panose="02010600040101010101" pitchFamily="2" charset="-122"/>
                <a:ea typeface="华文楷体" panose="02010600040101010101" pitchFamily="2" charset="-122"/>
              </a:rPr>
              <a:t>块</a:t>
            </a:r>
            <a:r>
              <a:rPr lang="zh-CN" altLang="en-US" b="1" dirty="0">
                <a:latin typeface="华文楷体" panose="02010600040101010101" pitchFamily="2" charset="-122"/>
                <a:ea typeface="华文楷体" panose="02010600040101010101" pitchFamily="2" charset="-122"/>
              </a:rPr>
              <a:t>结束时才完成赋值操作！</a:t>
            </a:r>
            <a:endParaRPr lang="zh-CN" altLang="en-US" b="1" dirty="0">
              <a:latin typeface="华文楷体" panose="02010600040101010101" pitchFamily="2" charset="-122"/>
              <a:ea typeface="华文楷体" panose="02010600040101010101" pitchFamily="2" charset="-122"/>
            </a:endParaRPr>
          </a:p>
        </p:txBody>
      </p:sp>
      <p:sp>
        <p:nvSpPr>
          <p:cNvPr id="1685535" name="Rectangle 31"/>
          <p:cNvSpPr/>
          <p:nvPr/>
        </p:nvSpPr>
        <p:spPr>
          <a:xfrm>
            <a:off x="1166813" y="5659438"/>
            <a:ext cx="5486400" cy="496887"/>
          </a:xfrm>
          <a:prstGeom prst="rect">
            <a:avLst/>
          </a:prstGeom>
          <a:noFill/>
          <a:ln w="12700" cap="flat" cmpd="sng">
            <a:solidFill>
              <a:srgbClr val="89A4A7"/>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a:lnSpc>
                <a:spcPct val="110000"/>
              </a:lnSpc>
              <a:spcBef>
                <a:spcPct val="0"/>
              </a:spcBef>
              <a:buClr>
                <a:schemeClr val="hlink"/>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注：</a:t>
            </a:r>
            <a:r>
              <a:rPr lang="en-US" altLang="zh-CN" sz="2400" b="1" dirty="0">
                <a:latin typeface="华文楷体" panose="02010600040101010101" pitchFamily="2" charset="-122"/>
                <a:ea typeface="华文楷体" panose="02010600040101010101" pitchFamily="2" charset="-122"/>
              </a:rPr>
              <a:t>c</a:t>
            </a:r>
            <a:r>
              <a:rPr lang="zh-CN" altLang="en-US" sz="2400" b="1" dirty="0">
                <a:latin typeface="华文楷体" panose="02010600040101010101" pitchFamily="2" charset="-122"/>
                <a:ea typeface="华文楷体" panose="02010600040101010101" pitchFamily="2" charset="-122"/>
              </a:rPr>
              <a:t>的值比</a:t>
            </a:r>
            <a:r>
              <a:rPr lang="en-US" altLang="zh-CN" sz="2400" b="1" dirty="0">
                <a:latin typeface="华文楷体" panose="02010600040101010101" pitchFamily="2" charset="-122"/>
                <a:ea typeface="华文楷体" panose="02010600040101010101" pitchFamily="2" charset="-122"/>
              </a:rPr>
              <a:t>b</a:t>
            </a:r>
            <a:r>
              <a:rPr lang="zh-CN" altLang="en-US" sz="2400" b="1" dirty="0">
                <a:latin typeface="华文楷体" panose="02010600040101010101" pitchFamily="2" charset="-122"/>
                <a:ea typeface="华文楷体" panose="02010600040101010101" pitchFamily="2" charset="-122"/>
              </a:rPr>
              <a:t>的值落后一个时钟周期！</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5507"/>
                                        </p:tgtEl>
                                        <p:attrNameLst>
                                          <p:attrName>style.visibility</p:attrName>
                                        </p:attrNameLst>
                                      </p:cBhvr>
                                      <p:to>
                                        <p:strVal val="visible"/>
                                      </p:to>
                                    </p:set>
                                    <p:anim calcmode="lin" valueType="num">
                                      <p:cBhvr additive="base">
                                        <p:cTn id="7" dur="500" fill="hold"/>
                                        <p:tgtEl>
                                          <p:spTgt spid="1685507"/>
                                        </p:tgtEl>
                                        <p:attrNameLst>
                                          <p:attrName>ppt_x</p:attrName>
                                        </p:attrNameLst>
                                      </p:cBhvr>
                                      <p:tavLst>
                                        <p:tav tm="0">
                                          <p:val>
                                            <p:strVal val="0-#ppt_w/2"/>
                                          </p:val>
                                        </p:tav>
                                        <p:tav tm="100000">
                                          <p:val>
                                            <p:strVal val="#ppt_x"/>
                                          </p:val>
                                        </p:tav>
                                      </p:tavLst>
                                    </p:anim>
                                    <p:anim calcmode="lin" valueType="num">
                                      <p:cBhvr additive="base">
                                        <p:cTn id="8" dur="500" fill="hold"/>
                                        <p:tgtEl>
                                          <p:spTgt spid="16855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85534"/>
                                        </p:tgtEl>
                                        <p:attrNameLst>
                                          <p:attrName>style.visibility</p:attrName>
                                        </p:attrNameLst>
                                      </p:cBhvr>
                                      <p:to>
                                        <p:strVal val="visible"/>
                                      </p:to>
                                    </p:set>
                                    <p:animEffect transition="in" filter="dissolve">
                                      <p:cBhvr>
                                        <p:cTn id="13" dur="500"/>
                                        <p:tgtEl>
                                          <p:spTgt spid="168553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1+#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685535"/>
                                        </p:tgtEl>
                                        <p:attrNameLst>
                                          <p:attrName>style.visibility</p:attrName>
                                        </p:attrNameLst>
                                      </p:cBhvr>
                                      <p:to>
                                        <p:strVal val="visible"/>
                                      </p:to>
                                    </p:set>
                                    <p:anim calcmode="lin" valueType="num">
                                      <p:cBhvr>
                                        <p:cTn id="24" dur="500" fill="hold"/>
                                        <p:tgtEl>
                                          <p:spTgt spid="1685535"/>
                                        </p:tgtEl>
                                        <p:attrNameLst>
                                          <p:attrName>ppt_w</p:attrName>
                                        </p:attrNameLst>
                                      </p:cBhvr>
                                      <p:tavLst>
                                        <p:tav tm="0">
                                          <p:val>
                                            <p:fltVal val="0.000000"/>
                                          </p:val>
                                        </p:tav>
                                        <p:tav tm="100000">
                                          <p:val>
                                            <p:strVal val="#ppt_w"/>
                                          </p:val>
                                        </p:tav>
                                      </p:tavLst>
                                    </p:anim>
                                    <p:anim calcmode="lin" valueType="num">
                                      <p:cBhvr>
                                        <p:cTn id="25" dur="500" fill="hold"/>
                                        <p:tgtEl>
                                          <p:spTgt spid="168553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5507" grpId="0"/>
      <p:bldP spid="1685534" grpId="0" bldLvl="0" animBg="1"/>
      <p:bldP spid="168553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61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3619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8755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800" b="0" i="0" u="none" strike="noStrike" kern="0" cap="none" spc="0" normalizeH="0" baseline="0" noProof="1">
                <a:ln>
                  <a:noFill/>
                </a:ln>
                <a:solidFill>
                  <a:schemeClr val="tx2"/>
                </a:solidFill>
                <a:effectLst/>
                <a:uLnTx/>
                <a:uFillTx/>
                <a:latin typeface="华文新魏" panose="02010800040101010101" pitchFamily="2" charset="-122"/>
                <a:ea typeface="华文新魏" panose="02010800040101010101" pitchFamily="2" charset="-122"/>
                <a:cs typeface="+mn-cs"/>
              </a:rPr>
              <a:t>2. </a:t>
            </a:r>
            <a:r>
              <a:rPr kumimoji="0" lang="zh-CN" altLang="en-US" sz="2800" b="0" i="0" u="none" strike="noStrike" kern="0" cap="none" spc="0" normalizeH="0" baseline="0" noProof="1">
                <a:ln>
                  <a:noFill/>
                </a:ln>
                <a:solidFill>
                  <a:schemeClr val="tx2"/>
                </a:solidFill>
                <a:effectLst/>
                <a:uLnTx/>
                <a:uFillTx/>
                <a:latin typeface="华文新魏" panose="02010800040101010101" pitchFamily="2" charset="-122"/>
                <a:ea typeface="华文新魏" panose="02010800040101010101" pitchFamily="2" charset="-122"/>
                <a:cs typeface="+mn-cs"/>
              </a:rPr>
              <a:t>阻塞</a:t>
            </a:r>
            <a:r>
              <a:rPr kumimoji="0" lang="zh-CN" altLang="zh-CN" sz="2800" b="0" i="0" u="none" strike="noStrike" kern="0" cap="none" spc="0" normalizeH="0" baseline="0" noProof="1">
                <a:ln>
                  <a:noFill/>
                </a:ln>
                <a:solidFill>
                  <a:schemeClr val="tx2"/>
                </a:solidFill>
                <a:effectLst/>
                <a:uLnTx/>
                <a:uFillTx/>
                <a:latin typeface="华文新魏" panose="02010800040101010101" pitchFamily="2" charset="-122"/>
                <a:ea typeface="华文新魏" panose="02010800040101010101" pitchFamily="2" charset="-122"/>
                <a:cs typeface="+mn-cs"/>
              </a:rPr>
              <a:t>赋值方式</a:t>
            </a:r>
            <a:endParaRPr kumimoji="0" lang="zh-CN" altLang="zh-CN" sz="2800" b="0" i="0" u="none" strike="noStrike" kern="0" cap="none" spc="0" normalizeH="0" baseline="0" noProof="1">
              <a:ln>
                <a:noFill/>
              </a:ln>
              <a:solidFill>
                <a:schemeClr val="tx2"/>
              </a:solidFill>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always @(posedge clk)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begin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b = a ;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c = b;</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d</a:t>
            </a:r>
            <a:endParaRPr kumimoji="0" lang="en-US" altLang="zh-CN" sz="26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cs typeface="+mn-cs"/>
            </a:endParaRPr>
          </a:p>
        </p:txBody>
      </p:sp>
      <p:sp>
        <p:nvSpPr>
          <p:cNvPr id="1687556" name="AutoShape 4"/>
          <p:cNvSpPr/>
          <p:nvPr/>
        </p:nvSpPr>
        <p:spPr>
          <a:xfrm>
            <a:off x="2030413" y="3478213"/>
            <a:ext cx="2133600" cy="1028700"/>
          </a:xfrm>
          <a:prstGeom prst="wedgeRoundRectCallout">
            <a:avLst>
              <a:gd name="adj1" fmla="val -43153"/>
              <a:gd name="adj2" fmla="val -77315"/>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5C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阻塞</a:t>
            </a:r>
            <a:r>
              <a:rPr lang="zh-CN" altLang="zh-CN" b="1" dirty="0">
                <a:latin typeface="华文楷体" panose="02010600040101010101" pitchFamily="2" charset="-122"/>
                <a:ea typeface="华文楷体" panose="02010600040101010101" pitchFamily="2" charset="-122"/>
              </a:rPr>
              <a:t>赋值在</a:t>
            </a:r>
            <a:r>
              <a:rPr lang="zh-CN" altLang="en-US" b="1" dirty="0">
                <a:solidFill>
                  <a:srgbClr val="CC3300"/>
                </a:solidFill>
                <a:latin typeface="华文楷体" panose="02010600040101010101" pitchFamily="2" charset="-122"/>
                <a:ea typeface="华文楷体" panose="02010600040101010101" pitchFamily="2" charset="-122"/>
              </a:rPr>
              <a:t>该语句</a:t>
            </a:r>
            <a:r>
              <a:rPr lang="zh-CN" altLang="en-US" b="1" dirty="0">
                <a:latin typeface="华文楷体" panose="02010600040101010101" pitchFamily="2" charset="-122"/>
                <a:ea typeface="华文楷体" panose="02010600040101010101" pitchFamily="2" charset="-122"/>
              </a:rPr>
              <a:t>结束时就完成赋值操作！</a:t>
            </a:r>
            <a:endParaRPr lang="zh-CN" altLang="en-US" b="1" dirty="0">
              <a:latin typeface="华文楷体" panose="02010600040101010101" pitchFamily="2" charset="-122"/>
              <a:ea typeface="华文楷体" panose="02010600040101010101" pitchFamily="2" charset="-122"/>
            </a:endParaRPr>
          </a:p>
        </p:txBody>
      </p:sp>
      <p:grpSp>
        <p:nvGrpSpPr>
          <p:cNvPr id="2" name="Group 5"/>
          <p:cNvGrpSpPr/>
          <p:nvPr/>
        </p:nvGrpSpPr>
        <p:grpSpPr>
          <a:xfrm>
            <a:off x="4597400" y="2159000"/>
            <a:ext cx="3657600" cy="1676400"/>
            <a:chOff x="2640" y="2640"/>
            <a:chExt cx="2304" cy="1056"/>
          </a:xfrm>
        </p:grpSpPr>
        <p:sp>
          <p:nvSpPr>
            <p:cNvPr id="136200" name="Rectangle 6"/>
            <p:cNvSpPr/>
            <p:nvPr/>
          </p:nvSpPr>
          <p:spPr>
            <a:xfrm>
              <a:off x="2640" y="2640"/>
              <a:ext cx="2304"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136201" name="Line 7"/>
            <p:cNvSpPr/>
            <p:nvPr/>
          </p:nvSpPr>
          <p:spPr>
            <a:xfrm>
              <a:off x="3936" y="3216"/>
              <a:ext cx="336" cy="0"/>
            </a:xfrm>
            <a:prstGeom prst="line">
              <a:avLst/>
            </a:prstGeom>
            <a:ln w="9525" cap="flat" cmpd="sng">
              <a:solidFill>
                <a:schemeClr val="tx1"/>
              </a:solidFill>
              <a:prstDash val="solid"/>
              <a:headEnd type="none" w="med" len="med"/>
              <a:tailEnd type="none" w="med" len="med"/>
            </a:ln>
          </p:spPr>
        </p:sp>
        <p:sp>
          <p:nvSpPr>
            <p:cNvPr id="136202" name="Text Box 8"/>
            <p:cNvSpPr txBox="1"/>
            <p:nvPr/>
          </p:nvSpPr>
          <p:spPr>
            <a:xfrm>
              <a:off x="2832" y="2736"/>
              <a:ext cx="384"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clk</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36203" name="Text Box 9"/>
            <p:cNvSpPr txBox="1"/>
            <p:nvPr/>
          </p:nvSpPr>
          <p:spPr>
            <a:xfrm>
              <a:off x="3360" y="3360"/>
              <a:ext cx="43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DFF</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36204" name="Text Box 10"/>
            <p:cNvSpPr txBox="1"/>
            <p:nvPr/>
          </p:nvSpPr>
          <p:spPr>
            <a:xfrm>
              <a:off x="4656" y="326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c</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36205" name="Rectangle 11"/>
            <p:cNvSpPr/>
            <p:nvPr/>
          </p:nvSpPr>
          <p:spPr>
            <a:xfrm>
              <a:off x="3264" y="2880"/>
              <a:ext cx="672" cy="480"/>
            </a:xfrm>
            <a:prstGeom prst="rect">
              <a:avLst/>
            </a:prstGeom>
            <a:solidFill>
              <a:srgbClr val="9966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36206" name="Line 12"/>
            <p:cNvSpPr/>
            <p:nvPr/>
          </p:nvSpPr>
          <p:spPr>
            <a:xfrm>
              <a:off x="2832" y="3216"/>
              <a:ext cx="432" cy="0"/>
            </a:xfrm>
            <a:prstGeom prst="line">
              <a:avLst/>
            </a:prstGeom>
            <a:ln w="9525" cap="flat" cmpd="sng">
              <a:solidFill>
                <a:schemeClr val="tx1"/>
              </a:solidFill>
              <a:prstDash val="solid"/>
              <a:headEnd type="none" w="med" len="med"/>
              <a:tailEnd type="none" w="med" len="med"/>
            </a:ln>
          </p:spPr>
        </p:sp>
        <p:sp>
          <p:nvSpPr>
            <p:cNvPr id="136207" name="Line 13"/>
            <p:cNvSpPr/>
            <p:nvPr/>
          </p:nvSpPr>
          <p:spPr>
            <a:xfrm>
              <a:off x="2832" y="3024"/>
              <a:ext cx="432" cy="0"/>
            </a:xfrm>
            <a:prstGeom prst="line">
              <a:avLst/>
            </a:prstGeom>
            <a:ln w="9525" cap="flat" cmpd="sng">
              <a:solidFill>
                <a:schemeClr val="tx1"/>
              </a:solidFill>
              <a:prstDash val="solid"/>
              <a:headEnd type="none" w="med" len="med"/>
              <a:tailEnd type="none" w="med" len="med"/>
            </a:ln>
          </p:spPr>
        </p:sp>
        <p:sp>
          <p:nvSpPr>
            <p:cNvPr id="136208" name="Text Box 14"/>
            <p:cNvSpPr txBox="1"/>
            <p:nvPr/>
          </p:nvSpPr>
          <p:spPr>
            <a:xfrm>
              <a:off x="3264" y="3072"/>
              <a:ext cx="192" cy="44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D      </a:t>
              </a:r>
              <a:endParaRPr lang="en-US" altLang="zh-CN" dirty="0">
                <a:latin typeface="Times New Roman" panose="02020603050405020304" pitchFamily="18" charset="0"/>
                <a:ea typeface="宋体" panose="02010600030101010101" pitchFamily="2" charset="-122"/>
              </a:endParaRPr>
            </a:p>
          </p:txBody>
        </p:sp>
        <p:sp>
          <p:nvSpPr>
            <p:cNvPr id="136209" name="Text Box 15"/>
            <p:cNvSpPr txBox="1"/>
            <p:nvPr/>
          </p:nvSpPr>
          <p:spPr>
            <a:xfrm>
              <a:off x="3696" y="3072"/>
              <a:ext cx="192" cy="250"/>
            </a:xfrm>
            <a:prstGeom prst="rect">
              <a:avLst/>
            </a:prstGeom>
            <a:solidFill>
              <a:srgbClr val="996600"/>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sp>
          <p:nvSpPr>
            <p:cNvPr id="136210" name="Line 16"/>
            <p:cNvSpPr/>
            <p:nvPr/>
          </p:nvSpPr>
          <p:spPr>
            <a:xfrm>
              <a:off x="3264" y="2976"/>
              <a:ext cx="144" cy="48"/>
            </a:xfrm>
            <a:prstGeom prst="line">
              <a:avLst/>
            </a:prstGeom>
            <a:ln w="9525" cap="flat" cmpd="sng">
              <a:solidFill>
                <a:srgbClr val="FFFFFF"/>
              </a:solidFill>
              <a:prstDash val="solid"/>
              <a:headEnd type="none" w="med" len="med"/>
              <a:tailEnd type="none" w="med" len="med"/>
            </a:ln>
          </p:spPr>
        </p:sp>
        <p:sp>
          <p:nvSpPr>
            <p:cNvPr id="136211" name="Line 17"/>
            <p:cNvSpPr/>
            <p:nvPr/>
          </p:nvSpPr>
          <p:spPr>
            <a:xfrm flipH="1">
              <a:off x="3264" y="3024"/>
              <a:ext cx="144" cy="48"/>
            </a:xfrm>
            <a:prstGeom prst="line">
              <a:avLst/>
            </a:prstGeom>
            <a:ln w="9525" cap="flat" cmpd="sng">
              <a:solidFill>
                <a:srgbClr val="FFFFFF"/>
              </a:solidFill>
              <a:prstDash val="solid"/>
              <a:headEnd type="none" w="med" len="med"/>
              <a:tailEnd type="none" w="med" len="med"/>
            </a:ln>
          </p:spPr>
        </p:sp>
        <p:sp>
          <p:nvSpPr>
            <p:cNvPr id="136212" name="Line 18"/>
            <p:cNvSpPr/>
            <p:nvPr/>
          </p:nvSpPr>
          <p:spPr>
            <a:xfrm>
              <a:off x="4272" y="3360"/>
              <a:ext cx="384" cy="0"/>
            </a:xfrm>
            <a:prstGeom prst="line">
              <a:avLst/>
            </a:prstGeom>
            <a:ln w="9525" cap="flat" cmpd="sng">
              <a:solidFill>
                <a:schemeClr val="tx1"/>
              </a:solidFill>
              <a:prstDash val="solid"/>
              <a:headEnd type="none" w="med" len="med"/>
              <a:tailEnd type="none" w="med" len="med"/>
            </a:ln>
          </p:spPr>
        </p:sp>
        <p:sp>
          <p:nvSpPr>
            <p:cNvPr id="136213" name="Text Box 19"/>
            <p:cNvSpPr txBox="1"/>
            <p:nvPr/>
          </p:nvSpPr>
          <p:spPr>
            <a:xfrm>
              <a:off x="2832" y="326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a:t>
              </a:r>
              <a:endParaRPr lang="en-US" altLang="zh-CN" dirty="0">
                <a:latin typeface="Times New Roman" panose="02020603050405020304" pitchFamily="18" charset="0"/>
                <a:ea typeface="宋体" panose="02010600030101010101" pitchFamily="2" charset="-122"/>
              </a:endParaRPr>
            </a:p>
          </p:txBody>
        </p:sp>
        <p:sp>
          <p:nvSpPr>
            <p:cNvPr id="136214" name="Text Box 20"/>
            <p:cNvSpPr txBox="1"/>
            <p:nvPr/>
          </p:nvSpPr>
          <p:spPr>
            <a:xfrm>
              <a:off x="4656" y="2784"/>
              <a:ext cx="192" cy="250"/>
            </a:xfrm>
            <a:prstGeom prst="rect">
              <a:avLst/>
            </a:prstGeom>
            <a:solidFill>
              <a:srgbClr val="99CCFF"/>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sp>
          <p:nvSpPr>
            <p:cNvPr id="136215" name="Line 21"/>
            <p:cNvSpPr/>
            <p:nvPr/>
          </p:nvSpPr>
          <p:spPr>
            <a:xfrm>
              <a:off x="4272" y="3024"/>
              <a:ext cx="0" cy="336"/>
            </a:xfrm>
            <a:prstGeom prst="line">
              <a:avLst/>
            </a:prstGeom>
            <a:ln w="9525" cap="flat" cmpd="sng">
              <a:solidFill>
                <a:schemeClr val="tx1"/>
              </a:solidFill>
              <a:prstDash val="solid"/>
              <a:headEnd type="none" w="med" len="med"/>
              <a:tailEnd type="none" w="med" len="med"/>
            </a:ln>
          </p:spPr>
        </p:sp>
        <p:sp>
          <p:nvSpPr>
            <p:cNvPr id="136216" name="Line 22"/>
            <p:cNvSpPr/>
            <p:nvPr/>
          </p:nvSpPr>
          <p:spPr>
            <a:xfrm>
              <a:off x="4272" y="3024"/>
              <a:ext cx="384" cy="0"/>
            </a:xfrm>
            <a:prstGeom prst="line">
              <a:avLst/>
            </a:prstGeom>
            <a:ln w="9525" cap="flat" cmpd="sng">
              <a:solidFill>
                <a:schemeClr val="tx1"/>
              </a:solidFill>
              <a:prstDash val="solid"/>
              <a:headEnd type="none" w="med" len="med"/>
              <a:tailEnd type="none" w="med" len="med"/>
            </a:ln>
          </p:spPr>
        </p:sp>
      </p:grpSp>
      <p:sp>
        <p:nvSpPr>
          <p:cNvPr id="1687575" name="Rectangle 23"/>
          <p:cNvSpPr/>
          <p:nvPr/>
        </p:nvSpPr>
        <p:spPr>
          <a:xfrm>
            <a:off x="808038" y="4668838"/>
            <a:ext cx="7396162" cy="1714500"/>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nSpc>
                <a:spcPct val="110000"/>
              </a:lnSpc>
              <a:spcBef>
                <a:spcPct val="0"/>
              </a:spcBef>
              <a:buClr>
                <a:schemeClr val="hlink"/>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注：在一个块语句中，如果有多条阻塞</a:t>
            </a:r>
            <a:r>
              <a:rPr lang="zh-CN" altLang="zh-CN" sz="2400" b="1" dirty="0">
                <a:latin typeface="华文楷体" panose="02010600040101010101" pitchFamily="2" charset="-122"/>
                <a:ea typeface="华文楷体" panose="02010600040101010101" pitchFamily="2" charset="-122"/>
              </a:rPr>
              <a:t>赋值语句，在前面的赋值语句没有完成之前，后面的语句就不能被执行，就像被阻塞了一样，因此称为</a:t>
            </a:r>
            <a:r>
              <a:rPr lang="zh-CN" altLang="en-US" sz="2400" b="1" dirty="0">
                <a:solidFill>
                  <a:srgbClr val="FF0000"/>
                </a:solidFill>
                <a:latin typeface="华文楷体" panose="02010600040101010101" pitchFamily="2" charset="-122"/>
                <a:ea typeface="华文楷体" panose="02010600040101010101" pitchFamily="2" charset="-122"/>
              </a:rPr>
              <a:t>阻塞</a:t>
            </a:r>
            <a:r>
              <a:rPr lang="zh-CN" altLang="zh-CN" sz="2400" b="1" dirty="0">
                <a:solidFill>
                  <a:srgbClr val="FF0000"/>
                </a:solidFill>
                <a:latin typeface="华文楷体" panose="02010600040101010101" pitchFamily="2" charset="-122"/>
                <a:ea typeface="华文楷体" panose="02010600040101010101" pitchFamily="2" charset="-122"/>
              </a:rPr>
              <a:t>赋值方式</a:t>
            </a:r>
            <a:r>
              <a:rPr lang="zh-CN" altLang="zh-CN"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marL="0" lvl="0" indent="0">
              <a:lnSpc>
                <a:spcPct val="110000"/>
              </a:lnSpc>
              <a:spcBef>
                <a:spcPct val="0"/>
              </a:spcBef>
              <a:buClr>
                <a:schemeClr val="hlink"/>
              </a:buClr>
              <a:buFont typeface="Wingdings" panose="05000000000000000000" pitchFamily="2" charset="2"/>
              <a:buChar char="•"/>
            </a:pPr>
            <a:r>
              <a:rPr lang="zh-CN" altLang="en-US" sz="2400" b="1" dirty="0">
                <a:latin typeface="华文楷体" panose="02010600040101010101" pitchFamily="2" charset="-122"/>
                <a:ea typeface="华文楷体" panose="02010600040101010101" pitchFamily="2" charset="-122"/>
              </a:rPr>
              <a:t>    这里</a:t>
            </a:r>
            <a:r>
              <a:rPr lang="en-US" altLang="zh-CN" sz="2400" b="1" dirty="0">
                <a:latin typeface="华文楷体" panose="02010600040101010101" pitchFamily="2" charset="-122"/>
                <a:ea typeface="华文楷体" panose="02010600040101010101" pitchFamily="2" charset="-122"/>
              </a:rPr>
              <a:t>c</a:t>
            </a:r>
            <a:r>
              <a:rPr lang="zh-CN" altLang="en-US" sz="2400" b="1" dirty="0">
                <a:latin typeface="华文楷体" panose="02010600040101010101" pitchFamily="2" charset="-122"/>
                <a:ea typeface="华文楷体" panose="02010600040101010101" pitchFamily="2" charset="-122"/>
              </a:rPr>
              <a:t>的值与</a:t>
            </a:r>
            <a:r>
              <a:rPr lang="en-US" altLang="zh-CN" sz="2400" b="1" dirty="0">
                <a:latin typeface="华文楷体" panose="02010600040101010101" pitchFamily="2" charset="-122"/>
                <a:ea typeface="华文楷体" panose="02010600040101010101" pitchFamily="2" charset="-122"/>
              </a:rPr>
              <a:t>b</a:t>
            </a:r>
            <a:r>
              <a:rPr lang="zh-CN" altLang="en-US" sz="2400" b="1" dirty="0">
                <a:latin typeface="华文楷体" panose="02010600040101010101" pitchFamily="2" charset="-122"/>
                <a:ea typeface="华文楷体" panose="02010600040101010101" pitchFamily="2" charset="-122"/>
              </a:rPr>
              <a:t>的值一样</a:t>
            </a:r>
            <a:r>
              <a:rPr lang="zh-CN"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7555"/>
                                        </p:tgtEl>
                                        <p:attrNameLst>
                                          <p:attrName>style.visibility</p:attrName>
                                        </p:attrNameLst>
                                      </p:cBhvr>
                                      <p:to>
                                        <p:strVal val="visible"/>
                                      </p:to>
                                    </p:set>
                                    <p:anim calcmode="lin" valueType="num">
                                      <p:cBhvr additive="base">
                                        <p:cTn id="7" dur="500" fill="hold"/>
                                        <p:tgtEl>
                                          <p:spTgt spid="1687555"/>
                                        </p:tgtEl>
                                        <p:attrNameLst>
                                          <p:attrName>ppt_x</p:attrName>
                                        </p:attrNameLst>
                                      </p:cBhvr>
                                      <p:tavLst>
                                        <p:tav tm="0">
                                          <p:val>
                                            <p:strVal val="0-#ppt_w/2"/>
                                          </p:val>
                                        </p:tav>
                                        <p:tav tm="100000">
                                          <p:val>
                                            <p:strVal val="#ppt_x"/>
                                          </p:val>
                                        </p:tav>
                                      </p:tavLst>
                                    </p:anim>
                                    <p:anim calcmode="lin" valueType="num">
                                      <p:cBhvr additive="base">
                                        <p:cTn id="8" dur="500" fill="hold"/>
                                        <p:tgtEl>
                                          <p:spTgt spid="16875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687556"/>
                                        </p:tgtEl>
                                        <p:attrNameLst>
                                          <p:attrName>style.visibility</p:attrName>
                                        </p:attrNameLst>
                                      </p:cBhvr>
                                      <p:to>
                                        <p:strVal val="visible"/>
                                      </p:to>
                                    </p:set>
                                    <p:animEffect transition="in" filter="dissolve">
                                      <p:cBhvr>
                                        <p:cTn id="13" dur="500"/>
                                        <p:tgtEl>
                                          <p:spTgt spid="168755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1+#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687575"/>
                                        </p:tgtEl>
                                        <p:attrNameLst>
                                          <p:attrName>style.visibility</p:attrName>
                                        </p:attrNameLst>
                                      </p:cBhvr>
                                      <p:to>
                                        <p:strVal val="visible"/>
                                      </p:to>
                                    </p:set>
                                    <p:anim calcmode="lin" valueType="num">
                                      <p:cBhvr additive="base">
                                        <p:cTn id="24" dur="500" fill="hold"/>
                                        <p:tgtEl>
                                          <p:spTgt spid="1687575"/>
                                        </p:tgtEl>
                                        <p:attrNameLst>
                                          <p:attrName>ppt_x</p:attrName>
                                        </p:attrNameLst>
                                      </p:cBhvr>
                                      <p:tavLst>
                                        <p:tav tm="0">
                                          <p:val>
                                            <p:strVal val="0-#ppt_w/2"/>
                                          </p:val>
                                        </p:tav>
                                        <p:tav tm="100000">
                                          <p:val>
                                            <p:strVal val="#ppt_x"/>
                                          </p:val>
                                        </p:tav>
                                      </p:tavLst>
                                    </p:anim>
                                    <p:anim calcmode="lin" valueType="num">
                                      <p:cBhvr additive="base">
                                        <p:cTn id="25" dur="500" fill="hold"/>
                                        <p:tgtEl>
                                          <p:spTgt spid="16875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7555" grpId="0"/>
      <p:bldP spid="1687556" grpId="0" bldLvl="0" animBg="1"/>
      <p:bldP spid="168757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3824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3824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89603" name="Rectangle 3"/>
          <p:cNvSpPr>
            <a:spLocks noGrp="1"/>
          </p:cNvSpPr>
          <p:nvPr>
            <p:ph idx="1"/>
          </p:nvPr>
        </p:nvSpPr>
        <p:spPr/>
        <p:txBody>
          <a:bodyPr vert="horz" wrap="square" lIns="91440" tIns="45720" rIns="91440" bIns="45720" anchor="t" anchorCtr="0"/>
          <a:p>
            <a:pPr algn="just">
              <a:lnSpc>
                <a:spcPct val="110000"/>
              </a:lnSpc>
              <a:spcBef>
                <a:spcPct val="0"/>
              </a:spcBef>
            </a:pPr>
            <a:endParaRPr lang="zh-CN" altLang="zh-CN" dirty="0">
              <a:latin typeface="宋体" panose="02010600030101010101" pitchFamily="2" charset="-122"/>
              <a:ea typeface="华文楷体" panose="02010600040101010101" pitchFamily="2" charset="-122"/>
              <a:cs typeface="+mn-cs"/>
            </a:endParaRPr>
          </a:p>
          <a:p>
            <a:pPr lvl="1" eaLnBrk="1" hangingPunct="1"/>
            <a:r>
              <a:rPr lang="zh-CN" altLang="en-US" dirty="0">
                <a:solidFill>
                  <a:srgbClr val="006600"/>
                </a:solidFill>
                <a:latin typeface="华文楷体" panose="02010600040101010101" pitchFamily="2" charset="-122"/>
                <a:ea typeface="华文楷体" panose="02010600040101010101" pitchFamily="2" charset="-122"/>
              </a:rPr>
              <a:t>非阻塞</a:t>
            </a:r>
            <a:r>
              <a:rPr lang="zh-CN" altLang="en-US"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non-blocking)赋值方式 ( b&lt;= a)</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lvl="2" eaLnBrk="1" hangingPunct="1"/>
            <a:r>
              <a:rPr lang="zh-CN" altLang="zh-CN" dirty="0">
                <a:latin typeface="华文楷体" panose="02010600040101010101" pitchFamily="2" charset="-122"/>
                <a:ea typeface="华文楷体" panose="02010600040101010101" pitchFamily="2" charset="-122"/>
              </a:rPr>
              <a:t>b的值被赋成新值a的操作, 并不是立刻完成的，而是在块结束时才完成；</a:t>
            </a:r>
            <a:endParaRPr lang="zh-CN" altLang="en-US" dirty="0">
              <a:latin typeface="华文楷体" panose="02010600040101010101" pitchFamily="2" charset="-122"/>
              <a:ea typeface="华文楷体" panose="02010600040101010101" pitchFamily="2" charset="-122"/>
            </a:endParaRPr>
          </a:p>
          <a:p>
            <a:pPr lvl="2" eaLnBrk="1" hangingPunct="1"/>
            <a:r>
              <a:rPr lang="zh-CN" altLang="en-US" dirty="0">
                <a:latin typeface="华文楷体" panose="02010600040101010101" pitchFamily="2" charset="-122"/>
                <a:ea typeface="华文楷体" panose="02010600040101010101" pitchFamily="2" charset="-122"/>
              </a:rPr>
              <a:t>块内的多条</a:t>
            </a:r>
            <a:r>
              <a:rPr lang="zh-CN" altLang="zh-CN" dirty="0">
                <a:latin typeface="华文楷体" panose="02010600040101010101" pitchFamily="2" charset="-122"/>
                <a:ea typeface="华文楷体" panose="02010600040101010101" pitchFamily="2" charset="-122"/>
              </a:rPr>
              <a:t>赋值语句在块结束时同时赋值；</a:t>
            </a:r>
            <a:endParaRPr lang="zh-CN" altLang="en-US" dirty="0">
              <a:latin typeface="华文楷体" panose="02010600040101010101" pitchFamily="2" charset="-122"/>
              <a:ea typeface="华文楷体" panose="02010600040101010101" pitchFamily="2" charset="-122"/>
            </a:endParaRPr>
          </a:p>
          <a:p>
            <a:pPr lvl="2" eaLnBrk="1" hangingPunct="1"/>
            <a:r>
              <a:rPr lang="zh-CN" altLang="zh-CN" dirty="0">
                <a:solidFill>
                  <a:srgbClr val="CC3300"/>
                </a:solidFill>
                <a:latin typeface="华文楷体" panose="02010600040101010101" pitchFamily="2" charset="-122"/>
                <a:ea typeface="华文楷体" panose="02010600040101010101" pitchFamily="2" charset="-122"/>
              </a:rPr>
              <a:t>硬件有对应的电路</a:t>
            </a:r>
            <a:r>
              <a:rPr lang="zh-CN" altLang="zh-CN" dirty="0">
                <a:latin typeface="华文楷体" panose="02010600040101010101" pitchFamily="2" charset="-122"/>
                <a:ea typeface="华文楷体" panose="02010600040101010101" pitchFamily="2" charset="-122"/>
              </a:rPr>
              <a:t>。</a:t>
            </a:r>
            <a:endParaRPr lang="zh-CN" altLang="zh-CN" dirty="0">
              <a:latin typeface="华文楷体" panose="02010600040101010101" pitchFamily="2" charset="-122"/>
              <a:ea typeface="华文楷体" panose="02010600040101010101" pitchFamily="2" charset="-122"/>
            </a:endParaRPr>
          </a:p>
          <a:p>
            <a:pPr lvl="1" eaLnBrk="1" hangingPunct="1"/>
            <a:r>
              <a:rPr lang="zh-CN" altLang="en-US" dirty="0">
                <a:solidFill>
                  <a:srgbClr val="006600"/>
                </a:solidFill>
                <a:latin typeface="华文楷体" panose="02010600040101010101" pitchFamily="2" charset="-122"/>
                <a:ea typeface="华文楷体" panose="02010600040101010101" pitchFamily="2" charset="-122"/>
              </a:rPr>
              <a:t>阻塞</a:t>
            </a:r>
            <a:r>
              <a:rPr lang="zh-CN" altLang="en-US" dirty="0">
                <a:latin typeface="华文楷体" panose="02010600040101010101" pitchFamily="2" charset="-122"/>
                <a:ea typeface="华文楷体" panose="02010600040101010101" pitchFamily="2" charset="-122"/>
              </a:rPr>
              <a:t>（</a:t>
            </a:r>
            <a:r>
              <a:rPr lang="zh-CN" altLang="zh-CN" dirty="0">
                <a:latin typeface="华文楷体" panose="02010600040101010101" pitchFamily="2" charset="-122"/>
                <a:ea typeface="华文楷体" panose="02010600040101010101" pitchFamily="2" charset="-122"/>
              </a:rPr>
              <a:t>blocking)赋值方式 ( b = a)</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a:p>
            <a:pPr lvl="2" eaLnBrk="1" hangingPunct="1"/>
            <a:r>
              <a:rPr lang="zh-CN" altLang="zh-CN" dirty="0">
                <a:latin typeface="华文楷体" panose="02010600040101010101" pitchFamily="2" charset="-122"/>
                <a:ea typeface="华文楷体" panose="02010600040101010101" pitchFamily="2" charset="-122"/>
              </a:rPr>
              <a:t>b的值立刻被赋成新值a；</a:t>
            </a:r>
            <a:endParaRPr lang="zh-CN" altLang="en-US" dirty="0">
              <a:latin typeface="华文楷体" panose="02010600040101010101" pitchFamily="2" charset="-122"/>
              <a:ea typeface="华文楷体" panose="02010600040101010101" pitchFamily="2" charset="-122"/>
            </a:endParaRPr>
          </a:p>
          <a:p>
            <a:pPr lvl="2" eaLnBrk="1" hangingPunct="1"/>
            <a:r>
              <a:rPr lang="zh-CN" altLang="zh-CN" dirty="0">
                <a:latin typeface="华文楷体" panose="02010600040101010101" pitchFamily="2" charset="-122"/>
                <a:ea typeface="华文楷体" panose="02010600040101010101" pitchFamily="2" charset="-122"/>
              </a:rPr>
              <a:t>完成该赋值语句后才能执行下一句的操作；</a:t>
            </a:r>
            <a:endParaRPr lang="zh-CN" altLang="en-US" dirty="0">
              <a:latin typeface="华文楷体" panose="02010600040101010101" pitchFamily="2" charset="-122"/>
              <a:ea typeface="华文楷体" panose="02010600040101010101" pitchFamily="2" charset="-122"/>
            </a:endParaRPr>
          </a:p>
          <a:p>
            <a:pPr lvl="2" eaLnBrk="1" hangingPunct="1"/>
            <a:r>
              <a:rPr lang="zh-CN" altLang="zh-CN" dirty="0">
                <a:latin typeface="华文楷体" panose="02010600040101010101" pitchFamily="2" charset="-122"/>
                <a:ea typeface="华文楷体" panose="02010600040101010101" pitchFamily="2" charset="-122"/>
              </a:rPr>
              <a:t>硬件没有对应的电路，因而综合结果未知。</a:t>
            </a:r>
            <a:endParaRPr lang="zh-CN" altLang="en-US" dirty="0">
              <a:latin typeface="华文楷体" panose="02010600040101010101" pitchFamily="2" charset="-122"/>
              <a:ea typeface="华文楷体" panose="02010600040101010101" pitchFamily="2" charset="-122"/>
            </a:endParaRPr>
          </a:p>
        </p:txBody>
      </p:sp>
      <p:sp>
        <p:nvSpPr>
          <p:cNvPr id="1689604" name="AutoShape 4"/>
          <p:cNvSpPr/>
          <p:nvPr/>
        </p:nvSpPr>
        <p:spPr>
          <a:xfrm>
            <a:off x="539750" y="795338"/>
            <a:ext cx="7258050" cy="644525"/>
          </a:xfrm>
          <a:prstGeom prst="homePlate">
            <a:avLst>
              <a:gd name="adj" fmla="val 281005"/>
            </a:avLst>
          </a:prstGeom>
          <a:noFill/>
          <a:ln w="12700" cap="flat" cmpd="sng">
            <a:solidFill>
              <a:schemeClr val="accent1"/>
            </a:solidFill>
            <a:prstDash val="solid"/>
            <a:round/>
            <a:headEnd type="none" w="med" len="med"/>
            <a:tailEnd type="none" w="med" len="med"/>
          </a:ln>
        </p:spPr>
        <p:txBody>
          <a:bodyPr wrap="none" lIns="73018" tIns="36509" rIns="73018" bIns="36509"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lnSpc>
                <a:spcPct val="90000"/>
              </a:lnSpc>
              <a:spcBef>
                <a:spcPct val="0"/>
              </a:spcBef>
              <a:buClr>
                <a:schemeClr val="tx2"/>
              </a:buClr>
              <a:buSzPct val="85000"/>
              <a:buFont typeface="Wingdings" panose="05000000000000000000" pitchFamily="2" charset="2"/>
              <a:buNone/>
            </a:pPr>
            <a:r>
              <a:rPr lang="zh-CN" altLang="en-US" sz="2800" b="1" dirty="0">
                <a:latin typeface="华文楷体" panose="02010600040101010101" pitchFamily="2" charset="-122"/>
                <a:ea typeface="华文楷体" panose="02010600040101010101" pitchFamily="2" charset="-122"/>
              </a:rPr>
              <a:t>非阻塞</a:t>
            </a:r>
            <a:r>
              <a:rPr lang="zh-CN" altLang="zh-CN" sz="2800" b="1" dirty="0">
                <a:latin typeface="华文楷体" panose="02010600040101010101" pitchFamily="2" charset="-122"/>
                <a:ea typeface="华文楷体" panose="02010600040101010101" pitchFamily="2" charset="-122"/>
              </a:rPr>
              <a:t>赋值与</a:t>
            </a:r>
            <a:r>
              <a:rPr lang="zh-CN" altLang="en-US" sz="2800" b="1" dirty="0">
                <a:latin typeface="华文楷体" panose="02010600040101010101" pitchFamily="2" charset="-122"/>
                <a:ea typeface="华文楷体" panose="02010600040101010101" pitchFamily="2" charset="-122"/>
              </a:rPr>
              <a:t>阻塞</a:t>
            </a:r>
            <a:r>
              <a:rPr lang="zh-CN" altLang="zh-CN" sz="2800" b="1" dirty="0">
                <a:latin typeface="华文楷体" panose="02010600040101010101" pitchFamily="2" charset="-122"/>
                <a:ea typeface="华文楷体" panose="02010600040101010101" pitchFamily="2" charset="-122"/>
              </a:rPr>
              <a:t>赋值方式的主要区别</a:t>
            </a:r>
            <a:endParaRPr lang="zh-CN" altLang="zh-CN" sz="2800" b="1" dirty="0">
              <a:latin typeface="华文楷体" panose="02010600040101010101" pitchFamily="2" charset="-122"/>
              <a:ea typeface="华文楷体" panose="02010600040101010101" pitchFamily="2" charset="-122"/>
            </a:endParaRPr>
          </a:p>
        </p:txBody>
      </p:sp>
      <p:sp>
        <p:nvSpPr>
          <p:cNvPr id="1689605" name="AutoShape 5"/>
          <p:cNvSpPr/>
          <p:nvPr/>
        </p:nvSpPr>
        <p:spPr>
          <a:xfrm>
            <a:off x="895350" y="4751388"/>
            <a:ext cx="7354888" cy="1285875"/>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eaLnBrk="1" hangingPunct="1">
              <a:lnSpc>
                <a:spcPct val="110000"/>
              </a:lnSpc>
              <a:spcBef>
                <a:spcPct val="0"/>
              </a:spcBef>
              <a:buClr>
                <a:srgbClr val="FF0066"/>
              </a:buClr>
              <a:buSzPct val="80000"/>
              <a:buFont typeface="Wingdings" panose="05000000000000000000" pitchFamily="2" charset="2"/>
              <a:buChar char="v"/>
            </a:pPr>
            <a:r>
              <a:rPr lang="zh-CN" altLang="zh-CN" sz="2600" b="1" dirty="0">
                <a:solidFill>
                  <a:schemeClr val="tx2"/>
                </a:solidFill>
                <a:latin typeface="华文楷体" panose="02010600040101010101" pitchFamily="2" charset="-122"/>
                <a:ea typeface="华文楷体" panose="02010600040101010101" pitchFamily="2" charset="-122"/>
              </a:rPr>
              <a:t>建议在初学时只使用一种方式，不要混用！</a:t>
            </a:r>
            <a:endParaRPr lang="zh-CN" altLang="en-US" sz="2600" b="1" dirty="0">
              <a:solidFill>
                <a:schemeClr val="tx2"/>
              </a:solidFill>
              <a:latin typeface="华文楷体" panose="02010600040101010101" pitchFamily="2" charset="-122"/>
              <a:ea typeface="华文楷体" panose="02010600040101010101" pitchFamily="2" charset="-122"/>
            </a:endParaRPr>
          </a:p>
          <a:p>
            <a:pPr marL="281305" lvl="0" indent="-281305" algn="just" eaLnBrk="1" hangingPunct="1">
              <a:lnSpc>
                <a:spcPct val="110000"/>
              </a:lnSpc>
              <a:spcBef>
                <a:spcPct val="0"/>
              </a:spcBef>
              <a:buClr>
                <a:srgbClr val="FF0066"/>
              </a:buClr>
              <a:buSzPct val="80000"/>
              <a:buFont typeface="Wingdings" panose="05000000000000000000" pitchFamily="2" charset="2"/>
              <a:buChar char="v"/>
            </a:pPr>
            <a:r>
              <a:rPr lang="zh-CN" altLang="zh-CN" sz="2600" b="1" dirty="0">
                <a:solidFill>
                  <a:schemeClr val="tx2"/>
                </a:solidFill>
                <a:latin typeface="华文楷体" panose="02010600040101010101" pitchFamily="2" charset="-122"/>
                <a:ea typeface="华文楷体" panose="02010600040101010101" pitchFamily="2" charset="-122"/>
              </a:rPr>
              <a:t>建议在可综合风格的模块中使用</a:t>
            </a:r>
            <a:r>
              <a:rPr lang="zh-CN" altLang="en-US" sz="2600" b="1" dirty="0">
                <a:solidFill>
                  <a:schemeClr val="hlink"/>
                </a:solidFill>
                <a:latin typeface="华文楷体" panose="02010600040101010101" pitchFamily="2" charset="-122"/>
                <a:ea typeface="华文楷体" panose="02010600040101010101" pitchFamily="2" charset="-122"/>
              </a:rPr>
              <a:t>非阻塞</a:t>
            </a:r>
            <a:r>
              <a:rPr lang="zh-CN" altLang="zh-CN" sz="2600" b="1" dirty="0">
                <a:solidFill>
                  <a:schemeClr val="tx2"/>
                </a:solidFill>
                <a:latin typeface="华文楷体" panose="02010600040101010101" pitchFamily="2" charset="-122"/>
                <a:ea typeface="华文楷体" panose="02010600040101010101" pitchFamily="2" charset="-122"/>
              </a:rPr>
              <a:t>赋值！</a:t>
            </a:r>
            <a:endParaRPr lang="zh-CN" altLang="en-US" sz="2600" b="1" dirty="0">
              <a:solidFill>
                <a:schemeClr val="tx2"/>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9604"/>
                                        </p:tgtEl>
                                        <p:attrNameLst>
                                          <p:attrName>style.visibility</p:attrName>
                                        </p:attrNameLst>
                                      </p:cBhvr>
                                      <p:to>
                                        <p:strVal val="visible"/>
                                      </p:to>
                                    </p:set>
                                    <p:anim calcmode="lin" valueType="num">
                                      <p:cBhvr additive="base">
                                        <p:cTn id="7" dur="500" fill="hold"/>
                                        <p:tgtEl>
                                          <p:spTgt spid="1689604"/>
                                        </p:tgtEl>
                                        <p:attrNameLst>
                                          <p:attrName>ppt_x</p:attrName>
                                        </p:attrNameLst>
                                      </p:cBhvr>
                                      <p:tavLst>
                                        <p:tav tm="0">
                                          <p:val>
                                            <p:strVal val="0-#ppt_w/2"/>
                                          </p:val>
                                        </p:tav>
                                        <p:tav tm="100000">
                                          <p:val>
                                            <p:strVal val="#ppt_x"/>
                                          </p:val>
                                        </p:tav>
                                      </p:tavLst>
                                    </p:anim>
                                    <p:anim calcmode="lin" valueType="num">
                                      <p:cBhvr additive="base">
                                        <p:cTn id="8" dur="500" fill="hold"/>
                                        <p:tgtEl>
                                          <p:spTgt spid="168960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689603"/>
                                        </p:tgtEl>
                                        <p:attrNameLst>
                                          <p:attrName>style.visibility</p:attrName>
                                        </p:attrNameLst>
                                      </p:cBhvr>
                                      <p:to>
                                        <p:strVal val="visible"/>
                                      </p:to>
                                    </p:set>
                                    <p:anim calcmode="lin" valueType="num">
                                      <p:cBhvr additive="base">
                                        <p:cTn id="12" dur="500" fill="hold"/>
                                        <p:tgtEl>
                                          <p:spTgt spid="1689603"/>
                                        </p:tgtEl>
                                        <p:attrNameLst>
                                          <p:attrName>ppt_x</p:attrName>
                                        </p:attrNameLst>
                                      </p:cBhvr>
                                      <p:tavLst>
                                        <p:tav tm="0">
                                          <p:val>
                                            <p:strVal val="#ppt_x"/>
                                          </p:val>
                                        </p:tav>
                                        <p:tav tm="100000">
                                          <p:val>
                                            <p:strVal val="#ppt_x"/>
                                          </p:val>
                                        </p:tav>
                                      </p:tavLst>
                                    </p:anim>
                                    <p:anim calcmode="lin" valueType="num">
                                      <p:cBhvr additive="base">
                                        <p:cTn id="13" dur="500" fill="hold"/>
                                        <p:tgtEl>
                                          <p:spTgt spid="168960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1689605"/>
                                        </p:tgtEl>
                                        <p:attrNameLst>
                                          <p:attrName>style.visibility</p:attrName>
                                        </p:attrNameLst>
                                      </p:cBhvr>
                                      <p:to>
                                        <p:strVal val="visible"/>
                                      </p:to>
                                    </p:set>
                                    <p:animEffect transition="in" filter="barn(outVertical)">
                                      <p:cBhvr>
                                        <p:cTn id="18" dur="500"/>
                                        <p:tgtEl>
                                          <p:spTgt spid="1689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03" grpId="0"/>
      <p:bldP spid="1689604" grpId="0" bldLvl="0" animBg="1"/>
      <p:bldP spid="1689605"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029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4029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9165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rgbClr val="FF0000"/>
                </a:solidFill>
                <a:latin typeface="Times New Roman" panose="02020603050405020304" pitchFamily="18" charset="0"/>
                <a:ea typeface="黑体" panose="02010609060101010101" pitchFamily="49" charset="-122"/>
                <a:cs typeface="+mn-cs"/>
              </a:rPr>
              <a:t>6.3 </a:t>
            </a:r>
            <a:r>
              <a:rPr lang="zh-CN" altLang="en-US" dirty="0">
                <a:solidFill>
                  <a:srgbClr val="FF0000"/>
                </a:solidFill>
                <a:latin typeface="Times New Roman" panose="02020603050405020304" pitchFamily="18" charset="0"/>
                <a:ea typeface="华文楷体" panose="02010600040101010101" pitchFamily="2" charset="-122"/>
                <a:cs typeface="+mn-cs"/>
              </a:rPr>
              <a:t>块语句</a:t>
            </a:r>
            <a:endParaRPr lang="zh-CN" altLang="en-US" dirty="0">
              <a:solidFill>
                <a:srgbClr val="FF0000"/>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用来将两条或多条语句组合在一起，使其在格式上更像一条语句，以增加程序的可读性。</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sz="2200" dirty="0">
                <a:latin typeface="Times New Roman" panose="02020603050405020304" pitchFamily="18" charset="0"/>
                <a:ea typeface="华文楷体" panose="02010600040101010101" pitchFamily="2" charset="-122"/>
                <a:cs typeface="+mn-cs"/>
              </a:rPr>
              <a:t>块语句：</a:t>
            </a:r>
            <a:endParaRPr lang="zh-CN" altLang="en-US" sz="2200" dirty="0">
              <a:latin typeface="Times New Roman" panose="02020603050405020304" pitchFamily="18" charset="0"/>
              <a:ea typeface="华文楷体" panose="02010600040101010101" pitchFamily="2" charset="-122"/>
              <a:cs typeface="+mn-cs"/>
            </a:endParaRPr>
          </a:p>
          <a:p>
            <a:pPr lvl="1" algn="just">
              <a:lnSpc>
                <a:spcPct val="110000"/>
              </a:lnSpc>
              <a:spcBef>
                <a:spcPct val="0"/>
              </a:spcBef>
            </a:pPr>
            <a:r>
              <a:rPr lang="en-US" altLang="zh-CN" sz="2200" dirty="0">
                <a:solidFill>
                  <a:srgbClr val="CC0000"/>
                </a:solidFill>
                <a:latin typeface="Times New Roman" panose="02020603050405020304" pitchFamily="18" charset="0"/>
                <a:ea typeface="黑体" panose="02010609060101010101" pitchFamily="49" charset="-122"/>
              </a:rPr>
              <a:t>begin_end</a:t>
            </a:r>
            <a:r>
              <a:rPr lang="zh-CN" altLang="en-US" sz="2200" dirty="0">
                <a:latin typeface="Times New Roman" panose="02020603050405020304" pitchFamily="18" charset="0"/>
                <a:ea typeface="华文楷体" panose="02010600040101010101" pitchFamily="2" charset="-122"/>
              </a:rPr>
              <a:t>语句</a:t>
            </a:r>
            <a:r>
              <a:rPr lang="en-US" altLang="zh-CN" sz="2200" dirty="0">
                <a:latin typeface="Times New Roman" panose="02020603050405020304" pitchFamily="18" charset="0"/>
                <a:ea typeface="黑体" panose="02010609060101010101" pitchFamily="49" charset="-122"/>
              </a:rPr>
              <a:t>——</a:t>
            </a:r>
            <a:r>
              <a:rPr lang="zh-CN" altLang="en-US" sz="2200" dirty="0">
                <a:latin typeface="Times New Roman" panose="02020603050405020304" pitchFamily="18" charset="0"/>
                <a:ea typeface="华文楷体" panose="02010600040101010101" pitchFamily="2" charset="-122"/>
              </a:rPr>
              <a:t>标识</a:t>
            </a:r>
            <a:r>
              <a:rPr lang="zh-CN" altLang="en-US" sz="2200" dirty="0">
                <a:solidFill>
                  <a:srgbClr val="FF33CC"/>
                </a:solidFill>
                <a:latin typeface="Times New Roman" panose="02020603050405020304" pitchFamily="18" charset="0"/>
                <a:ea typeface="华文楷体" panose="02010600040101010101" pitchFamily="2" charset="-122"/>
              </a:rPr>
              <a:t>顺序</a:t>
            </a:r>
            <a:r>
              <a:rPr lang="zh-CN" altLang="en-US" sz="2200" dirty="0">
                <a:latin typeface="Times New Roman" panose="02020603050405020304" pitchFamily="18" charset="0"/>
                <a:ea typeface="华文楷体" panose="02010600040101010101" pitchFamily="2" charset="-122"/>
              </a:rPr>
              <a:t>执行的语句</a:t>
            </a:r>
            <a:endParaRPr lang="zh-CN" altLang="zh-CN" sz="2200" dirty="0">
              <a:latin typeface="Times New Roman" panose="02020603050405020304" pitchFamily="18" charset="0"/>
              <a:ea typeface="华文楷体" panose="02010600040101010101" pitchFamily="2" charset="-122"/>
            </a:endParaRPr>
          </a:p>
        </p:txBody>
      </p:sp>
      <p:sp>
        <p:nvSpPr>
          <p:cNvPr id="1691656" name="Rectangle 8"/>
          <p:cNvSpPr/>
          <p:nvPr/>
        </p:nvSpPr>
        <p:spPr>
          <a:xfrm>
            <a:off x="473075" y="3602038"/>
            <a:ext cx="8197850" cy="2124075"/>
          </a:xfrm>
          <a:prstGeom prst="rect">
            <a:avLst/>
          </a:prstGeom>
          <a:noFill/>
          <a:ln w="9525">
            <a:noFill/>
          </a:ln>
        </p:spPr>
        <p:txBody>
          <a:bodyPr/>
          <a:lstStyle/>
          <a:p>
            <a:pPr marL="0" marR="0" lvl="0" indent="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None/>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特点：</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None/>
              <a:defRPr/>
            </a:pP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块内的语句是顺序执行的；</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每条语句的延迟时间是</a:t>
            </a:r>
            <a:r>
              <a:rPr kumimoji="0" lang="zh-CN" altLang="en-US" sz="2200" b="0" i="0" u="none" strike="noStrike" kern="1200" cap="none" spc="0" normalizeH="0" baseline="0" noProof="1">
                <a:ln>
                  <a:noFill/>
                </a:ln>
                <a:solidFill>
                  <a:srgbClr val="FF33CC"/>
                </a:solidFill>
                <a:effectLst/>
                <a:uLnTx/>
                <a:uFillTx/>
                <a:latin typeface="Times New Roman" panose="02020603050405020304" pitchFamily="18" charset="0"/>
                <a:ea typeface="华文楷体" panose="02010600040101010101" pitchFamily="2" charset="-122"/>
                <a:cs typeface="+mn-cs"/>
                <a:sym typeface="+mn-ea"/>
              </a:rPr>
              <a:t>相对于前一条语句</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的仿真时间而言的；</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Char char="Ø"/>
              <a:defRPr/>
            </a:pPr>
            <a:r>
              <a:rPr kumimoji="0" lang="zh-CN"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直到最后一条语句执行完，程序流程控制才跳出该顺序块。</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91651"/>
                                        </p:tgtEl>
                                        <p:attrNameLst>
                                          <p:attrName>style.visibility</p:attrName>
                                        </p:attrNameLst>
                                      </p:cBhvr>
                                      <p:to>
                                        <p:strVal val="visible"/>
                                      </p:to>
                                    </p:set>
                                    <p:anim calcmode="lin" valueType="num">
                                      <p:cBhvr additive="base">
                                        <p:cTn id="7" dur="500" fill="hold"/>
                                        <p:tgtEl>
                                          <p:spTgt spid="1691651"/>
                                        </p:tgtEl>
                                        <p:attrNameLst>
                                          <p:attrName>ppt_x</p:attrName>
                                        </p:attrNameLst>
                                      </p:cBhvr>
                                      <p:tavLst>
                                        <p:tav tm="0">
                                          <p:val>
                                            <p:strVal val="0-#ppt_w/2"/>
                                          </p:val>
                                        </p:tav>
                                        <p:tav tm="100000">
                                          <p:val>
                                            <p:strVal val="#ppt_x"/>
                                          </p:val>
                                        </p:tav>
                                      </p:tavLst>
                                    </p:anim>
                                    <p:anim calcmode="lin" valueType="num">
                                      <p:cBhvr additive="base">
                                        <p:cTn id="8" dur="500" fill="hold"/>
                                        <p:tgtEl>
                                          <p:spTgt spid="16916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691656"/>
                                        </p:tgtEl>
                                        <p:attrNameLst>
                                          <p:attrName>style.visibility</p:attrName>
                                        </p:attrNameLst>
                                      </p:cBhvr>
                                      <p:to>
                                        <p:strVal val="visible"/>
                                      </p:to>
                                    </p:set>
                                    <p:anim calcmode="lin" valueType="num">
                                      <p:cBhvr additive="base">
                                        <p:cTn id="12" dur="500" fill="hold"/>
                                        <p:tgtEl>
                                          <p:spTgt spid="1691656"/>
                                        </p:tgtEl>
                                        <p:attrNameLst>
                                          <p:attrName>ppt_x</p:attrName>
                                        </p:attrNameLst>
                                      </p:cBhvr>
                                      <p:tavLst>
                                        <p:tav tm="0">
                                          <p:val>
                                            <p:strVal val="1+#ppt_w/2"/>
                                          </p:val>
                                        </p:tav>
                                        <p:tav tm="100000">
                                          <p:val>
                                            <p:strVal val="#ppt_x"/>
                                          </p:val>
                                        </p:tav>
                                      </p:tavLst>
                                    </p:anim>
                                    <p:anim calcmode="lin" valueType="num">
                                      <p:cBhvr additive="base">
                                        <p:cTn id="13" dur="500" fill="hold"/>
                                        <p:tgtEl>
                                          <p:spTgt spid="16916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1651" grpId="0"/>
      <p:bldP spid="1691656" grpId="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233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42339" name="内容占位符 1"/>
          <p:cNvSpPr>
            <a:spLocks noGrp="1"/>
          </p:cNvSpPr>
          <p:nvPr>
            <p:ph idx="1"/>
          </p:nvPr>
        </p:nvSpPr>
        <p:spPr>
          <a:xfrm>
            <a:off x="539750" y="1098550"/>
            <a:ext cx="7921625" cy="4719638"/>
          </a:xfrm>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14234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93700" name="Text Box 4"/>
          <p:cNvSpPr txBox="1"/>
          <p:nvPr/>
        </p:nvSpPr>
        <p:spPr>
          <a:xfrm>
            <a:off x="1219200" y="2393950"/>
            <a:ext cx="1676400" cy="21018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begin</a:t>
            </a:r>
            <a:endParaRPr lang="en-US" altLang="zh-CN" b="1" dirty="0">
              <a:solidFill>
                <a:srgbClr val="FF0066"/>
              </a:solidFill>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end</a:t>
            </a:r>
            <a:endParaRPr lang="en-US" altLang="zh-CN" b="1" dirty="0">
              <a:latin typeface="宋体" panose="02010600030101010101" pitchFamily="2" charset="-122"/>
              <a:ea typeface="宋体" panose="02010600030101010101" pitchFamily="2" charset="-122"/>
            </a:endParaRPr>
          </a:p>
        </p:txBody>
      </p:sp>
      <p:sp>
        <p:nvSpPr>
          <p:cNvPr id="1693701" name="Text Box 5"/>
          <p:cNvSpPr txBox="1"/>
          <p:nvPr/>
        </p:nvSpPr>
        <p:spPr>
          <a:xfrm>
            <a:off x="4191000" y="2211388"/>
            <a:ext cx="2514600" cy="2436812"/>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begin</a:t>
            </a:r>
            <a:r>
              <a:rPr lang="zh-CN" altLang="en-US" b="1" dirty="0">
                <a:solidFill>
                  <a:srgbClr val="FF0066"/>
                </a:solidFill>
                <a:latin typeface="宋体" panose="02010600030101010101" pitchFamily="2" charset="-122"/>
                <a:ea typeface="宋体" panose="02010600030101010101" pitchFamily="2" charset="-122"/>
              </a:rPr>
              <a:t>：块名</a:t>
            </a:r>
            <a:endParaRPr lang="zh-CN" altLang="en-US" b="1" dirty="0">
              <a:solidFill>
                <a:srgbClr val="FF0066"/>
              </a:solidFill>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块内声明语句；    </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end</a:t>
            </a:r>
            <a:endParaRPr lang="en-US" altLang="zh-CN" b="1" dirty="0">
              <a:latin typeface="宋体" panose="02010600030101010101" pitchFamily="2" charset="-122"/>
              <a:ea typeface="宋体" panose="02010600030101010101" pitchFamily="2" charset="-122"/>
            </a:endParaRPr>
          </a:p>
        </p:txBody>
      </p:sp>
      <p:sp>
        <p:nvSpPr>
          <p:cNvPr id="1693702" name="Rectangle 6"/>
          <p:cNvSpPr/>
          <p:nvPr/>
        </p:nvSpPr>
        <p:spPr>
          <a:xfrm>
            <a:off x="914400" y="5105400"/>
            <a:ext cx="7239000" cy="903288"/>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sz="2400" b="1" dirty="0">
                <a:latin typeface="Times New Roman" panose="02020603050405020304" pitchFamily="18" charset="0"/>
                <a:ea typeface="华文楷体" panose="02010600040101010101" pitchFamily="2" charset="-122"/>
              </a:rPr>
              <a:t>注：块内声明语句可以是</a:t>
            </a:r>
            <a:r>
              <a:rPr lang="zh-CN" altLang="zh-CN" sz="2400" b="1" dirty="0">
                <a:solidFill>
                  <a:srgbClr val="FF0066"/>
                </a:solidFill>
                <a:latin typeface="Times New Roman" panose="02020603050405020304" pitchFamily="18" charset="0"/>
                <a:ea typeface="华文楷体" panose="02010600040101010101" pitchFamily="2" charset="-122"/>
              </a:rPr>
              <a:t>参数</a:t>
            </a:r>
            <a:r>
              <a:rPr lang="zh-CN" altLang="zh-CN" sz="2400" b="1" dirty="0">
                <a:latin typeface="Times New Roman" panose="02020603050405020304" pitchFamily="18" charset="0"/>
                <a:ea typeface="华文楷体" panose="02010600040101010101" pitchFamily="2" charset="-122"/>
              </a:rPr>
              <a:t>声明、</a:t>
            </a:r>
            <a:r>
              <a:rPr lang="en-US" altLang="zh-CN" sz="2400" b="1" dirty="0">
                <a:solidFill>
                  <a:srgbClr val="FF0066"/>
                </a:solidFill>
                <a:latin typeface="Times New Roman" panose="02020603050405020304" pitchFamily="18" charset="0"/>
                <a:ea typeface="华文楷体" panose="02010600040101010101" pitchFamily="2" charset="-122"/>
              </a:rPr>
              <a:t>reg</a:t>
            </a:r>
            <a:r>
              <a:rPr lang="zh-CN" altLang="en-US" sz="2400" b="1" dirty="0">
                <a:solidFill>
                  <a:srgbClr val="FF0066"/>
                </a:solidFill>
                <a:latin typeface="Times New Roman" panose="02020603050405020304" pitchFamily="18" charset="0"/>
                <a:ea typeface="华文楷体" panose="02010600040101010101" pitchFamily="2" charset="-122"/>
              </a:rPr>
              <a:t>型</a:t>
            </a:r>
            <a:r>
              <a:rPr lang="zh-CN" altLang="en-US" sz="2400" b="1" dirty="0">
                <a:latin typeface="Times New Roman" panose="02020603050405020304" pitchFamily="18" charset="0"/>
                <a:ea typeface="华文楷体" panose="02010600040101010101" pitchFamily="2" charset="-122"/>
              </a:rPr>
              <a:t>变量声明、</a:t>
            </a:r>
            <a:r>
              <a:rPr lang="en-US" altLang="zh-CN" sz="2400" b="1" dirty="0">
                <a:solidFill>
                  <a:srgbClr val="FF0066"/>
                </a:solidFill>
                <a:latin typeface="Times New Roman" panose="02020603050405020304" pitchFamily="18" charset="0"/>
                <a:ea typeface="华文楷体" panose="02010600040101010101" pitchFamily="2" charset="-122"/>
              </a:rPr>
              <a:t>integer</a:t>
            </a:r>
            <a:r>
              <a:rPr lang="zh-CN" altLang="en-US" sz="2400" b="1" dirty="0">
                <a:solidFill>
                  <a:srgbClr val="FF0066"/>
                </a:solidFill>
                <a:latin typeface="Times New Roman" panose="02020603050405020304" pitchFamily="18" charset="0"/>
                <a:ea typeface="华文楷体" panose="02010600040101010101" pitchFamily="2" charset="-122"/>
              </a:rPr>
              <a:t>型</a:t>
            </a:r>
            <a:r>
              <a:rPr lang="zh-CN" altLang="en-US" sz="2400" b="1" dirty="0">
                <a:latin typeface="Times New Roman" panose="02020603050405020304" pitchFamily="18" charset="0"/>
                <a:ea typeface="华文楷体" panose="02010600040101010101" pitchFamily="2" charset="-122"/>
              </a:rPr>
              <a:t>变量声明、</a:t>
            </a:r>
            <a:r>
              <a:rPr lang="en-US" altLang="zh-CN" sz="2400" b="1" dirty="0">
                <a:solidFill>
                  <a:srgbClr val="FF0066"/>
                </a:solidFill>
                <a:latin typeface="Times New Roman" panose="02020603050405020304" pitchFamily="18" charset="0"/>
                <a:ea typeface="华文楷体" panose="02010600040101010101" pitchFamily="2" charset="-122"/>
              </a:rPr>
              <a:t>real</a:t>
            </a:r>
            <a:r>
              <a:rPr lang="zh-CN" altLang="en-US" sz="2400" b="1" dirty="0">
                <a:solidFill>
                  <a:srgbClr val="FF0066"/>
                </a:solidFill>
                <a:latin typeface="Times New Roman" panose="02020603050405020304" pitchFamily="18" charset="0"/>
                <a:ea typeface="华文楷体" panose="02010600040101010101" pitchFamily="2" charset="-122"/>
              </a:rPr>
              <a:t>型</a:t>
            </a:r>
            <a:r>
              <a:rPr lang="zh-CN" altLang="en-US" sz="2400" b="1" dirty="0">
                <a:latin typeface="Times New Roman" panose="02020603050405020304" pitchFamily="18" charset="0"/>
                <a:ea typeface="华文楷体" panose="02010600040101010101" pitchFamily="2" charset="-122"/>
              </a:rPr>
              <a:t>变量声明语句。</a:t>
            </a:r>
            <a:endParaRPr lang="zh-CN" altLang="en-US" sz="2400" b="1" dirty="0">
              <a:latin typeface="Times New Roman" panose="02020603050405020304" pitchFamily="18" charset="0"/>
              <a:ea typeface="华文楷体" panose="02010600040101010101" pitchFamily="2" charset="-122"/>
            </a:endParaRPr>
          </a:p>
        </p:txBody>
      </p:sp>
      <p:sp>
        <p:nvSpPr>
          <p:cNvPr id="1693703" name="Rectangle 7"/>
          <p:cNvSpPr/>
          <p:nvPr/>
        </p:nvSpPr>
        <p:spPr>
          <a:xfrm>
            <a:off x="3276600" y="3163888"/>
            <a:ext cx="685800" cy="496887"/>
          </a:xfrm>
          <a:prstGeom prst="rect">
            <a:avLst/>
          </a:prstGeom>
          <a:noFill/>
          <a:ln w="9525">
            <a:noFill/>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en-US" sz="2400" b="1" dirty="0">
                <a:latin typeface="Tahoma" panose="020B0604030504040204" pitchFamily="34" charset="0"/>
                <a:ea typeface="宋体" panose="02010600030101010101" pitchFamily="2" charset="-122"/>
              </a:rPr>
              <a:t>或</a:t>
            </a:r>
            <a:endParaRPr lang="zh-CN" altLang="en-US" sz="2400" b="1" dirty="0">
              <a:latin typeface="Tahoma" panose="020B0604030504040204" pitchFamily="34" charset="0"/>
              <a:ea typeface="宋体" panose="02010600030101010101" pitchFamily="2" charset="-122"/>
            </a:endParaRPr>
          </a:p>
        </p:txBody>
      </p:sp>
      <p:sp>
        <p:nvSpPr>
          <p:cNvPr id="1693706" name="Rectangle 10"/>
          <p:cNvSpPr/>
          <p:nvPr/>
        </p:nvSpPr>
        <p:spPr>
          <a:xfrm>
            <a:off x="696913" y="1497013"/>
            <a:ext cx="2016125" cy="423862"/>
          </a:xfrm>
          <a:prstGeom prst="rect">
            <a:avLst/>
          </a:prstGeom>
          <a:noFill/>
          <a:ln w="25400" cap="flat" cmpd="sng">
            <a:solidFill>
              <a:schemeClr val="accent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en-US" altLang="en-US" sz="2400" b="1" dirty="0">
                <a:latin typeface="华文楷体" panose="02010600040101010101" pitchFamily="2" charset="-122"/>
                <a:ea typeface="华文楷体" panose="02010600040101010101" pitchFamily="2" charset="-122"/>
                <a:sym typeface="+mn-ea"/>
              </a:rPr>
              <a:t>顺序块的格式</a:t>
            </a:r>
            <a:endParaRPr lang="en-US" altLang="en-US" sz="2400" b="1" dirty="0">
              <a:latin typeface="华文楷体" panose="02010600040101010101" pitchFamily="2" charset="-122"/>
              <a:ea typeface="华文楷体" panose="02010600040101010101" pitchFamily="2" charset="-122"/>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693706"/>
                                        </p:tgtEl>
                                        <p:attrNameLst>
                                          <p:attrName>style.visibility</p:attrName>
                                        </p:attrNameLst>
                                      </p:cBhvr>
                                      <p:to>
                                        <p:strVal val="visible"/>
                                      </p:to>
                                    </p:set>
                                    <p:anim calcmode="lin" valueType="num">
                                      <p:cBhvr>
                                        <p:cTn id="7" dur="500" fill="hold"/>
                                        <p:tgtEl>
                                          <p:spTgt spid="1693706"/>
                                        </p:tgtEl>
                                        <p:attrNameLst>
                                          <p:attrName>ppt_w</p:attrName>
                                        </p:attrNameLst>
                                      </p:cBhvr>
                                      <p:tavLst>
                                        <p:tav tm="0">
                                          <p:val>
                                            <p:fltVal val="0.000000"/>
                                          </p:val>
                                        </p:tav>
                                        <p:tav tm="100000">
                                          <p:val>
                                            <p:strVal val="#ppt_w"/>
                                          </p:val>
                                        </p:tav>
                                      </p:tavLst>
                                    </p:anim>
                                    <p:anim calcmode="lin" valueType="num">
                                      <p:cBhvr>
                                        <p:cTn id="8" dur="500" fill="hold"/>
                                        <p:tgtEl>
                                          <p:spTgt spid="1693706"/>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93700"/>
                                        </p:tgtEl>
                                        <p:attrNameLst>
                                          <p:attrName>style.visibility</p:attrName>
                                        </p:attrNameLst>
                                      </p:cBhvr>
                                      <p:to>
                                        <p:strVal val="visible"/>
                                      </p:to>
                                    </p:set>
                                    <p:animEffect transition="in" filter="wipe(left)">
                                      <p:cBhvr>
                                        <p:cTn id="13" dur="500"/>
                                        <p:tgtEl>
                                          <p:spTgt spid="1693700"/>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93703"/>
                                        </p:tgtEl>
                                        <p:attrNameLst>
                                          <p:attrName>style.visibility</p:attrName>
                                        </p:attrNameLst>
                                      </p:cBhvr>
                                      <p:to>
                                        <p:strVal val="visible"/>
                                      </p:to>
                                    </p:set>
                                    <p:animEffect transition="in" filter="dissolve">
                                      <p:cBhvr>
                                        <p:cTn id="18" dur="500"/>
                                        <p:tgtEl>
                                          <p:spTgt spid="169370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693701"/>
                                        </p:tgtEl>
                                        <p:attrNameLst>
                                          <p:attrName>style.visibility</p:attrName>
                                        </p:attrNameLst>
                                      </p:cBhvr>
                                      <p:to>
                                        <p:strVal val="visible"/>
                                      </p:to>
                                    </p:set>
                                    <p:animEffect transition="in" filter="wipe(left)">
                                      <p:cBhvr>
                                        <p:cTn id="22" dur="500"/>
                                        <p:tgtEl>
                                          <p:spTgt spid="169370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93702"/>
                                        </p:tgtEl>
                                        <p:attrNameLst>
                                          <p:attrName>style.visibility</p:attrName>
                                        </p:attrNameLst>
                                      </p:cBhvr>
                                      <p:to>
                                        <p:strVal val="visible"/>
                                      </p:to>
                                    </p:set>
                                    <p:anim calcmode="lin" valueType="num">
                                      <p:cBhvr additive="base">
                                        <p:cTn id="27" dur="500" fill="hold"/>
                                        <p:tgtEl>
                                          <p:spTgt spid="1693702"/>
                                        </p:tgtEl>
                                        <p:attrNameLst>
                                          <p:attrName>ppt_x</p:attrName>
                                        </p:attrNameLst>
                                      </p:cBhvr>
                                      <p:tavLst>
                                        <p:tav tm="0">
                                          <p:val>
                                            <p:strVal val="#ppt_x"/>
                                          </p:val>
                                        </p:tav>
                                        <p:tav tm="100000">
                                          <p:val>
                                            <p:strVal val="#ppt_x"/>
                                          </p:val>
                                        </p:tav>
                                      </p:tavLst>
                                    </p:anim>
                                    <p:anim calcmode="lin" valueType="num">
                                      <p:cBhvr additive="base">
                                        <p:cTn id="28" dur="500" fill="hold"/>
                                        <p:tgtEl>
                                          <p:spTgt spid="16937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700" grpId="0" bldLvl="0" animBg="1"/>
      <p:bldP spid="1693701" grpId="0" bldLvl="0" animBg="1"/>
      <p:bldP spid="1693702" grpId="0" bldLvl="0" animBg="1"/>
      <p:bldP spid="1693703" grpId="0"/>
      <p:bldP spid="1693706"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43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4438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95747" name="Rectangle 3"/>
          <p:cNvSpPr>
            <a:spLocks noGrp="1" noChangeArrowheads="1"/>
          </p:cNvSpPr>
          <p:nvPr>
            <p:ph idx="1"/>
          </p:nvPr>
        </p:nvSpPr>
        <p:spPr/>
        <p:txBody>
          <a:bodyPr vert="horz" wrap="square" lIns="91440" tIns="45720" rIns="91440" bIns="45720" numCol="1" anchor="t" anchorCtr="0" compatLnSpc="1"/>
          <a:lstStyle/>
          <a:p>
            <a:pPr marL="190500" marR="0" lvl="1" indent="0" algn="l" defTabSz="914400" rtl="0" eaLnBrk="1" fontAlgn="base" latinLnBrk="0" hangingPunct="1">
              <a:lnSpc>
                <a:spcPct val="90000"/>
              </a:lnSpc>
              <a:spcBef>
                <a:spcPct val="20000"/>
              </a:spcBef>
              <a:spcAft>
                <a:spcPct val="0"/>
              </a:spcAft>
              <a:buClrTx/>
              <a:buSzTx/>
              <a:buFontTx/>
              <a:buNone/>
              <a:defRPr/>
            </a:pPr>
            <a:endParaRPr kumimoji="0" lang="en-US" altLang="zh-CN"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endParaRPr>
          </a:p>
          <a:p>
            <a:pPr marL="190500" marR="0" lvl="1" indent="0" algn="l"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例</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1</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begin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b =  a ; </a:t>
            </a:r>
            <a:endPar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c = b;</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//c</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的值为</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的值</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end</a:t>
            </a:r>
            <a:endPar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just" defTabSz="914400" rtl="0" eaLnBrk="0" fontAlgn="base" latinLnBrk="0" hangingPunct="0">
              <a:lnSpc>
                <a:spcPct val="90000"/>
              </a:lnSpc>
              <a:spcBef>
                <a:spcPct val="0"/>
              </a:spcBef>
              <a:spcAft>
                <a:spcPct val="0"/>
              </a:spcAft>
              <a:buClrTx/>
              <a:buSzTx/>
              <a:buFontTx/>
              <a:buNone/>
              <a:defRPr/>
            </a:pP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0" marR="0" lvl="0" indent="0" algn="just"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    [</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例</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2</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begin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b =  a ; </a:t>
            </a:r>
            <a:endPar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cs typeface="+mn-cs"/>
              </a:rPr>
              <a:t>#10</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c = b;</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在两条赋值语句间延迟</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10</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个时间单位</a:t>
            </a:r>
            <a:endPar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end</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p:txBody>
      </p:sp>
      <p:sp>
        <p:nvSpPr>
          <p:cNvPr id="1695748" name="Rectangle 4"/>
          <p:cNvSpPr/>
          <p:nvPr/>
        </p:nvSpPr>
        <p:spPr>
          <a:xfrm>
            <a:off x="1676400" y="4902200"/>
            <a:ext cx="5646738" cy="903288"/>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nSpc>
                <a:spcPct val="110000"/>
              </a:lnSpc>
              <a:spcBef>
                <a:spcPct val="0"/>
              </a:spcBef>
              <a:buClr>
                <a:schemeClr val="hlink"/>
              </a:buClr>
              <a:buFont typeface="Wingdings" panose="05000000000000000000" pitchFamily="2" charset="2"/>
              <a:buNone/>
            </a:pPr>
            <a:r>
              <a:rPr lang="zh-CN" altLang="zh-CN" sz="2400" b="1" dirty="0">
                <a:solidFill>
                  <a:srgbClr val="FF3399"/>
                </a:solidFill>
                <a:latin typeface="Times New Roman" panose="02020603050405020304" pitchFamily="18" charset="0"/>
                <a:ea typeface="华文楷体" panose="02010600040101010101" pitchFamily="2" charset="-122"/>
              </a:rPr>
              <a:t>注</a:t>
            </a:r>
            <a:r>
              <a:rPr lang="zh-CN" altLang="zh-CN" sz="2400" b="1" dirty="0">
                <a:latin typeface="Times New Roman" panose="02020603050405020304" pitchFamily="18" charset="0"/>
                <a:ea typeface="华文楷体" panose="02010600040101010101" pitchFamily="2" charset="-122"/>
              </a:rPr>
              <a:t>：这里标识符“</a:t>
            </a:r>
            <a:r>
              <a:rPr lang="en-US" altLang="zh-CN" sz="2400" b="1" dirty="0">
                <a:solidFill>
                  <a:srgbClr val="FF0066"/>
                </a:solidFill>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表示延迟；</a:t>
            </a:r>
            <a:endParaRPr lang="zh-CN" altLang="en-US" sz="2400" b="1" dirty="0">
              <a:latin typeface="Times New Roman" panose="02020603050405020304" pitchFamily="18" charset="0"/>
              <a:ea typeface="华文楷体" panose="02010600040101010101" pitchFamily="2" charset="-122"/>
            </a:endParaRPr>
          </a:p>
          <a:p>
            <a:pPr marL="0" lvl="0" indent="0" algn="ctr">
              <a:lnSpc>
                <a:spcPct val="110000"/>
              </a:lnSpc>
              <a:spcBef>
                <a:spcPct val="0"/>
              </a:spcBef>
              <a:buClr>
                <a:schemeClr val="hlink"/>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  在模块调用中</a:t>
            </a:r>
            <a:r>
              <a:rPr lang="zh-CN" altLang="zh-CN" sz="2400" b="1" dirty="0">
                <a:latin typeface="Times New Roman" panose="02020603050405020304" pitchFamily="18" charset="0"/>
                <a:ea typeface="华文楷体" panose="02010600040101010101" pitchFamily="2" charset="-122"/>
              </a:rPr>
              <a:t>“</a:t>
            </a:r>
            <a:r>
              <a:rPr lang="en-US" altLang="zh-CN" sz="2400" b="1" dirty="0">
                <a:solidFill>
                  <a:srgbClr val="FF0066"/>
                </a:solidFill>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表示参数的传递</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1695747"/>
                                        </p:tgtEl>
                                        <p:attrNameLst>
                                          <p:attrName>style.visibility</p:attrName>
                                        </p:attrNameLst>
                                      </p:cBhvr>
                                      <p:to>
                                        <p:strVal val="visible"/>
                                      </p:to>
                                    </p:set>
                                    <p:anim calcmode="lin" valueType="num">
                                      <p:cBhvr additive="base">
                                        <p:cTn id="7" dur="500" fill="hold"/>
                                        <p:tgtEl>
                                          <p:spTgt spid="1695747"/>
                                        </p:tgtEl>
                                        <p:attrNameLst>
                                          <p:attrName>ppt_x</p:attrName>
                                        </p:attrNameLst>
                                      </p:cBhvr>
                                      <p:tavLst>
                                        <p:tav tm="0">
                                          <p:val>
                                            <p:strVal val="0-#ppt_w/2"/>
                                          </p:val>
                                        </p:tav>
                                        <p:tav tm="100000">
                                          <p:val>
                                            <p:strVal val="#ppt_x"/>
                                          </p:val>
                                        </p:tav>
                                      </p:tavLst>
                                    </p:anim>
                                    <p:anim calcmode="lin" valueType="num">
                                      <p:cBhvr additive="base">
                                        <p:cTn id="8" dur="500" fill="hold"/>
                                        <p:tgtEl>
                                          <p:spTgt spid="16957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95748"/>
                                        </p:tgtEl>
                                        <p:attrNameLst>
                                          <p:attrName>style.visibility</p:attrName>
                                        </p:attrNameLst>
                                      </p:cBhvr>
                                      <p:to>
                                        <p:strVal val="visible"/>
                                      </p:to>
                                    </p:set>
                                    <p:anim calcmode="lin" valueType="num">
                                      <p:cBhvr>
                                        <p:cTn id="13" dur="500" fill="hold"/>
                                        <p:tgtEl>
                                          <p:spTgt spid="1695748"/>
                                        </p:tgtEl>
                                        <p:attrNameLst>
                                          <p:attrName>ppt_w</p:attrName>
                                        </p:attrNameLst>
                                      </p:cBhvr>
                                      <p:tavLst>
                                        <p:tav tm="0">
                                          <p:val>
                                            <p:fltVal val="0.000000"/>
                                          </p:val>
                                        </p:tav>
                                        <p:tav tm="100000">
                                          <p:val>
                                            <p:strVal val="#ppt_w"/>
                                          </p:val>
                                        </p:tav>
                                      </p:tavLst>
                                    </p:anim>
                                    <p:anim calcmode="lin" valueType="num">
                                      <p:cBhvr>
                                        <p:cTn id="14" dur="500" fill="hold"/>
                                        <p:tgtEl>
                                          <p:spTgt spid="1695748"/>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p:bldP spid="1695748"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64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4643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6  </a:t>
            </a:r>
            <a:r>
              <a:rPr lang="zh-CN" altLang="en-US" dirty="0">
                <a:latin typeface="华文楷体" panose="02010600040101010101" pitchFamily="2" charset="-122"/>
                <a:ea typeface="黑体" panose="02010609060101010101" pitchFamily="49" charset="-122"/>
                <a:cs typeface="+mj-cs"/>
              </a:rPr>
              <a:t>赋值语句和块语句</a:t>
            </a:r>
            <a:endParaRPr lang="zh-CN" altLang="en-US" dirty="0">
              <a:latin typeface="华文楷体" panose="02010600040101010101" pitchFamily="2" charset="-122"/>
              <a:ea typeface="黑体" panose="02010609060101010101" pitchFamily="49" charset="-122"/>
              <a:cs typeface="+mj-cs"/>
            </a:endParaRPr>
          </a:p>
        </p:txBody>
      </p:sp>
      <p:sp>
        <p:nvSpPr>
          <p:cNvPr id="1697795" name="Rectangle 3"/>
          <p:cNvSpPr>
            <a:spLocks noGrp="1" noChangeArrowheads="1"/>
          </p:cNvSpPr>
          <p:nvPr>
            <p:ph idx="1"/>
          </p:nvPr>
        </p:nvSpPr>
        <p:spPr/>
        <p:txBody>
          <a:bodyPr vert="horz" wrap="square" lIns="91440" tIns="45720" rIns="91440" bIns="45720" numCol="1" anchor="t" anchorCtr="0" compatLnSpc="1"/>
          <a:lstStyle/>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 [</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例</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3</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用顺序块和延迟控制组合产生一个时序波形。</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      </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parameter d = 50</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reg[7:0] r</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a:t>
            </a:r>
            <a:endPar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endParaRPr>
          </a:p>
          <a:p>
            <a:pPr marL="742950" marR="0" lvl="1" indent="-28575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begin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由一系列延迟产生的波形</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d  r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h35</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d  r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hE2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endPar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d  r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h00</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d  r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hF7</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d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&gt; end_wave</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触发事件</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end_wave</a:t>
            </a:r>
            <a:endPar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0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end</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p:txBody>
      </p:sp>
      <p:sp>
        <p:nvSpPr>
          <p:cNvPr id="1697796" name="Rectangle 4"/>
          <p:cNvSpPr/>
          <p:nvPr/>
        </p:nvSpPr>
        <p:spPr>
          <a:xfrm>
            <a:off x="1465263" y="4967288"/>
            <a:ext cx="6211887" cy="835025"/>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sz="2200" b="1" dirty="0">
                <a:latin typeface="Times New Roman" panose="02020603050405020304" pitchFamily="18" charset="0"/>
                <a:ea typeface="华文楷体" panose="02010600040101010101" pitchFamily="2" charset="-122"/>
              </a:rPr>
              <a:t>注：</a:t>
            </a:r>
            <a:r>
              <a:rPr lang="zh-CN" altLang="en-US" sz="2200" b="1" dirty="0">
                <a:latin typeface="Times New Roman" panose="02020603050405020304" pitchFamily="18" charset="0"/>
                <a:ea typeface="华文楷体" panose="02010600040101010101" pitchFamily="2" charset="-122"/>
              </a:rPr>
              <a:t>每条语句的延迟时间</a:t>
            </a:r>
            <a:r>
              <a:rPr lang="en-US" altLang="zh-CN" sz="2200" b="1" dirty="0">
                <a:latin typeface="Times New Roman" panose="02020603050405020304" pitchFamily="18" charset="0"/>
                <a:ea typeface="华文楷体" panose="02010600040101010101" pitchFamily="2" charset="-122"/>
              </a:rPr>
              <a:t>d</a:t>
            </a:r>
            <a:r>
              <a:rPr lang="zh-CN" altLang="en-US" sz="2200" b="1" dirty="0">
                <a:latin typeface="Times New Roman" panose="02020603050405020304" pitchFamily="18" charset="0"/>
                <a:ea typeface="华文楷体" panose="02010600040101010101" pitchFamily="2" charset="-122"/>
              </a:rPr>
              <a:t>是</a:t>
            </a:r>
            <a:r>
              <a:rPr lang="zh-CN" altLang="en-US" sz="2200" b="1" dirty="0">
                <a:solidFill>
                  <a:srgbClr val="FF0066"/>
                </a:solidFill>
                <a:latin typeface="Times New Roman" panose="02020603050405020304" pitchFamily="18" charset="0"/>
                <a:ea typeface="华文楷体" panose="02010600040101010101" pitchFamily="2" charset="-122"/>
              </a:rPr>
              <a:t>相对于前一条语句</a:t>
            </a:r>
            <a:r>
              <a:rPr lang="zh-CN" altLang="en-US" sz="2200" b="1" dirty="0">
                <a:latin typeface="Times New Roman" panose="02020603050405020304" pitchFamily="18" charset="0"/>
                <a:ea typeface="华文楷体" panose="02010600040101010101" pitchFamily="2" charset="-122"/>
              </a:rPr>
              <a:t>的仿真时间而言的！</a:t>
            </a:r>
            <a:endParaRPr lang="zh-CN" altLang="en-US" sz="22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1697795"/>
                                        </p:tgtEl>
                                        <p:attrNameLst>
                                          <p:attrName>style.visibility</p:attrName>
                                        </p:attrNameLst>
                                      </p:cBhvr>
                                      <p:to>
                                        <p:strVal val="visible"/>
                                      </p:to>
                                    </p:set>
                                    <p:anim calcmode="lin" valueType="num">
                                      <p:cBhvr additive="base">
                                        <p:cTn id="7" dur="500" fill="hold"/>
                                        <p:tgtEl>
                                          <p:spTgt spid="1697795"/>
                                        </p:tgtEl>
                                        <p:attrNameLst>
                                          <p:attrName>ppt_x</p:attrName>
                                        </p:attrNameLst>
                                      </p:cBhvr>
                                      <p:tavLst>
                                        <p:tav tm="0">
                                          <p:val>
                                            <p:strVal val="0-#ppt_w/2"/>
                                          </p:val>
                                        </p:tav>
                                        <p:tav tm="100000">
                                          <p:val>
                                            <p:strVal val="#ppt_x"/>
                                          </p:val>
                                        </p:tav>
                                      </p:tavLst>
                                    </p:anim>
                                    <p:anim calcmode="lin" valueType="num">
                                      <p:cBhvr additive="base">
                                        <p:cTn id="8" dur="500" fill="hold"/>
                                        <p:tgtEl>
                                          <p:spTgt spid="1697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697796"/>
                                        </p:tgtEl>
                                        <p:attrNameLst>
                                          <p:attrName>style.visibility</p:attrName>
                                        </p:attrNameLst>
                                      </p:cBhvr>
                                      <p:to>
                                        <p:strVal val="visible"/>
                                      </p:to>
                                    </p:set>
                                    <p:anim calcmode="lin" valueType="num">
                                      <p:cBhvr>
                                        <p:cTn id="13" dur="500" fill="hold"/>
                                        <p:tgtEl>
                                          <p:spTgt spid="1697796"/>
                                        </p:tgtEl>
                                        <p:attrNameLst>
                                          <p:attrName>ppt_w</p:attrName>
                                        </p:attrNameLst>
                                      </p:cBhvr>
                                      <p:tavLst>
                                        <p:tav tm="0">
                                          <p:val>
                                            <p:fltVal val="0.000000"/>
                                          </p:val>
                                        </p:tav>
                                        <p:tav tm="100000">
                                          <p:val>
                                            <p:strVal val="#ppt_w"/>
                                          </p:val>
                                        </p:tav>
                                      </p:tavLst>
                                    </p:anim>
                                    <p:anim calcmode="lin" valueType="num">
                                      <p:cBhvr>
                                        <p:cTn id="14" dur="500" fill="hold"/>
                                        <p:tgtEl>
                                          <p:spTgt spid="169779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795" grpId="0"/>
      <p:bldP spid="1697796"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p:txBody>
          <a:bodyPr vert="horz" wrap="square" lIns="91440" tIns="45720" rIns="91440" bIns="45720" anchor="b" anchorCtr="0"/>
          <a:p>
            <a:pPr eaLnBrk="1" hangingPunct="1"/>
            <a:r>
              <a:rPr lang="en-US" altLang="zh-CN" dirty="0">
                <a:solidFill>
                  <a:srgbClr val="595959"/>
                </a:solidFill>
                <a:latin typeface="华文楷体" panose="02010600040101010101" pitchFamily="2" charset="-122"/>
                <a:ea typeface="黑体" panose="02010609060101010101" pitchFamily="49" charset="-122"/>
                <a:cs typeface="+mj-cs"/>
              </a:rPr>
              <a:t>3.6  </a:t>
            </a:r>
            <a:r>
              <a:rPr lang="zh-CN" altLang="en-US" dirty="0">
                <a:solidFill>
                  <a:srgbClr val="595959"/>
                </a:solidFill>
                <a:latin typeface="华文楷体" panose="02010600040101010101" pitchFamily="2" charset="-122"/>
                <a:ea typeface="黑体" panose="02010609060101010101" pitchFamily="49" charset="-122"/>
                <a:cs typeface="+mj-cs"/>
              </a:rPr>
              <a:t>赋值语句和块语句</a:t>
            </a:r>
            <a:endParaRPr lang="zh-CN" altLang="en-US" dirty="0">
              <a:solidFill>
                <a:srgbClr val="595959"/>
              </a:solidFill>
              <a:latin typeface="华文楷体" panose="02010600040101010101" pitchFamily="2" charset="-122"/>
              <a:ea typeface="黑体" panose="02010609060101010101" pitchFamily="49" charset="-122"/>
              <a:cs typeface="+mj-cs"/>
            </a:endParaRPr>
          </a:p>
        </p:txBody>
      </p:sp>
      <p:sp>
        <p:nvSpPr>
          <p:cNvPr id="1699843" name="Rectangle 3"/>
          <p:cNvSpPr>
            <a:spLocks noGrp="1"/>
          </p:cNvSpPr>
          <p:nvPr>
            <p:ph idx="1"/>
          </p:nvPr>
        </p:nvSpPr>
        <p:spPr/>
        <p:txBody>
          <a:bodyPr vert="horz" wrap="square" lIns="91440" tIns="45720" rIns="91440" bIns="45720" anchor="t" anchorCtr="0"/>
          <a:p>
            <a:pPr eaLnBrk="1" hangingPunct="1"/>
            <a:r>
              <a:rPr lang="en-US" altLang="zh-CN" sz="2800" dirty="0">
                <a:latin typeface="华文楷体" panose="02010600040101010101" pitchFamily="2" charset="-122"/>
                <a:ea typeface="黑体" panose="02010609060101010101" pitchFamily="49" charset="-122"/>
                <a:cs typeface="+mn-cs"/>
              </a:rPr>
              <a:t>2. </a:t>
            </a:r>
            <a:r>
              <a:rPr lang="zh-CN" altLang="en-US" sz="2800" dirty="0">
                <a:latin typeface="华文楷体" panose="02010600040101010101" pitchFamily="2" charset="-122"/>
                <a:ea typeface="华文楷体" panose="02010600040101010101" pitchFamily="2" charset="-122"/>
                <a:cs typeface="+mn-cs"/>
              </a:rPr>
              <a:t>并行块</a:t>
            </a:r>
            <a:endParaRPr lang="zh-CN" altLang="en-US" sz="2800" dirty="0">
              <a:latin typeface="华文楷体" panose="02010600040101010101" pitchFamily="2" charset="-122"/>
              <a:ea typeface="华文楷体" panose="02010600040101010101" pitchFamily="2" charset="-122"/>
              <a:cs typeface="+mn-cs"/>
            </a:endParaRPr>
          </a:p>
        </p:txBody>
      </p:sp>
      <p:sp>
        <p:nvSpPr>
          <p:cNvPr id="1699844" name="AutoShape 4"/>
          <p:cNvSpPr/>
          <p:nvPr/>
        </p:nvSpPr>
        <p:spPr>
          <a:xfrm>
            <a:off x="3111500" y="1085850"/>
            <a:ext cx="1905000" cy="685800"/>
          </a:xfrm>
          <a:prstGeom prst="wedgeRoundRectCallout">
            <a:avLst>
              <a:gd name="adj1" fmla="val -91500"/>
              <a:gd name="adj2" fmla="val 1088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宋体" panose="02010600030101010101" pitchFamily="2" charset="-122"/>
                <a:ea typeface="宋体" panose="02010600030101010101" pitchFamily="2" charset="-122"/>
              </a:rPr>
              <a:t>用</a:t>
            </a:r>
            <a:r>
              <a:rPr lang="en-US" altLang="zh-CN" b="1" dirty="0">
                <a:solidFill>
                  <a:srgbClr val="FF0066"/>
                </a:solidFill>
                <a:latin typeface="宋体" panose="02010600030101010101" pitchFamily="2" charset="-122"/>
                <a:ea typeface="宋体" panose="02010600030101010101" pitchFamily="2" charset="-122"/>
              </a:rPr>
              <a:t>fork_join</a:t>
            </a:r>
            <a:r>
              <a:rPr lang="zh-CN" altLang="en-US" b="1" dirty="0">
                <a:latin typeface="宋体" panose="02010600030101010101" pitchFamily="2" charset="-122"/>
                <a:ea typeface="宋体" panose="02010600030101010101" pitchFamily="2" charset="-122"/>
              </a:rPr>
              <a:t>标识的</a:t>
            </a:r>
            <a:r>
              <a:rPr lang="zh-CN" altLang="en-US" b="1" dirty="0">
                <a:latin typeface="Tahoma" panose="020B0604030504040204" pitchFamily="34" charset="0"/>
                <a:ea typeface="宋体" panose="02010600030101010101" pitchFamily="2" charset="-122"/>
              </a:rPr>
              <a:t>块</a:t>
            </a:r>
            <a:endParaRPr lang="zh-CN" altLang="en-US" b="1" dirty="0">
              <a:latin typeface="Tahoma" panose="020B0604030504040204" pitchFamily="34" charset="0"/>
              <a:ea typeface="宋体" panose="02010600030101010101" pitchFamily="2" charset="-122"/>
            </a:endParaRPr>
          </a:p>
        </p:txBody>
      </p:sp>
      <p:sp>
        <p:nvSpPr>
          <p:cNvPr id="1699846" name="Rectangle 6"/>
          <p:cNvSpPr/>
          <p:nvPr/>
        </p:nvSpPr>
        <p:spPr>
          <a:xfrm>
            <a:off x="815975" y="2800350"/>
            <a:ext cx="7477125" cy="3189288"/>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742950" lvl="1" indent="-285750" eaLnBrk="1" hangingPunct="1">
              <a:lnSpc>
                <a:spcPct val="110000"/>
              </a:lnSpc>
              <a:buClr>
                <a:srgbClr val="FF0000"/>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块内的语句是</a:t>
            </a:r>
            <a:r>
              <a:rPr lang="zh-CN" altLang="en-US" sz="2400" b="1" dirty="0">
                <a:solidFill>
                  <a:srgbClr val="FF33CC"/>
                </a:solidFill>
                <a:latin typeface="Times New Roman" panose="02020603050405020304" pitchFamily="18" charset="0"/>
                <a:ea typeface="华文楷体" panose="02010600040101010101" pitchFamily="2" charset="-122"/>
              </a:rPr>
              <a:t>同时</a:t>
            </a:r>
            <a:r>
              <a:rPr lang="zh-CN" altLang="en-US" sz="2400" b="1" dirty="0">
                <a:latin typeface="Times New Roman" panose="02020603050405020304" pitchFamily="18" charset="0"/>
                <a:ea typeface="华文楷体" panose="02010600040101010101" pitchFamily="2" charset="-122"/>
              </a:rPr>
              <a:t>执行的；</a:t>
            </a:r>
            <a:endParaRPr lang="zh-CN" altLang="en-US" sz="2400" b="1" dirty="0">
              <a:latin typeface="Times New Roman" panose="02020603050405020304" pitchFamily="18" charset="0"/>
              <a:ea typeface="华文楷体" panose="02010600040101010101" pitchFamily="2" charset="-122"/>
            </a:endParaRPr>
          </a:p>
          <a:p>
            <a:pPr marL="742950" lvl="1" indent="-285750" eaLnBrk="1" hangingPunct="1">
              <a:lnSpc>
                <a:spcPct val="110000"/>
              </a:lnSpc>
              <a:buClr>
                <a:srgbClr val="FF0000"/>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块内每条语句的延迟时间是</a:t>
            </a:r>
            <a:r>
              <a:rPr lang="zh-CN" altLang="en-US" sz="2400" b="1" dirty="0">
                <a:solidFill>
                  <a:srgbClr val="FF33CC"/>
                </a:solidFill>
                <a:latin typeface="Times New Roman" panose="02020603050405020304" pitchFamily="18" charset="0"/>
                <a:ea typeface="华文楷体" panose="02010600040101010101" pitchFamily="2" charset="-122"/>
              </a:rPr>
              <a:t>相对于</a:t>
            </a:r>
            <a:r>
              <a:rPr lang="zh-CN" altLang="zh-CN" sz="2400" b="1" dirty="0">
                <a:solidFill>
                  <a:srgbClr val="FF33CC"/>
                </a:solidFill>
                <a:latin typeface="Times New Roman" panose="02020603050405020304" pitchFamily="18" charset="0"/>
                <a:ea typeface="华文楷体" panose="02010600040101010101" pitchFamily="2" charset="-122"/>
              </a:rPr>
              <a:t>程序流程控制进入到块内时</a:t>
            </a:r>
            <a:r>
              <a:rPr lang="zh-CN" altLang="en-US" sz="2400" b="1" dirty="0">
                <a:latin typeface="Times New Roman" panose="02020603050405020304" pitchFamily="18" charset="0"/>
                <a:ea typeface="华文楷体" panose="02010600040101010101" pitchFamily="2" charset="-122"/>
              </a:rPr>
              <a:t>的仿真时间而言的；</a:t>
            </a:r>
            <a:endParaRPr lang="zh-CN" altLang="en-US" sz="2400" b="1" dirty="0">
              <a:latin typeface="Times New Roman" panose="02020603050405020304" pitchFamily="18" charset="0"/>
              <a:ea typeface="华文楷体" panose="02010600040101010101" pitchFamily="2" charset="-122"/>
            </a:endParaRPr>
          </a:p>
          <a:p>
            <a:pPr marL="742950" lvl="1" indent="-285750" eaLnBrk="1" hangingPunct="1">
              <a:lnSpc>
                <a:spcPct val="110000"/>
              </a:lnSpc>
              <a:buClr>
                <a:srgbClr val="FF0000"/>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延迟时间用于给赋值语句提供时序；</a:t>
            </a:r>
            <a:endParaRPr lang="zh-CN" altLang="en-US" sz="2400" b="1" dirty="0">
              <a:latin typeface="Times New Roman" panose="02020603050405020304" pitchFamily="18" charset="0"/>
              <a:ea typeface="华文楷体" panose="02010600040101010101" pitchFamily="2" charset="-122"/>
            </a:endParaRPr>
          </a:p>
          <a:p>
            <a:pPr marL="742950" lvl="1" indent="-285750" eaLnBrk="1" hangingPunct="1">
              <a:lnSpc>
                <a:spcPct val="110000"/>
              </a:lnSpc>
              <a:buClr>
                <a:srgbClr val="FF0000"/>
              </a:buClr>
              <a:buSzPct val="80000"/>
              <a:buFont typeface="Wingdings" panose="05000000000000000000" pitchFamily="2" charset="2"/>
              <a:buChar char="Ø"/>
            </a:pPr>
            <a:r>
              <a:rPr lang="zh-CN" altLang="zh-CN" sz="2400" b="1" dirty="0">
                <a:latin typeface="Times New Roman" panose="02020603050405020304" pitchFamily="18" charset="0"/>
                <a:ea typeface="华文楷体" panose="02010600040101010101" pitchFamily="2" charset="-122"/>
              </a:rPr>
              <a:t>当按时间排序在最后的语句执行完或一个</a:t>
            </a:r>
            <a:r>
              <a:rPr lang="en-US" altLang="zh-CN" sz="2400" b="1" dirty="0">
                <a:latin typeface="Times New Roman" panose="02020603050405020304" pitchFamily="18" charset="0"/>
                <a:ea typeface="华文楷体" panose="02010600040101010101" pitchFamily="2" charset="-122"/>
              </a:rPr>
              <a:t>disable</a:t>
            </a:r>
            <a:r>
              <a:rPr lang="zh-CN" altLang="en-US" sz="2400" b="1" dirty="0">
                <a:latin typeface="Times New Roman" panose="02020603050405020304" pitchFamily="18" charset="0"/>
                <a:ea typeface="华文楷体" panose="02010600040101010101" pitchFamily="2" charset="-122"/>
              </a:rPr>
              <a:t>语句执行时</a:t>
            </a:r>
            <a:r>
              <a:rPr lang="zh-CN" altLang="zh-CN" sz="2400" b="1" dirty="0">
                <a:latin typeface="Times New Roman" panose="02020603050405020304" pitchFamily="18" charset="0"/>
                <a:ea typeface="华文楷体" panose="02010600040101010101" pitchFamily="2" charset="-122"/>
              </a:rPr>
              <a:t>，程序流程控制跳出该并行块。</a:t>
            </a:r>
            <a:endParaRPr lang="zh-CN" altLang="zh-CN" sz="2400" b="1" dirty="0">
              <a:latin typeface="Times New Roman" panose="02020603050405020304" pitchFamily="18" charset="0"/>
              <a:ea typeface="华文楷体" panose="02010600040101010101" pitchFamily="2" charset="-122"/>
            </a:endParaRPr>
          </a:p>
          <a:p>
            <a:pPr marL="342900" lvl="0" indent="-342900" algn="just">
              <a:lnSpc>
                <a:spcPct val="110000"/>
              </a:lnSpc>
              <a:spcBef>
                <a:spcPct val="0"/>
              </a:spcBef>
              <a:buClr>
                <a:srgbClr val="3333FF"/>
              </a:buClr>
              <a:buFont typeface="Wingdings" panose="05000000000000000000" pitchFamily="2" charset="2"/>
              <a:buChar char="•"/>
            </a:pPr>
            <a:endParaRPr lang="en-US" altLang="zh-CN" sz="2400"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99843"/>
                                        </p:tgtEl>
                                        <p:attrNameLst>
                                          <p:attrName>style.visibility</p:attrName>
                                        </p:attrNameLst>
                                      </p:cBhvr>
                                      <p:to>
                                        <p:strVal val="visible"/>
                                      </p:to>
                                    </p:set>
                                    <p:anim calcmode="lin" valueType="num">
                                      <p:cBhvr>
                                        <p:cTn id="7" dur="500" fill="hold"/>
                                        <p:tgtEl>
                                          <p:spTgt spid="1699843"/>
                                        </p:tgtEl>
                                        <p:attrNameLst>
                                          <p:attrName>ppt_x</p:attrName>
                                        </p:attrNameLst>
                                      </p:cBhvr>
                                      <p:tavLst>
                                        <p:tav tm="0">
                                          <p:val>
                                            <p:strVal val="0-#ppt_w/2"/>
                                          </p:val>
                                        </p:tav>
                                        <p:tav tm="100000">
                                          <p:val>
                                            <p:strVal val="#ppt_x"/>
                                          </p:val>
                                        </p:tav>
                                      </p:tavLst>
                                    </p:anim>
                                    <p:anim calcmode="lin" valueType="num">
                                      <p:cBhvr>
                                        <p:cTn id="8" dur="500" fill="hold"/>
                                        <p:tgtEl>
                                          <p:spTgt spid="16998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699844"/>
                                        </p:tgtEl>
                                        <p:attrNameLst>
                                          <p:attrName>style.visibility</p:attrName>
                                        </p:attrNameLst>
                                      </p:cBhvr>
                                      <p:to>
                                        <p:strVal val="visible"/>
                                      </p:to>
                                    </p:set>
                                    <p:animEffect transition="in" filter="dissolve">
                                      <p:cBhvr>
                                        <p:cTn id="12" dur="500"/>
                                        <p:tgtEl>
                                          <p:spTgt spid="1699844"/>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699846"/>
                                        </p:tgtEl>
                                        <p:attrNameLst>
                                          <p:attrName>style.visibility</p:attrName>
                                        </p:attrNameLst>
                                      </p:cBhvr>
                                      <p:to>
                                        <p:strVal val="visible"/>
                                      </p:to>
                                    </p:set>
                                    <p:anim calcmode="lin" valueType="num">
                                      <p:cBhvr>
                                        <p:cTn id="16" dur="500" fill="hold"/>
                                        <p:tgtEl>
                                          <p:spTgt spid="1699846"/>
                                        </p:tgtEl>
                                        <p:attrNameLst>
                                          <p:attrName>ppt_x</p:attrName>
                                        </p:attrNameLst>
                                      </p:cBhvr>
                                      <p:tavLst>
                                        <p:tav tm="0">
                                          <p:val>
                                            <p:strVal val="1+#ppt_w/2"/>
                                          </p:val>
                                        </p:tav>
                                        <p:tav tm="100000">
                                          <p:val>
                                            <p:strVal val="#ppt_x"/>
                                          </p:val>
                                        </p:tav>
                                      </p:tavLst>
                                    </p:anim>
                                    <p:anim calcmode="lin" valueType="num">
                                      <p:cBhvr>
                                        <p:cTn id="17" dur="500" fill="hold"/>
                                        <p:tgtEl>
                                          <p:spTgt spid="16998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43" grpId="0"/>
      <p:bldP spid="1699844" grpId="0" bldLvl="0" animBg="1"/>
      <p:bldP spid="169984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50531" name="内容占位符 3"/>
          <p:cNvSpPr>
            <a:spLocks noGrp="1"/>
          </p:cNvSpPr>
          <p:nvPr>
            <p:ph idx="1"/>
          </p:nvPr>
        </p:nvSpPr>
        <p:spPr/>
        <p:txBody>
          <a:bodyPr vert="horz" wrap="square" lIns="91440" tIns="45720" rIns="91440" bIns="45720" anchor="t" anchorCtr="0"/>
          <a:p>
            <a:endParaRPr lang="zh-CN" altLang="en-US" dirty="0">
              <a:solidFill>
                <a:srgbClr val="595959"/>
              </a:solidFill>
              <a:latin typeface="黑体" panose="02010609060101010101" pitchFamily="49" charset="-122"/>
              <a:ea typeface="黑体" panose="02010609060101010101" pitchFamily="49" charset="-122"/>
              <a:cs typeface="+mn-cs"/>
            </a:endParaRPr>
          </a:p>
        </p:txBody>
      </p:sp>
      <p:sp>
        <p:nvSpPr>
          <p:cNvPr id="150532" name="Rectangle 2"/>
          <p:cNvSpPr>
            <a:spLocks noGrp="1"/>
          </p:cNvSpPr>
          <p:nvPr>
            <p:ph type="title"/>
          </p:nvPr>
        </p:nvSpPr>
        <p:spPr/>
        <p:txBody>
          <a:bodyPr vert="horz" wrap="square" lIns="91440" tIns="45720" rIns="91440" bIns="45720" anchor="b" anchorCtr="0"/>
          <a:p>
            <a:pPr eaLnBrk="1" hangingPunct="1"/>
            <a:r>
              <a:rPr lang="en-US" altLang="zh-CN" dirty="0">
                <a:solidFill>
                  <a:srgbClr val="595959"/>
                </a:solidFill>
                <a:latin typeface="华文楷体" panose="02010600040101010101" pitchFamily="2" charset="-122"/>
                <a:ea typeface="黑体" panose="02010609060101010101" pitchFamily="49" charset="-122"/>
                <a:cs typeface="+mj-cs"/>
              </a:rPr>
              <a:t>3.6  </a:t>
            </a:r>
            <a:r>
              <a:rPr lang="zh-CN" altLang="en-US" dirty="0">
                <a:solidFill>
                  <a:srgbClr val="595959"/>
                </a:solidFill>
                <a:latin typeface="华文楷体" panose="02010600040101010101" pitchFamily="2" charset="-122"/>
                <a:ea typeface="黑体" panose="02010609060101010101" pitchFamily="49" charset="-122"/>
                <a:cs typeface="+mj-cs"/>
              </a:rPr>
              <a:t>赋值语句和块语句</a:t>
            </a:r>
            <a:endParaRPr lang="zh-CN" altLang="en-US" dirty="0">
              <a:solidFill>
                <a:srgbClr val="595959"/>
              </a:solidFill>
              <a:latin typeface="华文楷体" panose="02010600040101010101" pitchFamily="2" charset="-122"/>
              <a:ea typeface="黑体" panose="02010609060101010101" pitchFamily="49" charset="-122"/>
              <a:cs typeface="+mj-cs"/>
            </a:endParaRPr>
          </a:p>
        </p:txBody>
      </p:sp>
      <p:sp>
        <p:nvSpPr>
          <p:cNvPr id="1701892" name="Text Box 4"/>
          <p:cNvSpPr txBox="1"/>
          <p:nvPr/>
        </p:nvSpPr>
        <p:spPr>
          <a:xfrm>
            <a:off x="1219200" y="2233613"/>
            <a:ext cx="1676400" cy="21018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fork</a:t>
            </a:r>
            <a:endParaRPr lang="en-US" altLang="zh-CN" b="1" dirty="0">
              <a:solidFill>
                <a:srgbClr val="FF0066"/>
              </a:solidFill>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join</a:t>
            </a:r>
            <a:endParaRPr lang="en-US" altLang="zh-CN" b="1" dirty="0">
              <a:latin typeface="宋体" panose="02010600030101010101" pitchFamily="2" charset="-122"/>
              <a:ea typeface="宋体" panose="02010600030101010101" pitchFamily="2" charset="-122"/>
            </a:endParaRPr>
          </a:p>
        </p:txBody>
      </p:sp>
      <p:sp>
        <p:nvSpPr>
          <p:cNvPr id="1701893" name="Text Box 5"/>
          <p:cNvSpPr txBox="1"/>
          <p:nvPr/>
        </p:nvSpPr>
        <p:spPr>
          <a:xfrm>
            <a:off x="4191000" y="2051050"/>
            <a:ext cx="2514600" cy="2436813"/>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fork</a:t>
            </a:r>
            <a:r>
              <a:rPr lang="zh-CN" altLang="en-US" b="1" dirty="0">
                <a:solidFill>
                  <a:srgbClr val="FF0066"/>
                </a:solidFill>
                <a:latin typeface="宋体" panose="02010600030101010101" pitchFamily="2" charset="-122"/>
                <a:ea typeface="宋体" panose="02010600030101010101" pitchFamily="2" charset="-122"/>
              </a:rPr>
              <a:t>：块名</a:t>
            </a:r>
            <a:endParaRPr lang="zh-CN" altLang="en-US" b="1" dirty="0">
              <a:solidFill>
                <a:srgbClr val="FF0066"/>
              </a:solidFill>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块内声明语句；    </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join</a:t>
            </a:r>
            <a:endParaRPr lang="en-US" altLang="zh-CN" b="1" dirty="0">
              <a:latin typeface="宋体" panose="02010600030101010101" pitchFamily="2" charset="-122"/>
              <a:ea typeface="宋体" panose="02010600030101010101" pitchFamily="2" charset="-122"/>
            </a:endParaRPr>
          </a:p>
        </p:txBody>
      </p:sp>
      <p:sp>
        <p:nvSpPr>
          <p:cNvPr id="1701894" name="Text Box 6"/>
          <p:cNvSpPr txBox="1"/>
          <p:nvPr/>
        </p:nvSpPr>
        <p:spPr>
          <a:xfrm>
            <a:off x="3276600" y="2887663"/>
            <a:ext cx="609600" cy="4572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latin typeface="Tahoma" panose="020B0604030504040204" pitchFamily="34" charset="0"/>
                <a:ea typeface="宋体" panose="02010600030101010101" pitchFamily="2" charset="-122"/>
              </a:rPr>
              <a:t>或</a:t>
            </a:r>
            <a:endParaRPr lang="zh-CN" altLang="en-US" sz="2400" b="1" dirty="0">
              <a:latin typeface="Tahoma" panose="020B0604030504040204" pitchFamily="34" charset="0"/>
              <a:ea typeface="宋体" panose="02010600030101010101" pitchFamily="2" charset="-122"/>
            </a:endParaRPr>
          </a:p>
        </p:txBody>
      </p:sp>
      <p:sp>
        <p:nvSpPr>
          <p:cNvPr id="1701895" name="Rectangle 7"/>
          <p:cNvSpPr/>
          <p:nvPr/>
        </p:nvSpPr>
        <p:spPr>
          <a:xfrm>
            <a:off x="914400" y="4945063"/>
            <a:ext cx="7239000" cy="1206500"/>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sz="2200" b="1" dirty="0">
                <a:solidFill>
                  <a:srgbClr val="FF3399"/>
                </a:solidFill>
                <a:latin typeface="Times New Roman" panose="02020603050405020304" pitchFamily="18" charset="0"/>
                <a:ea typeface="华文楷体" panose="02010600040101010101" pitchFamily="2" charset="-122"/>
              </a:rPr>
              <a:t>注</a:t>
            </a:r>
            <a:r>
              <a:rPr lang="zh-CN" altLang="zh-CN" sz="2200" b="1" dirty="0">
                <a:latin typeface="Times New Roman" panose="02020603050405020304" pitchFamily="18" charset="0"/>
                <a:ea typeface="华文楷体" panose="02010600040101010101" pitchFamily="2" charset="-122"/>
              </a:rPr>
              <a:t>：块内声明语句可以是</a:t>
            </a:r>
            <a:r>
              <a:rPr lang="zh-CN" altLang="zh-CN" sz="2200" b="1" dirty="0">
                <a:solidFill>
                  <a:srgbClr val="FF0066"/>
                </a:solidFill>
                <a:latin typeface="Times New Roman" panose="02020603050405020304" pitchFamily="18" charset="0"/>
                <a:ea typeface="华文楷体" panose="02010600040101010101" pitchFamily="2" charset="-122"/>
              </a:rPr>
              <a:t>参数</a:t>
            </a:r>
            <a:r>
              <a:rPr lang="zh-CN" altLang="zh-CN" sz="2200" b="1" dirty="0">
                <a:latin typeface="Times New Roman" panose="02020603050405020304" pitchFamily="18" charset="0"/>
                <a:ea typeface="华文楷体" panose="02010600040101010101" pitchFamily="2" charset="-122"/>
              </a:rPr>
              <a:t>声明、</a:t>
            </a:r>
            <a:r>
              <a:rPr lang="en-US" altLang="zh-CN" sz="2200" b="1" dirty="0">
                <a:solidFill>
                  <a:srgbClr val="FF0066"/>
                </a:solidFill>
                <a:latin typeface="Times New Roman" panose="02020603050405020304" pitchFamily="18" charset="0"/>
                <a:ea typeface="华文楷体" panose="02010600040101010101" pitchFamily="2" charset="-122"/>
              </a:rPr>
              <a:t>reg</a:t>
            </a:r>
            <a:r>
              <a:rPr lang="zh-CN" altLang="en-US" sz="2200" b="1" dirty="0">
                <a:solidFill>
                  <a:srgbClr val="FF0066"/>
                </a:solidFill>
                <a:latin typeface="Times New Roman" panose="02020603050405020304" pitchFamily="18" charset="0"/>
                <a:ea typeface="华文楷体" panose="02010600040101010101" pitchFamily="2" charset="-122"/>
              </a:rPr>
              <a:t>型</a:t>
            </a:r>
            <a:r>
              <a:rPr lang="zh-CN" altLang="en-US" sz="2200" b="1" dirty="0">
                <a:latin typeface="Times New Roman" panose="02020603050405020304" pitchFamily="18" charset="0"/>
                <a:ea typeface="华文楷体" panose="02010600040101010101" pitchFamily="2" charset="-122"/>
              </a:rPr>
              <a:t>变量声明、</a:t>
            </a:r>
            <a:r>
              <a:rPr lang="en-US" altLang="zh-CN" sz="2200" b="1" dirty="0">
                <a:solidFill>
                  <a:srgbClr val="FF0066"/>
                </a:solidFill>
                <a:latin typeface="Times New Roman" panose="02020603050405020304" pitchFamily="18" charset="0"/>
                <a:ea typeface="华文楷体" panose="02010600040101010101" pitchFamily="2" charset="-122"/>
              </a:rPr>
              <a:t>integer</a:t>
            </a:r>
            <a:r>
              <a:rPr lang="zh-CN" altLang="en-US" sz="2200" b="1" dirty="0">
                <a:solidFill>
                  <a:srgbClr val="FF0066"/>
                </a:solidFill>
                <a:latin typeface="Times New Roman" panose="02020603050405020304" pitchFamily="18" charset="0"/>
                <a:ea typeface="华文楷体" panose="02010600040101010101" pitchFamily="2" charset="-122"/>
              </a:rPr>
              <a:t>型</a:t>
            </a:r>
            <a:r>
              <a:rPr lang="zh-CN" altLang="en-US" sz="2200" b="1" dirty="0">
                <a:latin typeface="Times New Roman" panose="02020603050405020304" pitchFamily="18" charset="0"/>
                <a:ea typeface="华文楷体" panose="02010600040101010101" pitchFamily="2" charset="-122"/>
              </a:rPr>
              <a:t>变量声明、</a:t>
            </a:r>
            <a:r>
              <a:rPr lang="en-US" altLang="zh-CN" sz="2200" b="1" dirty="0">
                <a:solidFill>
                  <a:srgbClr val="FF0066"/>
                </a:solidFill>
                <a:latin typeface="Times New Roman" panose="02020603050405020304" pitchFamily="18" charset="0"/>
                <a:ea typeface="华文楷体" panose="02010600040101010101" pitchFamily="2" charset="-122"/>
              </a:rPr>
              <a:t>real</a:t>
            </a:r>
            <a:r>
              <a:rPr lang="zh-CN" altLang="en-US" sz="2200" b="1" dirty="0">
                <a:solidFill>
                  <a:srgbClr val="FF0066"/>
                </a:solidFill>
                <a:latin typeface="Times New Roman" panose="02020603050405020304" pitchFamily="18" charset="0"/>
                <a:ea typeface="华文楷体" panose="02010600040101010101" pitchFamily="2" charset="-122"/>
              </a:rPr>
              <a:t>型</a:t>
            </a:r>
            <a:r>
              <a:rPr lang="zh-CN" altLang="en-US" sz="2200" b="1" dirty="0">
                <a:latin typeface="Times New Roman" panose="02020603050405020304" pitchFamily="18" charset="0"/>
                <a:ea typeface="华文楷体" panose="02010600040101010101" pitchFamily="2" charset="-122"/>
              </a:rPr>
              <a:t>变量声明语句、 </a:t>
            </a:r>
            <a:r>
              <a:rPr lang="en-US" altLang="zh-CN" sz="2200" b="1" dirty="0">
                <a:solidFill>
                  <a:srgbClr val="FF0066"/>
                </a:solidFill>
                <a:latin typeface="Times New Roman" panose="02020603050405020304" pitchFamily="18" charset="0"/>
                <a:ea typeface="华文楷体" panose="02010600040101010101" pitchFamily="2" charset="-122"/>
              </a:rPr>
              <a:t>time</a:t>
            </a:r>
            <a:r>
              <a:rPr lang="zh-CN" altLang="en-US" sz="2200" b="1" dirty="0">
                <a:solidFill>
                  <a:srgbClr val="FF0066"/>
                </a:solidFill>
                <a:latin typeface="Times New Roman" panose="02020603050405020304" pitchFamily="18" charset="0"/>
                <a:ea typeface="华文楷体" panose="02010600040101010101" pitchFamily="2" charset="-122"/>
              </a:rPr>
              <a:t>型</a:t>
            </a:r>
            <a:r>
              <a:rPr lang="zh-CN" altLang="en-US" sz="2200" b="1" dirty="0">
                <a:latin typeface="Times New Roman" panose="02020603050405020304" pitchFamily="18" charset="0"/>
                <a:ea typeface="华文楷体" panose="02010600040101010101" pitchFamily="2" charset="-122"/>
              </a:rPr>
              <a:t>变量声明语句和事件（</a:t>
            </a:r>
            <a:r>
              <a:rPr lang="en-US" altLang="zh-CN" sz="2200" b="1" dirty="0">
                <a:solidFill>
                  <a:srgbClr val="FF0066"/>
                </a:solidFill>
                <a:latin typeface="Times New Roman" panose="02020603050405020304" pitchFamily="18" charset="0"/>
                <a:ea typeface="华文楷体" panose="02010600040101010101" pitchFamily="2" charset="-122"/>
              </a:rPr>
              <a:t>event</a:t>
            </a:r>
            <a:r>
              <a:rPr lang="zh-CN" altLang="en-US" sz="2200" b="1" dirty="0">
                <a:latin typeface="Times New Roman" panose="02020603050405020304" pitchFamily="18" charset="0"/>
                <a:ea typeface="华文楷体" panose="02010600040101010101" pitchFamily="2" charset="-122"/>
              </a:rPr>
              <a:t>）说明语句。</a:t>
            </a:r>
            <a:endParaRPr lang="zh-CN" altLang="en-US" sz="2200" b="1" dirty="0">
              <a:latin typeface="Times New Roman" panose="02020603050405020304" pitchFamily="18" charset="0"/>
              <a:ea typeface="华文楷体" panose="02010600040101010101" pitchFamily="2" charset="-122"/>
            </a:endParaRPr>
          </a:p>
        </p:txBody>
      </p:sp>
      <p:sp>
        <p:nvSpPr>
          <p:cNvPr id="1701896" name="Rectangle 8"/>
          <p:cNvSpPr/>
          <p:nvPr/>
        </p:nvSpPr>
        <p:spPr>
          <a:xfrm>
            <a:off x="566738" y="1466850"/>
            <a:ext cx="2016125" cy="423863"/>
          </a:xfrm>
          <a:prstGeom prst="rect">
            <a:avLst/>
          </a:prstGeom>
          <a:noFill/>
          <a:ln w="25400" cap="flat" cmpd="sng">
            <a:solidFill>
              <a:schemeClr val="accent1"/>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en-US" altLang="en-US" sz="2400" b="1" dirty="0">
                <a:latin typeface="华文楷体" panose="02010600040101010101" pitchFamily="2" charset="-122"/>
                <a:ea typeface="华文楷体" panose="02010600040101010101" pitchFamily="2" charset="-122"/>
                <a:sym typeface="+mn-ea"/>
              </a:rPr>
              <a:t>并行块的格式</a:t>
            </a:r>
            <a:endParaRPr lang="en-US" altLang="en-US" sz="2400" b="1" dirty="0">
              <a:latin typeface="华文楷体" panose="02010600040101010101" pitchFamily="2" charset="-122"/>
              <a:ea typeface="华文楷体" panose="02010600040101010101" pitchFamily="2" charset="-122"/>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01896"/>
                                        </p:tgtEl>
                                        <p:attrNameLst>
                                          <p:attrName>style.visibility</p:attrName>
                                        </p:attrNameLst>
                                      </p:cBhvr>
                                      <p:to>
                                        <p:strVal val="visible"/>
                                      </p:to>
                                    </p:set>
                                    <p:anim calcmode="lin" valueType="num">
                                      <p:cBhvr>
                                        <p:cTn id="7" dur="500" fill="hold"/>
                                        <p:tgtEl>
                                          <p:spTgt spid="1701896"/>
                                        </p:tgtEl>
                                        <p:attrNameLst>
                                          <p:attrName>ppt_w</p:attrName>
                                        </p:attrNameLst>
                                      </p:cBhvr>
                                      <p:tavLst>
                                        <p:tav tm="0">
                                          <p:val>
                                            <p:fltVal val="0.000000"/>
                                          </p:val>
                                        </p:tav>
                                        <p:tav tm="100000">
                                          <p:val>
                                            <p:strVal val="#ppt_w"/>
                                          </p:val>
                                        </p:tav>
                                      </p:tavLst>
                                    </p:anim>
                                    <p:anim calcmode="lin" valueType="num">
                                      <p:cBhvr>
                                        <p:cTn id="8" dur="500" fill="hold"/>
                                        <p:tgtEl>
                                          <p:spTgt spid="1701896"/>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01892"/>
                                        </p:tgtEl>
                                        <p:attrNameLst>
                                          <p:attrName>style.visibility</p:attrName>
                                        </p:attrNameLst>
                                      </p:cBhvr>
                                      <p:to>
                                        <p:strVal val="visible"/>
                                      </p:to>
                                    </p:set>
                                    <p:animEffect transition="in" filter="wipe(left)">
                                      <p:cBhvr>
                                        <p:cTn id="13" dur="500"/>
                                        <p:tgtEl>
                                          <p:spTgt spid="170189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01894"/>
                                        </p:tgtEl>
                                        <p:attrNameLst>
                                          <p:attrName>style.visibility</p:attrName>
                                        </p:attrNameLst>
                                      </p:cBhvr>
                                      <p:to>
                                        <p:strVal val="visible"/>
                                      </p:to>
                                    </p:set>
                                    <p:animEffect transition="in" filter="dissolve">
                                      <p:cBhvr>
                                        <p:cTn id="18" dur="500"/>
                                        <p:tgtEl>
                                          <p:spTgt spid="1701894"/>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701893"/>
                                        </p:tgtEl>
                                        <p:attrNameLst>
                                          <p:attrName>style.visibility</p:attrName>
                                        </p:attrNameLst>
                                      </p:cBhvr>
                                      <p:to>
                                        <p:strVal val="visible"/>
                                      </p:to>
                                    </p:set>
                                    <p:animEffect transition="in" filter="wipe(left)">
                                      <p:cBhvr>
                                        <p:cTn id="22" dur="500"/>
                                        <p:tgtEl>
                                          <p:spTgt spid="1701893"/>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701895"/>
                                        </p:tgtEl>
                                        <p:attrNameLst>
                                          <p:attrName>style.visibility</p:attrName>
                                        </p:attrNameLst>
                                      </p:cBhvr>
                                      <p:to>
                                        <p:strVal val="visible"/>
                                      </p:to>
                                    </p:set>
                                    <p:anim calcmode="lin" valueType="num">
                                      <p:cBhvr>
                                        <p:cTn id="27" dur="500" fill="hold"/>
                                        <p:tgtEl>
                                          <p:spTgt spid="1701895"/>
                                        </p:tgtEl>
                                        <p:attrNameLst>
                                          <p:attrName>ppt_w</p:attrName>
                                        </p:attrNameLst>
                                      </p:cBhvr>
                                      <p:tavLst>
                                        <p:tav tm="0">
                                          <p:val>
                                            <p:fltVal val="0.000000"/>
                                          </p:val>
                                        </p:tav>
                                        <p:tav tm="100000">
                                          <p:val>
                                            <p:strVal val="#ppt_w"/>
                                          </p:val>
                                        </p:tav>
                                      </p:tavLst>
                                    </p:anim>
                                    <p:anim calcmode="lin" valueType="num">
                                      <p:cBhvr>
                                        <p:cTn id="28" dur="500" fill="hold"/>
                                        <p:tgtEl>
                                          <p:spTgt spid="1701895"/>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1892" grpId="0" bldLvl="0" animBg="1"/>
      <p:bldP spid="1701893" grpId="0" bldLvl="0" animBg="1"/>
      <p:bldP spid="1701894" grpId="0"/>
      <p:bldP spid="1701895" grpId="0" bldLvl="0" animBg="1"/>
      <p:bldP spid="1701896"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p:txBody>
          <a:bodyPr vert="horz" wrap="square" lIns="91440" tIns="45720" rIns="91440" bIns="45720" anchor="b" anchorCtr="0"/>
          <a:p>
            <a:pPr eaLnBrk="1" hangingPunct="1"/>
            <a:r>
              <a:rPr lang="en-US" altLang="zh-CN" dirty="0">
                <a:solidFill>
                  <a:srgbClr val="595959"/>
                </a:solidFill>
                <a:latin typeface="华文楷体" panose="02010600040101010101" pitchFamily="2" charset="-122"/>
                <a:ea typeface="黑体" panose="02010609060101010101" pitchFamily="49" charset="-122"/>
                <a:cs typeface="+mj-cs"/>
              </a:rPr>
              <a:t>3.6  </a:t>
            </a:r>
            <a:r>
              <a:rPr lang="zh-CN" altLang="en-US" dirty="0">
                <a:solidFill>
                  <a:srgbClr val="595959"/>
                </a:solidFill>
                <a:latin typeface="华文楷体" panose="02010600040101010101" pitchFamily="2" charset="-122"/>
                <a:ea typeface="黑体" panose="02010609060101010101" pitchFamily="49" charset="-122"/>
                <a:cs typeface="+mj-cs"/>
              </a:rPr>
              <a:t>赋值语句和块语句</a:t>
            </a:r>
            <a:endParaRPr lang="zh-CN" altLang="en-US" dirty="0">
              <a:solidFill>
                <a:srgbClr val="595959"/>
              </a:solidFill>
              <a:latin typeface="华文楷体" panose="02010600040101010101" pitchFamily="2" charset="-122"/>
              <a:ea typeface="黑体" panose="02010609060101010101" pitchFamily="49" charset="-122"/>
              <a:cs typeface="+mj-cs"/>
            </a:endParaRPr>
          </a:p>
        </p:txBody>
      </p:sp>
      <p:sp>
        <p:nvSpPr>
          <p:cNvPr id="1703939" name="Rectangle 3"/>
          <p:cNvSpPr>
            <a:spLocks noGrp="1" noChangeArrowheads="1"/>
          </p:cNvSpPr>
          <p:nvPr>
            <p:ph idx="1"/>
          </p:nvPr>
        </p:nvSpPr>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宋体" panose="02010600030101010101" pitchFamily="2" charset="-122"/>
                <a:ea typeface="华文楷体" panose="02010600040101010101" pitchFamily="2" charset="-122"/>
              </a:rPr>
              <a:t> </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r>
              <a:rPr kumimoji="0" lang="zh-CN" altLang="en-US"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例</a:t>
            </a:r>
            <a:r>
              <a:rPr kumimoji="0" lang="en-US" altLang="zh-CN" sz="2000" b="0" i="0" u="none" strike="noStrike" kern="0" cap="none" spc="0" normalizeH="0" baseline="0" noProof="1">
                <a:ln>
                  <a:noFill/>
                </a:ln>
                <a:solidFill>
                  <a:srgbClr val="FF0066"/>
                </a:solidFill>
                <a:effectLst/>
                <a:uLnTx/>
                <a:uFillTx/>
                <a:latin typeface="Times New Roman" panose="02020603050405020304" pitchFamily="18" charset="0"/>
                <a:ea typeface="华文楷体" panose="02010600040101010101" pitchFamily="2" charset="-122"/>
              </a:rPr>
              <a:t>4</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用并行块和延迟控制组合产生一个时序波形。</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reg[7:0] r</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a:t>
            </a:r>
            <a:endPar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fork</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	 //</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rPr>
              <a:t>由一系列延迟产生的波形</a:t>
            </a:r>
            <a:endPar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50    r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h35</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100  r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hE2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endPar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150  r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h00</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200  r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hF7</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 </a:t>
            </a:r>
            <a:endPar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250  </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&gt; end_wave</a:t>
            </a: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a:t>
            </a:r>
            <a:r>
              <a:rPr kumimoji="0" lang="zh-CN" altLang="en-US"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触发事件</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end_wave</a:t>
            </a:r>
            <a:endPar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a:t>
            </a:r>
            <a:r>
              <a:rPr kumimoji="0" lang="en-US" altLang="zh-CN" sz="2200" b="0" i="0" u="none" strike="noStrike" kern="0" cap="none" spc="0" normalizeH="0" baseline="0" noProof="1">
                <a:ln>
                  <a:noFill/>
                </a:ln>
                <a:solidFill>
                  <a:schemeClr val="tx1"/>
                </a:solidFill>
                <a:effectLst>
                  <a:outerShdw blurRad="38100" dist="38100" dir="2700000">
                    <a:srgbClr val="FFFFFF"/>
                  </a:outerShdw>
                </a:effectLst>
                <a:uLnTx/>
                <a:uFillTx/>
                <a:latin typeface="Times New Roman" panose="02020603050405020304" pitchFamily="18" charset="0"/>
                <a:ea typeface="华文楷体" panose="02010600040101010101" pitchFamily="2" charset="-122"/>
                <a:cs typeface="+mn-cs"/>
              </a:rPr>
              <a:t>                     join</a:t>
            </a:r>
            <a:endPar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p:txBody>
      </p:sp>
      <p:sp>
        <p:nvSpPr>
          <p:cNvPr id="1703941" name="Rectangle 5"/>
          <p:cNvSpPr/>
          <p:nvPr/>
        </p:nvSpPr>
        <p:spPr>
          <a:xfrm>
            <a:off x="965200" y="5207000"/>
            <a:ext cx="7391400" cy="830263"/>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buClr>
                <a:srgbClr val="3333FF"/>
              </a:buClr>
              <a:buFont typeface="Wingdings" panose="05000000000000000000" pitchFamily="2" charset="2"/>
              <a:buNone/>
            </a:pPr>
            <a:r>
              <a:rPr lang="zh-CN" altLang="zh-CN" sz="2400" b="1" dirty="0">
                <a:solidFill>
                  <a:srgbClr val="FF3399"/>
                </a:solidFill>
                <a:latin typeface="Times New Roman" panose="02020603050405020304" pitchFamily="18" charset="0"/>
                <a:ea typeface="华文楷体" panose="02010600040101010101" pitchFamily="2" charset="-122"/>
              </a:rPr>
              <a:t>注</a:t>
            </a:r>
            <a:r>
              <a:rPr lang="zh-CN" altLang="zh-CN" sz="2400" b="1" dirty="0">
                <a:latin typeface="Times New Roman" panose="02020603050405020304" pitchFamily="18" charset="0"/>
                <a:ea typeface="华文楷体" panose="02010600040101010101" pitchFamily="2" charset="-122"/>
              </a:rPr>
              <a:t>：在</a:t>
            </a:r>
            <a:r>
              <a:rPr lang="en-US" altLang="zh-CN" sz="2400" b="1" dirty="0">
                <a:latin typeface="Times New Roman" panose="02020603050405020304" pitchFamily="18" charset="0"/>
                <a:ea typeface="华文楷体" panose="02010600040101010101" pitchFamily="2" charset="-122"/>
              </a:rPr>
              <a:t>fork_join</a:t>
            </a:r>
            <a:r>
              <a:rPr lang="zh-CN" altLang="en-US" sz="2400" b="1" dirty="0">
                <a:latin typeface="Times New Roman" panose="02020603050405020304" pitchFamily="18" charset="0"/>
                <a:ea typeface="华文楷体" panose="02010600040101010101" pitchFamily="2" charset="-122"/>
              </a:rPr>
              <a:t>块内，各条语句不必按顺序给出！但为增加可读性，最好按被执行的顺序书写！</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03939"/>
                                        </p:tgtEl>
                                        <p:attrNameLst>
                                          <p:attrName>style.visibility</p:attrName>
                                        </p:attrNameLst>
                                      </p:cBhvr>
                                      <p:to>
                                        <p:strVal val="visible"/>
                                      </p:to>
                                    </p:set>
                                    <p:anim calcmode="lin" valueType="num">
                                      <p:cBhvr>
                                        <p:cTn id="7" dur="500" fill="hold"/>
                                        <p:tgtEl>
                                          <p:spTgt spid="1703939"/>
                                        </p:tgtEl>
                                        <p:attrNameLst>
                                          <p:attrName>ppt_x</p:attrName>
                                        </p:attrNameLst>
                                      </p:cBhvr>
                                      <p:tavLst>
                                        <p:tav tm="0">
                                          <p:val>
                                            <p:strVal val="0-#ppt_w/2"/>
                                          </p:val>
                                        </p:tav>
                                        <p:tav tm="100000">
                                          <p:val>
                                            <p:strVal val="#ppt_x"/>
                                          </p:val>
                                        </p:tav>
                                      </p:tavLst>
                                    </p:anim>
                                    <p:anim calcmode="lin" valueType="num">
                                      <p:cBhvr>
                                        <p:cTn id="8" dur="500" fill="hold"/>
                                        <p:tgtEl>
                                          <p:spTgt spid="17039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703941"/>
                                        </p:tgtEl>
                                        <p:attrNameLst>
                                          <p:attrName>style.visibility</p:attrName>
                                        </p:attrNameLst>
                                      </p:cBhvr>
                                      <p:to>
                                        <p:strVal val="visible"/>
                                      </p:to>
                                    </p:set>
                                    <p:anim calcmode="lin" valueType="num">
                                      <p:cBhvr>
                                        <p:cTn id="13" dur="500" fill="hold"/>
                                        <p:tgtEl>
                                          <p:spTgt spid="1703941"/>
                                        </p:tgtEl>
                                        <p:attrNameLst>
                                          <p:attrName>ppt_w</p:attrName>
                                        </p:attrNameLst>
                                      </p:cBhvr>
                                      <p:tavLst>
                                        <p:tav tm="0">
                                          <p:val>
                                            <p:fltVal val="0.000000"/>
                                          </p:val>
                                        </p:tav>
                                        <p:tav tm="100000">
                                          <p:val>
                                            <p:strVal val="#ppt_w"/>
                                          </p:val>
                                        </p:tav>
                                      </p:tavLst>
                                    </p:anim>
                                    <p:anim calcmode="lin" valueType="num">
                                      <p:cBhvr>
                                        <p:cTn id="14" dur="500" fill="hold"/>
                                        <p:tgtEl>
                                          <p:spTgt spid="170394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3939" grpId="0"/>
      <p:bldP spid="170394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46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288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2042883" name="Rectangle 3"/>
          <p:cNvSpPr>
            <a:spLocks noGrp="1"/>
          </p:cNvSpPr>
          <p:nvPr>
            <p:ph idx="1"/>
          </p:nvPr>
        </p:nvSpPr>
        <p:spPr/>
        <p:txBody>
          <a:bodyPr vert="horz" wrap="square" lIns="91440" tIns="45720" rIns="91440" bIns="45720" anchor="t" anchorCtr="0"/>
          <a:p>
            <a:pPr eaLnBrk="1" hangingPunct="1">
              <a:lnSpc>
                <a:spcPct val="120000"/>
              </a:lnSpc>
            </a:pPr>
            <a:r>
              <a:rPr lang="en-US" altLang="zh-CN" sz="2800" dirty="0">
                <a:solidFill>
                  <a:schemeClr val="tx2"/>
                </a:solidFill>
                <a:latin typeface="华文楷体" panose="02010600040101010101" pitchFamily="2" charset="-122"/>
                <a:ea typeface="华文楷体" panose="02010600040101010101" pitchFamily="2" charset="-122"/>
                <a:cs typeface="+mn-cs"/>
              </a:rPr>
              <a:t>7.1 if-else</a:t>
            </a:r>
            <a:r>
              <a:rPr lang="zh-CN" altLang="en-US" sz="2800" dirty="0">
                <a:solidFill>
                  <a:schemeClr val="tx2"/>
                </a:solidFill>
                <a:latin typeface="华文楷体" panose="02010600040101010101" pitchFamily="2" charset="-122"/>
                <a:ea typeface="华文楷体" panose="02010600040101010101" pitchFamily="2" charset="-122"/>
                <a:cs typeface="+mn-cs"/>
              </a:rPr>
              <a:t>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r>
              <a:rPr lang="en-US" altLang="zh-CN" sz="2800" dirty="0">
                <a:solidFill>
                  <a:schemeClr val="tx2"/>
                </a:solidFill>
                <a:latin typeface="华文楷体" panose="02010600040101010101" pitchFamily="2" charset="-122"/>
                <a:ea typeface="华文楷体" panose="02010600040101010101" pitchFamily="2" charset="-122"/>
                <a:cs typeface="+mn-cs"/>
              </a:rPr>
              <a:t>7.2case</a:t>
            </a:r>
            <a:r>
              <a:rPr lang="zh-CN" altLang="en-US" sz="2800" dirty="0">
                <a:solidFill>
                  <a:schemeClr val="tx2"/>
                </a:solidFill>
                <a:latin typeface="华文楷体" panose="02010600040101010101" pitchFamily="2" charset="-122"/>
                <a:ea typeface="华文楷体" panose="02010600040101010101" pitchFamily="2" charset="-122"/>
                <a:cs typeface="+mn-cs"/>
              </a:rPr>
              <a:t>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r>
              <a:rPr lang="en-US" altLang="zh-CN" sz="2800" dirty="0">
                <a:solidFill>
                  <a:schemeClr val="tx2"/>
                </a:solidFill>
                <a:latin typeface="华文楷体" panose="02010600040101010101" pitchFamily="2" charset="-122"/>
                <a:ea typeface="华文楷体" panose="02010600040101010101" pitchFamily="2" charset="-122"/>
                <a:cs typeface="+mn-cs"/>
              </a:rPr>
              <a:t>7.3</a:t>
            </a:r>
            <a:r>
              <a:rPr lang="zh-CN" altLang="en-US" sz="2800" dirty="0">
                <a:solidFill>
                  <a:schemeClr val="tx2"/>
                </a:solidFill>
                <a:latin typeface="华文楷体" panose="02010600040101010101" pitchFamily="2" charset="-122"/>
                <a:ea typeface="华文楷体" panose="02010600040101010101" pitchFamily="2" charset="-122"/>
                <a:cs typeface="+mn-cs"/>
              </a:rPr>
              <a:t>使用条件语句注意事项</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endParaRPr lang="en-US" altLang="zh-CN" sz="2800" dirty="0">
              <a:solidFill>
                <a:srgbClr val="FF0000"/>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2882"/>
                                        </p:tgtEl>
                                        <p:attrNameLst>
                                          <p:attrName>style.visibility</p:attrName>
                                        </p:attrNameLst>
                                      </p:cBhvr>
                                      <p:to>
                                        <p:strVal val="visible"/>
                                      </p:to>
                                    </p:set>
                                    <p:anim calcmode="lin" valueType="num">
                                      <p:cBhvr additive="base">
                                        <p:cTn id="7" dur="500" fill="hold"/>
                                        <p:tgtEl>
                                          <p:spTgt spid="2042882"/>
                                        </p:tgtEl>
                                        <p:attrNameLst>
                                          <p:attrName>ppt_x</p:attrName>
                                        </p:attrNameLst>
                                      </p:cBhvr>
                                      <p:tavLst>
                                        <p:tav tm="0">
                                          <p:val>
                                            <p:strVal val="#ppt_x"/>
                                          </p:val>
                                        </p:tav>
                                        <p:tav tm="100000">
                                          <p:val>
                                            <p:strVal val="#ppt_x"/>
                                          </p:val>
                                        </p:tav>
                                      </p:tavLst>
                                    </p:anim>
                                    <p:anim calcmode="lin" valueType="num">
                                      <p:cBhvr additive="base">
                                        <p:cTn id="8" dur="500" fill="hold"/>
                                        <p:tgtEl>
                                          <p:spTgt spid="204288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2883"/>
                                        </p:tgtEl>
                                        <p:attrNameLst>
                                          <p:attrName>style.visibility</p:attrName>
                                        </p:attrNameLst>
                                      </p:cBhvr>
                                      <p:to>
                                        <p:strVal val="visible"/>
                                      </p:to>
                                    </p:set>
                                    <p:anim calcmode="lin" valueType="num">
                                      <p:cBhvr additive="base">
                                        <p:cTn id="12" dur="500" fill="hold"/>
                                        <p:tgtEl>
                                          <p:spTgt spid="2042883"/>
                                        </p:tgtEl>
                                        <p:attrNameLst>
                                          <p:attrName>ppt_x</p:attrName>
                                        </p:attrNameLst>
                                      </p:cBhvr>
                                      <p:tavLst>
                                        <p:tav tm="0">
                                          <p:val>
                                            <p:strVal val="0-#ppt_w/2"/>
                                          </p:val>
                                        </p:tav>
                                        <p:tav tm="100000">
                                          <p:val>
                                            <p:strVal val="#ppt_x"/>
                                          </p:val>
                                        </p:tav>
                                      </p:tavLst>
                                    </p:anim>
                                    <p:anim calcmode="lin" valueType="num">
                                      <p:cBhvr additive="base">
                                        <p:cTn id="13" dur="500" fill="hold"/>
                                        <p:tgtEl>
                                          <p:spTgt spid="204288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2882" grpId="0"/>
      <p:bldP spid="2042883" grpId="0"/>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565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5565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07011" name="Rectangle 3"/>
          <p:cNvSpPr>
            <a:spLocks noGrp="1"/>
          </p:cNvSpPr>
          <p:nvPr>
            <p:ph idx="1"/>
          </p:nvPr>
        </p:nvSpPr>
        <p:spPr/>
        <p:txBody>
          <a:bodyPr vert="horz" wrap="square" lIns="91440" tIns="45720" rIns="91440" bIns="45720" anchor="t" anchorCtr="0"/>
          <a:p>
            <a:pPr algn="just">
              <a:lnSpc>
                <a:spcPct val="110000"/>
              </a:lnSpc>
              <a:spcBef>
                <a:spcPct val="0"/>
              </a:spcBef>
            </a:pPr>
            <a:endParaRPr lang="zh-CN" altLang="en-US" dirty="0">
              <a:solidFill>
                <a:srgbClr val="FF0000"/>
              </a:solidFill>
              <a:latin typeface="宋体" panose="02010600030101010101" pitchFamily="2" charset="-122"/>
              <a:ea typeface="华文楷体" panose="02010600040101010101" pitchFamily="2" charset="-122"/>
              <a:cs typeface="+mn-cs"/>
            </a:endParaRPr>
          </a:p>
          <a:p>
            <a:pPr algn="just">
              <a:lnSpc>
                <a:spcPct val="110000"/>
              </a:lnSpc>
              <a:spcBef>
                <a:spcPct val="0"/>
              </a:spcBef>
            </a:pPr>
            <a:endParaRPr lang="zh-CN" altLang="en-US" dirty="0">
              <a:solidFill>
                <a:srgbClr val="FF0000"/>
              </a:solidFill>
              <a:latin typeface="宋体" panose="02010600030101010101" pitchFamily="2" charset="-122"/>
              <a:ea typeface="华文楷体" panose="02010600040101010101" pitchFamily="2" charset="-122"/>
              <a:cs typeface="+mn-cs"/>
            </a:endParaRPr>
          </a:p>
          <a:p>
            <a:pPr algn="just">
              <a:lnSpc>
                <a:spcPct val="110000"/>
              </a:lnSpc>
              <a:spcBef>
                <a:spcPct val="0"/>
              </a:spcBef>
            </a:pPr>
            <a:endParaRPr lang="zh-CN" altLang="en-US" dirty="0">
              <a:solidFill>
                <a:srgbClr val="FF0000"/>
              </a:solidFill>
              <a:latin typeface="宋体" panose="02010600030101010101" pitchFamily="2" charset="-122"/>
              <a:ea typeface="华文楷体" panose="02010600040101010101" pitchFamily="2" charset="-122"/>
              <a:cs typeface="+mn-cs"/>
            </a:endParaRPr>
          </a:p>
          <a:p>
            <a:pPr algn="just">
              <a:lnSpc>
                <a:spcPct val="110000"/>
              </a:lnSpc>
              <a:spcBef>
                <a:spcPct val="0"/>
              </a:spcBef>
            </a:pPr>
            <a:endParaRPr lang="zh-CN" altLang="en-US" dirty="0">
              <a:solidFill>
                <a:srgbClr val="FF0000"/>
              </a:solidFill>
              <a:latin typeface="宋体" panose="02010600030101010101" pitchFamily="2" charset="-122"/>
              <a:ea typeface="华文楷体" panose="02010600040101010101" pitchFamily="2" charset="-122"/>
              <a:cs typeface="+mn-cs"/>
            </a:endParaRPr>
          </a:p>
          <a:p>
            <a:pPr algn="just">
              <a:lnSpc>
                <a:spcPct val="110000"/>
              </a:lnSpc>
              <a:spcBef>
                <a:spcPct val="0"/>
              </a:spcBef>
            </a:pPr>
            <a:r>
              <a:rPr lang="en-US" altLang="zh-CN" dirty="0">
                <a:solidFill>
                  <a:schemeClr val="tx2"/>
                </a:solidFill>
                <a:latin typeface="Times New Roman" panose="02020603050405020304" pitchFamily="18" charset="0"/>
                <a:ea typeface="黑体" panose="02010609060101010101" pitchFamily="49" charset="-122"/>
                <a:cs typeface="+mn-cs"/>
              </a:rPr>
              <a:t>7.1 if-else</a:t>
            </a:r>
            <a:r>
              <a:rPr lang="zh-CN" altLang="en-US" dirty="0">
                <a:solidFill>
                  <a:schemeClr val="tx2"/>
                </a:solidFill>
                <a:latin typeface="Times New Roman" panose="02020603050405020304" pitchFamily="18" charset="0"/>
                <a:ea typeface="华文楷体" panose="02010600040101010101" pitchFamily="2" charset="-122"/>
                <a:cs typeface="+mn-cs"/>
              </a:rPr>
              <a:t>语句</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latin typeface="Times New Roman" panose="02020603050405020304" pitchFamily="18" charset="0"/>
                <a:ea typeface="华文楷体" panose="02010600040101010101" pitchFamily="2" charset="-122"/>
                <a:cs typeface="+mn-cs"/>
              </a:rPr>
              <a:t>判定所给条件是否满足，根据判定的结果（真或假）决定执行给出的两种操作之一。</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if-else</a:t>
            </a:r>
            <a:r>
              <a:rPr lang="zh-CN" altLang="en-US" dirty="0">
                <a:latin typeface="Times New Roman" panose="02020603050405020304" pitchFamily="18" charset="0"/>
                <a:ea typeface="华文楷体" panose="02010600040101010101" pitchFamily="2" charset="-122"/>
                <a:cs typeface="+mn-cs"/>
              </a:rPr>
              <a:t>语句有</a:t>
            </a:r>
            <a:r>
              <a:rPr lang="en-US" altLang="zh-CN" dirty="0">
                <a:latin typeface="Times New Roman" panose="02020603050405020304" pitchFamily="18" charset="0"/>
                <a:ea typeface="黑体" panose="02010609060101010101" pitchFamily="49" charset="-122"/>
                <a:cs typeface="+mn-cs"/>
              </a:rPr>
              <a:t>3</a:t>
            </a:r>
            <a:r>
              <a:rPr lang="zh-CN" altLang="en-US" dirty="0">
                <a:latin typeface="Times New Roman" panose="02020603050405020304" pitchFamily="18" charset="0"/>
                <a:ea typeface="华文楷体" panose="02010600040101010101" pitchFamily="2" charset="-122"/>
                <a:cs typeface="+mn-cs"/>
              </a:rPr>
              <a:t>种形式</a:t>
            </a:r>
            <a:endParaRPr lang="zh-CN" altLang="en-US" dirty="0">
              <a:latin typeface="Times New Roman" panose="02020603050405020304" pitchFamily="18" charset="0"/>
              <a:ea typeface="华文楷体" panose="02010600040101010101" pitchFamily="2" charset="-122"/>
              <a:cs typeface="+mn-cs"/>
            </a:endParaRPr>
          </a:p>
          <a:p>
            <a:pPr lvl="1" eaLnBrk="1" hangingPunct="1"/>
            <a:r>
              <a:rPr lang="zh-CN" altLang="en-US" dirty="0">
                <a:latin typeface="Times New Roman" panose="02020603050405020304" pitchFamily="18" charset="0"/>
                <a:ea typeface="华文楷体" panose="02010600040101010101" pitchFamily="2" charset="-122"/>
              </a:rPr>
              <a:t>其中“表达式”为</a:t>
            </a:r>
            <a:r>
              <a:rPr lang="zh-CN" altLang="en-US" dirty="0">
                <a:solidFill>
                  <a:srgbClr val="FF0066"/>
                </a:solidFill>
                <a:latin typeface="Times New Roman" panose="02020603050405020304" pitchFamily="18" charset="0"/>
                <a:ea typeface="华文楷体" panose="02010600040101010101" pitchFamily="2" charset="-122"/>
              </a:rPr>
              <a:t>逻辑</a:t>
            </a:r>
            <a:r>
              <a:rPr lang="zh-CN" altLang="en-US" dirty="0">
                <a:latin typeface="Times New Roman" panose="02020603050405020304" pitchFamily="18" charset="0"/>
                <a:ea typeface="华文楷体" panose="02010600040101010101" pitchFamily="2" charset="-122"/>
              </a:rPr>
              <a:t>表达式或</a:t>
            </a:r>
            <a:r>
              <a:rPr lang="zh-CN" altLang="en-US" dirty="0">
                <a:solidFill>
                  <a:srgbClr val="FF0066"/>
                </a:solidFill>
                <a:latin typeface="Times New Roman" panose="02020603050405020304" pitchFamily="18" charset="0"/>
                <a:ea typeface="华文楷体" panose="02010600040101010101" pitchFamily="2" charset="-122"/>
              </a:rPr>
              <a:t>关系</a:t>
            </a:r>
            <a:r>
              <a:rPr lang="zh-CN" altLang="en-US" dirty="0">
                <a:latin typeface="Times New Roman" panose="02020603050405020304" pitchFamily="18" charset="0"/>
                <a:ea typeface="华文楷体" panose="02010600040101010101" pitchFamily="2" charset="-122"/>
              </a:rPr>
              <a:t>表达式，或</a:t>
            </a:r>
            <a:r>
              <a:rPr lang="zh-CN" altLang="en-US" dirty="0">
                <a:solidFill>
                  <a:srgbClr val="FF0066"/>
                </a:solidFill>
                <a:latin typeface="Times New Roman" panose="02020603050405020304" pitchFamily="18" charset="0"/>
                <a:ea typeface="华文楷体" panose="02010600040101010101" pitchFamily="2" charset="-122"/>
              </a:rPr>
              <a:t>一位</a:t>
            </a:r>
            <a:r>
              <a:rPr lang="zh-CN" altLang="en-US" dirty="0">
                <a:latin typeface="Times New Roman" panose="02020603050405020304" pitchFamily="18" charset="0"/>
                <a:ea typeface="华文楷体" panose="02010600040101010101" pitchFamily="2" charset="-122"/>
              </a:rPr>
              <a:t>的</a:t>
            </a:r>
            <a:r>
              <a:rPr lang="zh-CN" altLang="en-US" dirty="0">
                <a:solidFill>
                  <a:srgbClr val="FF0066"/>
                </a:solidFill>
                <a:latin typeface="Times New Roman" panose="02020603050405020304" pitchFamily="18" charset="0"/>
                <a:ea typeface="华文楷体" panose="02010600040101010101" pitchFamily="2" charset="-122"/>
              </a:rPr>
              <a:t>变量</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若表达式的值为</a:t>
            </a:r>
            <a:r>
              <a:rPr lang="en-US" altLang="zh-CN" dirty="0">
                <a:latin typeface="Times New Roman" panose="02020603050405020304" pitchFamily="18" charset="0"/>
                <a:ea typeface="黑体" panose="02010609060101010101" pitchFamily="49" charset="-122"/>
              </a:rPr>
              <a:t>0</a:t>
            </a:r>
            <a:r>
              <a:rPr lang="zh-CN" altLang="en-US" dirty="0">
                <a:latin typeface="Times New Roman" panose="02020603050405020304" pitchFamily="18" charset="0"/>
                <a:ea typeface="华文楷体" panose="02010600040101010101" pitchFamily="2" charset="-122"/>
              </a:rPr>
              <a:t>、或</a:t>
            </a:r>
            <a:r>
              <a:rPr lang="en-US" altLang="zh-CN" dirty="0">
                <a:latin typeface="Times New Roman" panose="02020603050405020304" pitchFamily="18" charset="0"/>
                <a:ea typeface="黑体" panose="02010609060101010101" pitchFamily="49" charset="-122"/>
              </a:rPr>
              <a:t>z</a:t>
            </a:r>
            <a:r>
              <a:rPr lang="zh-CN" altLang="en-US" dirty="0">
                <a:latin typeface="Times New Roman" panose="02020603050405020304" pitchFamily="18" charset="0"/>
                <a:ea typeface="华文楷体" panose="02010600040101010101" pitchFamily="2" charset="-122"/>
              </a:rPr>
              <a:t>，则</a:t>
            </a:r>
            <a:r>
              <a:rPr lang="zh-CN" altLang="zh-CN" dirty="0">
                <a:latin typeface="Times New Roman" panose="02020603050405020304" pitchFamily="18" charset="0"/>
                <a:ea typeface="华文楷体" panose="02010600040101010101" pitchFamily="2" charset="-122"/>
              </a:rPr>
              <a:t>判定的</a:t>
            </a:r>
            <a:r>
              <a:rPr lang="zh-CN" altLang="en-US" dirty="0">
                <a:latin typeface="Times New Roman" panose="02020603050405020304" pitchFamily="18" charset="0"/>
                <a:ea typeface="华文楷体" panose="02010600040101010101" pitchFamily="2" charset="-122"/>
              </a:rPr>
              <a:t>结果为“假”；若为</a:t>
            </a:r>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华文楷体" panose="02010600040101010101" pitchFamily="2" charset="-122"/>
              </a:rPr>
              <a:t>，则结果为“真”。</a:t>
            </a:r>
            <a:endParaRPr lang="zh-CN" altLang="en-US" dirty="0">
              <a:latin typeface="Times New Roman" panose="02020603050405020304" pitchFamily="18" charset="0"/>
              <a:ea typeface="华文楷体" panose="02010600040101010101" pitchFamily="2" charset="-122"/>
            </a:endParaRPr>
          </a:p>
          <a:p>
            <a:pPr lvl="1" eaLnBrk="1" hangingPunct="1"/>
            <a:r>
              <a:rPr lang="zh-CN" altLang="zh-CN" dirty="0">
                <a:latin typeface="Times New Roman" panose="02020603050405020304" pitchFamily="18" charset="0"/>
                <a:ea typeface="华文楷体" panose="02010600040101010101" pitchFamily="2" charset="-122"/>
              </a:rPr>
              <a:t>语句可为单句，也可为多句；多句时一定要用“</a:t>
            </a:r>
            <a:r>
              <a:rPr lang="en-US" altLang="zh-CN" dirty="0">
                <a:solidFill>
                  <a:srgbClr val="FF0066"/>
                </a:solidFill>
                <a:latin typeface="Times New Roman" panose="02020603050405020304" pitchFamily="18" charset="0"/>
                <a:ea typeface="黑体" panose="02010609060101010101" pitchFamily="49" charset="-122"/>
              </a:rPr>
              <a:t>begin_end</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华文楷体" panose="02010600040101010101" pitchFamily="2" charset="-122"/>
              </a:rPr>
              <a:t>语句括起来，形成一个复合块语句。</a:t>
            </a:r>
            <a:endParaRPr lang="zh-CN" altLang="en-US" dirty="0">
              <a:latin typeface="Times New Roman" panose="02020603050405020304" pitchFamily="18" charset="0"/>
              <a:ea typeface="华文楷体" panose="02010600040101010101" pitchFamily="2" charset="-122"/>
            </a:endParaRPr>
          </a:p>
        </p:txBody>
      </p:sp>
      <p:sp>
        <p:nvSpPr>
          <p:cNvPr id="1707012" name="AutoShape 4"/>
          <p:cNvSpPr/>
          <p:nvPr/>
        </p:nvSpPr>
        <p:spPr>
          <a:xfrm>
            <a:off x="3086100" y="2049463"/>
            <a:ext cx="1735138" cy="614362"/>
          </a:xfrm>
          <a:prstGeom prst="wedgeRoundRectCallout">
            <a:avLst>
              <a:gd name="adj1" fmla="val -84218"/>
              <a:gd name="adj2" fmla="val 38630"/>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对于每个判定只有</a:t>
            </a:r>
            <a:r>
              <a:rPr lang="zh-CN" altLang="en-US" sz="1800" b="1" dirty="0">
                <a:solidFill>
                  <a:srgbClr val="CC3300"/>
                </a:solidFill>
                <a:latin typeface="华文楷体" panose="02010600040101010101" pitchFamily="2" charset="-122"/>
                <a:ea typeface="华文楷体" panose="02010600040101010101" pitchFamily="2" charset="-122"/>
              </a:rPr>
              <a:t>两</a:t>
            </a:r>
            <a:r>
              <a:rPr lang="zh-CN" altLang="en-US" sz="1800" b="1" dirty="0">
                <a:latin typeface="华文楷体" panose="02010600040101010101" pitchFamily="2" charset="-122"/>
                <a:ea typeface="华文楷体" panose="02010600040101010101" pitchFamily="2" charset="-122"/>
              </a:rPr>
              <a:t>个分支</a:t>
            </a:r>
            <a:endParaRPr lang="zh-CN" altLang="en-US" sz="1800" b="1" dirty="0">
              <a:latin typeface="华文楷体" panose="02010600040101010101" pitchFamily="2" charset="-122"/>
              <a:ea typeface="华文楷体" panose="02010600040101010101" pitchFamily="2" charset="-122"/>
            </a:endParaRPr>
          </a:p>
        </p:txBody>
      </p:sp>
      <p:sp>
        <p:nvSpPr>
          <p:cNvPr id="1707013" name="AutoShape 5"/>
          <p:cNvSpPr/>
          <p:nvPr/>
        </p:nvSpPr>
        <p:spPr>
          <a:xfrm>
            <a:off x="1047750" y="884238"/>
            <a:ext cx="6748463" cy="1298575"/>
          </a:xfrm>
          <a:prstGeom prst="horizontalScroll">
            <a:avLst>
              <a:gd name="adj" fmla="val 12500"/>
            </a:avLst>
          </a:prstGeom>
          <a:noFill/>
          <a:ln w="9525" cap="flat" cmpd="sng">
            <a:solidFill>
              <a:schemeClr val="accent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287655" algn="just" eaLnBrk="1" hangingPunct="1">
              <a:lnSpc>
                <a:spcPct val="110000"/>
              </a:lnSpc>
              <a:buClr>
                <a:srgbClr val="3333FF"/>
              </a:buClr>
              <a:buFont typeface="Wingdings" panose="05000000000000000000" pitchFamily="2" charset="2"/>
              <a:buChar char="§"/>
            </a:pPr>
            <a:r>
              <a:rPr lang="zh-CN" altLang="zh-CN" sz="2400" b="1" dirty="0">
                <a:latin typeface="华文楷体" panose="02010600040101010101" pitchFamily="2" charset="-122"/>
                <a:ea typeface="华文楷体" panose="02010600040101010101" pitchFamily="2" charset="-122"/>
              </a:rPr>
              <a:t>条件语句分为两种：</a:t>
            </a:r>
            <a:r>
              <a:rPr lang="en-US" altLang="zh-CN" sz="2400" b="1" dirty="0">
                <a:solidFill>
                  <a:srgbClr val="CC0000"/>
                </a:solidFill>
                <a:latin typeface="华文楷体" panose="02010600040101010101" pitchFamily="2" charset="-122"/>
                <a:ea typeface="华文楷体" panose="02010600040101010101" pitchFamily="2" charset="-122"/>
              </a:rPr>
              <a:t>if-else</a:t>
            </a:r>
            <a:r>
              <a:rPr lang="zh-CN" altLang="zh-CN" sz="2400" b="1" dirty="0">
                <a:latin typeface="华文楷体" panose="02010600040101010101" pitchFamily="2" charset="-122"/>
                <a:ea typeface="华文楷体" panose="02010600040101010101" pitchFamily="2" charset="-122"/>
              </a:rPr>
              <a:t>语句和</a:t>
            </a:r>
            <a:r>
              <a:rPr lang="en-US" altLang="zh-CN" sz="2400" b="1" dirty="0">
                <a:solidFill>
                  <a:srgbClr val="CC0000"/>
                </a:solidFill>
                <a:latin typeface="华文楷体" panose="02010600040101010101" pitchFamily="2" charset="-122"/>
                <a:ea typeface="华文楷体" panose="02010600040101010101" pitchFamily="2" charset="-122"/>
              </a:rPr>
              <a:t>case</a:t>
            </a:r>
            <a:r>
              <a:rPr lang="zh-CN" altLang="zh-CN" sz="2400" b="1" dirty="0">
                <a:latin typeface="华文楷体" panose="02010600040101010101" pitchFamily="2" charset="-122"/>
                <a:ea typeface="华文楷体" panose="02010600040101010101" pitchFamily="2" charset="-122"/>
              </a:rPr>
              <a:t>语句；</a:t>
            </a:r>
            <a:endParaRPr lang="zh-CN" altLang="en-US" sz="2400" b="1" dirty="0">
              <a:latin typeface="华文楷体" panose="02010600040101010101" pitchFamily="2" charset="-122"/>
              <a:ea typeface="华文楷体" panose="02010600040101010101" pitchFamily="2" charset="-122"/>
            </a:endParaRPr>
          </a:p>
          <a:p>
            <a:pPr marL="0" lvl="0" indent="287655" algn="just" eaLnBrk="1" hangingPunct="1">
              <a:lnSpc>
                <a:spcPct val="110000"/>
              </a:lnSpc>
              <a:buClr>
                <a:srgbClr val="3333FF"/>
              </a:buClr>
              <a:buFont typeface="Wingdings" panose="05000000000000000000" pitchFamily="2" charset="2"/>
              <a:buChar char="§"/>
            </a:pPr>
            <a:r>
              <a:rPr lang="zh-CN" altLang="en-US" sz="2400" b="1" dirty="0">
                <a:latin typeface="华文楷体" panose="02010600040101010101" pitchFamily="2" charset="-122"/>
                <a:ea typeface="华文楷体" panose="02010600040101010101" pitchFamily="2" charset="-122"/>
              </a:rPr>
              <a:t>它们都是顺序语句，应放在“</a:t>
            </a:r>
            <a:r>
              <a:rPr lang="en-US" altLang="zh-CN" sz="2400" b="1" dirty="0">
                <a:solidFill>
                  <a:srgbClr val="CC0000"/>
                </a:solidFill>
                <a:latin typeface="华文楷体" panose="02010600040101010101" pitchFamily="2" charset="-122"/>
                <a:ea typeface="华文楷体" panose="02010600040101010101" pitchFamily="2" charset="-122"/>
              </a:rPr>
              <a:t>always</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块内！</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07013"/>
                                        </p:tgtEl>
                                        <p:attrNameLst>
                                          <p:attrName>style.visibility</p:attrName>
                                        </p:attrNameLst>
                                      </p:cBhvr>
                                      <p:to>
                                        <p:strVal val="visible"/>
                                      </p:to>
                                    </p:set>
                                    <p:anim calcmode="lin" valueType="num">
                                      <p:cBhvr>
                                        <p:cTn id="7" dur="500" fill="hold"/>
                                        <p:tgtEl>
                                          <p:spTgt spid="1707013"/>
                                        </p:tgtEl>
                                        <p:attrNameLst>
                                          <p:attrName>ppt_w</p:attrName>
                                        </p:attrNameLst>
                                      </p:cBhvr>
                                      <p:tavLst>
                                        <p:tav tm="0">
                                          <p:val>
                                            <p:fltVal val="0.000000"/>
                                          </p:val>
                                        </p:tav>
                                        <p:tav tm="100000">
                                          <p:val>
                                            <p:strVal val="#ppt_w"/>
                                          </p:val>
                                        </p:tav>
                                      </p:tavLst>
                                    </p:anim>
                                    <p:anim calcmode="lin" valueType="num">
                                      <p:cBhvr>
                                        <p:cTn id="8" dur="500" fill="hold"/>
                                        <p:tgtEl>
                                          <p:spTgt spid="1707013"/>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07011"/>
                                        </p:tgtEl>
                                        <p:attrNameLst>
                                          <p:attrName>style.visibility</p:attrName>
                                        </p:attrNameLst>
                                      </p:cBhvr>
                                      <p:to>
                                        <p:strVal val="visible"/>
                                      </p:to>
                                    </p:set>
                                    <p:anim calcmode="lin" valueType="num">
                                      <p:cBhvr additive="base">
                                        <p:cTn id="13" dur="500" fill="hold"/>
                                        <p:tgtEl>
                                          <p:spTgt spid="1707011"/>
                                        </p:tgtEl>
                                        <p:attrNameLst>
                                          <p:attrName>ppt_x</p:attrName>
                                        </p:attrNameLst>
                                      </p:cBhvr>
                                      <p:tavLst>
                                        <p:tav tm="0">
                                          <p:val>
                                            <p:strVal val="0-#ppt_w/2"/>
                                          </p:val>
                                        </p:tav>
                                        <p:tav tm="100000">
                                          <p:val>
                                            <p:strVal val="#ppt_x"/>
                                          </p:val>
                                        </p:tav>
                                      </p:tavLst>
                                    </p:anim>
                                    <p:anim calcmode="lin" valueType="num">
                                      <p:cBhvr additive="base">
                                        <p:cTn id="14" dur="500" fill="hold"/>
                                        <p:tgtEl>
                                          <p:spTgt spid="17070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707012"/>
                                        </p:tgtEl>
                                        <p:attrNameLst>
                                          <p:attrName>style.visibility</p:attrName>
                                        </p:attrNameLst>
                                      </p:cBhvr>
                                      <p:to>
                                        <p:strVal val="visible"/>
                                      </p:to>
                                    </p:set>
                                    <p:animEffect transition="in" filter="dissolve">
                                      <p:cBhvr>
                                        <p:cTn id="19" dur="500"/>
                                        <p:tgtEl>
                                          <p:spTgt spid="1707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7011" grpId="0"/>
      <p:bldP spid="1707012" grpId="0" bldLvl="0" animBg="1"/>
      <p:bldP spid="1707013"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769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09059"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允许一定形式的表达式简写方式，如：</a:t>
            </a:r>
            <a:endParaRPr lang="zh-CN" altLang="en-US" dirty="0">
              <a:latin typeface="Times New Roman" panose="02020603050405020304" pitchFamily="18" charset="0"/>
              <a:ea typeface="华文楷体" panose="02010600040101010101" pitchFamily="2" charset="-122"/>
              <a:cs typeface="+mn-cs"/>
            </a:endParaRPr>
          </a:p>
          <a:p>
            <a:pPr lvl="1" algn="just" eaLnBrk="1" hangingPunct="1">
              <a:lnSpc>
                <a:spcPct val="110000"/>
              </a:lnSpc>
            </a:pPr>
            <a:r>
              <a:rPr lang="en-US" altLang="zh-CN" dirty="0">
                <a:latin typeface="Times New Roman" panose="02020603050405020304" pitchFamily="18" charset="0"/>
                <a:ea typeface="黑体" panose="02010609060101010101" pitchFamily="49" charset="-122"/>
              </a:rPr>
              <a:t>if(expression) </a:t>
            </a:r>
            <a:r>
              <a:rPr lang="zh-CN" altLang="en-US" dirty="0">
                <a:latin typeface="Times New Roman" panose="02020603050405020304" pitchFamily="18" charset="0"/>
                <a:ea typeface="华文楷体" panose="02010600040101010101" pitchFamily="2" charset="-122"/>
              </a:rPr>
              <a:t>等同于</a:t>
            </a:r>
            <a:r>
              <a:rPr lang="en-US" altLang="zh-CN" dirty="0">
                <a:latin typeface="Times New Roman" panose="02020603050405020304" pitchFamily="18" charset="0"/>
                <a:ea typeface="黑体" panose="02010609060101010101" pitchFamily="49" charset="-122"/>
              </a:rPr>
              <a:t>if(expression = = 1) </a:t>
            </a:r>
            <a:endParaRPr lang="en-US" altLang="zh-CN" dirty="0">
              <a:latin typeface="Times New Roman" panose="02020603050405020304" pitchFamily="18" charset="0"/>
              <a:ea typeface="黑体" panose="02010609060101010101" pitchFamily="49" charset="-122"/>
            </a:endParaRPr>
          </a:p>
          <a:p>
            <a:pPr lvl="1" algn="just" eaLnBrk="1" hangingPunct="1">
              <a:lnSpc>
                <a:spcPct val="110000"/>
              </a:lnSpc>
            </a:pPr>
            <a:r>
              <a:rPr lang="en-US" altLang="zh-CN" dirty="0">
                <a:latin typeface="Times New Roman" panose="02020603050405020304" pitchFamily="18" charset="0"/>
                <a:ea typeface="黑体" panose="02010609060101010101" pitchFamily="49" charset="-122"/>
              </a:rPr>
              <a:t>if(</a:t>
            </a:r>
            <a:r>
              <a:rPr lang="zh-CN" altLang="en-US" dirty="0">
                <a:latin typeface="Times New Roman" panose="02020603050405020304" pitchFamily="18" charset="0"/>
                <a:ea typeface="华文楷体" panose="02010600040101010101" pitchFamily="2" charset="-122"/>
              </a:rPr>
              <a:t>！</a:t>
            </a:r>
            <a:r>
              <a:rPr lang="en-US" altLang="zh-CN" dirty="0">
                <a:latin typeface="Times New Roman" panose="02020603050405020304" pitchFamily="18" charset="0"/>
                <a:ea typeface="黑体" panose="02010609060101010101" pitchFamily="49" charset="-122"/>
              </a:rPr>
              <a:t>expression) </a:t>
            </a:r>
            <a:r>
              <a:rPr lang="zh-CN" altLang="en-US" dirty="0">
                <a:latin typeface="Times New Roman" panose="02020603050405020304" pitchFamily="18" charset="0"/>
                <a:ea typeface="华文楷体" panose="02010600040101010101" pitchFamily="2" charset="-122"/>
              </a:rPr>
              <a:t>等同于</a:t>
            </a:r>
            <a:r>
              <a:rPr lang="en-US" altLang="zh-CN" dirty="0">
                <a:latin typeface="Times New Roman" panose="02020603050405020304" pitchFamily="18" charset="0"/>
                <a:ea typeface="黑体" panose="02010609060101010101" pitchFamily="49" charset="-122"/>
              </a:rPr>
              <a:t>if(expression </a:t>
            </a:r>
            <a:r>
              <a:rPr lang="zh-CN" altLang="en-US" dirty="0">
                <a:latin typeface="Times New Roman" panose="02020603050405020304" pitchFamily="18" charset="0"/>
                <a:ea typeface="华文楷体" panose="02010600040101010101" pitchFamily="2" charset="-122"/>
              </a:rPr>
              <a:t>！</a:t>
            </a:r>
            <a:r>
              <a:rPr lang="en-US" altLang="zh-CN" dirty="0">
                <a:latin typeface="Times New Roman" panose="02020603050405020304" pitchFamily="18" charset="0"/>
                <a:ea typeface="黑体" panose="02010609060101010101" pitchFamily="49" charset="-122"/>
              </a:rPr>
              <a:t>= 1)</a:t>
            </a:r>
            <a:r>
              <a:rPr lang="en-US" altLang="zh-CN" sz="2600" dirty="0">
                <a:latin typeface="Times New Roman" panose="02020603050405020304" pitchFamily="18" charset="0"/>
                <a:ea typeface="黑体" panose="02010609060101010101" pitchFamily="49" charset="-122"/>
              </a:rPr>
              <a:t> </a:t>
            </a:r>
            <a:endParaRPr lang="en-US" altLang="zh-CN" sz="2600" dirty="0">
              <a:latin typeface="Times New Roman" panose="02020603050405020304" pitchFamily="18" charset="0"/>
              <a:ea typeface="黑体" panose="02010609060101010101" pitchFamily="49" charset="-122"/>
            </a:endParaRPr>
          </a:p>
        </p:txBody>
      </p:sp>
      <p:sp>
        <p:nvSpPr>
          <p:cNvPr id="1709060" name="Text Box 4"/>
          <p:cNvSpPr txBox="1"/>
          <p:nvPr/>
        </p:nvSpPr>
        <p:spPr>
          <a:xfrm>
            <a:off x="838200" y="3721100"/>
            <a:ext cx="2819400" cy="427038"/>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 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09061" name="Text Box 5"/>
          <p:cNvSpPr txBox="1"/>
          <p:nvPr/>
        </p:nvSpPr>
        <p:spPr>
          <a:xfrm>
            <a:off x="838200" y="4848225"/>
            <a:ext cx="2895600" cy="76200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else</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09062" name="Text Box 6"/>
          <p:cNvSpPr txBox="1"/>
          <p:nvPr/>
        </p:nvSpPr>
        <p:spPr>
          <a:xfrm>
            <a:off x="4876800" y="4178300"/>
            <a:ext cx="3429000" cy="143192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else 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else 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09063" name="Text Box 7"/>
          <p:cNvSpPr txBox="1"/>
          <p:nvPr/>
        </p:nvSpPr>
        <p:spPr>
          <a:xfrm>
            <a:off x="838200" y="3268663"/>
            <a:ext cx="1185863" cy="4572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solidFill>
                  <a:srgbClr val="CC0000"/>
                </a:solidFill>
                <a:latin typeface="华文新魏" panose="02010800040101010101" pitchFamily="2" charset="-122"/>
                <a:ea typeface="华文新魏" panose="02010800040101010101" pitchFamily="2" charset="-122"/>
              </a:rPr>
              <a:t>方式</a:t>
            </a:r>
            <a:r>
              <a:rPr lang="en-US" altLang="zh-CN" sz="2400" b="1" dirty="0">
                <a:solidFill>
                  <a:srgbClr val="CC0000"/>
                </a:solidFill>
                <a:latin typeface="华文新魏" panose="02010800040101010101" pitchFamily="2" charset="-122"/>
                <a:ea typeface="华文新魏" panose="02010800040101010101" pitchFamily="2" charset="-122"/>
              </a:rPr>
              <a:t>1</a:t>
            </a:r>
            <a:r>
              <a:rPr lang="zh-CN" altLang="en-US"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709064" name="Text Box 8"/>
          <p:cNvSpPr txBox="1"/>
          <p:nvPr/>
        </p:nvSpPr>
        <p:spPr>
          <a:xfrm>
            <a:off x="838200" y="4352925"/>
            <a:ext cx="1187450" cy="4572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solidFill>
                  <a:srgbClr val="CC0000"/>
                </a:solidFill>
                <a:latin typeface="华文新魏" panose="02010800040101010101" pitchFamily="2" charset="-122"/>
                <a:ea typeface="华文新魏" panose="02010800040101010101" pitchFamily="2" charset="-122"/>
              </a:rPr>
              <a:t>方式</a:t>
            </a:r>
            <a:r>
              <a:rPr lang="en-US" altLang="zh-CN" sz="2400" b="1" dirty="0">
                <a:solidFill>
                  <a:srgbClr val="CC0000"/>
                </a:solidFill>
                <a:latin typeface="华文新魏" panose="02010800040101010101" pitchFamily="2" charset="-122"/>
                <a:ea typeface="华文新魏" panose="02010800040101010101" pitchFamily="2" charset="-122"/>
              </a:rPr>
              <a:t>2</a:t>
            </a:r>
            <a:r>
              <a:rPr lang="zh-CN" altLang="en-US"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709065" name="Text Box 9"/>
          <p:cNvSpPr txBox="1"/>
          <p:nvPr/>
        </p:nvSpPr>
        <p:spPr>
          <a:xfrm>
            <a:off x="4876800" y="3667125"/>
            <a:ext cx="1165225" cy="4572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solidFill>
                  <a:srgbClr val="CC0000"/>
                </a:solidFill>
                <a:latin typeface="华文新魏" panose="02010800040101010101" pitchFamily="2" charset="-122"/>
                <a:ea typeface="华文新魏" panose="02010800040101010101" pitchFamily="2" charset="-122"/>
              </a:rPr>
              <a:t>方式</a:t>
            </a:r>
            <a:r>
              <a:rPr lang="en-US" altLang="zh-CN" sz="2400" b="1" dirty="0">
                <a:solidFill>
                  <a:srgbClr val="CC0000"/>
                </a:solidFill>
                <a:latin typeface="华文新魏" panose="02010800040101010101" pitchFamily="2" charset="-122"/>
                <a:ea typeface="华文新魏" panose="02010800040101010101" pitchFamily="2" charset="-122"/>
              </a:rPr>
              <a:t>3</a:t>
            </a:r>
            <a:r>
              <a:rPr lang="zh-CN" altLang="en-US"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709066" name="AutoShape 10"/>
          <p:cNvSpPr/>
          <p:nvPr/>
        </p:nvSpPr>
        <p:spPr>
          <a:xfrm>
            <a:off x="6440488" y="2935288"/>
            <a:ext cx="1865312" cy="987425"/>
          </a:xfrm>
          <a:prstGeom prst="wedgeRoundRectCallout">
            <a:avLst>
              <a:gd name="adj1" fmla="val -76977"/>
              <a:gd name="adj2" fmla="val 46463"/>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宋体" panose="02010600030101010101" pitchFamily="2" charset="-122"/>
                <a:ea typeface="华文楷体" panose="02010600040101010101" pitchFamily="2" charset="-122"/>
              </a:rPr>
              <a:t>适于对</a:t>
            </a:r>
            <a:r>
              <a:rPr lang="zh-CN" altLang="en-US" b="1" dirty="0">
                <a:solidFill>
                  <a:srgbClr val="FF3399"/>
                </a:solidFill>
                <a:latin typeface="宋体" panose="02010600030101010101" pitchFamily="2" charset="-122"/>
                <a:ea typeface="华文楷体" panose="02010600040101010101" pitchFamily="2" charset="-122"/>
              </a:rPr>
              <a:t>不同的条件</a:t>
            </a:r>
            <a:r>
              <a:rPr lang="zh-CN" altLang="en-US" b="1" dirty="0">
                <a:latin typeface="宋体" panose="02010600030101010101" pitchFamily="2" charset="-122"/>
                <a:ea typeface="华文楷体" panose="02010600040101010101" pitchFamily="2" charset="-122"/>
              </a:rPr>
              <a:t>，执行不同的语句</a:t>
            </a:r>
            <a:endParaRPr lang="zh-CN" altLang="en-US" b="1" dirty="0">
              <a:latin typeface="Tahoma" panose="020B0604030504040204" pitchFamily="34"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09063"/>
                                        </p:tgtEl>
                                        <p:attrNameLst>
                                          <p:attrName>style.visibility</p:attrName>
                                        </p:attrNameLst>
                                      </p:cBhvr>
                                      <p:to>
                                        <p:strVal val="visible"/>
                                      </p:to>
                                    </p:set>
                                    <p:anim calcmode="lin" valueType="num">
                                      <p:cBhvr>
                                        <p:cTn id="7" dur="500" fill="hold"/>
                                        <p:tgtEl>
                                          <p:spTgt spid="1709063"/>
                                        </p:tgtEl>
                                        <p:attrNameLst>
                                          <p:attrName>ppt_w</p:attrName>
                                        </p:attrNameLst>
                                      </p:cBhvr>
                                      <p:tavLst>
                                        <p:tav tm="0">
                                          <p:val>
                                            <p:fltVal val="0.000000"/>
                                          </p:val>
                                        </p:tav>
                                        <p:tav tm="100000">
                                          <p:val>
                                            <p:strVal val="#ppt_w"/>
                                          </p:val>
                                        </p:tav>
                                      </p:tavLst>
                                    </p:anim>
                                    <p:anim calcmode="lin" valueType="num">
                                      <p:cBhvr>
                                        <p:cTn id="8" dur="500" fill="hold"/>
                                        <p:tgtEl>
                                          <p:spTgt spid="1709063"/>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709060"/>
                                        </p:tgtEl>
                                        <p:attrNameLst>
                                          <p:attrName>style.visibility</p:attrName>
                                        </p:attrNameLst>
                                      </p:cBhvr>
                                      <p:to>
                                        <p:strVal val="visible"/>
                                      </p:to>
                                    </p:set>
                                    <p:animEffect transition="in" filter="wipe(left)">
                                      <p:cBhvr>
                                        <p:cTn id="12" dur="500"/>
                                        <p:tgtEl>
                                          <p:spTgt spid="1709060"/>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709064"/>
                                        </p:tgtEl>
                                        <p:attrNameLst>
                                          <p:attrName>style.visibility</p:attrName>
                                        </p:attrNameLst>
                                      </p:cBhvr>
                                      <p:to>
                                        <p:strVal val="visible"/>
                                      </p:to>
                                    </p:set>
                                    <p:anim calcmode="lin" valueType="num">
                                      <p:cBhvr>
                                        <p:cTn id="17" dur="500" fill="hold"/>
                                        <p:tgtEl>
                                          <p:spTgt spid="1709064"/>
                                        </p:tgtEl>
                                        <p:attrNameLst>
                                          <p:attrName>ppt_w</p:attrName>
                                        </p:attrNameLst>
                                      </p:cBhvr>
                                      <p:tavLst>
                                        <p:tav tm="0">
                                          <p:val>
                                            <p:fltVal val="0.000000"/>
                                          </p:val>
                                        </p:tav>
                                        <p:tav tm="100000">
                                          <p:val>
                                            <p:strVal val="#ppt_w"/>
                                          </p:val>
                                        </p:tav>
                                      </p:tavLst>
                                    </p:anim>
                                    <p:anim calcmode="lin" valueType="num">
                                      <p:cBhvr>
                                        <p:cTn id="18" dur="500" fill="hold"/>
                                        <p:tgtEl>
                                          <p:spTgt spid="1709064"/>
                                        </p:tgtEl>
                                        <p:attrNameLst>
                                          <p:attrName>ppt_h</p:attrName>
                                        </p:attrNameLst>
                                      </p:cBhvr>
                                      <p:tavLst>
                                        <p:tav tm="0">
                                          <p:val>
                                            <p:fltVal val="0.000000"/>
                                          </p:val>
                                        </p:tav>
                                        <p:tav tm="100000">
                                          <p:val>
                                            <p:strVal val="#ppt_h"/>
                                          </p:val>
                                        </p:tav>
                                      </p:tavLst>
                                    </p:anim>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709061"/>
                                        </p:tgtEl>
                                        <p:attrNameLst>
                                          <p:attrName>style.visibility</p:attrName>
                                        </p:attrNameLst>
                                      </p:cBhvr>
                                      <p:to>
                                        <p:strVal val="visible"/>
                                      </p:to>
                                    </p:set>
                                    <p:animEffect transition="in" filter="wipe(left)">
                                      <p:cBhvr>
                                        <p:cTn id="22" dur="500"/>
                                        <p:tgtEl>
                                          <p:spTgt spid="1709061"/>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709065"/>
                                        </p:tgtEl>
                                        <p:attrNameLst>
                                          <p:attrName>style.visibility</p:attrName>
                                        </p:attrNameLst>
                                      </p:cBhvr>
                                      <p:to>
                                        <p:strVal val="visible"/>
                                      </p:to>
                                    </p:set>
                                    <p:anim calcmode="lin" valueType="num">
                                      <p:cBhvr>
                                        <p:cTn id="27" dur="500" fill="hold"/>
                                        <p:tgtEl>
                                          <p:spTgt spid="1709065"/>
                                        </p:tgtEl>
                                        <p:attrNameLst>
                                          <p:attrName>ppt_w</p:attrName>
                                        </p:attrNameLst>
                                      </p:cBhvr>
                                      <p:tavLst>
                                        <p:tav tm="0">
                                          <p:val>
                                            <p:fltVal val="0.000000"/>
                                          </p:val>
                                        </p:tav>
                                        <p:tav tm="100000">
                                          <p:val>
                                            <p:strVal val="#ppt_w"/>
                                          </p:val>
                                        </p:tav>
                                      </p:tavLst>
                                    </p:anim>
                                    <p:anim calcmode="lin" valueType="num">
                                      <p:cBhvr>
                                        <p:cTn id="28" dur="500" fill="hold"/>
                                        <p:tgtEl>
                                          <p:spTgt spid="1709065"/>
                                        </p:tgtEl>
                                        <p:attrNameLst>
                                          <p:attrName>ppt_h</p:attrName>
                                        </p:attrNameLst>
                                      </p:cBhvr>
                                      <p:tavLst>
                                        <p:tav tm="0">
                                          <p:val>
                                            <p:fltVal val="0.000000"/>
                                          </p:val>
                                        </p:tav>
                                        <p:tav tm="100000">
                                          <p:val>
                                            <p:strVal val="#ppt_h"/>
                                          </p:val>
                                        </p:tav>
                                      </p:tavLst>
                                    </p:anim>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709062"/>
                                        </p:tgtEl>
                                        <p:attrNameLst>
                                          <p:attrName>style.visibility</p:attrName>
                                        </p:attrNameLst>
                                      </p:cBhvr>
                                      <p:to>
                                        <p:strVal val="visible"/>
                                      </p:to>
                                    </p:set>
                                    <p:animEffect transition="in" filter="wipe(left)">
                                      <p:cBhvr>
                                        <p:cTn id="32" dur="500"/>
                                        <p:tgtEl>
                                          <p:spTgt spid="170906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09066"/>
                                        </p:tgtEl>
                                        <p:attrNameLst>
                                          <p:attrName>style.visibility</p:attrName>
                                        </p:attrNameLst>
                                      </p:cBhvr>
                                      <p:to>
                                        <p:strVal val="visible"/>
                                      </p:to>
                                    </p:set>
                                    <p:animEffect transition="in" filter="dissolve">
                                      <p:cBhvr>
                                        <p:cTn id="37" dur="500"/>
                                        <p:tgtEl>
                                          <p:spTgt spid="170906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709059">
                                            <p:txEl>
                                              <p:charRg st="0" end="18"/>
                                            </p:txEl>
                                          </p:spTgt>
                                        </p:tgtEl>
                                        <p:attrNameLst>
                                          <p:attrName>style.visibility</p:attrName>
                                        </p:attrNameLst>
                                      </p:cBhvr>
                                      <p:to>
                                        <p:strVal val="visible"/>
                                      </p:to>
                                    </p:set>
                                    <p:anim calcmode="lin" valueType="num">
                                      <p:cBhvr additive="base">
                                        <p:cTn id="42" dur="500" fill="hold"/>
                                        <p:tgtEl>
                                          <p:spTgt spid="1709059">
                                            <p:txEl>
                                              <p:charRg st="0" end="1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709059">
                                            <p:txEl>
                                              <p:charRg st="0" end="18"/>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709059">
                                            <p:txEl>
                                              <p:charRg st="18" end="58"/>
                                            </p:txEl>
                                          </p:spTgt>
                                        </p:tgtEl>
                                        <p:attrNameLst>
                                          <p:attrName>style.visibility</p:attrName>
                                        </p:attrNameLst>
                                      </p:cBhvr>
                                      <p:to>
                                        <p:strVal val="visible"/>
                                      </p:to>
                                    </p:set>
                                    <p:anim calcmode="lin" valueType="num">
                                      <p:cBhvr additive="base">
                                        <p:cTn id="46" dur="500" fill="hold"/>
                                        <p:tgtEl>
                                          <p:spTgt spid="1709059">
                                            <p:txEl>
                                              <p:charRg st="18" end="58"/>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709059">
                                            <p:txEl>
                                              <p:charRg st="18" end="58"/>
                                            </p:txEl>
                                          </p:spTgt>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709059">
                                            <p:txEl>
                                              <p:charRg st="58" end="98"/>
                                            </p:txEl>
                                          </p:spTgt>
                                        </p:tgtEl>
                                        <p:attrNameLst>
                                          <p:attrName>style.visibility</p:attrName>
                                        </p:attrNameLst>
                                      </p:cBhvr>
                                      <p:to>
                                        <p:strVal val="visible"/>
                                      </p:to>
                                    </p:set>
                                    <p:anim calcmode="lin" valueType="num">
                                      <p:cBhvr additive="base">
                                        <p:cTn id="50" dur="500" fill="hold"/>
                                        <p:tgtEl>
                                          <p:spTgt spid="1709059">
                                            <p:txEl>
                                              <p:charRg st="58" end="98"/>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709059">
                                            <p:txEl>
                                              <p:charRg st="58" end="9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9059" grpId="0" build="p"/>
      <p:bldP spid="1709060" grpId="0" bldLvl="0" animBg="1"/>
      <p:bldP spid="1709061" grpId="0" bldLvl="0" animBg="1"/>
      <p:bldP spid="1709062" grpId="0" bldLvl="0" animBg="1"/>
      <p:bldP spid="1709063" grpId="0"/>
      <p:bldP spid="1709064" grpId="0"/>
      <p:bldP spid="1709065" grpId="0"/>
      <p:bldP spid="1709066"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97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597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11107" name="Rectangle 3"/>
          <p:cNvSpPr>
            <a:spLocks noGrp="1"/>
          </p:cNvSpPr>
          <p:nvPr>
            <p:ph idx="1"/>
          </p:nvPr>
        </p:nvSpPr>
        <p:spPr/>
        <p:txBody>
          <a:bodyPr vert="horz" wrap="square" lIns="91440" tIns="45720" rIns="91440" bIns="45720" anchor="t" anchorCtr="0"/>
          <a:p>
            <a:pPr marL="563880" lvl="1" indent="-282575" algn="just" eaLnBrk="1" hangingPunct="1">
              <a:lnSpc>
                <a:spcPct val="110000"/>
              </a:lnSpc>
              <a:buClr>
                <a:schemeClr val="folHlink"/>
              </a:buClr>
              <a:buFont typeface="Wingdings" panose="05000000000000000000" pitchFamily="2" charset="2"/>
              <a:buChar char="§"/>
            </a:pPr>
            <a:r>
              <a:rPr lang="en-US" altLang="zh-CN" sz="2600" dirty="0">
                <a:latin typeface="Times New Roman" panose="02020603050405020304" pitchFamily="18" charset="0"/>
                <a:ea typeface="黑体" panose="02010609060101010101" pitchFamily="49" charset="-122"/>
              </a:rPr>
              <a:t>if</a:t>
            </a:r>
            <a:r>
              <a:rPr lang="zh-CN" altLang="en-US" sz="2600" dirty="0">
                <a:latin typeface="Times New Roman" panose="02020603050405020304" pitchFamily="18" charset="0"/>
                <a:ea typeface="华文楷体" panose="02010600040101010101" pitchFamily="2" charset="-122"/>
              </a:rPr>
              <a:t>语句可以</a:t>
            </a:r>
            <a:r>
              <a:rPr lang="zh-CN" altLang="en-US" sz="2600" dirty="0">
                <a:solidFill>
                  <a:srgbClr val="FF0066"/>
                </a:solidFill>
                <a:latin typeface="Times New Roman" panose="02020603050405020304" pitchFamily="18" charset="0"/>
                <a:ea typeface="华文楷体" panose="02010600040101010101" pitchFamily="2" charset="-122"/>
              </a:rPr>
              <a:t>嵌套</a:t>
            </a:r>
            <a:r>
              <a:rPr lang="zh-CN" altLang="en-US" sz="2600" dirty="0">
                <a:latin typeface="Times New Roman" panose="02020603050405020304" pitchFamily="18" charset="0"/>
                <a:ea typeface="华文楷体" panose="02010600040101010101" pitchFamily="2" charset="-122"/>
              </a:rPr>
              <a:t>；</a:t>
            </a:r>
            <a:endParaRPr lang="zh-CN" altLang="en-US" sz="2600" dirty="0">
              <a:latin typeface="Times New Roman" panose="02020603050405020304" pitchFamily="18" charset="0"/>
              <a:ea typeface="华文楷体" panose="02010600040101010101" pitchFamily="2" charset="-122"/>
            </a:endParaRPr>
          </a:p>
          <a:p>
            <a:pPr marL="563880" lvl="1" indent="-282575" algn="just" eaLnBrk="1" hangingPunct="1">
              <a:lnSpc>
                <a:spcPct val="110000"/>
              </a:lnSpc>
              <a:buClr>
                <a:schemeClr val="folHlink"/>
              </a:buClr>
              <a:buFont typeface="Wingdings" panose="05000000000000000000" pitchFamily="2" charset="2"/>
              <a:buChar char="§"/>
            </a:pPr>
            <a:r>
              <a:rPr lang="zh-CN" altLang="en-US" sz="2600" dirty="0">
                <a:latin typeface="Times New Roman" panose="02020603050405020304" pitchFamily="18" charset="0"/>
                <a:ea typeface="华文楷体" panose="02010600040101010101" pitchFamily="2" charset="-122"/>
              </a:rPr>
              <a:t>若</a:t>
            </a:r>
            <a:r>
              <a:rPr lang="en-US" altLang="zh-CN" sz="2600" dirty="0">
                <a:latin typeface="Times New Roman" panose="02020603050405020304" pitchFamily="18" charset="0"/>
                <a:ea typeface="黑体" panose="02010609060101010101" pitchFamily="49" charset="-122"/>
              </a:rPr>
              <a:t>if</a:t>
            </a:r>
            <a:r>
              <a:rPr lang="zh-CN" altLang="en-US" sz="2600" dirty="0">
                <a:latin typeface="Times New Roman" panose="02020603050405020304" pitchFamily="18" charset="0"/>
                <a:ea typeface="华文楷体" panose="02010600040101010101" pitchFamily="2" charset="-122"/>
              </a:rPr>
              <a:t>与</a:t>
            </a:r>
            <a:r>
              <a:rPr lang="en-US" altLang="zh-CN" sz="2600" dirty="0">
                <a:latin typeface="Times New Roman" panose="02020603050405020304" pitchFamily="18" charset="0"/>
                <a:ea typeface="黑体" panose="02010609060101010101" pitchFamily="49" charset="-122"/>
              </a:rPr>
              <a:t>else</a:t>
            </a:r>
            <a:r>
              <a:rPr lang="zh-CN" altLang="en-US" sz="2600" dirty="0">
                <a:latin typeface="Times New Roman" panose="02020603050405020304" pitchFamily="18" charset="0"/>
                <a:ea typeface="华文楷体" panose="02010600040101010101" pitchFamily="2" charset="-122"/>
              </a:rPr>
              <a:t>的数目不一样，注意用</a:t>
            </a:r>
            <a:r>
              <a:rPr lang="zh-CN" altLang="zh-CN" sz="2600" dirty="0">
                <a:latin typeface="Times New Roman" panose="02020603050405020304" pitchFamily="18" charset="0"/>
                <a:ea typeface="华文楷体" panose="02010600040101010101" pitchFamily="2" charset="-122"/>
              </a:rPr>
              <a:t>“</a:t>
            </a:r>
            <a:r>
              <a:rPr lang="en-US" altLang="zh-CN" sz="2600" dirty="0">
                <a:solidFill>
                  <a:srgbClr val="FF0066"/>
                </a:solidFill>
                <a:latin typeface="Times New Roman" panose="02020603050405020304" pitchFamily="18" charset="0"/>
                <a:ea typeface="黑体" panose="02010609060101010101" pitchFamily="49" charset="-122"/>
              </a:rPr>
              <a:t>begin_end</a:t>
            </a:r>
            <a:r>
              <a:rPr lang="en-US" altLang="zh-CN" sz="2600" dirty="0">
                <a:latin typeface="Times New Roman" panose="02020603050405020304" pitchFamily="18" charset="0"/>
                <a:ea typeface="黑体" panose="02010609060101010101" pitchFamily="49" charset="-122"/>
              </a:rPr>
              <a:t>”</a:t>
            </a:r>
            <a:r>
              <a:rPr lang="zh-CN" altLang="en-US" sz="2600" dirty="0">
                <a:latin typeface="Times New Roman" panose="02020603050405020304" pitchFamily="18" charset="0"/>
                <a:ea typeface="华文楷体" panose="02010600040101010101" pitchFamily="2" charset="-122"/>
              </a:rPr>
              <a:t>语句来确定</a:t>
            </a:r>
            <a:r>
              <a:rPr lang="en-US" altLang="zh-CN" sz="2600" dirty="0">
                <a:latin typeface="Times New Roman" panose="02020603050405020304" pitchFamily="18" charset="0"/>
                <a:ea typeface="黑体" panose="02010609060101010101" pitchFamily="49" charset="-122"/>
              </a:rPr>
              <a:t>if</a:t>
            </a:r>
            <a:r>
              <a:rPr lang="zh-CN" altLang="en-US" sz="2600" dirty="0">
                <a:latin typeface="Times New Roman" panose="02020603050405020304" pitchFamily="18" charset="0"/>
                <a:ea typeface="华文楷体" panose="02010600040101010101" pitchFamily="2" charset="-122"/>
              </a:rPr>
              <a:t>与</a:t>
            </a:r>
            <a:r>
              <a:rPr lang="en-US" altLang="zh-CN" sz="2600" dirty="0">
                <a:latin typeface="Times New Roman" panose="02020603050405020304" pitchFamily="18" charset="0"/>
                <a:ea typeface="黑体" panose="02010609060101010101" pitchFamily="49" charset="-122"/>
              </a:rPr>
              <a:t>else</a:t>
            </a:r>
            <a:r>
              <a:rPr lang="zh-CN" altLang="en-US" sz="2600" dirty="0">
                <a:latin typeface="Times New Roman" panose="02020603050405020304" pitchFamily="18" charset="0"/>
                <a:ea typeface="华文楷体" panose="02010600040101010101" pitchFamily="2" charset="-122"/>
              </a:rPr>
              <a:t>的配对关系！</a:t>
            </a:r>
            <a:endParaRPr lang="zh-CN" altLang="en-US" sz="2600" dirty="0">
              <a:latin typeface="Times New Roman" panose="02020603050405020304" pitchFamily="18" charset="0"/>
              <a:ea typeface="华文楷体" panose="02010600040101010101" pitchFamily="2" charset="-122"/>
            </a:endParaRPr>
          </a:p>
        </p:txBody>
      </p:sp>
      <p:sp>
        <p:nvSpPr>
          <p:cNvPr id="1711108" name="Text Box 4"/>
          <p:cNvSpPr txBox="1"/>
          <p:nvPr/>
        </p:nvSpPr>
        <p:spPr>
          <a:xfrm>
            <a:off x="336550" y="4200525"/>
            <a:ext cx="3124200" cy="21018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 </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solidFill>
                  <a:srgbClr val="FF0066"/>
                </a:solidFill>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else</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else</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solidFill>
                  <a:srgbClr val="FF0066"/>
                </a:solidFill>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else</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4</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11109" name="Text Box 5"/>
          <p:cNvSpPr txBox="1"/>
          <p:nvPr/>
        </p:nvSpPr>
        <p:spPr>
          <a:xfrm>
            <a:off x="4745038" y="4254500"/>
            <a:ext cx="3429000" cy="210185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 </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begin</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if</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solidFill>
                  <a:srgbClr val="FF0066"/>
                </a:solidFill>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end</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else</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11110" name="Text Box 6"/>
          <p:cNvSpPr txBox="1"/>
          <p:nvPr/>
        </p:nvSpPr>
        <p:spPr>
          <a:xfrm>
            <a:off x="3700463" y="3181350"/>
            <a:ext cx="5181600" cy="768350"/>
          </a:xfrm>
          <a:prstGeom prst="rect">
            <a:avLst/>
          </a:prstGeom>
          <a:noFill/>
          <a:ln w="9525" cap="flat" cmpd="sng">
            <a:solidFill>
              <a:schemeClr val="accent1"/>
            </a:solidFill>
            <a:prstDash val="solid"/>
            <a:miter/>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200" b="1" dirty="0">
                <a:latin typeface="Times New Roman" panose="02020603050405020304" pitchFamily="18" charset="0"/>
                <a:ea typeface="华文楷体" panose="02010600040101010101" pitchFamily="2" charset="-122"/>
              </a:rPr>
              <a:t>当</a:t>
            </a:r>
            <a:r>
              <a:rPr lang="en-US" altLang="zh-CN" sz="2200" b="1" dirty="0">
                <a:latin typeface="Times New Roman" panose="02020603050405020304" pitchFamily="18" charset="0"/>
                <a:ea typeface="华文楷体" panose="02010600040101010101" pitchFamily="2" charset="-122"/>
              </a:rPr>
              <a:t>if</a:t>
            </a:r>
            <a:r>
              <a:rPr lang="zh-CN" altLang="en-US" sz="2200" b="1" dirty="0">
                <a:latin typeface="Times New Roman" panose="02020603050405020304" pitchFamily="18" charset="0"/>
                <a:ea typeface="华文楷体" panose="02010600040101010101" pitchFamily="2" charset="-122"/>
              </a:rPr>
              <a:t>与</a:t>
            </a:r>
            <a:r>
              <a:rPr lang="en-US" altLang="zh-CN" sz="2200" b="1" dirty="0">
                <a:latin typeface="Times New Roman" panose="02020603050405020304" pitchFamily="18" charset="0"/>
                <a:ea typeface="华文楷体" panose="02010600040101010101" pitchFamily="2" charset="-122"/>
              </a:rPr>
              <a:t>else</a:t>
            </a:r>
            <a:r>
              <a:rPr lang="zh-CN" altLang="en-US" sz="2200" b="1" dirty="0">
                <a:latin typeface="Times New Roman" panose="02020603050405020304" pitchFamily="18" charset="0"/>
                <a:ea typeface="华文楷体" panose="02010600040101010101" pitchFamily="2" charset="-122"/>
              </a:rPr>
              <a:t>的数目不一样时，最好用</a:t>
            </a:r>
            <a:r>
              <a:rPr lang="zh-CN" altLang="zh-CN" sz="2200" b="1" dirty="0">
                <a:latin typeface="Times New Roman" panose="02020603050405020304" pitchFamily="18" charset="0"/>
                <a:ea typeface="华文楷体" panose="02010600040101010101" pitchFamily="2" charset="-122"/>
              </a:rPr>
              <a:t>“</a:t>
            </a:r>
            <a:r>
              <a:rPr lang="en-US" altLang="zh-CN" sz="2200" b="1" dirty="0">
                <a:solidFill>
                  <a:srgbClr val="FF0066"/>
                </a:solidFill>
                <a:latin typeface="Times New Roman" panose="02020603050405020304" pitchFamily="18" charset="0"/>
                <a:ea typeface="华文楷体" panose="02010600040101010101" pitchFamily="2" charset="-122"/>
              </a:rPr>
              <a:t>begin_end</a:t>
            </a:r>
            <a:r>
              <a:rPr lang="en-US" altLang="zh-CN" sz="2200" b="1"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语句将单独的</a:t>
            </a:r>
            <a:r>
              <a:rPr lang="en-US" altLang="zh-CN" sz="2200" b="1" dirty="0">
                <a:latin typeface="Times New Roman" panose="02020603050405020304" pitchFamily="18" charset="0"/>
                <a:ea typeface="华文楷体" panose="02010600040101010101" pitchFamily="2" charset="-122"/>
              </a:rPr>
              <a:t>if</a:t>
            </a:r>
            <a:r>
              <a:rPr lang="zh-CN" altLang="en-US" sz="2200" b="1" dirty="0">
                <a:latin typeface="Times New Roman" panose="02020603050405020304" pitchFamily="18" charset="0"/>
                <a:ea typeface="华文楷体" panose="02010600040101010101" pitchFamily="2" charset="-122"/>
              </a:rPr>
              <a:t>语句括起来：</a:t>
            </a:r>
            <a:endParaRPr lang="zh-CN" altLang="en-US" sz="2200" b="1" dirty="0">
              <a:latin typeface="Times New Roman" panose="02020603050405020304" pitchFamily="18" charset="0"/>
              <a:ea typeface="华文楷体" panose="02010600040101010101" pitchFamily="2" charset="-122"/>
            </a:endParaRPr>
          </a:p>
        </p:txBody>
      </p:sp>
      <p:sp>
        <p:nvSpPr>
          <p:cNvPr id="1711111" name="Rectangle 7"/>
          <p:cNvSpPr/>
          <p:nvPr/>
        </p:nvSpPr>
        <p:spPr>
          <a:xfrm>
            <a:off x="0" y="3635375"/>
            <a:ext cx="7108825" cy="576263"/>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563880" lvl="1" indent="-282575" eaLnBrk="1" hangingPunct="1">
              <a:lnSpc>
                <a:spcPct val="90000"/>
              </a:lnSpc>
              <a:buClr>
                <a:srgbClr val="FF0000"/>
              </a:buClr>
              <a:buSzPct val="80000"/>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if</a:t>
            </a:r>
            <a:r>
              <a:rPr lang="zh-CN" altLang="en-US" sz="2400" b="1" dirty="0">
                <a:latin typeface="华文楷体" panose="02010600040101010101" pitchFamily="2" charset="-122"/>
                <a:ea typeface="华文楷体" panose="02010600040101010101" pitchFamily="2" charset="-122"/>
              </a:rPr>
              <a:t>语句的嵌套：</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11107"/>
                                        </p:tgtEl>
                                        <p:attrNameLst>
                                          <p:attrName>style.visibility</p:attrName>
                                        </p:attrNameLst>
                                      </p:cBhvr>
                                      <p:to>
                                        <p:strVal val="visible"/>
                                      </p:to>
                                    </p:set>
                                    <p:anim calcmode="lin" valueType="num">
                                      <p:cBhvr additive="base">
                                        <p:cTn id="7" dur="500" fill="hold"/>
                                        <p:tgtEl>
                                          <p:spTgt spid="1711107"/>
                                        </p:tgtEl>
                                        <p:attrNameLst>
                                          <p:attrName>ppt_x</p:attrName>
                                        </p:attrNameLst>
                                      </p:cBhvr>
                                      <p:tavLst>
                                        <p:tav tm="0">
                                          <p:val>
                                            <p:strVal val="0-#ppt_w/2"/>
                                          </p:val>
                                        </p:tav>
                                        <p:tav tm="100000">
                                          <p:val>
                                            <p:strVal val="#ppt_x"/>
                                          </p:val>
                                        </p:tav>
                                      </p:tavLst>
                                    </p:anim>
                                    <p:anim calcmode="lin" valueType="num">
                                      <p:cBhvr additive="base">
                                        <p:cTn id="8" dur="500" fill="hold"/>
                                        <p:tgtEl>
                                          <p:spTgt spid="17111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11111"/>
                                        </p:tgtEl>
                                        <p:attrNameLst>
                                          <p:attrName>style.visibility</p:attrName>
                                        </p:attrNameLst>
                                      </p:cBhvr>
                                      <p:to>
                                        <p:strVal val="visible"/>
                                      </p:to>
                                    </p:set>
                                    <p:anim calcmode="lin" valueType="num">
                                      <p:cBhvr additive="base">
                                        <p:cTn id="13" dur="500" fill="hold"/>
                                        <p:tgtEl>
                                          <p:spTgt spid="1711111"/>
                                        </p:tgtEl>
                                        <p:attrNameLst>
                                          <p:attrName>ppt_x</p:attrName>
                                        </p:attrNameLst>
                                      </p:cBhvr>
                                      <p:tavLst>
                                        <p:tav tm="0">
                                          <p:val>
                                            <p:strVal val="0-#ppt_w/2"/>
                                          </p:val>
                                        </p:tav>
                                        <p:tav tm="100000">
                                          <p:val>
                                            <p:strVal val="#ppt_x"/>
                                          </p:val>
                                        </p:tav>
                                      </p:tavLst>
                                    </p:anim>
                                    <p:anim calcmode="lin" valueType="num">
                                      <p:cBhvr additive="base">
                                        <p:cTn id="14" dur="500" fill="hold"/>
                                        <p:tgtEl>
                                          <p:spTgt spid="1711111"/>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1711108"/>
                                        </p:tgtEl>
                                        <p:attrNameLst>
                                          <p:attrName>style.visibility</p:attrName>
                                        </p:attrNameLst>
                                      </p:cBhvr>
                                      <p:to>
                                        <p:strVal val="visible"/>
                                      </p:to>
                                    </p:set>
                                    <p:anim calcmode="lin" valueType="num">
                                      <p:cBhvr additive="base">
                                        <p:cTn id="18" dur="500" fill="hold"/>
                                        <p:tgtEl>
                                          <p:spTgt spid="1711108"/>
                                        </p:tgtEl>
                                        <p:attrNameLst>
                                          <p:attrName>ppt_x</p:attrName>
                                        </p:attrNameLst>
                                      </p:cBhvr>
                                      <p:tavLst>
                                        <p:tav tm="0">
                                          <p:val>
                                            <p:strVal val="0-#ppt_w/2"/>
                                          </p:val>
                                        </p:tav>
                                        <p:tav tm="100000">
                                          <p:val>
                                            <p:strVal val="#ppt_x"/>
                                          </p:val>
                                        </p:tav>
                                      </p:tavLst>
                                    </p:anim>
                                    <p:anim calcmode="lin" valueType="num">
                                      <p:cBhvr additive="base">
                                        <p:cTn id="19" dur="500" fill="hold"/>
                                        <p:tgtEl>
                                          <p:spTgt spid="171110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711110"/>
                                        </p:tgtEl>
                                        <p:attrNameLst>
                                          <p:attrName>style.visibility</p:attrName>
                                        </p:attrNameLst>
                                      </p:cBhvr>
                                      <p:to>
                                        <p:strVal val="visible"/>
                                      </p:to>
                                    </p:set>
                                    <p:anim calcmode="lin" valueType="num">
                                      <p:cBhvr>
                                        <p:cTn id="24" dur="500" fill="hold"/>
                                        <p:tgtEl>
                                          <p:spTgt spid="1711110"/>
                                        </p:tgtEl>
                                        <p:attrNameLst>
                                          <p:attrName>ppt_w</p:attrName>
                                        </p:attrNameLst>
                                      </p:cBhvr>
                                      <p:tavLst>
                                        <p:tav tm="0">
                                          <p:val>
                                            <p:fltVal val="0.000000"/>
                                          </p:val>
                                        </p:tav>
                                        <p:tav tm="100000">
                                          <p:val>
                                            <p:strVal val="#ppt_w"/>
                                          </p:val>
                                        </p:tav>
                                      </p:tavLst>
                                    </p:anim>
                                    <p:anim calcmode="lin" valueType="num">
                                      <p:cBhvr>
                                        <p:cTn id="25" dur="500" fill="hold"/>
                                        <p:tgtEl>
                                          <p:spTgt spid="1711110"/>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711109"/>
                                        </p:tgtEl>
                                        <p:attrNameLst>
                                          <p:attrName>style.visibility</p:attrName>
                                        </p:attrNameLst>
                                      </p:cBhvr>
                                      <p:to>
                                        <p:strVal val="visible"/>
                                      </p:to>
                                    </p:set>
                                    <p:anim calcmode="lin" valueType="num">
                                      <p:cBhvr additive="base">
                                        <p:cTn id="30" dur="500" fill="hold"/>
                                        <p:tgtEl>
                                          <p:spTgt spid="1711109"/>
                                        </p:tgtEl>
                                        <p:attrNameLst>
                                          <p:attrName>ppt_x</p:attrName>
                                        </p:attrNameLst>
                                      </p:cBhvr>
                                      <p:tavLst>
                                        <p:tav tm="0">
                                          <p:val>
                                            <p:strVal val="1+#ppt_w/2"/>
                                          </p:val>
                                        </p:tav>
                                        <p:tav tm="100000">
                                          <p:val>
                                            <p:strVal val="#ppt_x"/>
                                          </p:val>
                                        </p:tav>
                                      </p:tavLst>
                                    </p:anim>
                                    <p:anim calcmode="lin" valueType="num">
                                      <p:cBhvr additive="base">
                                        <p:cTn id="31" dur="500" fill="hold"/>
                                        <p:tgtEl>
                                          <p:spTgt spid="1711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1107" grpId="0"/>
      <p:bldP spid="1711108" grpId="0" bldLvl="0" animBg="1"/>
      <p:bldP spid="1711109" grpId="0" bldLvl="0" animBg="1"/>
      <p:bldP spid="1711110" grpId="0" bldLvl="0" animBg="1"/>
      <p:bldP spid="1711111" grpId="0"/>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57220" name="Rectangle 4"/>
          <p:cNvSpPr>
            <a:spLocks noGrp="1"/>
          </p:cNvSpPr>
          <p:nvPr>
            <p:ph idx="1"/>
          </p:nvPr>
        </p:nvSpPr>
        <p:spPr/>
        <p:txBody>
          <a:bodyPr vert="horz" wrap="square" lIns="91440" tIns="45720" rIns="91440" bIns="45720" anchor="t" anchorCtr="0"/>
          <a:p>
            <a:pPr algn="just" eaLnBrk="1" hangingPunct="1">
              <a:lnSpc>
                <a:spcPct val="110000"/>
              </a:lnSpc>
            </a:pPr>
            <a:r>
              <a:rPr lang="en-US" altLang="zh-CN" dirty="0">
                <a:latin typeface="宋体" panose="02010600030101010101" pitchFamily="2" charset="-122"/>
                <a:ea typeface="黑体" panose="02010609060101010101" pitchFamily="49" charset="-122"/>
                <a:cs typeface="+mn-cs"/>
              </a:rPr>
              <a:t>[</a:t>
            </a:r>
            <a:r>
              <a:rPr lang="zh-CN" altLang="en-US" dirty="0">
                <a:solidFill>
                  <a:srgbClr val="FF0066"/>
                </a:solidFill>
                <a:latin typeface="宋体" panose="02010600030101010101" pitchFamily="2" charset="-122"/>
                <a:ea typeface="华文楷体" panose="02010600040101010101" pitchFamily="2" charset="-122"/>
                <a:cs typeface="+mn-cs"/>
              </a:rPr>
              <a:t>例</a:t>
            </a:r>
            <a:r>
              <a:rPr lang="en-US" altLang="zh-CN" dirty="0">
                <a:latin typeface="宋体" panose="02010600030101010101" pitchFamily="2" charset="-122"/>
                <a:ea typeface="黑体" panose="02010609060101010101" pitchFamily="49" charset="-122"/>
                <a:cs typeface="+mn-cs"/>
              </a:rPr>
              <a:t>] </a:t>
            </a:r>
            <a:r>
              <a:rPr lang="zh-CN" altLang="en-US" dirty="0">
                <a:latin typeface="宋体" panose="02010600030101010101" pitchFamily="2" charset="-122"/>
                <a:ea typeface="华文楷体" panose="02010600040101010101" pitchFamily="2" charset="-122"/>
                <a:cs typeface="+mn-cs"/>
              </a:rPr>
              <a:t>模为</a:t>
            </a:r>
            <a:r>
              <a:rPr lang="en-US" altLang="zh-CN" dirty="0">
                <a:latin typeface="宋体" panose="02010600030101010101" pitchFamily="2" charset="-122"/>
                <a:ea typeface="黑体" panose="02010609060101010101" pitchFamily="49" charset="-122"/>
                <a:cs typeface="+mn-cs"/>
              </a:rPr>
              <a:t>60</a:t>
            </a:r>
            <a:r>
              <a:rPr lang="zh-CN" altLang="en-US" dirty="0">
                <a:latin typeface="宋体" panose="02010600030101010101" pitchFamily="2" charset="-122"/>
                <a:ea typeface="华文楷体" panose="02010600040101010101" pitchFamily="2" charset="-122"/>
                <a:cs typeface="+mn-cs"/>
              </a:rPr>
              <a:t>的</a:t>
            </a:r>
            <a:r>
              <a:rPr lang="en-US" altLang="zh-CN" dirty="0">
                <a:latin typeface="宋体" panose="02010600030101010101" pitchFamily="2" charset="-122"/>
                <a:ea typeface="黑体" panose="02010609060101010101" pitchFamily="49" charset="-122"/>
                <a:cs typeface="+mn-cs"/>
              </a:rPr>
              <a:t>BCD</a:t>
            </a:r>
            <a:r>
              <a:rPr lang="zh-CN" altLang="en-US" dirty="0">
                <a:latin typeface="宋体" panose="02010600030101010101" pitchFamily="2" charset="-122"/>
                <a:ea typeface="华文楷体" panose="02010600040101010101" pitchFamily="2" charset="-122"/>
                <a:cs typeface="+mn-cs"/>
              </a:rPr>
              <a:t>码加法计数器</a:t>
            </a:r>
            <a:r>
              <a:rPr lang="en-US" altLang="zh-CN" dirty="0">
                <a:latin typeface="宋体" panose="02010600030101010101" pitchFamily="2" charset="-122"/>
                <a:ea typeface="黑体" panose="02010609060101010101" pitchFamily="49" charset="-122"/>
                <a:cs typeface="+mn-cs"/>
              </a:rPr>
              <a:t>counter60.v</a:t>
            </a:r>
            <a:endParaRPr lang="en-US" altLang="zh-CN" sz="2200" dirty="0">
              <a:latin typeface="宋体" panose="02010600030101010101" pitchFamily="2" charset="-122"/>
              <a:ea typeface="黑体" panose="02010609060101010101" pitchFamily="49" charset="-122"/>
              <a:cs typeface="+mn-cs"/>
            </a:endParaRPr>
          </a:p>
        </p:txBody>
      </p:sp>
      <p:pic>
        <p:nvPicPr>
          <p:cNvPr id="161795" name="图片 1"/>
          <p:cNvPicPr>
            <a:picLocks noChangeAspect="1"/>
          </p:cNvPicPr>
          <p:nvPr/>
        </p:nvPicPr>
        <p:blipFill>
          <a:blip r:embed="rId1"/>
          <a:stretch>
            <a:fillRect/>
          </a:stretch>
        </p:blipFill>
        <p:spPr>
          <a:xfrm>
            <a:off x="674688" y="452438"/>
            <a:ext cx="6256337" cy="6334125"/>
          </a:xfrm>
          <a:prstGeom prst="rect">
            <a:avLst/>
          </a:prstGeom>
          <a:noFill/>
          <a:ln w="9525">
            <a:noFill/>
          </a:ln>
        </p:spPr>
      </p:pic>
      <p:sp>
        <p:nvSpPr>
          <p:cNvPr id="16179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1797" name="Rectangle 3"/>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2057231" name="AutoShape 15"/>
          <p:cNvSpPr/>
          <p:nvPr/>
        </p:nvSpPr>
        <p:spPr>
          <a:xfrm>
            <a:off x="6596063" y="5716588"/>
            <a:ext cx="1865312" cy="987425"/>
          </a:xfrm>
          <a:prstGeom prst="wedgeRoundRectCallout">
            <a:avLst>
              <a:gd name="adj1" fmla="val -152042"/>
              <a:gd name="adj2" fmla="val 162"/>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sz="1800" b="1" dirty="0">
                <a:latin typeface="宋体" panose="02010600030101010101" pitchFamily="2" charset="-122"/>
                <a:ea typeface="华文楷体" panose="02010600040101010101" pitchFamily="2" charset="-122"/>
              </a:rPr>
              <a:t>always</a:t>
            </a:r>
            <a:r>
              <a:rPr lang="zh-CN" altLang="en-US" sz="1800" b="1" dirty="0">
                <a:latin typeface="宋体" panose="02010600030101010101" pitchFamily="2" charset="-122"/>
                <a:ea typeface="华文楷体" panose="02010600040101010101" pitchFamily="2" charset="-122"/>
              </a:rPr>
              <a:t>块语句和</a:t>
            </a:r>
            <a:r>
              <a:rPr lang="en-US" altLang="zh-CN" sz="1800" b="1" dirty="0">
                <a:latin typeface="宋体" panose="02010600030101010101" pitchFamily="2" charset="-122"/>
                <a:ea typeface="华文楷体" panose="02010600040101010101" pitchFamily="2" charset="-122"/>
              </a:rPr>
              <a:t>assign</a:t>
            </a:r>
            <a:r>
              <a:rPr lang="zh-CN" altLang="en-US" sz="1800" b="1" dirty="0">
                <a:latin typeface="宋体" panose="02010600030101010101" pitchFamily="2" charset="-122"/>
                <a:ea typeface="华文楷体" panose="02010600040101010101" pitchFamily="2" charset="-122"/>
              </a:rPr>
              <a:t>语句是并行执行的</a:t>
            </a:r>
            <a:r>
              <a:rPr lang="zh-CN" altLang="en-US" b="1" dirty="0">
                <a:latin typeface="宋体" panose="02010600030101010101" pitchFamily="2" charset="-122"/>
                <a:ea typeface="华文楷体" panose="02010600040101010101" pitchFamily="2" charset="-122"/>
              </a:rPr>
              <a:t>！</a:t>
            </a:r>
            <a:endParaRPr lang="zh-CN" altLang="en-US" b="1" dirty="0">
              <a:latin typeface="Tahoma" panose="020B0604030504040204" pitchFamily="34" charset="0"/>
              <a:ea typeface="华文楷体" panose="02010600040101010101" pitchFamily="2" charset="-122"/>
            </a:endParaRPr>
          </a:p>
        </p:txBody>
      </p:sp>
      <p:sp>
        <p:nvSpPr>
          <p:cNvPr id="2057233" name="AutoShape 17"/>
          <p:cNvSpPr/>
          <p:nvPr/>
        </p:nvSpPr>
        <p:spPr>
          <a:xfrm>
            <a:off x="5584825" y="2508250"/>
            <a:ext cx="1865313" cy="987425"/>
          </a:xfrm>
          <a:prstGeom prst="wedgeRoundRectCallout">
            <a:avLst>
              <a:gd name="adj1" fmla="val -85065"/>
              <a:gd name="adj2" fmla="val 47106"/>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宋体" panose="02010600030101010101" pitchFamily="2" charset="-122"/>
                <a:ea typeface="华文楷体" panose="02010600040101010101" pitchFamily="2" charset="-122"/>
              </a:rPr>
              <a:t>在</a:t>
            </a:r>
            <a:r>
              <a:rPr lang="en-US" altLang="zh-CN" sz="1800" b="1" dirty="0">
                <a:latin typeface="宋体" panose="02010600030101010101" pitchFamily="2" charset="-122"/>
                <a:ea typeface="华文楷体" panose="02010600040101010101" pitchFamily="2" charset="-122"/>
              </a:rPr>
              <a:t>always</a:t>
            </a:r>
            <a:r>
              <a:rPr lang="zh-CN" altLang="en-US" sz="1800" b="1" dirty="0">
                <a:latin typeface="宋体" panose="02010600030101010101" pitchFamily="2" charset="-122"/>
                <a:ea typeface="华文楷体" panose="02010600040101010101" pitchFamily="2" charset="-122"/>
              </a:rPr>
              <a:t>块内的语句是顺序执行的</a:t>
            </a:r>
            <a:r>
              <a:rPr lang="zh-CN" altLang="en-US" b="1" dirty="0">
                <a:latin typeface="宋体" panose="02010600030101010101" pitchFamily="2" charset="-122"/>
                <a:ea typeface="华文楷体" panose="02010600040101010101" pitchFamily="2" charset="-122"/>
              </a:rPr>
              <a:t>！</a:t>
            </a:r>
            <a:endParaRPr lang="zh-CN" altLang="en-US" b="1" dirty="0">
              <a:latin typeface="Tahoma" panose="020B0604030504040204" pitchFamily="34" charset="0"/>
              <a:ea typeface="华文楷体" panose="02010600040101010101" pitchFamily="2" charset="-122"/>
            </a:endParaRPr>
          </a:p>
        </p:txBody>
      </p:sp>
      <p:sp>
        <p:nvSpPr>
          <p:cNvPr id="2057232" name="Rectangle 16"/>
          <p:cNvSpPr/>
          <p:nvPr/>
        </p:nvSpPr>
        <p:spPr>
          <a:xfrm>
            <a:off x="1309688" y="2854325"/>
            <a:ext cx="3527425" cy="3105150"/>
          </a:xfrm>
          <a:prstGeom prst="rect">
            <a:avLst/>
          </a:prstGeom>
          <a:noFill/>
          <a:ln w="19050" cap="flat" cmpd="sng">
            <a:solidFill>
              <a:srgbClr val="FF0066"/>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57220"/>
                                        </p:tgtEl>
                                        <p:attrNameLst>
                                          <p:attrName>style.visibility</p:attrName>
                                        </p:attrNameLst>
                                      </p:cBhvr>
                                      <p:to>
                                        <p:strVal val="visible"/>
                                      </p:to>
                                    </p:set>
                                    <p:anim calcmode="lin" valueType="num">
                                      <p:cBhvr additive="base">
                                        <p:cTn id="7" dur="500" fill="hold"/>
                                        <p:tgtEl>
                                          <p:spTgt spid="2057220"/>
                                        </p:tgtEl>
                                        <p:attrNameLst>
                                          <p:attrName>ppt_x</p:attrName>
                                        </p:attrNameLst>
                                      </p:cBhvr>
                                      <p:tavLst>
                                        <p:tav tm="0">
                                          <p:val>
                                            <p:strVal val="0-#ppt_w/2"/>
                                          </p:val>
                                        </p:tav>
                                        <p:tav tm="100000">
                                          <p:val>
                                            <p:strVal val="#ppt_x"/>
                                          </p:val>
                                        </p:tav>
                                      </p:tavLst>
                                    </p:anim>
                                    <p:anim calcmode="lin" valueType="num">
                                      <p:cBhvr additive="base">
                                        <p:cTn id="8" dur="500" fill="hold"/>
                                        <p:tgtEl>
                                          <p:spTgt spid="20572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057232"/>
                                        </p:tgtEl>
                                        <p:attrNameLst>
                                          <p:attrName>style.visibility</p:attrName>
                                        </p:attrNameLst>
                                      </p:cBhvr>
                                      <p:to>
                                        <p:strVal val="visible"/>
                                      </p:to>
                                    </p:set>
                                    <p:anim calcmode="lin" valueType="num">
                                      <p:cBhvr>
                                        <p:cTn id="13" dur="500" fill="hold"/>
                                        <p:tgtEl>
                                          <p:spTgt spid="2057232"/>
                                        </p:tgtEl>
                                        <p:attrNameLst>
                                          <p:attrName>ppt_w</p:attrName>
                                        </p:attrNameLst>
                                      </p:cBhvr>
                                      <p:tavLst>
                                        <p:tav tm="0">
                                          <p:val>
                                            <p:fltVal val="0.000000"/>
                                          </p:val>
                                        </p:tav>
                                        <p:tav tm="100000">
                                          <p:val>
                                            <p:strVal val="#ppt_w"/>
                                          </p:val>
                                        </p:tav>
                                      </p:tavLst>
                                    </p:anim>
                                    <p:anim calcmode="lin" valueType="num">
                                      <p:cBhvr>
                                        <p:cTn id="14" dur="500" fill="hold"/>
                                        <p:tgtEl>
                                          <p:spTgt spid="2057232"/>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2057233"/>
                                        </p:tgtEl>
                                        <p:attrNameLst>
                                          <p:attrName>style.visibility</p:attrName>
                                        </p:attrNameLst>
                                      </p:cBhvr>
                                      <p:to>
                                        <p:strVal val="visible"/>
                                      </p:to>
                                    </p:set>
                                    <p:animEffect transition="in" filter="dissolve">
                                      <p:cBhvr>
                                        <p:cTn id="18" dur="500"/>
                                        <p:tgtEl>
                                          <p:spTgt spid="205723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57231"/>
                                        </p:tgtEl>
                                        <p:attrNameLst>
                                          <p:attrName>style.visibility</p:attrName>
                                        </p:attrNameLst>
                                      </p:cBhvr>
                                      <p:to>
                                        <p:strVal val="visible"/>
                                      </p:to>
                                    </p:set>
                                    <p:animEffect transition="in" filter="dissolve">
                                      <p:cBhvr>
                                        <p:cTn id="23" dur="500"/>
                                        <p:tgtEl>
                                          <p:spTgt spid="2057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220" grpId="0"/>
      <p:bldP spid="2057231" grpId="0" bldLvl="0" animBg="1"/>
      <p:bldP spid="2057233" grpId="0" bldLvl="0" animBg="1"/>
      <p:bldP spid="2057232"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4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384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2167815" name="Rectangle 7"/>
          <p:cNvSpPr>
            <a:spLocks noGrp="1"/>
          </p:cNvSpPr>
          <p:nvPr>
            <p:ph idx="1"/>
          </p:nvPr>
        </p:nvSpPr>
        <p:spPr>
          <a:ln>
            <a:solidFill>
              <a:schemeClr val="accent1">
                <a:alpha val="100000"/>
              </a:schemeClr>
            </a:solidFill>
            <a:miter lim="800000"/>
          </a:ln>
          <a:effectLst>
            <a:prstShdw prst="shdw13" dist="53882" dir="13499999">
              <a:schemeClr val="bg2">
                <a:alpha val="100000"/>
              </a:schemeClr>
            </a:prstShdw>
          </a:effectLst>
        </p:spPr>
        <p:txBody>
          <a:bodyPr vert="horz" wrap="square" lIns="91440" tIns="45720" rIns="91440" bIns="45720" numCol="1" anchor="t" anchorCtr="0" compatLnSpc="1"/>
          <a:lstStyle/>
          <a:p>
            <a:pPr marL="342900" marR="0" lvl="0" indent="-342900" algn="just" defTabSz="914400" rtl="0" eaLnBrk="0" fontAlgn="base" latinLnBrk="0" hangingPunct="0">
              <a:lnSpc>
                <a:spcPct val="110000"/>
              </a:lnSpc>
              <a:spcBef>
                <a:spcPct val="0"/>
              </a:spcBef>
              <a:spcAft>
                <a:spcPct val="0"/>
              </a:spcAft>
              <a:buClr>
                <a:schemeClr val="hlink"/>
              </a:buClr>
              <a:buSzTx/>
              <a:buFont typeface="Wingdings" panose="05000000000000000000" pitchFamily="2" charset="2"/>
              <a:buChar char="v"/>
              <a:defRPr/>
            </a:pP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注意：</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if (reset)</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0" marR="0" lvl="0" indent="0" algn="just" defTabSz="914400" rtl="0" eaLnBrk="0" fontAlgn="base" latinLnBrk="0" hangingPunct="0">
              <a:lnSpc>
                <a:spcPct val="110000"/>
              </a:lnSpc>
              <a:spcBef>
                <a:spcPct val="0"/>
              </a:spcBef>
              <a:spcAft>
                <a:spcPct val="0"/>
              </a:spcAft>
              <a:buClr>
                <a:schemeClr val="hlink"/>
              </a:buClr>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                else if (load)</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0" marR="0" lvl="0" indent="0" algn="just" defTabSz="914400" rtl="0" eaLnBrk="0" fontAlgn="base" latinLnBrk="0" hangingPunct="0">
              <a:lnSpc>
                <a:spcPct val="110000"/>
              </a:lnSpc>
              <a:spcBef>
                <a:spcPct val="0"/>
              </a:spcBef>
              <a:spcAft>
                <a:spcPct val="0"/>
              </a:spcAft>
              <a:buClr>
                <a:schemeClr val="hlink"/>
              </a:buClr>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                else if (cin)</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0" marR="0" lvl="0" indent="0" algn="just" defTabSz="914400" rtl="0" eaLnBrk="0" fontAlgn="base" latinLnBrk="0" hangingPunct="0">
              <a:lnSpc>
                <a:spcPct val="110000"/>
              </a:lnSpc>
              <a:spcBef>
                <a:spcPct val="0"/>
              </a:spcBef>
              <a:spcAft>
                <a:spcPct val="0"/>
              </a:spcAft>
              <a:buClr>
                <a:schemeClr val="hlink"/>
              </a:buClr>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    </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不要写成</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3</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个并列的</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if</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语句：</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
                <a:schemeClr val="hlink"/>
              </a:buClr>
              <a:buSzTx/>
              <a:buFontTx/>
              <a:buNone/>
              <a:defRPr/>
            </a:pP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                 </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if (reset)</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342900" marR="0" lvl="0" indent="-342900" algn="just" defTabSz="914400" rtl="0" eaLnBrk="0" fontAlgn="base" latinLnBrk="0" hangingPunct="0">
              <a:lnSpc>
                <a:spcPct val="110000"/>
              </a:lnSpc>
              <a:spcBef>
                <a:spcPct val="0"/>
              </a:spcBef>
              <a:spcAft>
                <a:spcPct val="0"/>
              </a:spcAft>
              <a:buClr>
                <a:schemeClr val="hlink"/>
              </a:buClr>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                 if (load)</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342900" marR="0" lvl="0" indent="-342900" algn="just" defTabSz="914400" rtl="0" eaLnBrk="0" fontAlgn="base" latinLnBrk="0" hangingPunct="0">
              <a:lnSpc>
                <a:spcPct val="110000"/>
              </a:lnSpc>
              <a:spcBef>
                <a:spcPct val="0"/>
              </a:spcBef>
              <a:spcAft>
                <a:spcPct val="0"/>
              </a:spcAft>
              <a:buClr>
                <a:schemeClr val="hlink"/>
              </a:buClr>
              <a:buSzTx/>
              <a:buFontTx/>
              <a:buNone/>
              <a:defRPr/>
            </a:pP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                 if (cin)</a:t>
            </a:r>
            <a:endPar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endParaRPr>
          </a:p>
          <a:p>
            <a:pPr marL="342900" marR="0" lvl="0" indent="-342900" algn="just" defTabSz="914400" rtl="0" eaLnBrk="0" fontAlgn="base" latinLnBrk="0" hangingPunct="0">
              <a:lnSpc>
                <a:spcPct val="110000"/>
              </a:lnSpc>
              <a:spcBef>
                <a:spcPct val="0"/>
              </a:spcBef>
              <a:spcAft>
                <a:spcPct val="0"/>
              </a:spcAft>
              <a:buClr>
                <a:schemeClr val="hlink"/>
              </a:buClr>
              <a:buSzTx/>
              <a:buFont typeface="Wingdings" panose="05000000000000000000" pitchFamily="2" charset="2"/>
              <a:buChar char="v"/>
              <a:defRPr/>
            </a:pP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因为这样写则是同时对</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3</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个信号</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reset</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load</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和</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cin</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进行判断，现实中很可能出现三者同时为“</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1”</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的情况，即</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3</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个条件同时满足，则应该同时执行它们对应的执行语句，但</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3</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条执行语句是对同一个信号</a:t>
            </a:r>
            <a:r>
              <a:rPr kumimoji="0" lang="en-US" altLang="zh-CN" sz="2000" b="0" i="0" u="none" strike="noStrike" kern="0" cap="none" spc="0" normalizeH="0" baseline="0" noProof="1">
                <a:ln>
                  <a:noFill/>
                </a:ln>
                <a:solidFill>
                  <a:schemeClr val="tx1"/>
                </a:solidFill>
                <a:effectLst/>
                <a:uLnTx/>
                <a:uFillTx/>
                <a:latin typeface="华文楷体" panose="02010600040101010101" pitchFamily="2" charset="-122"/>
                <a:ea typeface="黑体" panose="02010609060101010101" pitchFamily="49" charset="-122"/>
                <a:cs typeface="+mn-cs"/>
              </a:rPr>
              <a:t>qout</a:t>
            </a:r>
            <a:r>
              <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rPr>
              <a:t>赋不同的值，显然相互矛盾。故编译时会报错！</a:t>
            </a:r>
            <a:endParaRPr kumimoji="0" lang="zh-CN" altLang="en-US" sz="2000" b="0" i="0" u="none" strike="noStrike" kern="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2167815"/>
                                        </p:tgtEl>
                                        <p:attrNameLst>
                                          <p:attrName>style.visibility</p:attrName>
                                        </p:attrNameLst>
                                      </p:cBhvr>
                                      <p:to>
                                        <p:strVal val="visible"/>
                                      </p:to>
                                    </p:set>
                                    <p:animEffect transition="in" filter="barn(outHorizontal)">
                                      <p:cBhvr>
                                        <p:cTn id="7" dur="500"/>
                                        <p:tgtEl>
                                          <p:spTgt spid="2167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7815"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65890" name="图片 2"/>
          <p:cNvPicPr>
            <a:picLocks noChangeAspect="1"/>
          </p:cNvPicPr>
          <p:nvPr/>
        </p:nvPicPr>
        <p:blipFill>
          <a:blip r:embed="rId1"/>
          <a:stretch>
            <a:fillRect/>
          </a:stretch>
        </p:blipFill>
        <p:spPr>
          <a:xfrm>
            <a:off x="285750" y="3124200"/>
            <a:ext cx="8572500" cy="2254250"/>
          </a:xfrm>
          <a:prstGeom prst="rect">
            <a:avLst/>
          </a:prstGeom>
          <a:noFill/>
          <a:ln w="9525">
            <a:noFill/>
          </a:ln>
        </p:spPr>
      </p:pic>
      <p:sp>
        <p:nvSpPr>
          <p:cNvPr id="165891"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589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13155" name="Rectangle 3"/>
          <p:cNvSpPr>
            <a:spLocks noGrp="1"/>
          </p:cNvSpPr>
          <p:nvPr>
            <p:ph idx="1"/>
          </p:nvPr>
        </p:nvSpPr>
        <p:spPr/>
        <p:txBody>
          <a:bodyPr vert="horz" wrap="square" lIns="91440" tIns="45720" rIns="91440" bIns="45720" anchor="t" anchorCtr="0"/>
          <a:p>
            <a:pPr algn="just" eaLnBrk="1" hangingPunct="1">
              <a:lnSpc>
                <a:spcPct val="110000"/>
              </a:lnSpc>
            </a:pPr>
            <a:endParaRPr lang="en-US" altLang="zh-CN" dirty="0">
              <a:latin typeface="宋体" panose="02010600030101010101" pitchFamily="2" charset="-122"/>
              <a:ea typeface="黑体" panose="02010609060101010101" pitchFamily="49" charset="-122"/>
              <a:cs typeface="+mn-cs"/>
            </a:endParaRPr>
          </a:p>
          <a:p>
            <a:pPr lvl="1" algn="just">
              <a:lnSpc>
                <a:spcPct val="110000"/>
              </a:lnSpc>
              <a:spcBef>
                <a:spcPct val="0"/>
              </a:spcBef>
            </a:pPr>
            <a:r>
              <a:rPr lang="en-US" altLang="zh-CN" sz="2600" dirty="0">
                <a:latin typeface="华文楷体" panose="02010600040101010101" pitchFamily="2" charset="-122"/>
                <a:ea typeface="黑体" panose="02010609060101010101" pitchFamily="49" charset="-122"/>
              </a:rPr>
              <a:t>cin</a:t>
            </a:r>
            <a:r>
              <a:rPr lang="zh-CN" altLang="en-US" sz="2600" dirty="0">
                <a:latin typeface="华文楷体" panose="02010600040101010101" pitchFamily="2" charset="-122"/>
                <a:ea typeface="华文楷体" panose="02010600040101010101" pitchFamily="2" charset="-122"/>
              </a:rPr>
              <a:t>为来自下一级计数器的进位</a:t>
            </a:r>
            <a:endParaRPr lang="zh-CN" altLang="en-US" sz="2600" dirty="0">
              <a:latin typeface="华文楷体" panose="02010600040101010101" pitchFamily="2" charset="-122"/>
              <a:ea typeface="华文楷体" panose="02010600040101010101" pitchFamily="2" charset="-122"/>
            </a:endParaRPr>
          </a:p>
          <a:p>
            <a:pPr lvl="1" algn="just">
              <a:lnSpc>
                <a:spcPct val="110000"/>
              </a:lnSpc>
              <a:spcBef>
                <a:spcPct val="0"/>
              </a:spcBef>
            </a:pPr>
            <a:r>
              <a:rPr lang="en-US" altLang="zh-CN" sz="2600" dirty="0">
                <a:latin typeface="华文楷体" panose="02010600040101010101" pitchFamily="2" charset="-122"/>
                <a:ea typeface="黑体" panose="02010609060101010101" pitchFamily="49" charset="-122"/>
              </a:rPr>
              <a:t>always</a:t>
            </a:r>
            <a:r>
              <a:rPr lang="zh-CN" altLang="en-US" sz="2600" dirty="0">
                <a:latin typeface="华文楷体" panose="02010600040101010101" pitchFamily="2" charset="-122"/>
                <a:ea typeface="华文楷体" panose="02010600040101010101" pitchFamily="2" charset="-122"/>
              </a:rPr>
              <a:t>与</a:t>
            </a:r>
            <a:r>
              <a:rPr lang="en-US" altLang="zh-CN" sz="2600" dirty="0">
                <a:latin typeface="华文楷体" panose="02010600040101010101" pitchFamily="2" charset="-122"/>
                <a:ea typeface="黑体" panose="02010609060101010101" pitchFamily="49" charset="-122"/>
              </a:rPr>
              <a:t>assign</a:t>
            </a:r>
            <a:r>
              <a:rPr lang="zh-CN" altLang="zh-CN" sz="2600" dirty="0">
                <a:latin typeface="华文楷体" panose="02010600040101010101" pitchFamily="2" charset="-122"/>
                <a:ea typeface="华文楷体" panose="02010600040101010101" pitchFamily="2" charset="-122"/>
              </a:rPr>
              <a:t>语句是并行执行的！</a:t>
            </a:r>
            <a:endParaRPr lang="zh-CN" altLang="en-US" sz="2600" dirty="0">
              <a:latin typeface="华文楷体" panose="02010600040101010101" pitchFamily="2" charset="-122"/>
              <a:ea typeface="华文楷体" panose="02010600040101010101" pitchFamily="2" charset="-122"/>
            </a:endParaRPr>
          </a:p>
        </p:txBody>
      </p:sp>
      <p:sp>
        <p:nvSpPr>
          <p:cNvPr id="1713159" name="AutoShape 7"/>
          <p:cNvSpPr/>
          <p:nvPr/>
        </p:nvSpPr>
        <p:spPr>
          <a:xfrm>
            <a:off x="2801938" y="4078288"/>
            <a:ext cx="711200" cy="346075"/>
          </a:xfrm>
          <a:prstGeom prst="wedgeRoundRectCallout">
            <a:avLst>
              <a:gd name="adj1" fmla="val 47546"/>
              <a:gd name="adj2" fmla="val -132111"/>
              <a:gd name="adj3" fmla="val 16667"/>
            </a:avLst>
          </a:prstGeom>
          <a:solidFill>
            <a:schemeClr val="accent1"/>
          </a:solidFill>
          <a:ln w="9525">
            <a:noFill/>
          </a:ln>
          <a:effectLst>
            <a:prstShdw prst="shdw17" dist="17961" dir="2699999">
              <a:srgbClr val="997A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华文楷体" panose="02010600040101010101" pitchFamily="2" charset="-122"/>
                <a:ea typeface="华文楷体" panose="02010600040101010101" pitchFamily="2" charset="-122"/>
              </a:rPr>
              <a:t>置数</a:t>
            </a:r>
            <a:endParaRPr lang="zh-CN" altLang="en-US" sz="1600" dirty="0">
              <a:solidFill>
                <a:srgbClr val="CC3300"/>
              </a:solidFill>
              <a:latin typeface="华文楷体" panose="02010600040101010101" pitchFamily="2" charset="-122"/>
              <a:ea typeface="华文楷体" panose="02010600040101010101" pitchFamily="2" charset="-122"/>
            </a:endParaRPr>
          </a:p>
        </p:txBody>
      </p:sp>
      <p:sp>
        <p:nvSpPr>
          <p:cNvPr id="1713160" name="AutoShape 8"/>
          <p:cNvSpPr/>
          <p:nvPr/>
        </p:nvSpPr>
        <p:spPr>
          <a:xfrm>
            <a:off x="7112000" y="4589463"/>
            <a:ext cx="1101725" cy="346075"/>
          </a:xfrm>
          <a:prstGeom prst="wedgeRoundRectCallout">
            <a:avLst>
              <a:gd name="adj1" fmla="val 2162"/>
              <a:gd name="adj2" fmla="val -215597"/>
              <a:gd name="adj3" fmla="val 16667"/>
            </a:avLst>
          </a:prstGeom>
          <a:solidFill>
            <a:schemeClr val="accent1"/>
          </a:solidFill>
          <a:ln w="9525">
            <a:noFill/>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华文楷体" panose="02010600040101010101" pitchFamily="2" charset="-122"/>
                <a:ea typeface="华文楷体" panose="02010600040101010101" pitchFamily="2" charset="-122"/>
              </a:rPr>
              <a:t>进位输出</a:t>
            </a:r>
            <a:endParaRPr lang="zh-CN" altLang="en-US" sz="1600" dirty="0">
              <a:latin typeface="华文楷体" panose="02010600040101010101" pitchFamily="2" charset="-122"/>
              <a:ea typeface="华文楷体" panose="02010600040101010101" pitchFamily="2" charset="-122"/>
            </a:endParaRPr>
          </a:p>
        </p:txBody>
      </p:sp>
      <p:sp>
        <p:nvSpPr>
          <p:cNvPr id="1713161" name="Oval 9"/>
          <p:cNvSpPr/>
          <p:nvPr/>
        </p:nvSpPr>
        <p:spPr>
          <a:xfrm>
            <a:off x="2640013" y="5499100"/>
            <a:ext cx="404812" cy="301625"/>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13162" name="Oval 10"/>
          <p:cNvSpPr/>
          <p:nvPr/>
        </p:nvSpPr>
        <p:spPr>
          <a:xfrm>
            <a:off x="6461125" y="5089525"/>
            <a:ext cx="379413" cy="288925"/>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13166" name="AutoShape 14"/>
          <p:cNvSpPr/>
          <p:nvPr/>
        </p:nvSpPr>
        <p:spPr>
          <a:xfrm>
            <a:off x="3362325" y="4935538"/>
            <a:ext cx="1506538" cy="563562"/>
          </a:xfrm>
          <a:prstGeom prst="wedgeRoundRectCallout">
            <a:avLst>
              <a:gd name="adj1" fmla="val -35287"/>
              <a:gd name="adj2" fmla="val -121102"/>
              <a:gd name="adj3" fmla="val 16667"/>
            </a:avLst>
          </a:prstGeom>
          <a:solidFill>
            <a:schemeClr val="accent1"/>
          </a:solidFill>
          <a:ln w="9525">
            <a:noFill/>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600" dirty="0">
                <a:latin typeface="华文楷体" panose="02010600040101010101" pitchFamily="2" charset="-122"/>
                <a:ea typeface="华文楷体" panose="02010600040101010101" pitchFamily="2" charset="-122"/>
              </a:rPr>
              <a:t>当</a:t>
            </a:r>
            <a:r>
              <a:rPr lang="en-US" altLang="zh-CN" sz="1600" dirty="0">
                <a:latin typeface="华文楷体" panose="02010600040101010101" pitchFamily="2" charset="-122"/>
                <a:ea typeface="华文楷体" panose="02010600040101010101" pitchFamily="2" charset="-122"/>
              </a:rPr>
              <a:t>cin=1</a:t>
            </a:r>
            <a:r>
              <a:rPr lang="zh-CN" altLang="en-US" sz="1600" dirty="0">
                <a:latin typeface="华文楷体" panose="02010600040101010101" pitchFamily="2" charset="-122"/>
                <a:ea typeface="华文楷体" panose="02010600040101010101" pitchFamily="2" charset="-122"/>
              </a:rPr>
              <a:t>则加</a:t>
            </a:r>
            <a:r>
              <a:rPr lang="en-US" altLang="zh-CN" sz="1600" dirty="0">
                <a:latin typeface="华文楷体" panose="02010600040101010101" pitchFamily="2" charset="-122"/>
                <a:ea typeface="华文楷体" panose="02010600040101010101" pitchFamily="2" charset="-122"/>
              </a:rPr>
              <a:t>1</a:t>
            </a:r>
            <a:r>
              <a:rPr lang="zh-CN" altLang="en-US" sz="1600" dirty="0">
                <a:latin typeface="华文楷体" panose="02010600040101010101" pitchFamily="2" charset="-122"/>
                <a:ea typeface="华文楷体" panose="02010600040101010101" pitchFamily="2" charset="-122"/>
              </a:rPr>
              <a:t>计数</a:t>
            </a:r>
            <a:endParaRPr lang="zh-CN" altLang="en-US" sz="1600" dirty="0">
              <a:solidFill>
                <a:srgbClr val="CC3300"/>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13155"/>
                                        </p:tgtEl>
                                        <p:attrNameLst>
                                          <p:attrName>style.visibility</p:attrName>
                                        </p:attrNameLst>
                                      </p:cBhvr>
                                      <p:to>
                                        <p:strVal val="visible"/>
                                      </p:to>
                                    </p:set>
                                    <p:anim calcmode="lin" valueType="num">
                                      <p:cBhvr additive="base">
                                        <p:cTn id="7" dur="500" fill="hold"/>
                                        <p:tgtEl>
                                          <p:spTgt spid="1713155"/>
                                        </p:tgtEl>
                                        <p:attrNameLst>
                                          <p:attrName>ppt_x</p:attrName>
                                        </p:attrNameLst>
                                      </p:cBhvr>
                                      <p:tavLst>
                                        <p:tav tm="0">
                                          <p:val>
                                            <p:strVal val="0-#ppt_w/2"/>
                                          </p:val>
                                        </p:tav>
                                        <p:tav tm="100000">
                                          <p:val>
                                            <p:strVal val="#ppt_x"/>
                                          </p:val>
                                        </p:tav>
                                      </p:tavLst>
                                    </p:anim>
                                    <p:anim calcmode="lin" valueType="num">
                                      <p:cBhvr additive="base">
                                        <p:cTn id="8" dur="500" fill="hold"/>
                                        <p:tgtEl>
                                          <p:spTgt spid="171315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713161"/>
                                        </p:tgtEl>
                                        <p:attrNameLst>
                                          <p:attrName>style.visibility</p:attrName>
                                        </p:attrNameLst>
                                      </p:cBhvr>
                                      <p:to>
                                        <p:strVal val="visible"/>
                                      </p:to>
                                    </p:set>
                                    <p:anim calcmode="lin" valueType="num">
                                      <p:cBhvr>
                                        <p:cTn id="12" dur="500" fill="hold"/>
                                        <p:tgtEl>
                                          <p:spTgt spid="1713161"/>
                                        </p:tgtEl>
                                        <p:attrNameLst>
                                          <p:attrName>ppt_w</p:attrName>
                                        </p:attrNameLst>
                                      </p:cBhvr>
                                      <p:tavLst>
                                        <p:tav tm="0">
                                          <p:val>
                                            <p:fltVal val="0.000000"/>
                                          </p:val>
                                        </p:tav>
                                        <p:tav tm="100000">
                                          <p:val>
                                            <p:strVal val="#ppt_w"/>
                                          </p:val>
                                        </p:tav>
                                      </p:tavLst>
                                    </p:anim>
                                    <p:anim calcmode="lin" valueType="num">
                                      <p:cBhvr>
                                        <p:cTn id="13" dur="500" fill="hold"/>
                                        <p:tgtEl>
                                          <p:spTgt spid="1713161"/>
                                        </p:tgtEl>
                                        <p:attrNameLst>
                                          <p:attrName>ppt_h</p:attrName>
                                        </p:attrNameLst>
                                      </p:cBhvr>
                                      <p:tavLst>
                                        <p:tav tm="0">
                                          <p:val>
                                            <p:fltVal val="0.000000"/>
                                          </p:val>
                                        </p:tav>
                                        <p:tav tm="100000">
                                          <p:val>
                                            <p:strVal val="#ppt_h"/>
                                          </p:val>
                                        </p:tav>
                                      </p:tavLst>
                                    </p:anim>
                                  </p:childTnLst>
                                </p:cTn>
                              </p:par>
                            </p:childTnLst>
                          </p:cTn>
                        </p:par>
                        <p:par>
                          <p:cTn id="14" fill="hold">
                            <p:stCondLst>
                              <p:cond delay="1000"/>
                            </p:stCondLst>
                            <p:childTnLst>
                              <p:par>
                                <p:cTn id="15" presetID="9" presetClass="entr" presetSubtype="0" fill="hold" grpId="0" nodeType="afterEffect">
                                  <p:stCondLst>
                                    <p:cond delay="0"/>
                                  </p:stCondLst>
                                  <p:childTnLst>
                                    <p:set>
                                      <p:cBhvr>
                                        <p:cTn id="16" dur="1" fill="hold">
                                          <p:stCondLst>
                                            <p:cond delay="0"/>
                                          </p:stCondLst>
                                        </p:cTn>
                                        <p:tgtEl>
                                          <p:spTgt spid="1713159"/>
                                        </p:tgtEl>
                                        <p:attrNameLst>
                                          <p:attrName>style.visibility</p:attrName>
                                        </p:attrNameLst>
                                      </p:cBhvr>
                                      <p:to>
                                        <p:strVal val="visible"/>
                                      </p:to>
                                    </p:set>
                                    <p:animEffect transition="in" filter="dissolve">
                                      <p:cBhvr>
                                        <p:cTn id="17" dur="500"/>
                                        <p:tgtEl>
                                          <p:spTgt spid="17131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3166"/>
                                        </p:tgtEl>
                                        <p:attrNameLst>
                                          <p:attrName>style.visibility</p:attrName>
                                        </p:attrNameLst>
                                      </p:cBhvr>
                                      <p:to>
                                        <p:strVal val="visible"/>
                                      </p:to>
                                    </p:set>
                                    <p:animEffect transition="in" filter="dissolve">
                                      <p:cBhvr>
                                        <p:cTn id="22" dur="500"/>
                                        <p:tgtEl>
                                          <p:spTgt spid="1713166"/>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1713162"/>
                                        </p:tgtEl>
                                        <p:attrNameLst>
                                          <p:attrName>style.visibility</p:attrName>
                                        </p:attrNameLst>
                                      </p:cBhvr>
                                      <p:to>
                                        <p:strVal val="visible"/>
                                      </p:to>
                                    </p:set>
                                    <p:anim calcmode="lin" valueType="num">
                                      <p:cBhvr>
                                        <p:cTn id="27" dur="500" fill="hold"/>
                                        <p:tgtEl>
                                          <p:spTgt spid="1713162"/>
                                        </p:tgtEl>
                                        <p:attrNameLst>
                                          <p:attrName>ppt_w</p:attrName>
                                        </p:attrNameLst>
                                      </p:cBhvr>
                                      <p:tavLst>
                                        <p:tav tm="0">
                                          <p:val>
                                            <p:fltVal val="0.000000"/>
                                          </p:val>
                                        </p:tav>
                                        <p:tav tm="100000">
                                          <p:val>
                                            <p:strVal val="#ppt_w"/>
                                          </p:val>
                                        </p:tav>
                                      </p:tavLst>
                                    </p:anim>
                                    <p:anim calcmode="lin" valueType="num">
                                      <p:cBhvr>
                                        <p:cTn id="28" dur="500" fill="hold"/>
                                        <p:tgtEl>
                                          <p:spTgt spid="1713162"/>
                                        </p:tgtEl>
                                        <p:attrNameLst>
                                          <p:attrName>ppt_h</p:attrName>
                                        </p:attrNameLst>
                                      </p:cBhvr>
                                      <p:tavLst>
                                        <p:tav tm="0">
                                          <p:val>
                                            <p:fltVal val="0.000000"/>
                                          </p:val>
                                        </p:tav>
                                        <p:tav tm="100000">
                                          <p:val>
                                            <p:strVal val="#ppt_h"/>
                                          </p:val>
                                        </p:tav>
                                      </p:tavLst>
                                    </p:anim>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1713160"/>
                                        </p:tgtEl>
                                        <p:attrNameLst>
                                          <p:attrName>style.visibility</p:attrName>
                                        </p:attrNameLst>
                                      </p:cBhvr>
                                      <p:to>
                                        <p:strVal val="visible"/>
                                      </p:to>
                                    </p:set>
                                    <p:animEffect transition="in" filter="dissolve">
                                      <p:cBhvr>
                                        <p:cTn id="32" dur="500"/>
                                        <p:tgtEl>
                                          <p:spTgt spid="1713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3155" grpId="0"/>
      <p:bldP spid="1713159" grpId="0" bldLvl="0" animBg="1"/>
      <p:bldP spid="1713160" grpId="0" bldLvl="0" animBg="1"/>
      <p:bldP spid="1713161" grpId="0" animBg="1"/>
      <p:bldP spid="1713162" grpId="0" animBg="1"/>
      <p:bldP spid="1713166"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793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793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15203"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宋体" panose="02010600030101010101" pitchFamily="2" charset="-122"/>
                <a:ea typeface="黑体" panose="02010609060101010101" pitchFamily="49" charset="-122"/>
                <a:cs typeface="+mn-cs"/>
              </a:rPr>
              <a:t>7.2 case</a:t>
            </a:r>
            <a:r>
              <a:rPr lang="zh-CN" altLang="en-US" dirty="0">
                <a:solidFill>
                  <a:schemeClr val="tx2"/>
                </a:solidFill>
                <a:latin typeface="宋体" panose="02010600030101010101" pitchFamily="2" charset="-122"/>
                <a:ea typeface="华文楷体" panose="02010600040101010101" pitchFamily="2" charset="-122"/>
                <a:cs typeface="+mn-cs"/>
              </a:rPr>
              <a:t>语句</a:t>
            </a:r>
            <a:endParaRPr lang="zh-CN" altLang="en-US" dirty="0">
              <a:solidFill>
                <a:schemeClr val="tx2"/>
              </a:solidFill>
              <a:latin typeface="宋体" panose="02010600030101010101" pitchFamily="2" charset="-122"/>
              <a:ea typeface="华文楷体" panose="02010600040101010101" pitchFamily="2" charset="-122"/>
              <a:cs typeface="+mn-cs"/>
            </a:endParaRPr>
          </a:p>
        </p:txBody>
      </p:sp>
      <p:sp>
        <p:nvSpPr>
          <p:cNvPr id="1715204" name="AutoShape 4"/>
          <p:cNvSpPr/>
          <p:nvPr/>
        </p:nvSpPr>
        <p:spPr>
          <a:xfrm>
            <a:off x="2832100" y="901700"/>
            <a:ext cx="1600200" cy="457200"/>
          </a:xfrm>
          <a:prstGeom prst="wedgeRoundRectCallout">
            <a:avLst>
              <a:gd name="adj1" fmla="val -81648"/>
              <a:gd name="adj2" fmla="val 34722"/>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CC3300"/>
                </a:solidFill>
                <a:latin typeface="华文楷体" panose="02010600040101010101" pitchFamily="2" charset="-122"/>
                <a:ea typeface="华文楷体" panose="02010600040101010101" pitchFamily="2" charset="-122"/>
              </a:rPr>
              <a:t>多</a:t>
            </a:r>
            <a:r>
              <a:rPr lang="zh-CN" altLang="en-US" b="1" dirty="0">
                <a:latin typeface="华文楷体" panose="02010600040101010101" pitchFamily="2" charset="-122"/>
                <a:ea typeface="华文楷体" panose="02010600040101010101" pitchFamily="2" charset="-122"/>
              </a:rPr>
              <a:t>分支语句</a:t>
            </a:r>
            <a:endParaRPr lang="zh-CN" altLang="en-US" b="1" dirty="0">
              <a:latin typeface="华文楷体" panose="02010600040101010101" pitchFamily="2" charset="-122"/>
              <a:ea typeface="华文楷体" panose="02010600040101010101" pitchFamily="2" charset="-122"/>
            </a:endParaRPr>
          </a:p>
        </p:txBody>
      </p:sp>
      <p:sp>
        <p:nvSpPr>
          <p:cNvPr id="1715205" name="Text Box 5"/>
          <p:cNvSpPr txBox="1"/>
          <p:nvPr/>
        </p:nvSpPr>
        <p:spPr>
          <a:xfrm>
            <a:off x="2359025" y="3971925"/>
            <a:ext cx="3124200" cy="2436813"/>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case</a:t>
            </a:r>
            <a:r>
              <a:rPr lang="zh-CN" altLang="en-US" b="1" dirty="0">
                <a:latin typeface="宋体" panose="02010600030101010101" pitchFamily="2" charset="-122"/>
                <a:ea typeface="宋体" panose="02010600030101010101" pitchFamily="2" charset="-122"/>
              </a:rPr>
              <a:t>（敏感表达式） </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值</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值</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值</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solidFill>
                  <a:srgbClr val="FF0066"/>
                </a:solidFill>
                <a:latin typeface="宋体" panose="02010600030101010101" pitchFamily="2" charset="-122"/>
                <a:ea typeface="宋体" panose="02010600030101010101" pitchFamily="2" charset="-122"/>
              </a:rPr>
              <a:t>    </a:t>
            </a:r>
            <a:r>
              <a:rPr lang="en-US" altLang="zh-CN" b="1" dirty="0">
                <a:solidFill>
                  <a:srgbClr val="FF9900"/>
                </a:solidFill>
                <a:latin typeface="宋体" panose="02010600030101010101" pitchFamily="2" charset="-122"/>
                <a:ea typeface="宋体" panose="02010600030101010101" pitchFamily="2" charset="-122"/>
              </a:rPr>
              <a:t>default</a:t>
            </a:r>
            <a:r>
              <a:rPr lang="en-US" altLang="zh-CN" b="1" dirty="0">
                <a:latin typeface="宋体" panose="02010600030101010101" pitchFamily="2" charset="-122"/>
                <a:ea typeface="宋体" panose="02010600030101010101" pitchFamily="2" charset="-122"/>
              </a:rPr>
              <a:t>:</a:t>
            </a:r>
            <a:r>
              <a:rPr lang="en-US" altLang="zh-CN" b="1" dirty="0">
                <a:solidFill>
                  <a:srgbClr val="FF0066"/>
                </a:solidFill>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endcase</a:t>
            </a:r>
            <a:endParaRPr lang="en-US" altLang="zh-CN" b="1" dirty="0">
              <a:solidFill>
                <a:srgbClr val="FF0066"/>
              </a:solidFill>
              <a:latin typeface="宋体" panose="02010600030101010101" pitchFamily="2" charset="-122"/>
              <a:ea typeface="宋体" panose="02010600030101010101" pitchFamily="2" charset="-122"/>
            </a:endParaRPr>
          </a:p>
        </p:txBody>
      </p:sp>
      <p:sp>
        <p:nvSpPr>
          <p:cNvPr id="1715206" name="Rectangle 6"/>
          <p:cNvSpPr/>
          <p:nvPr/>
        </p:nvSpPr>
        <p:spPr>
          <a:xfrm>
            <a:off x="330200" y="4160838"/>
            <a:ext cx="2319338" cy="73025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800" b="1" dirty="0">
                <a:solidFill>
                  <a:schemeClr val="tx2"/>
                </a:solidFill>
                <a:latin typeface="华文楷体" panose="02010600040101010101" pitchFamily="2" charset="-122"/>
                <a:ea typeface="华文楷体" panose="02010600040101010101" pitchFamily="2" charset="-122"/>
              </a:rPr>
              <a:t>1. case</a:t>
            </a:r>
            <a:r>
              <a:rPr lang="zh-CN" altLang="en-US" sz="2800" b="1" dirty="0">
                <a:solidFill>
                  <a:schemeClr val="tx2"/>
                </a:solidFill>
                <a:latin typeface="华文楷体" panose="02010600040101010101" pitchFamily="2" charset="-122"/>
                <a:ea typeface="华文楷体" panose="02010600040101010101" pitchFamily="2" charset="-122"/>
              </a:rPr>
              <a:t>语句</a:t>
            </a:r>
            <a:endParaRPr lang="zh-CN" altLang="en-US" sz="2800" b="1" dirty="0">
              <a:solidFill>
                <a:schemeClr val="tx2"/>
              </a:solidFill>
              <a:latin typeface="华文楷体" panose="02010600040101010101" pitchFamily="2" charset="-122"/>
              <a:ea typeface="华文楷体" panose="02010600040101010101" pitchFamily="2" charset="-122"/>
            </a:endParaRPr>
          </a:p>
        </p:txBody>
      </p:sp>
      <p:sp>
        <p:nvSpPr>
          <p:cNvPr id="1715207" name="Rectangle 7"/>
          <p:cNvSpPr/>
          <p:nvPr/>
        </p:nvSpPr>
        <p:spPr>
          <a:xfrm>
            <a:off x="539750" y="1641475"/>
            <a:ext cx="7542213" cy="2049463"/>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eaLnBrk="1" hangingPunct="1">
              <a:lnSpc>
                <a:spcPct val="110000"/>
              </a:lnSpc>
              <a:buClr>
                <a:srgbClr val="3333FF"/>
              </a:buClr>
              <a:buFont typeface="Wingdings" panose="05000000000000000000" pitchFamily="2" charset="2"/>
              <a:buChar char="§"/>
            </a:pPr>
            <a:r>
              <a:rPr lang="zh-CN" altLang="zh-CN" sz="2200" b="1" dirty="0">
                <a:latin typeface="华文楷体" panose="02010600040101010101" pitchFamily="2" charset="-122"/>
                <a:ea typeface="华文楷体" panose="02010600040101010101" pitchFamily="2" charset="-122"/>
              </a:rPr>
              <a:t>当敏感表达式取不同的值时</a:t>
            </a:r>
            <a:r>
              <a:rPr lang="en-US" altLang="zh-CN" sz="2200" b="1" dirty="0">
                <a:latin typeface="华文楷体" panose="02010600040101010101" pitchFamily="2" charset="-122"/>
                <a:ea typeface="华文楷体" panose="02010600040101010101" pitchFamily="2" charset="-122"/>
              </a:rPr>
              <a:t>,</a:t>
            </a:r>
            <a:r>
              <a:rPr lang="zh-CN" altLang="zh-CN" sz="2200" b="1" dirty="0">
                <a:latin typeface="华文楷体" panose="02010600040101010101" pitchFamily="2" charset="-122"/>
                <a:ea typeface="华文楷体" panose="02010600040101010101" pitchFamily="2" charset="-122"/>
              </a:rPr>
              <a:t> 执行不同的语句。</a:t>
            </a:r>
            <a:endParaRPr lang="zh-CN" altLang="en-US" sz="2200" b="1" dirty="0">
              <a:latin typeface="华文楷体" panose="02010600040101010101" pitchFamily="2" charset="-122"/>
              <a:ea typeface="华文楷体" panose="02010600040101010101" pitchFamily="2" charset="-122"/>
            </a:endParaRPr>
          </a:p>
          <a:p>
            <a:pPr marL="342900" lvl="0" indent="-342900" algn="just">
              <a:lnSpc>
                <a:spcPct val="110000"/>
              </a:lnSpc>
              <a:buClr>
                <a:srgbClr val="3333FF"/>
              </a:buClr>
              <a:buFont typeface="Wingdings" panose="05000000000000000000" pitchFamily="2" charset="2"/>
              <a:buChar char="§"/>
            </a:pPr>
            <a:r>
              <a:rPr lang="zh-CN" altLang="en-US" sz="2200" b="1" dirty="0">
                <a:solidFill>
                  <a:srgbClr val="CC0000"/>
                </a:solidFill>
                <a:latin typeface="华文楷体" panose="02010600040101010101" pitchFamily="2" charset="-122"/>
                <a:ea typeface="华文楷体" panose="02010600040101010101" pitchFamily="2" charset="-122"/>
              </a:rPr>
              <a:t>功能</a:t>
            </a:r>
            <a:r>
              <a:rPr lang="zh-CN" altLang="en-US" sz="2200" b="1" dirty="0">
                <a:latin typeface="华文楷体" panose="02010600040101010101" pitchFamily="2" charset="-122"/>
                <a:ea typeface="华文楷体" panose="02010600040101010101" pitchFamily="2" charset="-122"/>
              </a:rPr>
              <a:t>：当某个（控制）信号取不同的值时，给另一个（输出）信号赋不同的值。常用于</a:t>
            </a:r>
            <a:r>
              <a:rPr lang="zh-CN" altLang="en-US" sz="2200" b="1" dirty="0">
                <a:solidFill>
                  <a:srgbClr val="FF33CC"/>
                </a:solidFill>
                <a:latin typeface="华文楷体" panose="02010600040101010101" pitchFamily="2" charset="-122"/>
                <a:ea typeface="华文楷体" panose="02010600040101010101" pitchFamily="2" charset="-122"/>
              </a:rPr>
              <a:t>多条件</a:t>
            </a:r>
            <a:r>
              <a:rPr lang="zh-CN" altLang="en-US" sz="2200" b="1" dirty="0">
                <a:latin typeface="华文楷体" panose="02010600040101010101" pitchFamily="2" charset="-122"/>
                <a:ea typeface="华文楷体" panose="02010600040101010101" pitchFamily="2" charset="-122"/>
              </a:rPr>
              <a:t>译码电路（如译码器、数据选择器、状态机、微处理器的指令译码）！</a:t>
            </a:r>
            <a:endParaRPr lang="zh-CN" altLang="en-US" sz="2200" b="1" dirty="0">
              <a:latin typeface="华文楷体" panose="02010600040101010101" pitchFamily="2" charset="-122"/>
              <a:ea typeface="华文楷体" panose="02010600040101010101" pitchFamily="2" charset="-122"/>
            </a:endParaRPr>
          </a:p>
          <a:p>
            <a:pPr marL="342900" lvl="0" indent="-342900" algn="just">
              <a:lnSpc>
                <a:spcPct val="110000"/>
              </a:lnSpc>
              <a:buClr>
                <a:srgbClr val="3333FF"/>
              </a:buClr>
              <a:buFont typeface="Wingdings" panose="05000000000000000000" pitchFamily="2" charset="2"/>
              <a:buChar char="§"/>
            </a:pPr>
            <a:r>
              <a:rPr lang="en-US" altLang="zh-CN" sz="2200" b="1" dirty="0">
                <a:latin typeface="华文楷体" panose="02010600040101010101" pitchFamily="2" charset="-122"/>
                <a:ea typeface="华文楷体" panose="02010600040101010101" pitchFamily="2" charset="-122"/>
              </a:rPr>
              <a:t>case</a:t>
            </a:r>
            <a:r>
              <a:rPr lang="zh-CN" altLang="en-US" sz="2200" b="1" dirty="0">
                <a:latin typeface="华文楷体" panose="02010600040101010101" pitchFamily="2" charset="-122"/>
                <a:ea typeface="华文楷体" panose="02010600040101010101" pitchFamily="2" charset="-122"/>
              </a:rPr>
              <a:t>语句有</a:t>
            </a:r>
            <a:r>
              <a:rPr lang="en-US" altLang="zh-CN" sz="2200" b="1" dirty="0">
                <a:solidFill>
                  <a:srgbClr val="FF33CC"/>
                </a:solidFill>
                <a:latin typeface="华文楷体" panose="02010600040101010101" pitchFamily="2" charset="-122"/>
                <a:ea typeface="华文楷体" panose="02010600040101010101" pitchFamily="2" charset="-122"/>
              </a:rPr>
              <a:t>3</a:t>
            </a:r>
            <a:r>
              <a:rPr lang="zh-CN" altLang="en-US" sz="2200" b="1" dirty="0">
                <a:latin typeface="华文楷体" panose="02010600040101010101" pitchFamily="2" charset="-122"/>
                <a:ea typeface="华文楷体" panose="02010600040101010101" pitchFamily="2" charset="-122"/>
              </a:rPr>
              <a:t>种形式：</a:t>
            </a:r>
            <a:r>
              <a:rPr lang="en-US" altLang="zh-CN" sz="2200" b="1" dirty="0">
                <a:latin typeface="华文楷体" panose="02010600040101010101" pitchFamily="2" charset="-122"/>
                <a:ea typeface="华文楷体" panose="02010600040101010101" pitchFamily="2" charset="-122"/>
              </a:rPr>
              <a:t>case</a:t>
            </a:r>
            <a:r>
              <a:rPr lang="zh-CN" altLang="en-US" sz="2200" b="1" dirty="0">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casez</a:t>
            </a:r>
            <a:r>
              <a:rPr lang="zh-CN" altLang="en-US" sz="2200" b="1" dirty="0">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casex</a:t>
            </a:r>
            <a:endParaRPr lang="en-US" altLang="zh-CN" sz="2200" b="1" dirty="0">
              <a:latin typeface="华文楷体" panose="02010600040101010101" pitchFamily="2" charset="-122"/>
              <a:ea typeface="华文楷体" panose="02010600040101010101" pitchFamily="2" charset="-122"/>
            </a:endParaRPr>
          </a:p>
        </p:txBody>
      </p:sp>
      <p:sp>
        <p:nvSpPr>
          <p:cNvPr id="1715209" name="AutoShape 9"/>
          <p:cNvSpPr/>
          <p:nvPr/>
        </p:nvSpPr>
        <p:spPr>
          <a:xfrm rot="-76865">
            <a:off x="5997575" y="3922713"/>
            <a:ext cx="3082925" cy="1471612"/>
          </a:xfrm>
          <a:prstGeom prst="cloudCallout">
            <a:avLst>
              <a:gd name="adj1" fmla="val -62731"/>
              <a:gd name="adj2" fmla="val 57241"/>
            </a:avLst>
          </a:prstGeom>
          <a:noFill/>
          <a:ln w="9525" cap="flat" cmpd="sng">
            <a:solidFill>
              <a:schemeClr val="accent1"/>
            </a:solidFill>
            <a:prstDash val="solid"/>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buClr>
                <a:schemeClr val="tx1"/>
              </a:buClr>
              <a:buSzPct val="80000"/>
              <a:buFont typeface="Wingdings" panose="05000000000000000000" pitchFamily="2" charset="2"/>
              <a:buNone/>
            </a:pPr>
            <a:r>
              <a:rPr lang="en-US" altLang="zh-CN" sz="2400" b="1" dirty="0">
                <a:solidFill>
                  <a:srgbClr val="800000"/>
                </a:solidFill>
                <a:latin typeface="Tahoma" panose="020B0604030504040204" pitchFamily="34" charset="0"/>
                <a:ea typeface="华文行楷" panose="02010800040101010101" pitchFamily="2" charset="-122"/>
              </a:rPr>
              <a:t>case</a:t>
            </a:r>
            <a:r>
              <a:rPr lang="zh-CN" altLang="en-US" sz="2400" b="1" dirty="0">
                <a:solidFill>
                  <a:srgbClr val="800000"/>
                </a:solidFill>
                <a:latin typeface="Tahoma" panose="020B0604030504040204" pitchFamily="34" charset="0"/>
                <a:ea typeface="华文行楷" panose="02010800040101010101" pitchFamily="2" charset="-122"/>
              </a:rPr>
              <a:t>语句与</a:t>
            </a:r>
            <a:r>
              <a:rPr lang="en-US" altLang="zh-CN" sz="2400" b="1" dirty="0">
                <a:solidFill>
                  <a:srgbClr val="800000"/>
                </a:solidFill>
                <a:latin typeface="Tahoma" panose="020B0604030504040204" pitchFamily="34" charset="0"/>
                <a:ea typeface="华文行楷" panose="02010800040101010101" pitchFamily="2" charset="-122"/>
              </a:rPr>
              <a:t>if-else</a:t>
            </a:r>
            <a:r>
              <a:rPr lang="zh-CN" altLang="en-US" sz="2400" b="1" dirty="0">
                <a:solidFill>
                  <a:srgbClr val="800000"/>
                </a:solidFill>
                <a:latin typeface="Tahoma" panose="020B0604030504040204" pitchFamily="34" charset="0"/>
                <a:ea typeface="华文行楷" panose="02010800040101010101" pitchFamily="2" charset="-122"/>
              </a:rPr>
              <a:t>语句有什么区别呢？</a:t>
            </a:r>
            <a:endParaRPr lang="zh-CN" altLang="en-US" sz="2400" b="1" dirty="0">
              <a:solidFill>
                <a:srgbClr val="800000"/>
              </a:solidFill>
              <a:latin typeface="Tahoma" panose="020B0604030504040204" pitchFamily="34" charset="0"/>
              <a:ea typeface="华文行楷" panose="02010800040101010101" pitchFamily="2" charset="-122"/>
            </a:endParaRPr>
          </a:p>
        </p:txBody>
      </p:sp>
      <p:sp>
        <p:nvSpPr>
          <p:cNvPr id="1715211" name="Text Box 11"/>
          <p:cNvSpPr txBox="1"/>
          <p:nvPr/>
        </p:nvSpPr>
        <p:spPr>
          <a:xfrm rot="-903972">
            <a:off x="5514975" y="4756150"/>
            <a:ext cx="992188" cy="109855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sz="6600" dirty="0">
                <a:solidFill>
                  <a:srgbClr val="FF3300"/>
                </a:solidFill>
                <a:latin typeface="宋体" panose="02010600030101010101" pitchFamily="2" charset="-122"/>
                <a:ea typeface="宋体" panose="02010600030101010101" pitchFamily="2" charset="-122"/>
                <a:sym typeface="Symbol" panose="05050102010706020507" pitchFamily="18" charset="2"/>
              </a:rPr>
              <a:t></a:t>
            </a:r>
            <a:endParaRPr lang="en-US" altLang="zh-CN" sz="6600" dirty="0">
              <a:solidFill>
                <a:srgbClr val="FF3300"/>
              </a:solidFill>
              <a:latin typeface="宋体" panose="02010600030101010101" pitchFamily="2" charset="-122"/>
              <a:ea typeface="宋体" panose="02010600030101010101" pitchFamily="2" charset="-122"/>
              <a:sym typeface="Symbol" panose="05050102010706020507" pitchFamily="18" charset="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15203">
                                            <p:txEl>
                                              <p:charRg st="0" end="11"/>
                                            </p:txEl>
                                          </p:spTgt>
                                        </p:tgtEl>
                                        <p:attrNameLst>
                                          <p:attrName>style.visibility</p:attrName>
                                        </p:attrNameLst>
                                      </p:cBhvr>
                                      <p:to>
                                        <p:strVal val="visible"/>
                                      </p:to>
                                    </p:set>
                                    <p:anim calcmode="lin" valueType="num">
                                      <p:cBhvr additive="base">
                                        <p:cTn id="7" dur="500" fill="hold"/>
                                        <p:tgtEl>
                                          <p:spTgt spid="1715203">
                                            <p:txEl>
                                              <p:charRg st="0" end="1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15203">
                                            <p:txEl>
                                              <p:charRg st="0" end="1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715204"/>
                                        </p:tgtEl>
                                        <p:attrNameLst>
                                          <p:attrName>style.visibility</p:attrName>
                                        </p:attrNameLst>
                                      </p:cBhvr>
                                      <p:to>
                                        <p:strVal val="visible"/>
                                      </p:to>
                                    </p:set>
                                    <p:animEffect transition="in" filter="dissolve">
                                      <p:cBhvr>
                                        <p:cTn id="12" dur="500"/>
                                        <p:tgtEl>
                                          <p:spTgt spid="171520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15207"/>
                                        </p:tgtEl>
                                        <p:attrNameLst>
                                          <p:attrName>style.visibility</p:attrName>
                                        </p:attrNameLst>
                                      </p:cBhvr>
                                      <p:to>
                                        <p:strVal val="visible"/>
                                      </p:to>
                                    </p:set>
                                    <p:anim calcmode="lin" valueType="num">
                                      <p:cBhvr additive="base">
                                        <p:cTn id="17" dur="500" fill="hold"/>
                                        <p:tgtEl>
                                          <p:spTgt spid="1715207"/>
                                        </p:tgtEl>
                                        <p:attrNameLst>
                                          <p:attrName>ppt_x</p:attrName>
                                        </p:attrNameLst>
                                      </p:cBhvr>
                                      <p:tavLst>
                                        <p:tav tm="0">
                                          <p:val>
                                            <p:strVal val="0-#ppt_w/2"/>
                                          </p:val>
                                        </p:tav>
                                        <p:tav tm="100000">
                                          <p:val>
                                            <p:strVal val="#ppt_x"/>
                                          </p:val>
                                        </p:tav>
                                      </p:tavLst>
                                    </p:anim>
                                    <p:anim calcmode="lin" valueType="num">
                                      <p:cBhvr additive="base">
                                        <p:cTn id="18" dur="500" fill="hold"/>
                                        <p:tgtEl>
                                          <p:spTgt spid="171520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715206">
                                            <p:txEl>
                                              <p:charRg st="0" end="10"/>
                                            </p:txEl>
                                          </p:spTgt>
                                        </p:tgtEl>
                                        <p:attrNameLst>
                                          <p:attrName>style.visibility</p:attrName>
                                        </p:attrNameLst>
                                      </p:cBhvr>
                                      <p:to>
                                        <p:strVal val="visible"/>
                                      </p:to>
                                    </p:set>
                                    <p:anim calcmode="lin" valueType="num">
                                      <p:cBhvr additive="base">
                                        <p:cTn id="23" dur="500" fill="hold"/>
                                        <p:tgtEl>
                                          <p:spTgt spid="1715206">
                                            <p:txEl>
                                              <p:charRg st="0" end="1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715206">
                                            <p:txEl>
                                              <p:charRg st="0" end="10"/>
                                            </p:txEl>
                                          </p:spTgt>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1715205"/>
                                        </p:tgtEl>
                                        <p:attrNameLst>
                                          <p:attrName>style.visibility</p:attrName>
                                        </p:attrNameLst>
                                      </p:cBhvr>
                                      <p:to>
                                        <p:strVal val="visible"/>
                                      </p:to>
                                    </p:set>
                                    <p:anim calcmode="lin" valueType="num">
                                      <p:cBhvr additive="base">
                                        <p:cTn id="28" dur="500" fill="hold"/>
                                        <p:tgtEl>
                                          <p:spTgt spid="1715205"/>
                                        </p:tgtEl>
                                        <p:attrNameLst>
                                          <p:attrName>ppt_x</p:attrName>
                                        </p:attrNameLst>
                                      </p:cBhvr>
                                      <p:tavLst>
                                        <p:tav tm="0">
                                          <p:val>
                                            <p:strVal val="#ppt_x"/>
                                          </p:val>
                                        </p:tav>
                                        <p:tav tm="100000">
                                          <p:val>
                                            <p:strVal val="#ppt_x"/>
                                          </p:val>
                                        </p:tav>
                                      </p:tavLst>
                                    </p:anim>
                                    <p:anim calcmode="lin" valueType="num">
                                      <p:cBhvr additive="base">
                                        <p:cTn id="29" dur="500" fill="hold"/>
                                        <p:tgtEl>
                                          <p:spTgt spid="171520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715211"/>
                                        </p:tgtEl>
                                        <p:attrNameLst>
                                          <p:attrName>style.visibility</p:attrName>
                                        </p:attrNameLst>
                                      </p:cBhvr>
                                      <p:to>
                                        <p:strVal val="visible"/>
                                      </p:to>
                                    </p:set>
                                    <p:anim calcmode="lin" valueType="num">
                                      <p:cBhvr>
                                        <p:cTn id="34" dur="500" fill="hold"/>
                                        <p:tgtEl>
                                          <p:spTgt spid="1715211"/>
                                        </p:tgtEl>
                                        <p:attrNameLst>
                                          <p:attrName>ppt_w</p:attrName>
                                        </p:attrNameLst>
                                      </p:cBhvr>
                                      <p:tavLst>
                                        <p:tav tm="0">
                                          <p:val>
                                            <p:fltVal val="0.000000"/>
                                          </p:val>
                                        </p:tav>
                                        <p:tav tm="100000">
                                          <p:val>
                                            <p:strVal val="#ppt_w"/>
                                          </p:val>
                                        </p:tav>
                                      </p:tavLst>
                                    </p:anim>
                                    <p:anim calcmode="lin" valueType="num">
                                      <p:cBhvr>
                                        <p:cTn id="35" dur="500" fill="hold"/>
                                        <p:tgtEl>
                                          <p:spTgt spid="1715211"/>
                                        </p:tgtEl>
                                        <p:attrNameLst>
                                          <p:attrName>ppt_h</p:attrName>
                                        </p:attrNameLst>
                                      </p:cBhvr>
                                      <p:tavLst>
                                        <p:tav tm="0">
                                          <p:val>
                                            <p:fltVal val="0.000000"/>
                                          </p:val>
                                        </p:tav>
                                        <p:tav tm="100000">
                                          <p:val>
                                            <p:strVal val="#ppt_h"/>
                                          </p:val>
                                        </p:tav>
                                      </p:tavLst>
                                    </p:anim>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1715209"/>
                                        </p:tgtEl>
                                        <p:attrNameLst>
                                          <p:attrName>style.visibility</p:attrName>
                                        </p:attrNameLst>
                                      </p:cBhvr>
                                      <p:to>
                                        <p:strVal val="visible"/>
                                      </p:to>
                                    </p:set>
                                    <p:animEffect transition="in" filter="dissolve">
                                      <p:cBhvr>
                                        <p:cTn id="39" dur="500"/>
                                        <p:tgtEl>
                                          <p:spTgt spid="1715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203" grpId="0" advAuto="1000" build="p"/>
      <p:bldP spid="1715204" grpId="0" bldLvl="0" animBg="1"/>
      <p:bldP spid="1715205" grpId="0" bldLvl="0" animBg="1"/>
      <p:bldP spid="1715206" grpId="0" build="p"/>
      <p:bldP spid="1715207" grpId="0"/>
      <p:bldP spid="1715209" grpId="0" bldLvl="0" animBg="1"/>
      <p:bldP spid="1715211" grpId="0"/>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99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6998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69988" name="内容占位符 1"/>
          <p:cNvSpPr>
            <a:spLocks noGrp="1"/>
          </p:cNvSpPr>
          <p:nvPr>
            <p:ph idx="1"/>
          </p:nvPr>
        </p:nvSpPr>
        <p:spPr/>
        <p:txBody>
          <a:bodyPr vert="horz" wrap="square" lIns="91440" tIns="45720" rIns="91440" bIns="45720" anchor="t" anchorCtr="0"/>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说明：</a:t>
            </a:r>
            <a:endParaRPr lang="zh-CN" altLang="en-US" dirty="0">
              <a:latin typeface="Times New Roman" panose="02020603050405020304" pitchFamily="18" charset="0"/>
              <a:ea typeface="华文楷体" panose="02010600040101010101" pitchFamily="2" charset="-122"/>
              <a:cs typeface="+mn-cs"/>
            </a:endParaRPr>
          </a:p>
          <a:p>
            <a:pPr lvl="1" eaLnBrk="1" hangingPunct="1"/>
            <a:r>
              <a:rPr lang="zh-CN" altLang="en-US" dirty="0">
                <a:latin typeface="Times New Roman" panose="02020603050405020304" pitchFamily="18" charset="0"/>
                <a:ea typeface="华文楷体" panose="02010600040101010101" pitchFamily="2" charset="-122"/>
              </a:rPr>
              <a:t>其中“</a:t>
            </a:r>
            <a:r>
              <a:rPr lang="zh-CN" altLang="en-US" dirty="0">
                <a:solidFill>
                  <a:srgbClr val="FF0066"/>
                </a:solidFill>
                <a:latin typeface="Times New Roman" panose="02020603050405020304" pitchFamily="18" charset="0"/>
                <a:ea typeface="华文楷体" panose="02010600040101010101" pitchFamily="2" charset="-122"/>
              </a:rPr>
              <a:t>敏感</a:t>
            </a:r>
            <a:r>
              <a:rPr lang="zh-CN" altLang="en-US" dirty="0">
                <a:latin typeface="Times New Roman" panose="02020603050405020304" pitchFamily="18" charset="0"/>
                <a:ea typeface="华文楷体" panose="02010600040101010101" pitchFamily="2" charset="-122"/>
              </a:rPr>
              <a:t>表达式”又称为“</a:t>
            </a:r>
            <a:r>
              <a:rPr lang="zh-CN" altLang="en-US" dirty="0">
                <a:solidFill>
                  <a:srgbClr val="FF0066"/>
                </a:solidFill>
                <a:latin typeface="Times New Roman" panose="02020603050405020304" pitchFamily="18" charset="0"/>
                <a:ea typeface="华文楷体" panose="02010600040101010101" pitchFamily="2" charset="-122"/>
              </a:rPr>
              <a:t>控制</a:t>
            </a:r>
            <a:r>
              <a:rPr lang="zh-CN" altLang="en-US" dirty="0">
                <a:latin typeface="Times New Roman" panose="02020603050405020304" pitchFamily="18" charset="0"/>
                <a:ea typeface="华文楷体" panose="02010600040101010101" pitchFamily="2" charset="-122"/>
              </a:rPr>
              <a:t>表达式”，通常表示为控制信号的某些位。</a:t>
            </a:r>
            <a:endParaRPr lang="zh-CN" altLang="en-US"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n</a:t>
            </a:r>
            <a:r>
              <a:rPr lang="zh-CN" altLang="en-US" dirty="0">
                <a:latin typeface="Times New Roman" panose="02020603050405020304" pitchFamily="18" charset="0"/>
                <a:ea typeface="华文楷体" panose="02010600040101010101" pitchFamily="2" charset="-122"/>
              </a:rPr>
              <a:t>称为</a:t>
            </a:r>
            <a:r>
              <a:rPr lang="zh-CN" altLang="en-US" dirty="0">
                <a:solidFill>
                  <a:srgbClr val="FF0066"/>
                </a:solidFill>
                <a:latin typeface="Times New Roman" panose="02020603050405020304" pitchFamily="18" charset="0"/>
                <a:ea typeface="华文楷体" panose="02010600040101010101" pitchFamily="2" charset="-122"/>
              </a:rPr>
              <a:t>分支</a:t>
            </a:r>
            <a:r>
              <a:rPr lang="zh-CN" altLang="en-US" dirty="0">
                <a:latin typeface="Times New Roman" panose="02020603050405020304" pitchFamily="18" charset="0"/>
                <a:ea typeface="华文楷体" panose="02010600040101010101" pitchFamily="2" charset="-122"/>
              </a:rPr>
              <a:t>表达式，用控制信号的具体状态值表示，因此又称为</a:t>
            </a:r>
            <a:r>
              <a:rPr lang="zh-CN" altLang="en-US" dirty="0">
                <a:solidFill>
                  <a:srgbClr val="FF0066"/>
                </a:solidFill>
                <a:latin typeface="Times New Roman" panose="02020603050405020304" pitchFamily="18" charset="0"/>
                <a:ea typeface="华文楷体" panose="02010600040101010101" pitchFamily="2" charset="-122"/>
              </a:rPr>
              <a:t>常量</a:t>
            </a:r>
            <a:r>
              <a:rPr lang="zh-CN" altLang="en-US" dirty="0">
                <a:latin typeface="Times New Roman" panose="02020603050405020304" pitchFamily="18" charset="0"/>
                <a:ea typeface="华文楷体" panose="02010600040101010101" pitchFamily="2" charset="-122"/>
              </a:rPr>
              <a:t>表达式。</a:t>
            </a:r>
            <a:endParaRPr lang="zh-CN" altLang="en-US" dirty="0">
              <a:latin typeface="Times New Roman" panose="02020603050405020304" pitchFamily="18" charset="0"/>
              <a:ea typeface="华文楷体" panose="02010600040101010101" pitchFamily="2" charset="-122"/>
            </a:endParaRPr>
          </a:p>
          <a:p>
            <a:pPr lvl="1" eaLnBrk="1" hangingPunct="1"/>
            <a:r>
              <a:rPr lang="en-US" altLang="zh-CN" dirty="0">
                <a:latin typeface="Times New Roman" panose="02020603050405020304" pitchFamily="18" charset="0"/>
                <a:ea typeface="黑体" panose="02010609060101010101" pitchFamily="49" charset="-122"/>
              </a:rPr>
              <a:t>default</a:t>
            </a:r>
            <a:r>
              <a:rPr lang="zh-CN" altLang="en-US" dirty="0">
                <a:latin typeface="Times New Roman" panose="02020603050405020304" pitchFamily="18" charset="0"/>
                <a:ea typeface="华文楷体" panose="02010600040101010101" pitchFamily="2" charset="-122"/>
              </a:rPr>
              <a:t>项可有可无，一个</a:t>
            </a:r>
            <a:r>
              <a:rPr lang="en-US" altLang="zh-CN" dirty="0">
                <a:latin typeface="Times New Roman" panose="02020603050405020304" pitchFamily="18" charset="0"/>
                <a:ea typeface="黑体" panose="02010609060101010101" pitchFamily="49" charset="-122"/>
              </a:rPr>
              <a:t>case</a:t>
            </a:r>
            <a:r>
              <a:rPr lang="zh-CN" altLang="en-US" dirty="0">
                <a:latin typeface="Times New Roman" panose="02020603050405020304" pitchFamily="18" charset="0"/>
                <a:ea typeface="华文楷体" panose="02010600040101010101" pitchFamily="2" charset="-122"/>
              </a:rPr>
              <a:t>语句里只能有一个</a:t>
            </a:r>
            <a:r>
              <a:rPr lang="en-US" altLang="zh-CN" dirty="0">
                <a:latin typeface="Times New Roman" panose="02020603050405020304" pitchFamily="18" charset="0"/>
                <a:ea typeface="黑体" panose="02010609060101010101" pitchFamily="49" charset="-122"/>
              </a:rPr>
              <a:t>default</a:t>
            </a:r>
            <a:r>
              <a:rPr lang="zh-CN" altLang="en-US" dirty="0">
                <a:latin typeface="Times New Roman" panose="02020603050405020304" pitchFamily="18" charset="0"/>
                <a:ea typeface="华文楷体" panose="02010600040101010101" pitchFamily="2" charset="-122"/>
              </a:rPr>
              <a:t>项</a:t>
            </a:r>
            <a:r>
              <a:rPr lang="en-US" altLang="zh-CN" dirty="0">
                <a:latin typeface="Times New Roman" panose="02020603050405020304" pitchFamily="18" charset="0"/>
                <a:ea typeface="黑体" panose="02010609060101010101" pitchFamily="49" charset="-122"/>
              </a:rPr>
              <a:t>!</a:t>
            </a:r>
            <a:endParaRPr lang="en-US" altLang="zh-CN" dirty="0">
              <a:latin typeface="Times New Roman" panose="02020603050405020304" pitchFamily="18" charset="0"/>
              <a:ea typeface="黑体" panose="02010609060101010101" pitchFamily="49" charset="-122"/>
            </a:endParaRPr>
          </a:p>
          <a:p>
            <a:pPr lvl="1" eaLnBrk="1" hangingPunct="1"/>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n</a:t>
            </a:r>
            <a:r>
              <a:rPr lang="zh-CN" altLang="en-US" dirty="0">
                <a:latin typeface="Times New Roman" panose="02020603050405020304" pitchFamily="18" charset="0"/>
                <a:ea typeface="华文楷体" panose="02010600040101010101" pitchFamily="2" charset="-122"/>
              </a:rPr>
              <a:t>必须互不相同，否则矛盾。</a:t>
            </a:r>
            <a:endParaRPr lang="zh-CN" altLang="en-US" dirty="0">
              <a:latin typeface="Times New Roman" panose="02020603050405020304" pitchFamily="18" charset="0"/>
              <a:ea typeface="华文楷体" panose="02010600040101010101" pitchFamily="2" charset="-122"/>
            </a:endParaRPr>
          </a:p>
          <a:p>
            <a:pPr lvl="1" eaLnBrk="1" hangingPunct="1"/>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华文楷体" panose="02010600040101010101" pitchFamily="2" charset="-122"/>
              </a:rPr>
              <a:t>值</a:t>
            </a:r>
            <a:r>
              <a:rPr lang="en-US" altLang="zh-CN" dirty="0">
                <a:latin typeface="Times New Roman" panose="02020603050405020304" pitchFamily="18" charset="0"/>
                <a:ea typeface="黑体" panose="02010609060101010101" pitchFamily="49" charset="-122"/>
              </a:rPr>
              <a:t>n</a:t>
            </a:r>
            <a:r>
              <a:rPr lang="zh-CN" altLang="en-US" dirty="0">
                <a:latin typeface="Times New Roman" panose="02020603050405020304" pitchFamily="18" charset="0"/>
                <a:ea typeface="华文楷体" panose="02010600040101010101" pitchFamily="2" charset="-122"/>
              </a:rPr>
              <a:t>的位宽必须相等，且与控制表达式的位宽相同。</a:t>
            </a:r>
            <a:endParaRPr lang="zh-CN" altLang="en-US" dirty="0">
              <a:latin typeface="Times New Roman" panose="02020603050405020304" pitchFamily="18" charset="0"/>
              <a:ea typeface="华文楷体" panose="02010600040101010101" pitchFamily="2" charset="-122"/>
            </a:endParaRPr>
          </a:p>
          <a:p>
            <a:endParaRPr lang="zh-CN" altLang="en-US" dirty="0">
              <a:latin typeface="Times New Roman" panose="02020603050405020304" pitchFamily="18" charset="0"/>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203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19299"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Times New Roman" panose="02020603050405020304" pitchFamily="18" charset="0"/>
                <a:ea typeface="黑体" panose="02010609060101010101" pitchFamily="49" charset="-122"/>
                <a:cs typeface="+mn-cs"/>
              </a:rPr>
              <a:t>2. casez</a:t>
            </a:r>
            <a:r>
              <a:rPr lang="zh-CN" altLang="en-US" dirty="0">
                <a:solidFill>
                  <a:schemeClr val="tx2"/>
                </a:solidFill>
                <a:latin typeface="Times New Roman" panose="02020603050405020304" pitchFamily="18" charset="0"/>
                <a:ea typeface="华文楷体" panose="02010600040101010101" pitchFamily="2" charset="-122"/>
                <a:cs typeface="+mn-cs"/>
              </a:rPr>
              <a:t>与</a:t>
            </a:r>
            <a:r>
              <a:rPr lang="en-US" altLang="zh-CN" dirty="0">
                <a:solidFill>
                  <a:schemeClr val="tx2"/>
                </a:solidFill>
                <a:latin typeface="Times New Roman" panose="02020603050405020304" pitchFamily="18" charset="0"/>
                <a:ea typeface="黑体" panose="02010609060101010101" pitchFamily="49" charset="-122"/>
                <a:cs typeface="+mn-cs"/>
              </a:rPr>
              <a:t>casex</a:t>
            </a:r>
            <a:r>
              <a:rPr lang="zh-CN" altLang="en-US" dirty="0">
                <a:solidFill>
                  <a:schemeClr val="tx2"/>
                </a:solidFill>
                <a:latin typeface="Times New Roman" panose="02020603050405020304" pitchFamily="18" charset="0"/>
                <a:ea typeface="华文楷体" panose="02010600040101010101" pitchFamily="2" charset="-122"/>
                <a:cs typeface="+mn-cs"/>
              </a:rPr>
              <a:t>语句</a:t>
            </a:r>
            <a:endParaRPr lang="zh-CN" altLang="en-US" dirty="0">
              <a:solidFill>
                <a:schemeClr val="tx2"/>
              </a:solidFill>
              <a:latin typeface="Times New Roman" panose="02020603050405020304" pitchFamily="18" charset="0"/>
              <a:ea typeface="华文楷体" panose="02010600040101010101" pitchFamily="2" charset="-122"/>
              <a:cs typeface="+mn-cs"/>
            </a:endParaRPr>
          </a:p>
        </p:txBody>
      </p:sp>
      <p:sp>
        <p:nvSpPr>
          <p:cNvPr id="1719301" name="AutoShape 5"/>
          <p:cNvSpPr/>
          <p:nvPr/>
        </p:nvSpPr>
        <p:spPr>
          <a:xfrm>
            <a:off x="3876675" y="1008063"/>
            <a:ext cx="3209925" cy="412750"/>
          </a:xfrm>
          <a:prstGeom prst="wedgeRoundRectCallout">
            <a:avLst>
              <a:gd name="adj1" fmla="val -68495"/>
              <a:gd name="adj2" fmla="val 17694"/>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2200" b="1" dirty="0">
                <a:latin typeface="方正姚体" panose="02010601030101010101" pitchFamily="2" charset="-122"/>
                <a:ea typeface="方正姚体" panose="02010601030101010101" pitchFamily="2" charset="-122"/>
              </a:rPr>
              <a:t>是</a:t>
            </a:r>
            <a:r>
              <a:rPr lang="en-US" altLang="zh-CN" sz="2200" b="1" dirty="0">
                <a:latin typeface="方正姚体" panose="02010601030101010101" pitchFamily="2" charset="-122"/>
                <a:ea typeface="方正姚体" panose="02010601030101010101" pitchFamily="2" charset="-122"/>
              </a:rPr>
              <a:t>case</a:t>
            </a:r>
            <a:r>
              <a:rPr lang="zh-CN" altLang="en-US" sz="2200" b="1" dirty="0">
                <a:latin typeface="方正姚体" panose="02010601030101010101" pitchFamily="2" charset="-122"/>
                <a:ea typeface="方正姚体" panose="02010601030101010101" pitchFamily="2" charset="-122"/>
              </a:rPr>
              <a:t>语句的两种变体</a:t>
            </a:r>
            <a:endParaRPr lang="zh-CN" altLang="en-US" sz="2200" b="1" dirty="0">
              <a:latin typeface="方正姚体" panose="02010601030101010101" pitchFamily="2" charset="-122"/>
              <a:ea typeface="方正姚体" panose="02010601030101010101" pitchFamily="2" charset="-122"/>
            </a:endParaRPr>
          </a:p>
        </p:txBody>
      </p:sp>
      <p:sp>
        <p:nvSpPr>
          <p:cNvPr id="1719302" name="Rectangle 6"/>
          <p:cNvSpPr/>
          <p:nvPr/>
        </p:nvSpPr>
        <p:spPr>
          <a:xfrm>
            <a:off x="687388" y="1982788"/>
            <a:ext cx="7269163" cy="2924175"/>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marR="0" lvl="0" indent="-342900" algn="just" defTabSz="914400" rtl="0" eaLnBrk="0" fontAlgn="base" latinLnBrk="0" hangingPunct="0">
              <a:lnSpc>
                <a:spcPct val="110000"/>
              </a:lnSpc>
              <a:spcBef>
                <a:spcPct val="1000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在</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case</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语句中，分支表达式每一位的值都是确定的（或者为</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0</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，或者为</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1</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1000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在</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casez</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语句中，若分支表达式某些位的值为高阻值</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z</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，则不考虑对这些位的比较；</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1000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在</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casex</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语句中，若分支表达式某些位的值为</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z</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或不定值</a:t>
            </a:r>
            <a:r>
              <a:rPr kumimoji="0" lang="en-US" altLang="zh-CN"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x</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，则不考虑对这些位的比较。</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342900" marR="0" lvl="0" indent="-342900" algn="just" defTabSz="914400" rtl="0" eaLnBrk="0" fontAlgn="base" latinLnBrk="0" hangingPunct="0">
              <a:lnSpc>
                <a:spcPct val="110000"/>
              </a:lnSpc>
              <a:spcBef>
                <a:spcPct val="10000"/>
              </a:spcBef>
              <a:spcAft>
                <a:spcPct val="0"/>
              </a:spcAft>
              <a:buClr>
                <a:srgbClr val="FF0066"/>
              </a:buClr>
              <a:buSzTx/>
              <a:buFont typeface="Wingdings" panose="05000000000000000000" pitchFamily="2" charset="2"/>
              <a:buChar char="v"/>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在分支表达式中，可用“</a:t>
            </a:r>
            <a:r>
              <a:rPr kumimoji="0" lang="zh-CN" altLang="en-US" sz="2400" b="1" i="0" u="none" strike="noStrike" kern="1200" cap="none" spc="0" normalizeH="0" baseline="0" noProof="1">
                <a:ln>
                  <a:noFill/>
                </a:ln>
                <a:solidFill>
                  <a:srgbClr val="FF0066"/>
                </a:solidFill>
                <a:effectLst/>
                <a:uLnTx/>
                <a:uFillTx/>
                <a:latin typeface="华文楷体" panose="02010600040101010101" pitchFamily="2" charset="-122"/>
                <a:ea typeface="华文楷体" panose="02010600040101010101" pitchFamily="2" charset="-122"/>
                <a:cs typeface="+mn-cs"/>
                <a:sym typeface="+mn-ea"/>
              </a:rPr>
              <a:t>？</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”来标识</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x</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或</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z</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0" marR="0" lvl="0" indent="0" algn="just" defTabSz="914400" rtl="0" eaLnBrk="0" fontAlgn="base" latinLnBrk="0" hangingPunct="0">
              <a:lnSpc>
                <a:spcPct val="110000"/>
              </a:lnSpc>
              <a:spcBef>
                <a:spcPct val="10000"/>
              </a:spcBef>
              <a:spcAft>
                <a:spcPct val="0"/>
              </a:spcAft>
              <a:buClr>
                <a:srgbClr val="FF0066"/>
              </a:buClr>
              <a:buSzTx/>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  </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19299"/>
                                        </p:tgtEl>
                                        <p:attrNameLst>
                                          <p:attrName>style.visibility</p:attrName>
                                        </p:attrNameLst>
                                      </p:cBhvr>
                                      <p:to>
                                        <p:strVal val="visible"/>
                                      </p:to>
                                    </p:set>
                                    <p:anim calcmode="lin" valueType="num">
                                      <p:cBhvr additive="base">
                                        <p:cTn id="7" dur="500" fill="hold"/>
                                        <p:tgtEl>
                                          <p:spTgt spid="1719299"/>
                                        </p:tgtEl>
                                        <p:attrNameLst>
                                          <p:attrName>ppt_x</p:attrName>
                                        </p:attrNameLst>
                                      </p:cBhvr>
                                      <p:tavLst>
                                        <p:tav tm="0">
                                          <p:val>
                                            <p:strVal val="0-#ppt_w/2"/>
                                          </p:val>
                                        </p:tav>
                                        <p:tav tm="100000">
                                          <p:val>
                                            <p:strVal val="#ppt_x"/>
                                          </p:val>
                                        </p:tav>
                                      </p:tavLst>
                                    </p:anim>
                                    <p:anim calcmode="lin" valueType="num">
                                      <p:cBhvr additive="base">
                                        <p:cTn id="8" dur="500" fill="hold"/>
                                        <p:tgtEl>
                                          <p:spTgt spid="171929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719301"/>
                                        </p:tgtEl>
                                        <p:attrNameLst>
                                          <p:attrName>style.visibility</p:attrName>
                                        </p:attrNameLst>
                                      </p:cBhvr>
                                      <p:to>
                                        <p:strVal val="visible"/>
                                      </p:to>
                                    </p:set>
                                    <p:animEffect transition="in" filter="dissolve">
                                      <p:cBhvr>
                                        <p:cTn id="12" dur="500"/>
                                        <p:tgtEl>
                                          <p:spTgt spid="17193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9302">
                                            <p:txEl>
                                              <p:charRg st="0" end="37"/>
                                            </p:txEl>
                                          </p:spTgt>
                                        </p:tgtEl>
                                        <p:attrNameLst>
                                          <p:attrName>style.visibility</p:attrName>
                                        </p:attrNameLst>
                                      </p:cBhvr>
                                      <p:to>
                                        <p:strVal val="visible"/>
                                      </p:to>
                                    </p:set>
                                    <p:animEffect transition="in" filter="wipe(left)">
                                      <p:cBhvr>
                                        <p:cTn id="17" dur="500"/>
                                        <p:tgtEl>
                                          <p:spTgt spid="1719302">
                                            <p:txEl>
                                              <p:charRg st="0"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19302">
                                            <p:txEl>
                                              <p:charRg st="37" end="77"/>
                                            </p:txEl>
                                          </p:spTgt>
                                        </p:tgtEl>
                                        <p:attrNameLst>
                                          <p:attrName>style.visibility</p:attrName>
                                        </p:attrNameLst>
                                      </p:cBhvr>
                                      <p:to>
                                        <p:strVal val="visible"/>
                                      </p:to>
                                    </p:set>
                                    <p:animEffect transition="in" filter="wipe(left)">
                                      <p:cBhvr>
                                        <p:cTn id="22" dur="500"/>
                                        <p:tgtEl>
                                          <p:spTgt spid="1719302">
                                            <p:txEl>
                                              <p:charRg st="37" end="7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19302">
                                            <p:txEl>
                                              <p:charRg st="77" end="119"/>
                                            </p:txEl>
                                          </p:spTgt>
                                        </p:tgtEl>
                                        <p:attrNameLst>
                                          <p:attrName>style.visibility</p:attrName>
                                        </p:attrNameLst>
                                      </p:cBhvr>
                                      <p:to>
                                        <p:strVal val="visible"/>
                                      </p:to>
                                    </p:set>
                                    <p:animEffect transition="in" filter="wipe(left)">
                                      <p:cBhvr>
                                        <p:cTn id="27" dur="500"/>
                                        <p:tgtEl>
                                          <p:spTgt spid="1719302">
                                            <p:txEl>
                                              <p:charRg st="77" end="11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19302">
                                            <p:txEl>
                                              <p:charRg st="119" end="140"/>
                                            </p:txEl>
                                          </p:spTgt>
                                        </p:tgtEl>
                                        <p:attrNameLst>
                                          <p:attrName>style.visibility</p:attrName>
                                        </p:attrNameLst>
                                      </p:cBhvr>
                                      <p:to>
                                        <p:strVal val="visible"/>
                                      </p:to>
                                    </p:set>
                                    <p:animEffect transition="in" filter="wipe(left)">
                                      <p:cBhvr>
                                        <p:cTn id="32" dur="500"/>
                                        <p:tgtEl>
                                          <p:spTgt spid="1719302">
                                            <p:txEl>
                                              <p:charRg st="119" end="14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19302">
                                            <p:txEl>
                                              <p:charRg st="140" end="143"/>
                                            </p:txEl>
                                          </p:spTgt>
                                        </p:tgtEl>
                                        <p:attrNameLst>
                                          <p:attrName>style.visibility</p:attrName>
                                        </p:attrNameLst>
                                      </p:cBhvr>
                                      <p:to>
                                        <p:strVal val="visible"/>
                                      </p:to>
                                    </p:set>
                                    <p:animEffect transition="in" filter="wipe(left)">
                                      <p:cBhvr>
                                        <p:cTn id="37" dur="500"/>
                                        <p:tgtEl>
                                          <p:spTgt spid="1719302">
                                            <p:txEl>
                                              <p:charRg st="140"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9299" grpId="0"/>
      <p:bldP spid="1719301" grpId="0" bldLvl="0" animBg="1"/>
      <p:bldP spid="1719302" grpId="0" bldLvl="2" build="p"/>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08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74083"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17408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2059268" name="Text Box 4"/>
          <p:cNvSpPr txBox="1"/>
          <p:nvPr/>
        </p:nvSpPr>
        <p:spPr>
          <a:xfrm>
            <a:off x="1939925" y="1317625"/>
            <a:ext cx="5119688" cy="5099050"/>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module mux_z(out,a,b,c,d,select);</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output out;</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input a,b,c,d;</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input[3:0] select;</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reg out; //</a:t>
            </a:r>
            <a:r>
              <a:rPr lang="zh-CN" altLang="en-US" b="1" dirty="0">
                <a:latin typeface="Times New Roman" panose="02020603050405020304" pitchFamily="18" charset="0"/>
                <a:ea typeface="宋体" panose="02010600030101010101" pitchFamily="2" charset="-122"/>
              </a:rPr>
              <a:t>必须声明</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always@ (select[3:0] or a or b or c or d)</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begin</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a:t>
            </a:r>
            <a:r>
              <a:rPr lang="en-US" altLang="zh-CN" b="1" dirty="0">
                <a:solidFill>
                  <a:schemeClr val="hlink"/>
                </a:solidFill>
                <a:latin typeface="Times New Roman" panose="02020603050405020304" pitchFamily="18" charset="0"/>
                <a:ea typeface="宋体" panose="02010600030101010101" pitchFamily="2" charset="-122"/>
              </a:rPr>
              <a:t>casez (select)</a:t>
            </a:r>
            <a:endParaRPr lang="en-US" altLang="zh-CN" b="1" dirty="0">
              <a:solidFill>
                <a:schemeClr val="hlink"/>
              </a:solidFill>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4’b???1: out = a</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4’b??1? : out = b</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4’b? 1?? : out = c</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4’b 1??? : out = d</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zh-CN" altLang="en-US" b="1" dirty="0">
                <a:latin typeface="Times New Roman" panose="02020603050405020304" pitchFamily="18" charset="0"/>
                <a:ea typeface="宋体" panose="02010600030101010101" pitchFamily="2" charset="-122"/>
              </a:rPr>
              <a:t>         </a:t>
            </a:r>
            <a:r>
              <a:rPr lang="en-US" altLang="zh-CN" b="1" dirty="0">
                <a:solidFill>
                  <a:schemeClr val="hlink"/>
                </a:solidFill>
                <a:latin typeface="Times New Roman" panose="02020603050405020304" pitchFamily="18" charset="0"/>
                <a:ea typeface="宋体" panose="02010600030101010101" pitchFamily="2" charset="-122"/>
              </a:rPr>
              <a:t>endcase</a:t>
            </a:r>
            <a:endParaRPr lang="en-US" altLang="zh-CN" b="1" dirty="0">
              <a:solidFill>
                <a:schemeClr val="hlink"/>
              </a:solidFill>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     end</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10000"/>
              </a:spcBef>
              <a:buNone/>
            </a:pPr>
            <a:r>
              <a:rPr lang="en-US" altLang="zh-CN" b="1" dirty="0">
                <a:latin typeface="Times New Roman" panose="02020603050405020304" pitchFamily="18" charset="0"/>
                <a:ea typeface="宋体" panose="02010600030101010101" pitchFamily="2" charset="-122"/>
              </a:rPr>
              <a:t>endmodule</a:t>
            </a:r>
            <a:endParaRPr lang="en-US" altLang="zh-CN" b="1" dirty="0">
              <a:latin typeface="Times New Roman" panose="02020603050405020304" pitchFamily="18" charset="0"/>
              <a:ea typeface="宋体" panose="02010600030101010101" pitchFamily="2" charset="-122"/>
            </a:endParaRPr>
          </a:p>
        </p:txBody>
      </p:sp>
      <p:sp>
        <p:nvSpPr>
          <p:cNvPr id="174086" name="Rectangle 8"/>
          <p:cNvSpPr/>
          <p:nvPr/>
        </p:nvSpPr>
        <p:spPr>
          <a:xfrm>
            <a:off x="1108075" y="857250"/>
            <a:ext cx="4194175" cy="460375"/>
          </a:xfrm>
          <a:prstGeom prst="rect">
            <a:avLst/>
          </a:prstGeom>
          <a:noFill/>
          <a:ln w="9525">
            <a:noFill/>
          </a:ln>
        </p:spPr>
        <p:txBody>
          <a:bodyPr wrap="none"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例</a:t>
            </a:r>
            <a:r>
              <a:rPr lang="en-US" altLang="zh-CN" sz="2400" b="1" dirty="0">
                <a:latin typeface="Times New Roman" panose="02020603050405020304" pitchFamily="18" charset="0"/>
                <a:ea typeface="华文楷体" panose="02010600040101010101" pitchFamily="2" charset="-122"/>
              </a:rPr>
              <a:t>] </a:t>
            </a:r>
            <a:r>
              <a:rPr lang="zh-CN" altLang="en-US" sz="2400" b="1" dirty="0">
                <a:latin typeface="Times New Roman" panose="02020603050405020304" pitchFamily="18" charset="0"/>
                <a:ea typeface="华文楷体" panose="02010600040101010101" pitchFamily="2" charset="-122"/>
              </a:rPr>
              <a:t>用</a:t>
            </a:r>
            <a:r>
              <a:rPr lang="en-US" altLang="zh-CN" sz="2400" b="1" dirty="0">
                <a:latin typeface="Times New Roman" panose="02020603050405020304" pitchFamily="18" charset="0"/>
                <a:ea typeface="华文楷体" panose="02010600040101010101" pitchFamily="2" charset="-122"/>
              </a:rPr>
              <a:t>casez</a:t>
            </a:r>
            <a:r>
              <a:rPr lang="zh-CN" altLang="en-US" sz="2400" b="1" dirty="0">
                <a:latin typeface="Times New Roman" panose="02020603050405020304" pitchFamily="18" charset="0"/>
                <a:ea typeface="华文楷体" panose="02010600040101010101" pitchFamily="2" charset="-122"/>
              </a:rPr>
              <a:t>描述的数据选择器</a:t>
            </a:r>
            <a:endParaRPr lang="zh-CN" altLang="en-US" sz="2400" b="1" dirty="0">
              <a:latin typeface="Times New Roman" panose="02020603050405020304" pitchFamily="18" charset="0"/>
              <a:ea typeface="华文楷体" panose="02010600040101010101" pitchFamily="2" charset="-122"/>
            </a:endParaRPr>
          </a:p>
        </p:txBody>
      </p:sp>
      <p:sp>
        <p:nvSpPr>
          <p:cNvPr id="2059273" name="AutoShape 9"/>
          <p:cNvSpPr/>
          <p:nvPr/>
        </p:nvSpPr>
        <p:spPr>
          <a:xfrm>
            <a:off x="4427538" y="5641975"/>
            <a:ext cx="1647825" cy="769938"/>
          </a:xfrm>
          <a:prstGeom prst="wedgeRoundRectCallout">
            <a:avLst>
              <a:gd name="adj1" fmla="val -92486"/>
              <a:gd name="adj2" fmla="val -55981"/>
              <a:gd name="adj3" fmla="val 16667"/>
            </a:avLst>
          </a:prstGeom>
          <a:solidFill>
            <a:srgbClr val="FFCC99"/>
          </a:solidFill>
          <a:ln w="9525">
            <a:noFill/>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宋体" panose="02010600030101010101" pitchFamily="2" charset="-122"/>
                <a:ea typeface="宋体" panose="02010600030101010101" pitchFamily="2" charset="-122"/>
              </a:rPr>
              <a:t>这里</a:t>
            </a:r>
            <a:r>
              <a:rPr lang="zh-CN" altLang="en-US"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表示高阻态</a:t>
            </a:r>
            <a:endParaRPr lang="zh-CN" altLang="en-US" b="1" dirty="0">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9268"/>
                                        </p:tgtEl>
                                        <p:attrNameLst>
                                          <p:attrName>style.visibility</p:attrName>
                                        </p:attrNameLst>
                                      </p:cBhvr>
                                      <p:to>
                                        <p:strVal val="visible"/>
                                      </p:to>
                                    </p:set>
                                    <p:anim calcmode="lin" valueType="num">
                                      <p:cBhvr additive="base">
                                        <p:cTn id="7" dur="500" fill="hold"/>
                                        <p:tgtEl>
                                          <p:spTgt spid="2059268"/>
                                        </p:tgtEl>
                                        <p:attrNameLst>
                                          <p:attrName>ppt_x</p:attrName>
                                        </p:attrNameLst>
                                      </p:cBhvr>
                                      <p:tavLst>
                                        <p:tav tm="0">
                                          <p:val>
                                            <p:strVal val="#ppt_x"/>
                                          </p:val>
                                        </p:tav>
                                        <p:tav tm="100000">
                                          <p:val>
                                            <p:strVal val="#ppt_x"/>
                                          </p:val>
                                        </p:tav>
                                      </p:tavLst>
                                    </p:anim>
                                    <p:anim calcmode="lin" valueType="num">
                                      <p:cBhvr additive="base">
                                        <p:cTn id="8" dur="500" fill="hold"/>
                                        <p:tgtEl>
                                          <p:spTgt spid="20592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059273"/>
                                        </p:tgtEl>
                                        <p:attrNameLst>
                                          <p:attrName>style.visibility</p:attrName>
                                        </p:attrNameLst>
                                      </p:cBhvr>
                                      <p:to>
                                        <p:strVal val="visible"/>
                                      </p:to>
                                    </p:set>
                                    <p:animEffect transition="in" filter="dissolve">
                                      <p:cBhvr>
                                        <p:cTn id="13" dur="500"/>
                                        <p:tgtEl>
                                          <p:spTgt spid="2059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9268" grpId="0" bldLvl="0" animBg="1"/>
      <p:bldP spid="2059273"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61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7613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213709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Times New Roman" panose="02020603050405020304" pitchFamily="18" charset="0"/>
                <a:ea typeface="黑体" panose="02010609060101010101" pitchFamily="49" charset="-122"/>
                <a:cs typeface="+mn-cs"/>
              </a:rPr>
              <a:t>7.3 </a:t>
            </a:r>
            <a:r>
              <a:rPr lang="zh-CN" altLang="en-US" dirty="0">
                <a:solidFill>
                  <a:schemeClr val="tx2"/>
                </a:solidFill>
                <a:latin typeface="Times New Roman" panose="02020603050405020304" pitchFamily="18" charset="0"/>
                <a:ea typeface="华文楷体" panose="02010600040101010101" pitchFamily="2" charset="-122"/>
                <a:cs typeface="+mn-cs"/>
              </a:rPr>
              <a:t>使用条件语句注意事项</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algn="just">
              <a:lnSpc>
                <a:spcPct val="120000"/>
              </a:lnSpc>
              <a:spcBef>
                <a:spcPct val="10000"/>
              </a:spcBef>
            </a:pPr>
            <a:r>
              <a:rPr lang="zh-CN" altLang="zh-CN" dirty="0">
                <a:latin typeface="Times New Roman" panose="02020603050405020304" pitchFamily="18" charset="0"/>
                <a:ea typeface="华文楷体" panose="02010600040101010101" pitchFamily="2" charset="-122"/>
                <a:cs typeface="+mn-cs"/>
              </a:rPr>
              <a:t>应注意列出</a:t>
            </a:r>
            <a:r>
              <a:rPr lang="zh-CN" altLang="zh-CN" dirty="0">
                <a:solidFill>
                  <a:srgbClr val="FF0066"/>
                </a:solidFill>
                <a:latin typeface="Times New Roman" panose="02020603050405020304" pitchFamily="18" charset="0"/>
                <a:ea typeface="华文楷体" panose="02010600040101010101" pitchFamily="2" charset="-122"/>
                <a:cs typeface="+mn-cs"/>
              </a:rPr>
              <a:t>所有</a:t>
            </a:r>
            <a:r>
              <a:rPr lang="zh-CN" altLang="zh-CN" dirty="0">
                <a:latin typeface="Times New Roman" panose="02020603050405020304" pitchFamily="18" charset="0"/>
                <a:ea typeface="华文楷体" panose="02010600040101010101" pitchFamily="2" charset="-122"/>
                <a:cs typeface="+mn-cs"/>
              </a:rPr>
              <a:t>条件分支，否则当条件不满足时，编译器会生成一个锁存器保持原值！</a:t>
            </a:r>
            <a:endParaRPr lang="zh-CN" altLang="en-US" dirty="0">
              <a:latin typeface="Times New Roman" panose="02020603050405020304" pitchFamily="18" charset="0"/>
              <a:ea typeface="华文楷体" panose="02010600040101010101" pitchFamily="2" charset="-122"/>
              <a:cs typeface="+mn-cs"/>
            </a:endParaRPr>
          </a:p>
          <a:p>
            <a:pPr algn="just">
              <a:lnSpc>
                <a:spcPct val="120000"/>
              </a:lnSpc>
              <a:spcBef>
                <a:spcPct val="10000"/>
              </a:spcBef>
            </a:pPr>
            <a:r>
              <a:rPr lang="zh-CN" altLang="en-US" dirty="0">
                <a:latin typeface="Times New Roman" panose="02020603050405020304" pitchFamily="18" charset="0"/>
                <a:ea typeface="华文楷体" panose="02010600040101010101" pitchFamily="2" charset="-122"/>
                <a:cs typeface="+mn-cs"/>
              </a:rPr>
              <a:t>这一点可用于设计时序电路，如计数器：条件满足时加</a:t>
            </a:r>
            <a:r>
              <a:rPr lang="en-US" altLang="zh-CN" dirty="0">
                <a:latin typeface="Times New Roman" panose="02020603050405020304" pitchFamily="18" charset="0"/>
                <a:ea typeface="黑体" panose="02010609060101010101" pitchFamily="49" charset="-122"/>
                <a:cs typeface="+mn-cs"/>
              </a:rPr>
              <a:t>1</a:t>
            </a:r>
            <a:r>
              <a:rPr lang="zh-CN" altLang="en-US" dirty="0">
                <a:latin typeface="Times New Roman" panose="02020603050405020304" pitchFamily="18" charset="0"/>
                <a:ea typeface="华文楷体" panose="02010600040101010101" pitchFamily="2" charset="-122"/>
                <a:cs typeface="+mn-cs"/>
              </a:rPr>
              <a:t>，否则保持原值不变。</a:t>
            </a:r>
            <a:endParaRPr lang="zh-CN" altLang="en-US" dirty="0">
              <a:latin typeface="Times New Roman" panose="02020603050405020304" pitchFamily="18" charset="0"/>
              <a:ea typeface="华文楷体" panose="02010600040101010101" pitchFamily="2" charset="-122"/>
              <a:cs typeface="+mn-cs"/>
            </a:endParaRPr>
          </a:p>
          <a:p>
            <a:pPr algn="just">
              <a:lnSpc>
                <a:spcPct val="120000"/>
              </a:lnSpc>
              <a:spcBef>
                <a:spcPct val="10000"/>
              </a:spcBef>
            </a:pPr>
            <a:r>
              <a:rPr lang="zh-CN" altLang="zh-CN" dirty="0">
                <a:latin typeface="Times New Roman" panose="02020603050405020304" pitchFamily="18" charset="0"/>
                <a:ea typeface="华文楷体" panose="02010600040101010101" pitchFamily="2" charset="-122"/>
                <a:cs typeface="+mn-cs"/>
              </a:rPr>
              <a:t>而在</a:t>
            </a:r>
            <a:r>
              <a:rPr lang="zh-CN" altLang="zh-CN" dirty="0">
                <a:solidFill>
                  <a:srgbClr val="FF0066"/>
                </a:solidFill>
                <a:latin typeface="Times New Roman" panose="02020603050405020304" pitchFamily="18" charset="0"/>
                <a:ea typeface="华文楷体" panose="02010600040101010101" pitchFamily="2" charset="-122"/>
                <a:cs typeface="+mn-cs"/>
              </a:rPr>
              <a:t>组合</a:t>
            </a:r>
            <a:r>
              <a:rPr lang="zh-CN" altLang="zh-CN" dirty="0">
                <a:latin typeface="Times New Roman" panose="02020603050405020304" pitchFamily="18" charset="0"/>
                <a:ea typeface="华文楷体" panose="02010600040101010101" pitchFamily="2" charset="-122"/>
                <a:cs typeface="+mn-cs"/>
              </a:rPr>
              <a:t>电路设计中，应避免</a:t>
            </a:r>
            <a:r>
              <a:rPr lang="zh-CN" altLang="en-US" dirty="0">
                <a:latin typeface="Times New Roman" panose="02020603050405020304" pitchFamily="18" charset="0"/>
                <a:ea typeface="华文楷体" panose="02010600040101010101" pitchFamily="2" charset="-122"/>
                <a:cs typeface="+mn-cs"/>
              </a:rPr>
              <a:t>生成隐含</a:t>
            </a:r>
            <a:r>
              <a:rPr lang="zh-CN" altLang="en-US" dirty="0">
                <a:solidFill>
                  <a:srgbClr val="FF0066"/>
                </a:solidFill>
                <a:latin typeface="Times New Roman" panose="02020603050405020304" pitchFamily="18" charset="0"/>
                <a:ea typeface="华文楷体" panose="02010600040101010101" pitchFamily="2" charset="-122"/>
                <a:cs typeface="+mn-cs"/>
              </a:rPr>
              <a:t>锁存器</a:t>
            </a:r>
            <a:r>
              <a:rPr lang="zh-CN" altLang="zh-CN" dirty="0">
                <a:latin typeface="Times New Roman" panose="02020603050405020304" pitchFamily="18" charset="0"/>
                <a:ea typeface="华文楷体" panose="02010600040101010101" pitchFamily="2" charset="-122"/>
                <a:cs typeface="+mn-cs"/>
              </a:rPr>
              <a:t>！有效的方法是在</a:t>
            </a:r>
            <a:r>
              <a:rPr lang="en-US" altLang="zh-CN" dirty="0">
                <a:solidFill>
                  <a:srgbClr val="CC3300"/>
                </a:solidFill>
                <a:latin typeface="Times New Roman" panose="02020603050405020304" pitchFamily="18" charset="0"/>
                <a:ea typeface="黑体" panose="02010609060101010101" pitchFamily="49" charset="-122"/>
                <a:cs typeface="+mn-cs"/>
              </a:rPr>
              <a:t>if</a:t>
            </a:r>
            <a:r>
              <a:rPr lang="zh-CN" altLang="en-US" dirty="0">
                <a:latin typeface="Times New Roman" panose="02020603050405020304" pitchFamily="18" charset="0"/>
                <a:ea typeface="华文楷体" panose="02010600040101010101" pitchFamily="2" charset="-122"/>
                <a:cs typeface="+mn-cs"/>
              </a:rPr>
              <a:t>语句最后写上</a:t>
            </a:r>
            <a:r>
              <a:rPr lang="en-US" altLang="zh-CN" dirty="0">
                <a:solidFill>
                  <a:srgbClr val="CC3300"/>
                </a:solidFill>
                <a:latin typeface="Times New Roman" panose="02020603050405020304" pitchFamily="18" charset="0"/>
                <a:ea typeface="黑体" panose="02010609060101010101" pitchFamily="49" charset="-122"/>
                <a:cs typeface="+mn-cs"/>
              </a:rPr>
              <a:t>else</a:t>
            </a:r>
            <a:r>
              <a:rPr lang="zh-CN" altLang="en-US" dirty="0">
                <a:latin typeface="Times New Roman" panose="02020603050405020304" pitchFamily="18" charset="0"/>
                <a:ea typeface="华文楷体" panose="02010600040101010101" pitchFamily="2" charset="-122"/>
                <a:cs typeface="+mn-cs"/>
              </a:rPr>
              <a:t>项；在</a:t>
            </a:r>
            <a:r>
              <a:rPr lang="en-US" altLang="zh-CN" dirty="0">
                <a:solidFill>
                  <a:srgbClr val="CC3300"/>
                </a:solidFill>
                <a:latin typeface="Times New Roman" panose="02020603050405020304" pitchFamily="18" charset="0"/>
                <a:ea typeface="黑体" panose="02010609060101010101" pitchFamily="49" charset="-122"/>
                <a:cs typeface="+mn-cs"/>
              </a:rPr>
              <a:t>case</a:t>
            </a:r>
            <a:r>
              <a:rPr lang="zh-CN" altLang="en-US" dirty="0">
                <a:latin typeface="Times New Roman" panose="02020603050405020304" pitchFamily="18" charset="0"/>
                <a:ea typeface="华文楷体" panose="02010600040101010101" pitchFamily="2" charset="-122"/>
                <a:cs typeface="+mn-cs"/>
              </a:rPr>
              <a:t>语句最后写上</a:t>
            </a:r>
            <a:r>
              <a:rPr lang="en-US" altLang="zh-CN" dirty="0">
                <a:solidFill>
                  <a:srgbClr val="CC3300"/>
                </a:solidFill>
                <a:latin typeface="Times New Roman" panose="02020603050405020304" pitchFamily="18" charset="0"/>
                <a:ea typeface="黑体" panose="02010609060101010101" pitchFamily="49" charset="-122"/>
                <a:cs typeface="+mn-cs"/>
              </a:rPr>
              <a:t>default</a:t>
            </a:r>
            <a:r>
              <a:rPr lang="zh-CN" altLang="en-US" dirty="0">
                <a:latin typeface="Times New Roman" panose="02020603050405020304" pitchFamily="18" charset="0"/>
                <a:ea typeface="华文楷体" panose="02010600040101010101" pitchFamily="2" charset="-122"/>
                <a:cs typeface="+mn-cs"/>
              </a:rPr>
              <a:t>项。</a:t>
            </a:r>
            <a:endParaRPr lang="zh-CN" altLang="en-US" dirty="0">
              <a:latin typeface="Times New Roman" panose="02020603050405020304" pitchFamily="18" charset="0"/>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37091"/>
                                        </p:tgtEl>
                                        <p:attrNameLst>
                                          <p:attrName>style.visibility</p:attrName>
                                        </p:attrNameLst>
                                      </p:cBhvr>
                                      <p:to>
                                        <p:strVal val="visible"/>
                                      </p:to>
                                    </p:set>
                                    <p:anim calcmode="lin" valueType="num">
                                      <p:cBhvr additive="base">
                                        <p:cTn id="7" dur="500" fill="hold"/>
                                        <p:tgtEl>
                                          <p:spTgt spid="2137091"/>
                                        </p:tgtEl>
                                        <p:attrNameLst>
                                          <p:attrName>ppt_x</p:attrName>
                                        </p:attrNameLst>
                                      </p:cBhvr>
                                      <p:tavLst>
                                        <p:tav tm="0">
                                          <p:val>
                                            <p:strVal val="0-#ppt_w/2"/>
                                          </p:val>
                                        </p:tav>
                                        <p:tav tm="100000">
                                          <p:val>
                                            <p:strVal val="#ppt_x"/>
                                          </p:val>
                                        </p:tav>
                                      </p:tavLst>
                                    </p:anim>
                                    <p:anim calcmode="lin" valueType="num">
                                      <p:cBhvr additive="base">
                                        <p:cTn id="8" dur="500" fill="hold"/>
                                        <p:tgtEl>
                                          <p:spTgt spid="2137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7091" grpId="0"/>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81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7817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21347" name="Rectangle 3"/>
          <p:cNvSpPr>
            <a:spLocks noGrp="1"/>
          </p:cNvSpPr>
          <p:nvPr>
            <p:ph idx="1"/>
          </p:nvPr>
        </p:nvSpPr>
        <p:spPr>
          <a:effectLst>
            <a:prstShdw prst="shdw13" dist="53882" dir="13499999">
              <a:schemeClr val="bg2">
                <a:alpha val="100000"/>
              </a:schemeClr>
            </a:prstShdw>
          </a:effectLst>
        </p:spPr>
        <p:txBody>
          <a:bodyPr vert="horz" wrap="square" lIns="91440" tIns="45720" rIns="91440" bIns="45720" anchor="t" anchorCtr="0"/>
          <a:p>
            <a:pPr algn="ctr" eaLnBrk="1" hangingPunct="1">
              <a:lnSpc>
                <a:spcPct val="110000"/>
              </a:lnSpc>
            </a:pPr>
            <a:r>
              <a:rPr lang="zh-CN" altLang="en-US" dirty="0">
                <a:latin typeface="仿宋_GB2312" pitchFamily="49" charset="-122"/>
                <a:ea typeface="仿宋_GB2312" pitchFamily="49" charset="-122"/>
                <a:cs typeface="+mn-cs"/>
              </a:rPr>
              <a:t>如何正确使用</a:t>
            </a:r>
            <a:r>
              <a:rPr lang="en-US" altLang="zh-CN" dirty="0">
                <a:latin typeface="仿宋_GB2312" pitchFamily="49" charset="-122"/>
                <a:ea typeface="仿宋_GB2312" pitchFamily="49" charset="-122"/>
                <a:cs typeface="+mn-cs"/>
              </a:rPr>
              <a:t>if</a:t>
            </a:r>
            <a:r>
              <a:rPr lang="zh-CN" altLang="en-US" dirty="0">
                <a:latin typeface="仿宋_GB2312" pitchFamily="49" charset="-122"/>
                <a:ea typeface="仿宋_GB2312" pitchFamily="49" charset="-122"/>
                <a:cs typeface="+mn-cs"/>
              </a:rPr>
              <a:t>语句？</a:t>
            </a:r>
            <a:endParaRPr lang="zh-CN" altLang="en-US" dirty="0">
              <a:latin typeface="华文新魏" panose="02010800040101010101" pitchFamily="2" charset="-122"/>
              <a:ea typeface="华文新魏" panose="02010800040101010101" pitchFamily="2" charset="-122"/>
              <a:cs typeface="+mn-cs"/>
            </a:endParaRPr>
          </a:p>
        </p:txBody>
      </p:sp>
      <p:sp>
        <p:nvSpPr>
          <p:cNvPr id="1721349" name="Text Box 5"/>
          <p:cNvSpPr txBox="1"/>
          <p:nvPr/>
        </p:nvSpPr>
        <p:spPr>
          <a:xfrm>
            <a:off x="417513" y="2170113"/>
            <a:ext cx="3048000" cy="430212"/>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200" dirty="0">
                <a:latin typeface="华文楷体" panose="02010600040101010101" pitchFamily="2" charset="-122"/>
                <a:ea typeface="华文楷体" panose="02010600040101010101" pitchFamily="2" charset="-122"/>
              </a:rPr>
              <a:t>生成了不想要的锁存器：</a:t>
            </a:r>
            <a:endParaRPr lang="zh-CN" altLang="en-US" sz="2200" dirty="0">
              <a:latin typeface="华文楷体" panose="02010600040101010101" pitchFamily="2" charset="-122"/>
              <a:ea typeface="华文楷体" panose="02010600040101010101" pitchFamily="2" charset="-122"/>
            </a:endParaRPr>
          </a:p>
        </p:txBody>
      </p:sp>
      <p:sp>
        <p:nvSpPr>
          <p:cNvPr id="1721351" name="Text Box 7"/>
          <p:cNvSpPr txBox="1"/>
          <p:nvPr/>
        </p:nvSpPr>
        <p:spPr>
          <a:xfrm>
            <a:off x="5068888" y="2151063"/>
            <a:ext cx="2362200" cy="42862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200" dirty="0">
                <a:latin typeface="华文楷体" panose="02010600040101010101" pitchFamily="2" charset="-122"/>
                <a:ea typeface="华文楷体" panose="02010600040101010101" pitchFamily="2" charset="-122"/>
              </a:rPr>
              <a:t>不会生成锁存器：</a:t>
            </a:r>
            <a:endParaRPr lang="zh-CN" altLang="en-US" sz="2200" dirty="0">
              <a:latin typeface="华文楷体" panose="02010600040101010101" pitchFamily="2" charset="-122"/>
              <a:ea typeface="华文楷体" panose="02010600040101010101" pitchFamily="2" charset="-122"/>
            </a:endParaRPr>
          </a:p>
        </p:txBody>
      </p:sp>
      <p:grpSp>
        <p:nvGrpSpPr>
          <p:cNvPr id="4" name="Group 58"/>
          <p:cNvGrpSpPr/>
          <p:nvPr/>
        </p:nvGrpSpPr>
        <p:grpSpPr>
          <a:xfrm>
            <a:off x="4992688" y="2600325"/>
            <a:ext cx="3794125" cy="2295525"/>
            <a:chOff x="2976" y="2442"/>
            <a:chExt cx="2390" cy="1446"/>
          </a:xfrm>
        </p:grpSpPr>
        <p:sp>
          <p:nvSpPr>
            <p:cNvPr id="178202" name="Text Box 6"/>
            <p:cNvSpPr txBox="1"/>
            <p:nvPr/>
          </p:nvSpPr>
          <p:spPr>
            <a:xfrm>
              <a:off x="2976" y="2442"/>
              <a:ext cx="2390" cy="1446"/>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a:t>
              </a:r>
              <a:r>
                <a:rPr lang="zh-CN" altLang="en-US" b="1" dirty="0">
                  <a:solidFill>
                    <a:srgbClr val="FF3399"/>
                  </a:solidFill>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设计一个数据选择器</a:t>
              </a:r>
              <a:endParaRPr lang="zh-CN" altLang="en-US"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always@ (al or d) </a:t>
              </a:r>
              <a:endParaRPr lang="en-US" altLang="zh-CN"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    begin</a:t>
              </a:r>
              <a:endParaRPr lang="en-US" altLang="zh-CN"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        if(al)  q&lt;=d</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FF0066"/>
                  </a:solidFill>
                  <a:latin typeface="Times New Roman" panose="02020603050405020304" pitchFamily="18" charset="0"/>
                  <a:ea typeface="宋体" panose="02010600030101010101" pitchFamily="2" charset="-122"/>
                </a:rPr>
                <a:t>else    q&lt;=0</a:t>
              </a:r>
              <a:r>
                <a:rPr lang="zh-CN" altLang="en-US" b="1" dirty="0">
                  <a:solidFill>
                    <a:srgbClr val="FF0066"/>
                  </a:solidFill>
                  <a:latin typeface="Times New Roman" panose="02020603050405020304" pitchFamily="18" charset="0"/>
                  <a:ea typeface="宋体" panose="02010600030101010101" pitchFamily="2" charset="-122"/>
                </a:rPr>
                <a:t>；</a:t>
              </a:r>
              <a:endParaRPr lang="zh-CN" altLang="en-US" b="1" dirty="0">
                <a:solidFill>
                  <a:srgbClr val="FF0066"/>
                </a:solidFill>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end</a:t>
              </a:r>
              <a:endParaRPr lang="en-US" altLang="zh-CN" b="1" dirty="0">
                <a:latin typeface="Times New Roman" panose="02020603050405020304" pitchFamily="18" charset="0"/>
                <a:ea typeface="宋体" panose="02010600030101010101" pitchFamily="2" charset="-122"/>
              </a:endParaRPr>
            </a:p>
          </p:txBody>
        </p:sp>
        <p:sp>
          <p:nvSpPr>
            <p:cNvPr id="178203" name="Rectangle 37"/>
            <p:cNvSpPr/>
            <p:nvPr/>
          </p:nvSpPr>
          <p:spPr>
            <a:xfrm>
              <a:off x="4317" y="2762"/>
              <a:ext cx="934" cy="945"/>
            </a:xfrm>
            <a:prstGeom prst="rect">
              <a:avLst/>
            </a:prstGeom>
            <a:solidFill>
              <a:srgbClr val="CCFFCC"/>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178204" name="Line 38"/>
            <p:cNvSpPr/>
            <p:nvPr/>
          </p:nvSpPr>
          <p:spPr>
            <a:xfrm>
              <a:off x="4839" y="3118"/>
              <a:ext cx="227" cy="0"/>
            </a:xfrm>
            <a:prstGeom prst="line">
              <a:avLst/>
            </a:prstGeom>
            <a:ln w="9525" cap="flat" cmpd="sng">
              <a:solidFill>
                <a:schemeClr val="tx1"/>
              </a:solidFill>
              <a:prstDash val="solid"/>
              <a:headEnd type="none" w="med" len="med"/>
              <a:tailEnd type="none" w="med" len="med"/>
            </a:ln>
          </p:spPr>
        </p:sp>
        <p:sp>
          <p:nvSpPr>
            <p:cNvPr id="178205" name="Text Box 39"/>
            <p:cNvSpPr txBox="1"/>
            <p:nvPr/>
          </p:nvSpPr>
          <p:spPr>
            <a:xfrm>
              <a:off x="4333" y="3170"/>
              <a:ext cx="384"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0</a:t>
              </a:r>
              <a:endParaRPr lang="en-US" altLang="zh-CN" dirty="0">
                <a:latin typeface="Times New Roman" panose="02020603050405020304" pitchFamily="18" charset="0"/>
                <a:ea typeface="宋体" panose="02010600030101010101" pitchFamily="2" charset="-122"/>
              </a:endParaRPr>
            </a:p>
          </p:txBody>
        </p:sp>
        <p:sp>
          <p:nvSpPr>
            <p:cNvPr id="178206" name="Text Box 40"/>
            <p:cNvSpPr txBox="1"/>
            <p:nvPr/>
          </p:nvSpPr>
          <p:spPr>
            <a:xfrm>
              <a:off x="4337" y="2801"/>
              <a:ext cx="185" cy="23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sz="1800" dirty="0">
                  <a:solidFill>
                    <a:schemeClr val="bg2"/>
                  </a:solidFill>
                  <a:latin typeface="Times New Roman" panose="02020603050405020304" pitchFamily="18" charset="0"/>
                  <a:ea typeface="宋体" panose="02010600030101010101" pitchFamily="2" charset="-122"/>
                </a:rPr>
                <a:t>d</a:t>
              </a:r>
              <a:endParaRPr lang="en-US" altLang="zh-CN" sz="1800" dirty="0">
                <a:latin typeface="Times New Roman" panose="02020603050405020304" pitchFamily="18" charset="0"/>
                <a:ea typeface="宋体" panose="02010600030101010101" pitchFamily="2" charset="-122"/>
              </a:endParaRPr>
            </a:p>
          </p:txBody>
        </p:sp>
        <p:sp>
          <p:nvSpPr>
            <p:cNvPr id="178207" name="Line 42"/>
            <p:cNvSpPr/>
            <p:nvPr/>
          </p:nvSpPr>
          <p:spPr>
            <a:xfrm>
              <a:off x="4450" y="3198"/>
              <a:ext cx="184" cy="1"/>
            </a:xfrm>
            <a:prstGeom prst="line">
              <a:avLst/>
            </a:prstGeom>
            <a:ln w="9525" cap="flat" cmpd="sng">
              <a:solidFill>
                <a:schemeClr val="tx1"/>
              </a:solidFill>
              <a:prstDash val="solid"/>
              <a:headEnd type="none" w="med" len="med"/>
              <a:tailEnd type="none" w="med" len="med"/>
            </a:ln>
          </p:spPr>
        </p:sp>
        <p:sp>
          <p:nvSpPr>
            <p:cNvPr id="178208" name="Line 43"/>
            <p:cNvSpPr/>
            <p:nvPr/>
          </p:nvSpPr>
          <p:spPr>
            <a:xfrm>
              <a:off x="4457" y="3007"/>
              <a:ext cx="177" cy="0"/>
            </a:xfrm>
            <a:prstGeom prst="line">
              <a:avLst/>
            </a:prstGeom>
            <a:ln w="9525" cap="flat" cmpd="sng">
              <a:solidFill>
                <a:schemeClr val="tx1"/>
              </a:solidFill>
              <a:prstDash val="solid"/>
              <a:headEnd type="none" w="med" len="med"/>
              <a:tailEnd type="none" w="med" len="med"/>
            </a:ln>
          </p:spPr>
        </p:sp>
        <p:sp>
          <p:nvSpPr>
            <p:cNvPr id="178209" name="Text Box 48"/>
            <p:cNvSpPr txBox="1"/>
            <p:nvPr/>
          </p:nvSpPr>
          <p:spPr>
            <a:xfrm>
              <a:off x="4784" y="3289"/>
              <a:ext cx="249"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al</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78210" name="Text Box 49"/>
            <p:cNvSpPr txBox="1"/>
            <p:nvPr/>
          </p:nvSpPr>
          <p:spPr>
            <a:xfrm>
              <a:off x="4942" y="2858"/>
              <a:ext cx="192"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sp>
          <p:nvSpPr>
            <p:cNvPr id="178211" name="AutoShape 52"/>
            <p:cNvSpPr/>
            <p:nvPr/>
          </p:nvSpPr>
          <p:spPr>
            <a:xfrm rot="-5448763">
              <a:off x="4458" y="2992"/>
              <a:ext cx="535" cy="214"/>
            </a:xfrm>
            <a:custGeom>
              <a:avLst/>
              <a:gdLst/>
              <a:ahLst/>
              <a:cxnLst>
                <a:cxn ang="0">
                  <a:pos x="0" y="0"/>
                </a:cxn>
                <a:cxn ang="0">
                  <a:pos x="3" y="2"/>
                </a:cxn>
                <a:cxn ang="0">
                  <a:pos x="10" y="2"/>
                </a:cxn>
                <a:cxn ang="0">
                  <a:pos x="13" y="0"/>
                </a:cxn>
                <a:cxn ang="0">
                  <a:pos x="0" y="0"/>
                </a:cxn>
              </a:cxnLst>
              <a:pathLst>
                <a:path w="21600" h="21600">
                  <a:moveTo>
                    <a:pt x="0" y="0"/>
                  </a:moveTo>
                  <a:lnTo>
                    <a:pt x="5400" y="21600"/>
                  </a:lnTo>
                  <a:lnTo>
                    <a:pt x="16200" y="21600"/>
                  </a:lnTo>
                  <a:lnTo>
                    <a:pt x="21600" y="0"/>
                  </a:lnTo>
                  <a:lnTo>
                    <a:pt x="0" y="0"/>
                  </a:lnTo>
                  <a:close/>
                </a:path>
              </a:pathLst>
            </a:custGeom>
            <a:solidFill>
              <a:srgbClr val="CC9900">
                <a:alpha val="100000"/>
              </a:srgbClr>
            </a:solidFill>
            <a:ln w="9525">
              <a:noFill/>
            </a:ln>
          </p:spPr>
          <p:txBody>
            <a:bodyPr/>
            <a:p>
              <a:endParaRPr lang="zh-CN" altLang="en-US"/>
            </a:p>
          </p:txBody>
        </p:sp>
        <p:sp>
          <p:nvSpPr>
            <p:cNvPr id="178212" name="Line 53"/>
            <p:cNvSpPr/>
            <p:nvPr/>
          </p:nvSpPr>
          <p:spPr>
            <a:xfrm>
              <a:off x="4740" y="3308"/>
              <a:ext cx="0" cy="164"/>
            </a:xfrm>
            <a:prstGeom prst="line">
              <a:avLst/>
            </a:prstGeom>
            <a:ln w="9525" cap="flat" cmpd="sng">
              <a:solidFill>
                <a:schemeClr val="tx1"/>
              </a:solidFill>
              <a:prstDash val="solid"/>
              <a:headEnd type="none" w="med" len="med"/>
              <a:tailEnd type="none" w="med" len="med"/>
            </a:ln>
          </p:spPr>
        </p:sp>
        <p:sp>
          <p:nvSpPr>
            <p:cNvPr id="178213" name="Text Box 54"/>
            <p:cNvSpPr txBox="1"/>
            <p:nvPr/>
          </p:nvSpPr>
          <p:spPr>
            <a:xfrm>
              <a:off x="4371" y="3491"/>
              <a:ext cx="921" cy="212"/>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sz="1600" b="1" dirty="0">
                  <a:solidFill>
                    <a:srgbClr val="CC3300"/>
                  </a:solidFill>
                  <a:latin typeface="Tahoma" panose="020B0604030504040204" pitchFamily="34" charset="0"/>
                  <a:ea typeface="宋体" panose="02010600030101010101" pitchFamily="2" charset="-122"/>
                </a:rPr>
                <a:t>multiplexer</a:t>
              </a:r>
              <a:endParaRPr lang="en-US" altLang="zh-CN" sz="1600" b="1" dirty="0">
                <a:solidFill>
                  <a:srgbClr val="CC3300"/>
                </a:solidFill>
                <a:latin typeface="Tahoma" panose="020B0604030504040204" pitchFamily="34" charset="0"/>
                <a:ea typeface="宋体" panose="02010600030101010101" pitchFamily="2" charset="-122"/>
              </a:endParaRPr>
            </a:p>
          </p:txBody>
        </p:sp>
      </p:grpSp>
      <p:sp>
        <p:nvSpPr>
          <p:cNvPr id="1721403" name="AutoShape 59"/>
          <p:cNvSpPr/>
          <p:nvPr/>
        </p:nvSpPr>
        <p:spPr>
          <a:xfrm>
            <a:off x="5541963" y="5064125"/>
            <a:ext cx="2895600" cy="381000"/>
          </a:xfrm>
          <a:prstGeom prst="wedgeRectCallout">
            <a:avLst>
              <a:gd name="adj1" fmla="val -40569"/>
              <a:gd name="adj2" fmla="val -215833"/>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imes New Roman" panose="02020603050405020304" pitchFamily="18" charset="0"/>
                <a:ea typeface="华文楷体" panose="02010600040101010101" pitchFamily="2" charset="-122"/>
              </a:rPr>
              <a:t>当</a:t>
            </a:r>
            <a:r>
              <a:rPr lang="en-US" altLang="zh-CN" b="1" dirty="0">
                <a:latin typeface="华文楷体" panose="02010600040101010101" pitchFamily="2" charset="-122"/>
                <a:ea typeface="华文楷体" panose="02010600040101010101" pitchFamily="2" charset="-122"/>
              </a:rPr>
              <a:t>al</a:t>
            </a:r>
            <a:r>
              <a:rPr lang="zh-CN" altLang="en-US" b="1" dirty="0">
                <a:latin typeface="华文楷体" panose="02010600040101010101" pitchFamily="2" charset="-122"/>
                <a:ea typeface="华文楷体" panose="02010600040101010101" pitchFamily="2" charset="-122"/>
              </a:rPr>
              <a:t>为</a:t>
            </a:r>
            <a:r>
              <a:rPr lang="en-US" altLang="zh-CN" b="1" dirty="0">
                <a:latin typeface="华文楷体" panose="02010600040101010101" pitchFamily="2" charset="-122"/>
                <a:ea typeface="华文楷体" panose="02010600040101010101" pitchFamily="2" charset="-122"/>
              </a:rPr>
              <a:t>0</a:t>
            </a:r>
            <a:r>
              <a:rPr lang="zh-CN" altLang="en-US" b="1" dirty="0">
                <a:latin typeface="华文楷体" panose="02010600040101010101" pitchFamily="2" charset="-122"/>
                <a:ea typeface="华文楷体" panose="02010600040101010101" pitchFamily="2" charset="-122"/>
              </a:rPr>
              <a:t>时，</a:t>
            </a:r>
            <a:r>
              <a:rPr lang="en-US" altLang="zh-CN" b="1" dirty="0">
                <a:latin typeface="华文楷体" panose="02010600040101010101" pitchFamily="2" charset="-122"/>
                <a:ea typeface="华文楷体" panose="02010600040101010101" pitchFamily="2" charset="-122"/>
              </a:rPr>
              <a:t>q</a:t>
            </a:r>
            <a:r>
              <a:rPr lang="zh-CN" altLang="en-US" b="1" dirty="0">
                <a:latin typeface="华文楷体" panose="02010600040101010101" pitchFamily="2" charset="-122"/>
                <a:ea typeface="华文楷体" panose="02010600040101010101" pitchFamily="2" charset="-122"/>
              </a:rPr>
              <a:t>等于</a:t>
            </a:r>
            <a:r>
              <a:rPr lang="en-US" altLang="zh-CN" b="1" dirty="0">
                <a:latin typeface="华文楷体" panose="02010600040101010101" pitchFamily="2" charset="-122"/>
                <a:ea typeface="华文楷体" panose="02010600040101010101" pitchFamily="2" charset="-122"/>
              </a:rPr>
              <a:t>0</a:t>
            </a:r>
            <a:r>
              <a:rPr lang="zh-CN" altLang="en-US" b="1" dirty="0">
                <a:latin typeface="华文楷体" panose="02010600040101010101" pitchFamily="2" charset="-122"/>
                <a:ea typeface="华文楷体" panose="02010600040101010101" pitchFamily="2" charset="-122"/>
              </a:rPr>
              <a:t>！</a:t>
            </a:r>
            <a:endParaRPr lang="zh-CN" altLang="en-US" b="1" dirty="0">
              <a:latin typeface="华文楷体" panose="02010600040101010101" pitchFamily="2" charset="-122"/>
              <a:ea typeface="华文楷体" panose="02010600040101010101" pitchFamily="2" charset="-122"/>
            </a:endParaRPr>
          </a:p>
        </p:txBody>
      </p:sp>
      <p:grpSp>
        <p:nvGrpSpPr>
          <p:cNvPr id="3" name="Group 56"/>
          <p:cNvGrpSpPr/>
          <p:nvPr/>
        </p:nvGrpSpPr>
        <p:grpSpPr>
          <a:xfrm>
            <a:off x="481013" y="2589213"/>
            <a:ext cx="3792537" cy="1781175"/>
            <a:chOff x="294" y="2687"/>
            <a:chExt cx="2389" cy="1122"/>
          </a:xfrm>
        </p:grpSpPr>
        <p:sp>
          <p:nvSpPr>
            <p:cNvPr id="178187" name="Text Box 4"/>
            <p:cNvSpPr txBox="1"/>
            <p:nvPr/>
          </p:nvSpPr>
          <p:spPr>
            <a:xfrm>
              <a:off x="294" y="2687"/>
              <a:ext cx="2389" cy="1122"/>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always@ (al or d)</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begin</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if(al)  q&lt;=d</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end</a:t>
              </a:r>
              <a:endParaRPr lang="en-US" altLang="zh-CN" b="1" dirty="0">
                <a:latin typeface="Times New Roman" panose="02020603050405020304" pitchFamily="18" charset="0"/>
                <a:ea typeface="宋体" panose="02010600030101010101" pitchFamily="2" charset="-122"/>
              </a:endParaRPr>
            </a:p>
          </p:txBody>
        </p:sp>
        <p:grpSp>
          <p:nvGrpSpPr>
            <p:cNvPr id="178188" name="Group 51"/>
            <p:cNvGrpSpPr/>
            <p:nvPr/>
          </p:nvGrpSpPr>
          <p:grpSpPr>
            <a:xfrm>
              <a:off x="1513" y="2905"/>
              <a:ext cx="1059" cy="804"/>
              <a:chOff x="2516" y="1045"/>
              <a:chExt cx="1059" cy="804"/>
            </a:xfrm>
          </p:grpSpPr>
          <p:sp>
            <p:nvSpPr>
              <p:cNvPr id="178189" name="Rectangle 11"/>
              <p:cNvSpPr/>
              <p:nvPr/>
            </p:nvSpPr>
            <p:spPr>
              <a:xfrm>
                <a:off x="2534" y="1045"/>
                <a:ext cx="1041" cy="789"/>
              </a:xfrm>
              <a:prstGeom prst="rect">
                <a:avLst/>
              </a:prstGeom>
              <a:solidFill>
                <a:srgbClr val="CCFFCC"/>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178190" name="Line 12"/>
              <p:cNvSpPr/>
              <p:nvPr/>
            </p:nvSpPr>
            <p:spPr>
              <a:xfrm>
                <a:off x="3294" y="1384"/>
                <a:ext cx="227" cy="0"/>
              </a:xfrm>
              <a:prstGeom prst="line">
                <a:avLst/>
              </a:prstGeom>
              <a:ln w="9525" cap="flat" cmpd="sng">
                <a:solidFill>
                  <a:schemeClr val="tx1"/>
                </a:solidFill>
                <a:prstDash val="solid"/>
                <a:headEnd type="none" w="med" len="med"/>
                <a:tailEnd type="none" w="med" len="med"/>
              </a:ln>
            </p:spPr>
          </p:sp>
          <p:sp>
            <p:nvSpPr>
              <p:cNvPr id="178191" name="Text Box 13"/>
              <p:cNvSpPr txBox="1"/>
              <p:nvPr/>
            </p:nvSpPr>
            <p:spPr>
              <a:xfrm>
                <a:off x="2550" y="1453"/>
                <a:ext cx="384" cy="250"/>
              </a:xfrm>
              <a:prstGeom prst="rect">
                <a:avLst/>
              </a:prstGeom>
              <a:solidFill>
                <a:srgbClr val="CCFFCC"/>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d</a:t>
                </a:r>
                <a:endParaRPr lang="en-US" altLang="zh-CN" dirty="0">
                  <a:latin typeface="Times New Roman" panose="02020603050405020304" pitchFamily="18" charset="0"/>
                  <a:ea typeface="宋体" panose="02010600030101010101" pitchFamily="2" charset="-122"/>
                </a:endParaRPr>
              </a:p>
            </p:txBody>
          </p:sp>
          <p:sp>
            <p:nvSpPr>
              <p:cNvPr id="178192" name="Text Box 14"/>
              <p:cNvSpPr txBox="1"/>
              <p:nvPr/>
            </p:nvSpPr>
            <p:spPr>
              <a:xfrm>
                <a:off x="2882" y="1618"/>
                <a:ext cx="432" cy="23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sz="1800" dirty="0">
                    <a:solidFill>
                      <a:srgbClr val="CC3300"/>
                    </a:solidFill>
                    <a:latin typeface="Times New Roman" panose="02020603050405020304" pitchFamily="18" charset="0"/>
                    <a:ea typeface="宋体" panose="02010600030101010101" pitchFamily="2" charset="-122"/>
                  </a:rPr>
                  <a:t>DFF</a:t>
                </a:r>
                <a:endParaRPr lang="en-US" altLang="zh-CN" sz="1800" dirty="0">
                  <a:solidFill>
                    <a:srgbClr val="CC3300"/>
                  </a:solidFill>
                  <a:latin typeface="Times New Roman" panose="02020603050405020304" pitchFamily="18" charset="0"/>
                  <a:ea typeface="宋体" panose="02010600030101010101" pitchFamily="2" charset="-122"/>
                </a:endParaRPr>
              </a:p>
            </p:txBody>
          </p:sp>
          <p:sp>
            <p:nvSpPr>
              <p:cNvPr id="178193" name="Rectangle 16"/>
              <p:cNvSpPr/>
              <p:nvPr/>
            </p:nvSpPr>
            <p:spPr>
              <a:xfrm>
                <a:off x="2835" y="1146"/>
                <a:ext cx="466" cy="480"/>
              </a:xfrm>
              <a:prstGeom prst="rect">
                <a:avLst/>
              </a:prstGeom>
              <a:solidFill>
                <a:srgbClr val="CC990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194" name="Line 17"/>
              <p:cNvSpPr/>
              <p:nvPr/>
            </p:nvSpPr>
            <p:spPr>
              <a:xfrm>
                <a:off x="2651" y="1481"/>
                <a:ext cx="184" cy="1"/>
              </a:xfrm>
              <a:prstGeom prst="line">
                <a:avLst/>
              </a:prstGeom>
              <a:ln w="9525" cap="flat" cmpd="sng">
                <a:solidFill>
                  <a:schemeClr val="tx1"/>
                </a:solidFill>
                <a:prstDash val="solid"/>
                <a:headEnd type="none" w="med" len="med"/>
                <a:tailEnd type="none" w="med" len="med"/>
              </a:ln>
            </p:spPr>
          </p:sp>
          <p:sp>
            <p:nvSpPr>
              <p:cNvPr id="178195" name="Line 19"/>
              <p:cNvSpPr/>
              <p:nvPr/>
            </p:nvSpPr>
            <p:spPr>
              <a:xfrm>
                <a:off x="2658" y="1290"/>
                <a:ext cx="177" cy="0"/>
              </a:xfrm>
              <a:prstGeom prst="line">
                <a:avLst/>
              </a:prstGeom>
              <a:ln w="9525" cap="flat" cmpd="sng">
                <a:solidFill>
                  <a:schemeClr val="tx1"/>
                </a:solidFill>
                <a:prstDash val="solid"/>
                <a:headEnd type="none" w="med" len="med"/>
                <a:tailEnd type="none" w="med" len="med"/>
              </a:ln>
            </p:spPr>
          </p:sp>
          <p:sp>
            <p:nvSpPr>
              <p:cNvPr id="178196" name="Text Box 20"/>
              <p:cNvSpPr txBox="1"/>
              <p:nvPr/>
            </p:nvSpPr>
            <p:spPr>
              <a:xfrm>
                <a:off x="2835" y="1338"/>
                <a:ext cx="217" cy="423"/>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sz="1800" dirty="0">
                    <a:latin typeface="Times New Roman" panose="02020603050405020304" pitchFamily="18" charset="0"/>
                    <a:ea typeface="宋体" panose="02010600030101010101" pitchFamily="2" charset="-122"/>
                  </a:rPr>
                  <a:t>D</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178197" name="Text Box 21"/>
              <p:cNvSpPr txBox="1"/>
              <p:nvPr/>
            </p:nvSpPr>
            <p:spPr>
              <a:xfrm>
                <a:off x="3055" y="1256"/>
                <a:ext cx="216" cy="231"/>
              </a:xfrm>
              <a:prstGeom prst="rect">
                <a:avLst/>
              </a:prstGeom>
              <a:solidFill>
                <a:srgbClr val="CC9900"/>
              </a:solid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sz="1800" dirty="0">
                    <a:latin typeface="Times New Roman" panose="02020603050405020304" pitchFamily="18" charset="0"/>
                    <a:ea typeface="宋体" panose="02010600030101010101" pitchFamily="2" charset="-122"/>
                  </a:rPr>
                  <a:t>Q</a:t>
                </a:r>
                <a:endParaRPr lang="en-US" altLang="zh-CN" sz="1800" dirty="0">
                  <a:latin typeface="Times New Roman" panose="02020603050405020304" pitchFamily="18" charset="0"/>
                  <a:ea typeface="宋体" panose="02010600030101010101" pitchFamily="2" charset="-122"/>
                </a:endParaRPr>
              </a:p>
            </p:txBody>
          </p:sp>
          <p:sp>
            <p:nvSpPr>
              <p:cNvPr id="178198" name="Line 22"/>
              <p:cNvSpPr/>
              <p:nvPr/>
            </p:nvSpPr>
            <p:spPr>
              <a:xfrm>
                <a:off x="2835" y="1242"/>
                <a:ext cx="144" cy="48"/>
              </a:xfrm>
              <a:prstGeom prst="line">
                <a:avLst/>
              </a:prstGeom>
              <a:ln w="9525" cap="flat" cmpd="sng">
                <a:solidFill>
                  <a:srgbClr val="FFFFFF"/>
                </a:solidFill>
                <a:prstDash val="solid"/>
                <a:headEnd type="none" w="med" len="med"/>
                <a:tailEnd type="none" w="med" len="med"/>
              </a:ln>
            </p:spPr>
          </p:sp>
          <p:sp>
            <p:nvSpPr>
              <p:cNvPr id="178199" name="Line 23"/>
              <p:cNvSpPr/>
              <p:nvPr/>
            </p:nvSpPr>
            <p:spPr>
              <a:xfrm flipH="1">
                <a:off x="2835" y="1290"/>
                <a:ext cx="144" cy="48"/>
              </a:xfrm>
              <a:prstGeom prst="line">
                <a:avLst/>
              </a:prstGeom>
              <a:ln w="9525" cap="flat" cmpd="sng">
                <a:solidFill>
                  <a:srgbClr val="FFFFFF"/>
                </a:solidFill>
                <a:prstDash val="solid"/>
                <a:headEnd type="none" w="med" len="med"/>
                <a:tailEnd type="none" w="med" len="med"/>
              </a:ln>
            </p:spPr>
          </p:sp>
          <p:sp>
            <p:nvSpPr>
              <p:cNvPr id="178200" name="Text Box 33"/>
              <p:cNvSpPr txBox="1"/>
              <p:nvPr/>
            </p:nvSpPr>
            <p:spPr>
              <a:xfrm>
                <a:off x="2516" y="1045"/>
                <a:ext cx="249"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al</a:t>
                </a:r>
                <a:endParaRPr lang="en-US" altLang="zh-CN" dirty="0">
                  <a:solidFill>
                    <a:schemeClr val="bg2"/>
                  </a:solidFill>
                  <a:latin typeface="Times New Roman" panose="02020603050405020304" pitchFamily="18" charset="0"/>
                  <a:ea typeface="宋体" panose="02010600030101010101" pitchFamily="2" charset="-122"/>
                </a:endParaRPr>
              </a:p>
            </p:txBody>
          </p:sp>
          <p:sp>
            <p:nvSpPr>
              <p:cNvPr id="178201" name="Text Box 34"/>
              <p:cNvSpPr txBox="1"/>
              <p:nvPr/>
            </p:nvSpPr>
            <p:spPr>
              <a:xfrm>
                <a:off x="3356" y="1100"/>
                <a:ext cx="192" cy="25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chemeClr val="tx2"/>
                  </a:buClr>
                  <a:buNone/>
                </a:pPr>
                <a:r>
                  <a:rPr lang="en-US" altLang="zh-CN" dirty="0">
                    <a:solidFill>
                      <a:schemeClr val="bg2"/>
                    </a:solidFill>
                    <a:latin typeface="Times New Roman" panose="02020603050405020304" pitchFamily="18" charset="0"/>
                    <a:ea typeface="宋体" panose="02010600030101010101" pitchFamily="2" charset="-122"/>
                  </a:rPr>
                  <a:t>q</a:t>
                </a:r>
                <a:endParaRPr lang="en-US" altLang="zh-CN" dirty="0">
                  <a:latin typeface="Times New Roman" panose="02020603050405020304" pitchFamily="18" charset="0"/>
                  <a:ea typeface="宋体" panose="02010600030101010101" pitchFamily="2" charset="-122"/>
                </a:endParaRPr>
              </a:p>
            </p:txBody>
          </p:sp>
        </p:grpSp>
      </p:grpSp>
      <p:sp>
        <p:nvSpPr>
          <p:cNvPr id="20" name="AutoShape 9"/>
          <p:cNvSpPr/>
          <p:nvPr/>
        </p:nvSpPr>
        <p:spPr>
          <a:xfrm>
            <a:off x="1511300" y="4546600"/>
            <a:ext cx="2895600" cy="381000"/>
          </a:xfrm>
          <a:prstGeom prst="wedgeRectCallout">
            <a:avLst>
              <a:gd name="adj1" fmla="val -49343"/>
              <a:gd name="adj2" fmla="val -233750"/>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当</a:t>
            </a:r>
            <a:r>
              <a:rPr lang="en-US" altLang="zh-CN" b="1" dirty="0">
                <a:latin typeface="华文楷体" panose="02010600040101010101" pitchFamily="2" charset="-122"/>
                <a:ea typeface="华文楷体" panose="02010600040101010101" pitchFamily="2" charset="-122"/>
              </a:rPr>
              <a:t>al</a:t>
            </a:r>
            <a:r>
              <a:rPr lang="zh-CN" altLang="en-US" b="1" dirty="0">
                <a:latin typeface="华文楷体" panose="02010600040101010101" pitchFamily="2" charset="-122"/>
                <a:ea typeface="华文楷体" panose="02010600040101010101" pitchFamily="2" charset="-122"/>
              </a:rPr>
              <a:t>为</a:t>
            </a:r>
            <a:r>
              <a:rPr lang="en-US" altLang="zh-CN" b="1" dirty="0">
                <a:latin typeface="华文楷体" panose="02010600040101010101" pitchFamily="2" charset="-122"/>
                <a:ea typeface="华文楷体" panose="02010600040101010101" pitchFamily="2" charset="-122"/>
              </a:rPr>
              <a:t>0</a:t>
            </a:r>
            <a:r>
              <a:rPr lang="zh-CN" altLang="en-US" b="1" dirty="0">
                <a:latin typeface="华文楷体" panose="02010600040101010101" pitchFamily="2" charset="-122"/>
                <a:ea typeface="华文楷体" panose="02010600040101010101" pitchFamily="2" charset="-122"/>
              </a:rPr>
              <a:t>时，</a:t>
            </a:r>
            <a:r>
              <a:rPr lang="en-US" altLang="zh-CN" b="1" dirty="0">
                <a:latin typeface="华文楷体" panose="02010600040101010101" pitchFamily="2" charset="-122"/>
                <a:ea typeface="华文楷体" panose="02010600040101010101" pitchFamily="2" charset="-122"/>
              </a:rPr>
              <a:t>q</a:t>
            </a:r>
            <a:r>
              <a:rPr lang="zh-CN" altLang="en-US" b="1" dirty="0">
                <a:latin typeface="华文楷体" panose="02010600040101010101" pitchFamily="2" charset="-122"/>
                <a:ea typeface="华文楷体" panose="02010600040101010101" pitchFamily="2" charset="-122"/>
              </a:rPr>
              <a:t>保持原值！</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21347"/>
                                        </p:tgtEl>
                                        <p:attrNameLst>
                                          <p:attrName>style.visibility</p:attrName>
                                        </p:attrNameLst>
                                      </p:cBhvr>
                                      <p:to>
                                        <p:strVal val="visible"/>
                                      </p:to>
                                    </p:set>
                                    <p:anim calcmode="lin" valueType="num">
                                      <p:cBhvr>
                                        <p:cTn id="7" dur="500" fill="hold"/>
                                        <p:tgtEl>
                                          <p:spTgt spid="1721347"/>
                                        </p:tgtEl>
                                        <p:attrNameLst>
                                          <p:attrName>ppt_w</p:attrName>
                                        </p:attrNameLst>
                                      </p:cBhvr>
                                      <p:tavLst>
                                        <p:tav tm="0">
                                          <p:val>
                                            <p:fltVal val="0.000000"/>
                                          </p:val>
                                        </p:tav>
                                        <p:tav tm="100000">
                                          <p:val>
                                            <p:strVal val="#ppt_w"/>
                                          </p:val>
                                        </p:tav>
                                      </p:tavLst>
                                    </p:anim>
                                    <p:anim calcmode="lin" valueType="num">
                                      <p:cBhvr>
                                        <p:cTn id="8" dur="500" fill="hold"/>
                                        <p:tgtEl>
                                          <p:spTgt spid="1721347"/>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21349"/>
                                        </p:tgtEl>
                                        <p:attrNameLst>
                                          <p:attrName>style.visibility</p:attrName>
                                        </p:attrNameLst>
                                      </p:cBhvr>
                                      <p:to>
                                        <p:strVal val="visible"/>
                                      </p:to>
                                    </p:set>
                                    <p:anim calcmode="lin" valueType="num">
                                      <p:cBhvr additive="base">
                                        <p:cTn id="13" dur="500" fill="hold"/>
                                        <p:tgtEl>
                                          <p:spTgt spid="1721349"/>
                                        </p:tgtEl>
                                        <p:attrNameLst>
                                          <p:attrName>ppt_x</p:attrName>
                                        </p:attrNameLst>
                                      </p:cBhvr>
                                      <p:tavLst>
                                        <p:tav tm="0">
                                          <p:val>
                                            <p:strVal val="0-#ppt_w/2"/>
                                          </p:val>
                                        </p:tav>
                                        <p:tav tm="100000">
                                          <p:val>
                                            <p:strVal val="#ppt_x"/>
                                          </p:val>
                                        </p:tav>
                                      </p:tavLst>
                                    </p:anim>
                                    <p:anim calcmode="lin" valueType="num">
                                      <p:cBhvr additive="base">
                                        <p:cTn id="14" dur="500" fill="hold"/>
                                        <p:tgtEl>
                                          <p:spTgt spid="172134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21351"/>
                                        </p:tgtEl>
                                        <p:attrNameLst>
                                          <p:attrName>style.visibility</p:attrName>
                                        </p:attrNameLst>
                                      </p:cBhvr>
                                      <p:to>
                                        <p:strVal val="visible"/>
                                      </p:to>
                                    </p:set>
                                    <p:anim calcmode="lin" valueType="num">
                                      <p:cBhvr additive="base">
                                        <p:cTn id="19" dur="500" fill="hold"/>
                                        <p:tgtEl>
                                          <p:spTgt spid="1721351"/>
                                        </p:tgtEl>
                                        <p:attrNameLst>
                                          <p:attrName>ppt_x</p:attrName>
                                        </p:attrNameLst>
                                      </p:cBhvr>
                                      <p:tavLst>
                                        <p:tav tm="0">
                                          <p:val>
                                            <p:strVal val="1+#ppt_w/2"/>
                                          </p:val>
                                        </p:tav>
                                        <p:tav tm="100000">
                                          <p:val>
                                            <p:strVal val="#ppt_x"/>
                                          </p:val>
                                        </p:tav>
                                      </p:tavLst>
                                    </p:anim>
                                    <p:anim calcmode="lin" valueType="num">
                                      <p:cBhvr additive="base">
                                        <p:cTn id="20" dur="500" fill="hold"/>
                                        <p:tgtEl>
                                          <p:spTgt spid="172135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6"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1+#ppt_w/2"/>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721403"/>
                                        </p:tgtEl>
                                        <p:attrNameLst>
                                          <p:attrName>style.visibility</p:attrName>
                                        </p:attrNameLst>
                                      </p:cBhvr>
                                      <p:to>
                                        <p:strVal val="visible"/>
                                      </p:to>
                                    </p:set>
                                    <p:animEffect transition="in" filter="dissolve">
                                      <p:cBhvr>
                                        <p:cTn id="30" dur="500"/>
                                        <p:tgtEl>
                                          <p:spTgt spid="1721403"/>
                                        </p:tgtEl>
                                      </p:cBhvr>
                                    </p:animEffect>
                                  </p:childTnLst>
                                </p:cTn>
                              </p:par>
                            </p:childTnLst>
                          </p:cTn>
                        </p:par>
                        <p:par>
                          <p:cTn id="31" fill="hold">
                            <p:stCondLst>
                              <p:cond delay="500"/>
                            </p:stCondLst>
                            <p:childTnLst>
                              <p:par>
                                <p:cTn id="32" presetID="2" presetClass="entr" presetSubtype="12"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ppt_x</p:attrName>
                                        </p:attrNameLst>
                                      </p:cBhvr>
                                      <p:tavLst>
                                        <p:tav tm="0">
                                          <p:val>
                                            <p:strVal val="0-#ppt_w/2"/>
                                          </p:val>
                                        </p:tav>
                                        <p:tav tm="100000">
                                          <p:val>
                                            <p:strVal val="#ppt_x"/>
                                          </p:val>
                                        </p:tav>
                                      </p:tavLst>
                                    </p:anim>
                                    <p:anim calcmode="lin" valueType="num">
                                      <p:cBhvr>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dissolve">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1347" grpId="0" bldLvl="0" animBg="1"/>
      <p:bldP spid="1721349" grpId="0"/>
      <p:bldP spid="1721351" grpId="0"/>
      <p:bldP spid="1721403" grpId="0" bldLvl="0" animBg="1"/>
      <p:bldP spid="20"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02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8022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7  </a:t>
            </a:r>
            <a:r>
              <a:rPr lang="zh-CN" altLang="en-US" dirty="0">
                <a:latin typeface="华文楷体" panose="02010600040101010101" pitchFamily="2" charset="-122"/>
                <a:ea typeface="黑体" panose="02010609060101010101" pitchFamily="49" charset="-122"/>
                <a:cs typeface="+mj-cs"/>
              </a:rPr>
              <a:t>条件语句</a:t>
            </a:r>
            <a:endParaRPr lang="zh-CN" altLang="en-US" dirty="0">
              <a:latin typeface="华文楷体" panose="02010600040101010101" pitchFamily="2" charset="-122"/>
              <a:ea typeface="黑体" panose="02010609060101010101" pitchFamily="49" charset="-122"/>
              <a:cs typeface="+mj-cs"/>
            </a:endParaRPr>
          </a:p>
        </p:txBody>
      </p:sp>
      <p:sp>
        <p:nvSpPr>
          <p:cNvPr id="1723396" name="Text Box 4"/>
          <p:cNvSpPr txBox="1"/>
          <p:nvPr/>
        </p:nvSpPr>
        <p:spPr>
          <a:xfrm>
            <a:off x="536575" y="2192338"/>
            <a:ext cx="3429000" cy="2238375"/>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always@ (sel[1:0] or a or b)</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case(sel[1:0])</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2’b00: q&lt;=a</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2’b11: q&lt;=b</a:t>
            </a:r>
            <a:r>
              <a:rPr lang="zh-CN" altLang="en-US" b="1" dirty="0">
                <a:latin typeface="Times New Roman" panose="02020603050405020304" pitchFamily="18" charset="0"/>
                <a:ea typeface="宋体" panose="02010600030101010101" pitchFamily="2" charset="-122"/>
              </a:rPr>
              <a:t>； </a:t>
            </a:r>
            <a:endParaRPr lang="zh-CN" altLang="en-US"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endcase</a:t>
            </a:r>
            <a:endParaRPr lang="en-US" altLang="zh-CN" b="1" dirty="0">
              <a:latin typeface="Times New Roman" panose="02020603050405020304" pitchFamily="18" charset="0"/>
              <a:ea typeface="宋体" panose="02010600030101010101" pitchFamily="2" charset="-122"/>
            </a:endParaRPr>
          </a:p>
        </p:txBody>
      </p:sp>
      <p:sp>
        <p:nvSpPr>
          <p:cNvPr id="1723397" name="Text Box 5"/>
          <p:cNvSpPr txBox="1"/>
          <p:nvPr/>
        </p:nvSpPr>
        <p:spPr>
          <a:xfrm>
            <a:off x="755650" y="1720850"/>
            <a:ext cx="3352800" cy="42703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200" dirty="0">
                <a:latin typeface="方正姚体" panose="02010601030101010101" pitchFamily="2" charset="-122"/>
                <a:ea typeface="方正姚体" panose="02010601030101010101" pitchFamily="2" charset="-122"/>
              </a:rPr>
              <a:t>生成了不想要的锁存器：</a:t>
            </a:r>
            <a:endParaRPr lang="zh-CN" altLang="en-US" sz="2200" dirty="0">
              <a:latin typeface="方正姚体" panose="02010601030101010101" pitchFamily="2" charset="-122"/>
              <a:ea typeface="方正姚体" panose="02010601030101010101" pitchFamily="2" charset="-122"/>
            </a:endParaRPr>
          </a:p>
        </p:txBody>
      </p:sp>
      <p:sp>
        <p:nvSpPr>
          <p:cNvPr id="1723398" name="Text Box 6"/>
          <p:cNvSpPr txBox="1"/>
          <p:nvPr/>
        </p:nvSpPr>
        <p:spPr>
          <a:xfrm>
            <a:off x="4805363" y="2235200"/>
            <a:ext cx="3276600" cy="2660650"/>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a:t>
            </a:r>
            <a:r>
              <a:rPr lang="zh-CN" altLang="en-US" b="1" dirty="0">
                <a:solidFill>
                  <a:srgbClr val="FF3399"/>
                </a:solidFill>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设计一个数据选择器</a:t>
            </a:r>
            <a:endParaRPr lang="zh-CN" altLang="en-US"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always@ (sel[1:0] or a or b)</a:t>
            </a:r>
            <a:endParaRPr lang="en-US" altLang="zh-CN"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   case(sel[1:0])</a:t>
            </a:r>
            <a:endParaRPr lang="en-US" altLang="zh-CN"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en-US" altLang="zh-CN" b="1" dirty="0">
                <a:latin typeface="Times New Roman" panose="02020603050405020304" pitchFamily="18" charset="0"/>
                <a:ea typeface="宋体" panose="02010600030101010101" pitchFamily="2" charset="-122"/>
              </a:rPr>
              <a:t>        2’b00:   q&lt;=a</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2’b11:   q&lt;=b</a:t>
            </a:r>
            <a:r>
              <a:rPr lang="zh-CN" altLang="en-US" b="1" dirty="0">
                <a:latin typeface="Times New Roman" panose="02020603050405020304" pitchFamily="18" charset="0"/>
                <a:ea typeface="宋体" panose="02010600030101010101" pitchFamily="2" charset="-122"/>
              </a:rPr>
              <a:t>；</a:t>
            </a:r>
            <a:endParaRPr lang="zh-CN" altLang="en-US" b="1" dirty="0">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FF0066"/>
                </a:solidFill>
                <a:latin typeface="Times New Roman" panose="02020603050405020304" pitchFamily="18" charset="0"/>
                <a:ea typeface="宋体" panose="02010600030101010101" pitchFamily="2" charset="-122"/>
              </a:rPr>
              <a:t>default: q&lt;=’b0</a:t>
            </a:r>
            <a:r>
              <a:rPr lang="zh-CN" altLang="en-US" b="1" dirty="0">
                <a:solidFill>
                  <a:srgbClr val="FF0066"/>
                </a:solidFill>
                <a:latin typeface="Times New Roman" panose="02020603050405020304" pitchFamily="18" charset="0"/>
                <a:ea typeface="宋体" panose="02010600030101010101" pitchFamily="2" charset="-122"/>
              </a:rPr>
              <a:t>；</a:t>
            </a:r>
            <a:endParaRPr lang="zh-CN" altLang="en-US" b="1" dirty="0">
              <a:solidFill>
                <a:srgbClr val="FF0066"/>
              </a:solidFill>
              <a:latin typeface="Times New Roman" panose="02020603050405020304" pitchFamily="18" charset="0"/>
              <a:ea typeface="宋体" panose="02010600030101010101" pitchFamily="2" charset="-122"/>
            </a:endParaRPr>
          </a:p>
          <a:p>
            <a:pPr marL="0" lvl="0" indent="0" eaLnBrk="1" hangingPunct="1">
              <a:lnSpc>
                <a:spcPct val="12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endcase</a:t>
            </a:r>
            <a:endParaRPr lang="en-US" altLang="zh-CN" b="1" dirty="0">
              <a:latin typeface="Times New Roman" panose="02020603050405020304" pitchFamily="18" charset="0"/>
              <a:ea typeface="宋体" panose="02010600030101010101" pitchFamily="2" charset="-122"/>
            </a:endParaRPr>
          </a:p>
        </p:txBody>
      </p:sp>
      <p:sp>
        <p:nvSpPr>
          <p:cNvPr id="1723399" name="Text Box 7"/>
          <p:cNvSpPr txBox="1"/>
          <p:nvPr/>
        </p:nvSpPr>
        <p:spPr>
          <a:xfrm>
            <a:off x="5172075" y="1749425"/>
            <a:ext cx="2362200" cy="42703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200" dirty="0">
                <a:latin typeface="方正姚体" panose="02010601030101010101" pitchFamily="2" charset="-122"/>
                <a:ea typeface="方正姚体" panose="02010601030101010101" pitchFamily="2" charset="-122"/>
              </a:rPr>
              <a:t>不会生成锁存器：</a:t>
            </a:r>
            <a:endParaRPr lang="zh-CN" altLang="en-US" sz="2200" dirty="0">
              <a:latin typeface="方正姚体" panose="02010601030101010101" pitchFamily="2" charset="-122"/>
              <a:ea typeface="方正姚体" panose="02010601030101010101" pitchFamily="2" charset="-122"/>
            </a:endParaRPr>
          </a:p>
        </p:txBody>
      </p:sp>
      <p:sp>
        <p:nvSpPr>
          <p:cNvPr id="1723400" name="Text Box 8"/>
          <p:cNvSpPr txBox="1"/>
          <p:nvPr/>
        </p:nvSpPr>
        <p:spPr>
          <a:xfrm>
            <a:off x="1447800" y="1122363"/>
            <a:ext cx="3581400" cy="460375"/>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latin typeface="华文楷体" panose="02010600040101010101" pitchFamily="2" charset="-122"/>
                <a:ea typeface="华文楷体" panose="02010600040101010101" pitchFamily="2" charset="-122"/>
              </a:rPr>
              <a:t>如何正确使用</a:t>
            </a:r>
            <a:r>
              <a:rPr lang="en-US" altLang="zh-CN" sz="2200" b="1" dirty="0">
                <a:latin typeface="华文楷体" panose="02010600040101010101" pitchFamily="2" charset="-122"/>
                <a:ea typeface="华文楷体" panose="02010600040101010101" pitchFamily="2" charset="-122"/>
              </a:rPr>
              <a:t>case</a:t>
            </a:r>
            <a:r>
              <a:rPr lang="zh-CN" altLang="en-US" sz="2400" b="1" dirty="0">
                <a:latin typeface="华文楷体" panose="02010600040101010101" pitchFamily="2" charset="-122"/>
                <a:ea typeface="华文楷体" panose="02010600040101010101" pitchFamily="2" charset="-122"/>
              </a:rPr>
              <a:t>语句？</a:t>
            </a:r>
            <a:endParaRPr lang="zh-CN" altLang="en-US" sz="2400" b="1" dirty="0">
              <a:latin typeface="华文楷体" panose="02010600040101010101" pitchFamily="2" charset="-122"/>
              <a:ea typeface="华文楷体" panose="02010600040101010101" pitchFamily="2" charset="-122"/>
            </a:endParaRPr>
          </a:p>
        </p:txBody>
      </p:sp>
      <p:sp>
        <p:nvSpPr>
          <p:cNvPr id="1723401" name="AutoShape 9"/>
          <p:cNvSpPr/>
          <p:nvPr/>
        </p:nvSpPr>
        <p:spPr>
          <a:xfrm>
            <a:off x="1627188" y="4475163"/>
            <a:ext cx="2895600" cy="685800"/>
          </a:xfrm>
          <a:prstGeom prst="wedgeRectCallout">
            <a:avLst>
              <a:gd name="adj1" fmla="val -50000"/>
              <a:gd name="adj2" fmla="val -130093"/>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imes New Roman" panose="02020603050405020304" pitchFamily="18" charset="0"/>
                <a:ea typeface="华文楷体" panose="02010600040101010101" pitchFamily="2" charset="-122"/>
              </a:rPr>
              <a:t>当</a:t>
            </a:r>
            <a:r>
              <a:rPr lang="en-US" altLang="zh-CN" b="1" dirty="0">
                <a:latin typeface="Times New Roman" panose="02020603050405020304" pitchFamily="18" charset="0"/>
                <a:ea typeface="华文楷体" panose="02010600040101010101" pitchFamily="2" charset="-122"/>
              </a:rPr>
              <a:t>sel</a:t>
            </a:r>
            <a:r>
              <a:rPr lang="zh-CN" altLang="en-US" b="1" dirty="0">
                <a:latin typeface="Times New Roman" panose="02020603050405020304" pitchFamily="18" charset="0"/>
                <a:ea typeface="华文楷体" panose="02010600040101010101" pitchFamily="2" charset="-122"/>
              </a:rPr>
              <a:t>为</a:t>
            </a:r>
            <a:r>
              <a:rPr lang="en-US" altLang="zh-CN" b="1" dirty="0">
                <a:latin typeface="Times New Roman" panose="02020603050405020304" pitchFamily="18" charset="0"/>
                <a:ea typeface="华文楷体" panose="02010600040101010101" pitchFamily="2" charset="-122"/>
              </a:rPr>
              <a:t>00</a:t>
            </a:r>
            <a:r>
              <a:rPr lang="zh-CN" altLang="en-US" b="1" dirty="0">
                <a:latin typeface="Times New Roman" panose="02020603050405020304" pitchFamily="18" charset="0"/>
                <a:ea typeface="华文楷体" panose="02010600040101010101" pitchFamily="2" charset="-122"/>
              </a:rPr>
              <a:t>或</a:t>
            </a:r>
            <a:r>
              <a:rPr lang="en-US" altLang="zh-CN" b="1" dirty="0">
                <a:latin typeface="Times New Roman" panose="02020603050405020304" pitchFamily="18" charset="0"/>
                <a:ea typeface="华文楷体" panose="02010600040101010101" pitchFamily="2" charset="-122"/>
              </a:rPr>
              <a:t>11</a:t>
            </a:r>
            <a:r>
              <a:rPr lang="zh-CN" altLang="en-US" b="1" dirty="0">
                <a:latin typeface="Times New Roman" panose="02020603050405020304" pitchFamily="18" charset="0"/>
                <a:ea typeface="华文楷体" panose="02010600040101010101" pitchFamily="2" charset="-122"/>
              </a:rPr>
              <a:t>以外的值时，</a:t>
            </a:r>
            <a:r>
              <a:rPr lang="en-US" altLang="zh-CN" b="1" dirty="0">
                <a:latin typeface="Times New Roman" panose="02020603050405020304" pitchFamily="18" charset="0"/>
                <a:ea typeface="华文楷体" panose="02010600040101010101" pitchFamily="2" charset="-122"/>
              </a:rPr>
              <a:t>q</a:t>
            </a:r>
            <a:r>
              <a:rPr lang="zh-CN" altLang="en-US" b="1" dirty="0">
                <a:latin typeface="Times New Roman" panose="02020603050405020304" pitchFamily="18" charset="0"/>
                <a:ea typeface="华文楷体" panose="02010600040101010101" pitchFamily="2" charset="-122"/>
              </a:rPr>
              <a:t>保持原值！</a:t>
            </a:r>
            <a:endParaRPr lang="zh-CN" altLang="en-US" b="1" dirty="0">
              <a:latin typeface="Times New Roman" panose="02020603050405020304" pitchFamily="18" charset="0"/>
              <a:ea typeface="华文楷体" panose="02010600040101010101" pitchFamily="2" charset="-122"/>
            </a:endParaRPr>
          </a:p>
        </p:txBody>
      </p:sp>
      <p:sp>
        <p:nvSpPr>
          <p:cNvPr id="1723403" name="AutoShape 11"/>
          <p:cNvSpPr>
            <a:spLocks noGrp="1"/>
          </p:cNvSpPr>
          <p:nvPr>
            <p:ph idx="1"/>
          </p:nvPr>
        </p:nvSpPr>
        <p:spPr>
          <a:xfrm>
            <a:off x="755650" y="5041900"/>
            <a:ext cx="7705725" cy="1366838"/>
          </a:xfrm>
          <a:prstGeom prst="horizontalScroll">
            <a:avLst>
              <a:gd name="adj" fmla="val 12500"/>
            </a:avLst>
          </a:prstGeom>
          <a:ln>
            <a:solidFill>
              <a:schemeClr val="accent1">
                <a:alpha val="100000"/>
              </a:schemeClr>
            </a:solidFill>
          </a:ln>
        </p:spPr>
        <p:txBody>
          <a:bodyPr vert="horz" wrap="square" lIns="91440" tIns="45720" rIns="91440" bIns="45720" anchor="t" anchorCtr="0"/>
          <a:p>
            <a:pPr marL="0" indent="195580" algn="just" eaLnBrk="1" hangingPunct="1">
              <a:lnSpc>
                <a:spcPct val="110000"/>
              </a:lnSpc>
              <a:spcBef>
                <a:spcPct val="0"/>
              </a:spcBef>
              <a:buClr>
                <a:srgbClr val="FF3399"/>
              </a:buClr>
              <a:buFont typeface="Wingdings" panose="05000000000000000000" pitchFamily="2" charset="2"/>
              <a:buChar char="v"/>
            </a:pPr>
            <a:r>
              <a:rPr lang="en-US" altLang="en-US" dirty="0">
                <a:latin typeface="华文楷体" panose="02010600040101010101" pitchFamily="2" charset="-122"/>
                <a:ea typeface="华文楷体" panose="02010600040101010101" pitchFamily="2" charset="-122"/>
                <a:cs typeface="+mn-cs"/>
              </a:rPr>
              <a:t>避免生成锁存器的</a:t>
            </a:r>
            <a:r>
              <a:rPr lang="en-US" altLang="en-US" dirty="0">
                <a:solidFill>
                  <a:srgbClr val="FF0066"/>
                </a:solidFill>
                <a:latin typeface="华文楷体" panose="02010600040101010101" pitchFamily="2" charset="-122"/>
                <a:ea typeface="华文楷体" panose="02010600040101010101" pitchFamily="2" charset="-122"/>
                <a:cs typeface="+mn-cs"/>
              </a:rPr>
              <a:t>原则</a:t>
            </a:r>
            <a:r>
              <a:rPr lang="en-US" altLang="en-US" dirty="0">
                <a:latin typeface="华文楷体" panose="02010600040101010101" pitchFamily="2" charset="-122"/>
                <a:ea typeface="华文楷体" panose="02010600040101010101" pitchFamily="2" charset="-122"/>
                <a:cs typeface="+mn-cs"/>
              </a:rPr>
              <a:t>：</a:t>
            </a:r>
            <a:endParaRPr lang="en-US" altLang="en-US" dirty="0">
              <a:latin typeface="华文楷体" panose="02010600040101010101" pitchFamily="2" charset="-122"/>
              <a:ea typeface="华文楷体" panose="02010600040101010101" pitchFamily="2" charset="-122"/>
              <a:cs typeface="+mn-cs"/>
            </a:endParaRPr>
          </a:p>
          <a:p>
            <a:pPr marL="386080" lvl="1" indent="187325" algn="just" eaLnBrk="1" hangingPunct="1">
              <a:lnSpc>
                <a:spcPct val="110000"/>
              </a:lnSpc>
              <a:spcBef>
                <a:spcPct val="0"/>
              </a:spcBef>
            </a:pPr>
            <a:r>
              <a:rPr lang="en-US" altLang="en-US" dirty="0">
                <a:latin typeface="华文楷体" panose="02010600040101010101" pitchFamily="2" charset="-122"/>
                <a:ea typeface="华文楷体" panose="02010600040101010101" pitchFamily="2" charset="-122"/>
              </a:rPr>
              <a:t>如果用到</a:t>
            </a:r>
            <a:r>
              <a:rPr lang="en-US" altLang="zh-CN" dirty="0">
                <a:solidFill>
                  <a:srgbClr val="CC3300"/>
                </a:solidFill>
                <a:latin typeface="华文楷体" panose="02010600040101010101" pitchFamily="2" charset="-122"/>
                <a:ea typeface="华文楷体" panose="02010600040101010101" pitchFamily="2" charset="-122"/>
              </a:rPr>
              <a:t>if</a:t>
            </a:r>
            <a:r>
              <a:rPr lang="en-US" altLang="en-US" dirty="0">
                <a:latin typeface="华文楷体" panose="02010600040101010101" pitchFamily="2" charset="-122"/>
                <a:ea typeface="华文楷体" panose="02010600040101010101" pitchFamily="2" charset="-122"/>
              </a:rPr>
              <a:t>语句，最好写上</a:t>
            </a:r>
            <a:r>
              <a:rPr lang="en-US" altLang="zh-CN" dirty="0">
                <a:solidFill>
                  <a:srgbClr val="CC3300"/>
                </a:solidFill>
                <a:latin typeface="华文楷体" panose="02010600040101010101" pitchFamily="2" charset="-122"/>
                <a:ea typeface="华文楷体" panose="02010600040101010101" pitchFamily="2" charset="-122"/>
              </a:rPr>
              <a:t>else</a:t>
            </a:r>
            <a:r>
              <a:rPr lang="en-US" altLang="en-US" dirty="0">
                <a:latin typeface="华文楷体" panose="02010600040101010101" pitchFamily="2" charset="-122"/>
                <a:ea typeface="华文楷体" panose="02010600040101010101" pitchFamily="2" charset="-122"/>
              </a:rPr>
              <a:t>项；</a:t>
            </a:r>
            <a:endParaRPr lang="en-US" altLang="en-US" dirty="0">
              <a:latin typeface="华文楷体" panose="02010600040101010101" pitchFamily="2" charset="-122"/>
              <a:ea typeface="华文楷体" panose="02010600040101010101" pitchFamily="2" charset="-122"/>
            </a:endParaRPr>
          </a:p>
          <a:p>
            <a:pPr marL="386080" lvl="1" indent="187325" algn="just" eaLnBrk="1" hangingPunct="1">
              <a:lnSpc>
                <a:spcPct val="110000"/>
              </a:lnSpc>
              <a:spcBef>
                <a:spcPct val="0"/>
              </a:spcBef>
            </a:pPr>
            <a:r>
              <a:rPr lang="en-US" altLang="en-US" dirty="0">
                <a:latin typeface="华文楷体" panose="02010600040101010101" pitchFamily="2" charset="-122"/>
                <a:ea typeface="华文楷体" panose="02010600040101010101" pitchFamily="2" charset="-122"/>
              </a:rPr>
              <a:t>如果用到</a:t>
            </a:r>
            <a:r>
              <a:rPr lang="en-US" altLang="zh-CN" dirty="0">
                <a:solidFill>
                  <a:srgbClr val="CC3300"/>
                </a:solidFill>
                <a:latin typeface="华文楷体" panose="02010600040101010101" pitchFamily="2" charset="-122"/>
                <a:ea typeface="华文楷体" panose="02010600040101010101" pitchFamily="2" charset="-122"/>
              </a:rPr>
              <a:t>case</a:t>
            </a:r>
            <a:r>
              <a:rPr lang="en-US" altLang="en-US" dirty="0">
                <a:latin typeface="华文楷体" panose="02010600040101010101" pitchFamily="2" charset="-122"/>
                <a:ea typeface="华文楷体" panose="02010600040101010101" pitchFamily="2" charset="-122"/>
              </a:rPr>
              <a:t>语句，最好写上</a:t>
            </a:r>
            <a:r>
              <a:rPr lang="en-US" altLang="zh-CN" dirty="0">
                <a:solidFill>
                  <a:srgbClr val="CC3300"/>
                </a:solidFill>
                <a:latin typeface="华文楷体" panose="02010600040101010101" pitchFamily="2" charset="-122"/>
                <a:ea typeface="华文楷体" panose="02010600040101010101" pitchFamily="2" charset="-122"/>
              </a:rPr>
              <a:t>default</a:t>
            </a:r>
            <a:r>
              <a:rPr lang="en-US" altLang="en-US" dirty="0">
                <a:latin typeface="华文楷体" panose="02010600040101010101" pitchFamily="2" charset="-122"/>
                <a:ea typeface="华文楷体" panose="02010600040101010101" pitchFamily="2" charset="-122"/>
              </a:rPr>
              <a:t>项。</a:t>
            </a:r>
            <a:endParaRPr lang="en-US" altLang="en-US"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23400"/>
                                        </p:tgtEl>
                                        <p:attrNameLst>
                                          <p:attrName>style.visibility</p:attrName>
                                        </p:attrNameLst>
                                      </p:cBhvr>
                                      <p:to>
                                        <p:strVal val="visible"/>
                                      </p:to>
                                    </p:set>
                                    <p:anim calcmode="lin" valueType="num">
                                      <p:cBhvr>
                                        <p:cTn id="7" dur="500" fill="hold"/>
                                        <p:tgtEl>
                                          <p:spTgt spid="1723400"/>
                                        </p:tgtEl>
                                        <p:attrNameLst>
                                          <p:attrName>ppt_w</p:attrName>
                                        </p:attrNameLst>
                                      </p:cBhvr>
                                      <p:tavLst>
                                        <p:tav tm="0">
                                          <p:val>
                                            <p:fltVal val="0.000000"/>
                                          </p:val>
                                        </p:tav>
                                        <p:tav tm="100000">
                                          <p:val>
                                            <p:strVal val="#ppt_w"/>
                                          </p:val>
                                        </p:tav>
                                      </p:tavLst>
                                    </p:anim>
                                    <p:anim calcmode="lin" valueType="num">
                                      <p:cBhvr>
                                        <p:cTn id="8" dur="500" fill="hold"/>
                                        <p:tgtEl>
                                          <p:spTgt spid="172340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23397"/>
                                        </p:tgtEl>
                                        <p:attrNameLst>
                                          <p:attrName>style.visibility</p:attrName>
                                        </p:attrNameLst>
                                      </p:cBhvr>
                                      <p:to>
                                        <p:strVal val="visible"/>
                                      </p:to>
                                    </p:set>
                                    <p:anim calcmode="lin" valueType="num">
                                      <p:cBhvr additive="base">
                                        <p:cTn id="13" dur="500" fill="hold"/>
                                        <p:tgtEl>
                                          <p:spTgt spid="1723397"/>
                                        </p:tgtEl>
                                        <p:attrNameLst>
                                          <p:attrName>ppt_x</p:attrName>
                                        </p:attrNameLst>
                                      </p:cBhvr>
                                      <p:tavLst>
                                        <p:tav tm="0">
                                          <p:val>
                                            <p:strVal val="0-#ppt_w/2"/>
                                          </p:val>
                                        </p:tav>
                                        <p:tav tm="100000">
                                          <p:val>
                                            <p:strVal val="#ppt_x"/>
                                          </p:val>
                                        </p:tav>
                                      </p:tavLst>
                                    </p:anim>
                                    <p:anim calcmode="lin" valueType="num">
                                      <p:cBhvr additive="base">
                                        <p:cTn id="14" dur="500" fill="hold"/>
                                        <p:tgtEl>
                                          <p:spTgt spid="1723397"/>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12" fill="hold" grpId="0" nodeType="afterEffect">
                                  <p:stCondLst>
                                    <p:cond delay="0"/>
                                  </p:stCondLst>
                                  <p:childTnLst>
                                    <p:set>
                                      <p:cBhvr>
                                        <p:cTn id="17" dur="1" fill="hold">
                                          <p:stCondLst>
                                            <p:cond delay="0"/>
                                          </p:stCondLst>
                                        </p:cTn>
                                        <p:tgtEl>
                                          <p:spTgt spid="1723396"/>
                                        </p:tgtEl>
                                        <p:attrNameLst>
                                          <p:attrName>style.visibility</p:attrName>
                                        </p:attrNameLst>
                                      </p:cBhvr>
                                      <p:to>
                                        <p:strVal val="visible"/>
                                      </p:to>
                                    </p:set>
                                    <p:anim calcmode="lin" valueType="num">
                                      <p:cBhvr additive="base">
                                        <p:cTn id="18" dur="500" fill="hold"/>
                                        <p:tgtEl>
                                          <p:spTgt spid="1723396"/>
                                        </p:tgtEl>
                                        <p:attrNameLst>
                                          <p:attrName>ppt_x</p:attrName>
                                        </p:attrNameLst>
                                      </p:cBhvr>
                                      <p:tavLst>
                                        <p:tav tm="0">
                                          <p:val>
                                            <p:strVal val="0-#ppt_w/2"/>
                                          </p:val>
                                        </p:tav>
                                        <p:tav tm="100000">
                                          <p:val>
                                            <p:strVal val="#ppt_x"/>
                                          </p:val>
                                        </p:tav>
                                      </p:tavLst>
                                    </p:anim>
                                    <p:anim calcmode="lin" valueType="num">
                                      <p:cBhvr additive="base">
                                        <p:cTn id="19" dur="500" fill="hold"/>
                                        <p:tgtEl>
                                          <p:spTgt spid="172339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723401"/>
                                        </p:tgtEl>
                                        <p:attrNameLst>
                                          <p:attrName>style.visibility</p:attrName>
                                        </p:attrNameLst>
                                      </p:cBhvr>
                                      <p:to>
                                        <p:strVal val="visible"/>
                                      </p:to>
                                    </p:set>
                                    <p:animEffect transition="in" filter="dissolve">
                                      <p:cBhvr>
                                        <p:cTn id="24" dur="500"/>
                                        <p:tgtEl>
                                          <p:spTgt spid="172340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723399"/>
                                        </p:tgtEl>
                                        <p:attrNameLst>
                                          <p:attrName>style.visibility</p:attrName>
                                        </p:attrNameLst>
                                      </p:cBhvr>
                                      <p:to>
                                        <p:strVal val="visible"/>
                                      </p:to>
                                    </p:set>
                                    <p:anim calcmode="lin" valueType="num">
                                      <p:cBhvr additive="base">
                                        <p:cTn id="29" dur="500" fill="hold"/>
                                        <p:tgtEl>
                                          <p:spTgt spid="1723399"/>
                                        </p:tgtEl>
                                        <p:attrNameLst>
                                          <p:attrName>ppt_x</p:attrName>
                                        </p:attrNameLst>
                                      </p:cBhvr>
                                      <p:tavLst>
                                        <p:tav tm="0">
                                          <p:val>
                                            <p:strVal val="1+#ppt_w/2"/>
                                          </p:val>
                                        </p:tav>
                                        <p:tav tm="100000">
                                          <p:val>
                                            <p:strVal val="#ppt_x"/>
                                          </p:val>
                                        </p:tav>
                                      </p:tavLst>
                                    </p:anim>
                                    <p:anim calcmode="lin" valueType="num">
                                      <p:cBhvr additive="base">
                                        <p:cTn id="30" dur="500" fill="hold"/>
                                        <p:tgtEl>
                                          <p:spTgt spid="1723399"/>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6" fill="hold" grpId="0" nodeType="afterEffect">
                                  <p:stCondLst>
                                    <p:cond delay="0"/>
                                  </p:stCondLst>
                                  <p:childTnLst>
                                    <p:set>
                                      <p:cBhvr>
                                        <p:cTn id="33" dur="1" fill="hold">
                                          <p:stCondLst>
                                            <p:cond delay="0"/>
                                          </p:stCondLst>
                                        </p:cTn>
                                        <p:tgtEl>
                                          <p:spTgt spid="1723398"/>
                                        </p:tgtEl>
                                        <p:attrNameLst>
                                          <p:attrName>style.visibility</p:attrName>
                                        </p:attrNameLst>
                                      </p:cBhvr>
                                      <p:to>
                                        <p:strVal val="visible"/>
                                      </p:to>
                                    </p:set>
                                    <p:anim calcmode="lin" valueType="num">
                                      <p:cBhvr additive="base">
                                        <p:cTn id="34" dur="500" fill="hold"/>
                                        <p:tgtEl>
                                          <p:spTgt spid="1723398"/>
                                        </p:tgtEl>
                                        <p:attrNameLst>
                                          <p:attrName>ppt_x</p:attrName>
                                        </p:attrNameLst>
                                      </p:cBhvr>
                                      <p:tavLst>
                                        <p:tav tm="0">
                                          <p:val>
                                            <p:strVal val="1+#ppt_w/2"/>
                                          </p:val>
                                        </p:tav>
                                        <p:tav tm="100000">
                                          <p:val>
                                            <p:strVal val="#ppt_x"/>
                                          </p:val>
                                        </p:tav>
                                      </p:tavLst>
                                    </p:anim>
                                    <p:anim calcmode="lin" valueType="num">
                                      <p:cBhvr additive="base">
                                        <p:cTn id="35" dur="500" fill="hold"/>
                                        <p:tgtEl>
                                          <p:spTgt spid="172339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1723403"/>
                                        </p:tgtEl>
                                        <p:attrNameLst>
                                          <p:attrName>style.visibility</p:attrName>
                                        </p:attrNameLst>
                                      </p:cBhvr>
                                      <p:to>
                                        <p:strVal val="visible"/>
                                      </p:to>
                                    </p:set>
                                    <p:anim calcmode="lin" valueType="num">
                                      <p:cBhvr>
                                        <p:cTn id="40" dur="500" fill="hold"/>
                                        <p:tgtEl>
                                          <p:spTgt spid="1723403"/>
                                        </p:tgtEl>
                                        <p:attrNameLst>
                                          <p:attrName>ppt_w</p:attrName>
                                        </p:attrNameLst>
                                      </p:cBhvr>
                                      <p:tavLst>
                                        <p:tav tm="0">
                                          <p:val>
                                            <p:fltVal val="0.000000"/>
                                          </p:val>
                                        </p:tav>
                                        <p:tav tm="100000">
                                          <p:val>
                                            <p:strVal val="#ppt_w"/>
                                          </p:val>
                                        </p:tav>
                                      </p:tavLst>
                                    </p:anim>
                                    <p:anim calcmode="lin" valueType="num">
                                      <p:cBhvr>
                                        <p:cTn id="41" dur="500" fill="hold"/>
                                        <p:tgtEl>
                                          <p:spTgt spid="172340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3396" grpId="0" bldLvl="0" animBg="1"/>
      <p:bldP spid="1723397" grpId="0"/>
      <p:bldP spid="1723398" grpId="0" bldLvl="0" animBg="1"/>
      <p:bldP spid="1723399" grpId="0"/>
      <p:bldP spid="1723400" grpId="0" bldLvl="0" animBg="1"/>
      <p:bldP spid="1723401" grpId="0" bldLvl="0" animBg="1"/>
      <p:bldP spid="1723403"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227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3906"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2043907" name="Rectangle 3"/>
          <p:cNvSpPr>
            <a:spLocks noGrp="1"/>
          </p:cNvSpPr>
          <p:nvPr>
            <p:ph idx="1"/>
          </p:nvPr>
        </p:nvSpPr>
        <p:spPr/>
        <p:txBody>
          <a:bodyPr vert="horz" wrap="square" lIns="91440" tIns="45720" rIns="91440" bIns="45720" anchor="t" anchorCtr="0"/>
          <a:p>
            <a:pPr eaLnBrk="1" hangingPunct="1">
              <a:lnSpc>
                <a:spcPct val="120000"/>
              </a:lnSpc>
            </a:pPr>
            <a:r>
              <a:rPr lang="en-US" altLang="zh-CN" sz="2800" dirty="0">
                <a:solidFill>
                  <a:schemeClr val="tx2"/>
                </a:solidFill>
                <a:latin typeface="华文楷体" panose="02010600040101010101" pitchFamily="2" charset="-122"/>
                <a:ea typeface="华文楷体" panose="02010600040101010101" pitchFamily="2" charset="-122"/>
                <a:cs typeface="+mn-cs"/>
              </a:rPr>
              <a:t>8.1 for</a:t>
            </a:r>
            <a:r>
              <a:rPr lang="zh-CN" altLang="en-US" sz="2800" dirty="0">
                <a:solidFill>
                  <a:schemeClr val="tx2"/>
                </a:solidFill>
                <a:latin typeface="华文楷体" panose="02010600040101010101" pitchFamily="2" charset="-122"/>
                <a:ea typeface="华文楷体" panose="02010600040101010101" pitchFamily="2" charset="-122"/>
                <a:cs typeface="+mn-cs"/>
              </a:rPr>
              <a:t>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20000"/>
              </a:lnSpc>
            </a:pP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r>
              <a:rPr lang="en-US" altLang="zh-CN" sz="2800" dirty="0">
                <a:solidFill>
                  <a:schemeClr val="tx2"/>
                </a:solidFill>
                <a:latin typeface="华文楷体" panose="02010600040101010101" pitchFamily="2" charset="-122"/>
                <a:ea typeface="华文楷体" panose="02010600040101010101" pitchFamily="2" charset="-122"/>
                <a:cs typeface="+mn-cs"/>
              </a:rPr>
              <a:t> </a:t>
            </a:r>
            <a:endParaRPr lang="en-US" altLang="zh-CN" sz="2800" dirty="0">
              <a:solidFill>
                <a:schemeClr val="tx2"/>
              </a:solidFill>
              <a:latin typeface="华文楷体" panose="02010600040101010101" pitchFamily="2" charset="-122"/>
              <a:ea typeface="华文楷体" panose="02010600040101010101" pitchFamily="2" charset="-122"/>
              <a:cs typeface="+mn-cs"/>
            </a:endParaRPr>
          </a:p>
          <a:p>
            <a:pPr eaLnBrk="1" hangingPunct="1"/>
            <a:r>
              <a:rPr lang="en-US" altLang="zh-CN" sz="2800" dirty="0">
                <a:solidFill>
                  <a:schemeClr val="tx2"/>
                </a:solidFill>
                <a:latin typeface="华文楷体" panose="02010600040101010101" pitchFamily="2" charset="-122"/>
                <a:ea typeface="华文楷体" panose="02010600040101010101" pitchFamily="2" charset="-122"/>
                <a:cs typeface="+mn-cs"/>
              </a:rPr>
              <a:t>8.3while</a:t>
            </a:r>
            <a:r>
              <a:rPr lang="zh-CN" altLang="en-US" sz="2800" dirty="0">
                <a:solidFill>
                  <a:schemeClr val="tx2"/>
                </a:solidFill>
                <a:latin typeface="华文楷体" panose="02010600040101010101" pitchFamily="2" charset="-122"/>
                <a:ea typeface="华文楷体" panose="02010600040101010101" pitchFamily="2" charset="-122"/>
                <a:cs typeface="+mn-cs"/>
              </a:rPr>
              <a:t>语句</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endParaRPr lang="en-US" altLang="zh-CN" sz="2800" dirty="0">
              <a:solidFill>
                <a:srgbClr val="FF0000"/>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3906"/>
                                        </p:tgtEl>
                                        <p:attrNameLst>
                                          <p:attrName>style.visibility</p:attrName>
                                        </p:attrNameLst>
                                      </p:cBhvr>
                                      <p:to>
                                        <p:strVal val="visible"/>
                                      </p:to>
                                    </p:set>
                                    <p:anim calcmode="lin" valueType="num">
                                      <p:cBhvr additive="base">
                                        <p:cTn id="7" dur="500" fill="hold"/>
                                        <p:tgtEl>
                                          <p:spTgt spid="2043906"/>
                                        </p:tgtEl>
                                        <p:attrNameLst>
                                          <p:attrName>ppt_x</p:attrName>
                                        </p:attrNameLst>
                                      </p:cBhvr>
                                      <p:tavLst>
                                        <p:tav tm="0">
                                          <p:val>
                                            <p:strVal val="#ppt_x"/>
                                          </p:val>
                                        </p:tav>
                                        <p:tav tm="100000">
                                          <p:val>
                                            <p:strVal val="#ppt_x"/>
                                          </p:val>
                                        </p:tav>
                                      </p:tavLst>
                                    </p:anim>
                                    <p:anim calcmode="lin" valueType="num">
                                      <p:cBhvr additive="base">
                                        <p:cTn id="8" dur="500" fill="hold"/>
                                        <p:tgtEl>
                                          <p:spTgt spid="204390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3907"/>
                                        </p:tgtEl>
                                        <p:attrNameLst>
                                          <p:attrName>style.visibility</p:attrName>
                                        </p:attrNameLst>
                                      </p:cBhvr>
                                      <p:to>
                                        <p:strVal val="visible"/>
                                      </p:to>
                                    </p:set>
                                    <p:anim calcmode="lin" valueType="num">
                                      <p:cBhvr additive="base">
                                        <p:cTn id="12" dur="500" fill="hold"/>
                                        <p:tgtEl>
                                          <p:spTgt spid="2043907"/>
                                        </p:tgtEl>
                                        <p:attrNameLst>
                                          <p:attrName>ppt_x</p:attrName>
                                        </p:attrNameLst>
                                      </p:cBhvr>
                                      <p:tavLst>
                                        <p:tav tm="0">
                                          <p:val>
                                            <p:strVal val="0-#ppt_w/2"/>
                                          </p:val>
                                        </p:tav>
                                        <p:tav tm="100000">
                                          <p:val>
                                            <p:strVal val="#ppt_x"/>
                                          </p:val>
                                        </p:tav>
                                      </p:tavLst>
                                    </p:anim>
                                    <p:anim calcmode="lin" valueType="num">
                                      <p:cBhvr additive="base">
                                        <p:cTn id="13" dur="500" fill="hold"/>
                                        <p:tgtEl>
                                          <p:spTgt spid="204390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3906" grpId="0"/>
      <p:bldP spid="2043907" grpId="0"/>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32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8329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26467" name="Rectangle 3"/>
          <p:cNvSpPr>
            <a:spLocks noGrp="1"/>
          </p:cNvSpPr>
          <p:nvPr>
            <p:ph idx="1"/>
          </p:nvPr>
        </p:nvSpPr>
        <p:spPr>
          <a:xfrm>
            <a:off x="539750" y="1085850"/>
            <a:ext cx="8112125" cy="4719638"/>
          </a:xfrm>
        </p:spPr>
        <p:txBody>
          <a:bodyPr vert="horz" wrap="square" lIns="91440" tIns="45720" rIns="91440" bIns="45720" anchor="t" anchorCtr="0"/>
          <a:p>
            <a:pPr marL="195580" indent="-195580" algn="just" defTabSz="914400" eaLnBrk="1" hangingPunct="1">
              <a:lnSpc>
                <a:spcPct val="110000"/>
              </a:lnSpc>
              <a:tabLst>
                <a:tab pos="665480" algn="l"/>
              </a:tabLst>
            </a:pPr>
            <a:endParaRPr lang="en-US" altLang="zh-CN" dirty="0">
              <a:latin typeface="宋体" panose="02010600030101010101" pitchFamily="2" charset="-122"/>
              <a:ea typeface="黑体" panose="02010609060101010101" pitchFamily="49" charset="-122"/>
              <a:cs typeface="+mn-cs"/>
            </a:endParaRPr>
          </a:p>
          <a:p>
            <a:pPr marL="195580" indent="-195580" algn="just" defTabSz="914400">
              <a:lnSpc>
                <a:spcPct val="115000"/>
              </a:lnSpc>
              <a:spcBef>
                <a:spcPct val="0"/>
              </a:spcBef>
              <a:tabLst>
                <a:tab pos="665480" algn="l"/>
              </a:tabLst>
            </a:pPr>
            <a:r>
              <a:rPr lang="zh-CN" altLang="zh-CN" sz="2200" dirty="0">
                <a:latin typeface="华文楷体" panose="02010600040101010101" pitchFamily="2" charset="-122"/>
                <a:ea typeface="华文楷体" panose="02010600040101010101" pitchFamily="2" charset="-122"/>
                <a:cs typeface="+mn-cs"/>
              </a:rPr>
              <a:t>循环语句分为</a:t>
            </a:r>
            <a:r>
              <a:rPr lang="en-US" altLang="zh-CN" sz="2200" dirty="0">
                <a:solidFill>
                  <a:srgbClr val="FF66CC"/>
                </a:solidFill>
                <a:latin typeface="华文楷体" panose="02010600040101010101" pitchFamily="2" charset="-122"/>
                <a:ea typeface="华文楷体" panose="02010600040101010101" pitchFamily="2" charset="-122"/>
                <a:cs typeface="+mn-cs"/>
              </a:rPr>
              <a:t>4</a:t>
            </a:r>
            <a:r>
              <a:rPr lang="zh-CN" altLang="zh-CN" sz="2200" dirty="0">
                <a:latin typeface="华文楷体" panose="02010600040101010101" pitchFamily="2" charset="-122"/>
                <a:ea typeface="华文楷体" panose="02010600040101010101" pitchFamily="2" charset="-122"/>
                <a:cs typeface="+mn-cs"/>
              </a:rPr>
              <a:t>种：</a:t>
            </a:r>
            <a:endParaRPr lang="zh-CN" altLang="en-US" sz="2200" dirty="0">
              <a:latin typeface="华文楷体" panose="02010600040101010101" pitchFamily="2" charset="-122"/>
              <a:ea typeface="华文楷体" panose="02010600040101010101" pitchFamily="2" charset="-122"/>
              <a:cs typeface="+mn-cs"/>
            </a:endParaRPr>
          </a:p>
          <a:p>
            <a:pPr marL="665480" lvl="1" indent="-279400" algn="just" defTabSz="914400">
              <a:lnSpc>
                <a:spcPct val="115000"/>
              </a:lnSpc>
              <a:spcBef>
                <a:spcPct val="0"/>
              </a:spcBef>
              <a:tabLst>
                <a:tab pos="665480" algn="l"/>
              </a:tabLst>
            </a:pPr>
            <a:r>
              <a:rPr lang="en-US" altLang="zh-CN" sz="2200" dirty="0">
                <a:solidFill>
                  <a:srgbClr val="009900"/>
                </a:solidFill>
                <a:latin typeface="华文楷体" panose="02010600040101010101" pitchFamily="2" charset="-122"/>
                <a:ea typeface="华文楷体" panose="02010600040101010101" pitchFamily="2" charset="-122"/>
              </a:rPr>
              <a:t>for</a:t>
            </a:r>
            <a:r>
              <a:rPr lang="zh-CN" altLang="zh-CN" sz="2200" dirty="0">
                <a:latin typeface="华文楷体" panose="02010600040101010101" pitchFamily="2" charset="-122"/>
                <a:ea typeface="华文楷体" panose="02010600040101010101" pitchFamily="2" charset="-122"/>
              </a:rPr>
              <a:t>语句</a:t>
            </a:r>
            <a:r>
              <a:rPr lang="en-US" altLang="zh-CN"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通过</a:t>
            </a:r>
            <a:r>
              <a:rPr lang="en-US" altLang="zh-CN" sz="2200" dirty="0">
                <a:latin typeface="华文楷体" panose="02010600040101010101" pitchFamily="2" charset="-122"/>
                <a:ea typeface="华文楷体" panose="02010600040101010101" pitchFamily="2" charset="-122"/>
              </a:rPr>
              <a:t>3</a:t>
            </a:r>
            <a:r>
              <a:rPr lang="zh-CN" altLang="en-US" sz="2200" dirty="0">
                <a:latin typeface="华文楷体" panose="02010600040101010101" pitchFamily="2" charset="-122"/>
                <a:ea typeface="华文楷体" panose="02010600040101010101" pitchFamily="2" charset="-122"/>
              </a:rPr>
              <a:t>个步骤来决定语句的循环执行：</a:t>
            </a:r>
            <a:endParaRPr lang="zh-CN" altLang="en-US" sz="2200" dirty="0">
              <a:latin typeface="华文楷体" panose="02010600040101010101" pitchFamily="2" charset="-122"/>
              <a:ea typeface="华文楷体" panose="02010600040101010101" pitchFamily="2" charset="-122"/>
            </a:endParaRPr>
          </a:p>
          <a:p>
            <a:pPr marL="1044575" lvl="2" indent="-184150" algn="just" defTabSz="914400">
              <a:lnSpc>
                <a:spcPct val="115000"/>
              </a:lnSpc>
              <a:spcBef>
                <a:spcPct val="0"/>
              </a:spcBef>
              <a:tabLst>
                <a:tab pos="665480" algn="l"/>
              </a:tabLst>
            </a:pPr>
            <a:r>
              <a:rPr lang="zh-CN" altLang="en-US"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1</a:t>
            </a:r>
            <a:r>
              <a:rPr lang="zh-CN" altLang="en-US" sz="2200" dirty="0">
                <a:latin typeface="华文楷体" panose="02010600040101010101" pitchFamily="2" charset="-122"/>
                <a:ea typeface="华文楷体" panose="02010600040101010101" pitchFamily="2" charset="-122"/>
              </a:rPr>
              <a:t>）给控制循环次数的变量赋初值。</a:t>
            </a:r>
            <a:endParaRPr lang="zh-CN" altLang="en-US" sz="2200" dirty="0">
              <a:latin typeface="华文楷体" panose="02010600040101010101" pitchFamily="2" charset="-122"/>
              <a:ea typeface="华文楷体" panose="02010600040101010101" pitchFamily="2" charset="-122"/>
            </a:endParaRPr>
          </a:p>
          <a:p>
            <a:pPr marL="1044575" lvl="2" indent="-184150" algn="just" defTabSz="914400">
              <a:lnSpc>
                <a:spcPct val="115000"/>
              </a:lnSpc>
              <a:spcBef>
                <a:spcPct val="0"/>
              </a:spcBef>
              <a:tabLst>
                <a:tab pos="665480" algn="l"/>
              </a:tabLst>
            </a:pPr>
            <a:r>
              <a:rPr lang="zh-CN" altLang="en-US"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2</a:t>
            </a:r>
            <a:r>
              <a:rPr lang="zh-CN" altLang="en-US" sz="2200" dirty="0">
                <a:latin typeface="华文楷体" panose="02010600040101010101" pitchFamily="2" charset="-122"/>
                <a:ea typeface="华文楷体" panose="02010600040101010101" pitchFamily="2" charset="-122"/>
              </a:rPr>
              <a:t>）判定循环执行条件，若为假则跳出循环；若为真，则执行指定的语句后，转到第（</a:t>
            </a:r>
            <a:r>
              <a:rPr lang="en-US" altLang="zh-CN" sz="2200" dirty="0">
                <a:latin typeface="华文楷体" panose="02010600040101010101" pitchFamily="2" charset="-122"/>
                <a:ea typeface="华文楷体" panose="02010600040101010101" pitchFamily="2" charset="-122"/>
              </a:rPr>
              <a:t>3</a:t>
            </a:r>
            <a:r>
              <a:rPr lang="zh-CN" altLang="en-US" sz="2200" dirty="0">
                <a:latin typeface="华文楷体" panose="02010600040101010101" pitchFamily="2" charset="-122"/>
                <a:ea typeface="华文楷体" panose="02010600040101010101" pitchFamily="2" charset="-122"/>
              </a:rPr>
              <a:t>）步。</a:t>
            </a:r>
            <a:endParaRPr lang="zh-CN" altLang="en-US" sz="2200" dirty="0">
              <a:latin typeface="华文楷体" panose="02010600040101010101" pitchFamily="2" charset="-122"/>
              <a:ea typeface="华文楷体" panose="02010600040101010101" pitchFamily="2" charset="-122"/>
            </a:endParaRPr>
          </a:p>
          <a:p>
            <a:pPr marL="1044575" lvl="2" indent="-184150" algn="just" defTabSz="914400">
              <a:lnSpc>
                <a:spcPct val="115000"/>
              </a:lnSpc>
              <a:spcBef>
                <a:spcPct val="0"/>
              </a:spcBef>
              <a:tabLst>
                <a:tab pos="665480" algn="l"/>
              </a:tabLst>
            </a:pPr>
            <a:r>
              <a:rPr lang="zh-CN" altLang="en-US"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3</a:t>
            </a:r>
            <a:r>
              <a:rPr lang="zh-CN" altLang="en-US" sz="2200" dirty="0">
                <a:latin typeface="华文楷体" panose="02010600040101010101" pitchFamily="2" charset="-122"/>
                <a:ea typeface="华文楷体" panose="02010600040101010101" pitchFamily="2" charset="-122"/>
              </a:rPr>
              <a:t>）修改循环变量的值，返回第（</a:t>
            </a:r>
            <a:r>
              <a:rPr lang="en-US" altLang="zh-CN" sz="2200" dirty="0">
                <a:latin typeface="华文楷体" panose="02010600040101010101" pitchFamily="2" charset="-122"/>
                <a:ea typeface="华文楷体" panose="02010600040101010101" pitchFamily="2" charset="-122"/>
              </a:rPr>
              <a:t>2</a:t>
            </a:r>
            <a:r>
              <a:rPr lang="zh-CN" altLang="en-US" sz="2200" dirty="0">
                <a:latin typeface="华文楷体" panose="02010600040101010101" pitchFamily="2" charset="-122"/>
                <a:ea typeface="华文楷体" panose="02010600040101010101" pitchFamily="2" charset="-122"/>
              </a:rPr>
              <a:t>）步。</a:t>
            </a:r>
            <a:endParaRPr lang="zh-CN" altLang="en-US" sz="2200" dirty="0">
              <a:latin typeface="华文楷体" panose="02010600040101010101" pitchFamily="2" charset="-122"/>
              <a:ea typeface="华文楷体" panose="02010600040101010101" pitchFamily="2" charset="-122"/>
            </a:endParaRPr>
          </a:p>
          <a:p>
            <a:pPr marL="665480" lvl="1" indent="-279400" algn="just" defTabSz="914400">
              <a:lnSpc>
                <a:spcPct val="115000"/>
              </a:lnSpc>
              <a:spcBef>
                <a:spcPct val="0"/>
              </a:spcBef>
              <a:tabLst>
                <a:tab pos="665480" algn="l"/>
              </a:tabLst>
            </a:pPr>
            <a:r>
              <a:rPr lang="en-US" altLang="zh-CN" sz="2200" dirty="0">
                <a:solidFill>
                  <a:srgbClr val="009900"/>
                </a:solidFill>
                <a:latin typeface="华文楷体" panose="02010600040101010101" pitchFamily="2" charset="-122"/>
                <a:ea typeface="华文楷体" panose="02010600040101010101" pitchFamily="2" charset="-122"/>
              </a:rPr>
              <a:t>repeat</a:t>
            </a:r>
            <a:r>
              <a:rPr lang="zh-CN" altLang="zh-CN" sz="2200" dirty="0">
                <a:latin typeface="华文楷体" panose="02010600040101010101" pitchFamily="2" charset="-122"/>
                <a:ea typeface="华文楷体" panose="02010600040101010101" pitchFamily="2" charset="-122"/>
              </a:rPr>
              <a:t>语句——连续执行一条语句</a:t>
            </a:r>
            <a:r>
              <a:rPr lang="en-US" altLang="zh-CN" sz="2200" dirty="0">
                <a:latin typeface="华文楷体" panose="02010600040101010101" pitchFamily="2" charset="-122"/>
                <a:ea typeface="华文楷体" panose="02010600040101010101" pitchFamily="2" charset="-122"/>
              </a:rPr>
              <a:t>n</a:t>
            </a:r>
            <a:r>
              <a:rPr lang="zh-CN" altLang="en-US" sz="2200" dirty="0">
                <a:latin typeface="华文楷体" panose="02010600040101010101" pitchFamily="2" charset="-122"/>
                <a:ea typeface="华文楷体" panose="02010600040101010101" pitchFamily="2" charset="-122"/>
              </a:rPr>
              <a:t>次</a:t>
            </a:r>
            <a:endParaRPr lang="zh-CN" altLang="en-US" sz="2200" dirty="0">
              <a:latin typeface="华文楷体" panose="02010600040101010101" pitchFamily="2" charset="-122"/>
              <a:ea typeface="华文楷体" panose="02010600040101010101" pitchFamily="2" charset="-122"/>
            </a:endParaRPr>
          </a:p>
          <a:p>
            <a:pPr marL="665480" lvl="1" indent="-279400" algn="just" defTabSz="914400">
              <a:lnSpc>
                <a:spcPct val="115000"/>
              </a:lnSpc>
              <a:spcBef>
                <a:spcPct val="0"/>
              </a:spcBef>
              <a:tabLst>
                <a:tab pos="665480" algn="l"/>
              </a:tabLst>
            </a:pPr>
            <a:r>
              <a:rPr lang="en-US" altLang="zh-CN" sz="2200" dirty="0">
                <a:solidFill>
                  <a:srgbClr val="009900"/>
                </a:solidFill>
                <a:latin typeface="华文楷体" panose="02010600040101010101" pitchFamily="2" charset="-122"/>
                <a:ea typeface="华文楷体" panose="02010600040101010101" pitchFamily="2" charset="-122"/>
              </a:rPr>
              <a:t>while</a:t>
            </a:r>
            <a:r>
              <a:rPr lang="zh-CN" altLang="en-US" sz="2200" dirty="0">
                <a:latin typeface="华文楷体" panose="02010600040101010101" pitchFamily="2" charset="-122"/>
                <a:ea typeface="华文楷体" panose="02010600040101010101" pitchFamily="2" charset="-122"/>
              </a:rPr>
              <a:t>语句</a:t>
            </a:r>
            <a:r>
              <a:rPr lang="en-US" altLang="zh-CN"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执行一条语句，直到循环执行条件不满足；</a:t>
            </a:r>
            <a:r>
              <a:rPr lang="zh-CN" altLang="en-US" sz="2200" dirty="0">
                <a:solidFill>
                  <a:srgbClr val="CC3300"/>
                </a:solidFill>
                <a:latin typeface="华文楷体" panose="02010600040101010101" pitchFamily="2" charset="-122"/>
                <a:ea typeface="华文楷体" panose="02010600040101010101" pitchFamily="2" charset="-122"/>
              </a:rPr>
              <a:t>若一开始条件即不满足，则该语句一次也不能被执行！</a:t>
            </a:r>
            <a:endParaRPr lang="zh-CN" altLang="en-US" sz="2200" dirty="0">
              <a:solidFill>
                <a:srgbClr val="CC3300"/>
              </a:solidFill>
              <a:latin typeface="华文楷体" panose="02010600040101010101" pitchFamily="2" charset="-122"/>
              <a:ea typeface="华文楷体" panose="02010600040101010101" pitchFamily="2" charset="-122"/>
            </a:endParaRPr>
          </a:p>
          <a:p>
            <a:pPr marL="665480" lvl="1" indent="-279400" algn="just" defTabSz="914400">
              <a:lnSpc>
                <a:spcPct val="115000"/>
              </a:lnSpc>
              <a:spcBef>
                <a:spcPct val="0"/>
              </a:spcBef>
              <a:tabLst>
                <a:tab pos="665480" algn="l"/>
              </a:tabLst>
            </a:pPr>
            <a:r>
              <a:rPr lang="en-US" altLang="zh-CN" sz="2200" dirty="0">
                <a:solidFill>
                  <a:srgbClr val="009900"/>
                </a:solidFill>
                <a:latin typeface="华文楷体" panose="02010600040101010101" pitchFamily="2" charset="-122"/>
                <a:ea typeface="华文楷体" panose="02010600040101010101" pitchFamily="2" charset="-122"/>
              </a:rPr>
              <a:t>forever</a:t>
            </a:r>
            <a:r>
              <a:rPr lang="zh-CN" altLang="en-US" sz="2200" dirty="0">
                <a:latin typeface="华文楷体" panose="02010600040101010101" pitchFamily="2" charset="-122"/>
                <a:ea typeface="华文楷体" panose="02010600040101010101" pitchFamily="2" charset="-122"/>
              </a:rPr>
              <a:t>语句</a:t>
            </a:r>
            <a:r>
              <a:rPr lang="en-US" altLang="zh-CN"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无限连续地执行语句，可用</a:t>
            </a:r>
            <a:r>
              <a:rPr lang="en-US" altLang="zh-CN" sz="2200" dirty="0">
                <a:latin typeface="华文楷体" panose="02010600040101010101" pitchFamily="2" charset="-122"/>
                <a:ea typeface="华文楷体" panose="02010600040101010101" pitchFamily="2" charset="-122"/>
              </a:rPr>
              <a:t>disable</a:t>
            </a:r>
            <a:r>
              <a:rPr lang="zh-CN" altLang="en-US" sz="2200" dirty="0">
                <a:latin typeface="华文楷体" panose="02010600040101010101" pitchFamily="2" charset="-122"/>
                <a:ea typeface="华文楷体" panose="02010600040101010101" pitchFamily="2" charset="-122"/>
              </a:rPr>
              <a:t>语句中断！</a:t>
            </a:r>
            <a:endParaRPr lang="zh-CN" altLang="en-US" sz="2200"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26467"/>
                                        </p:tgtEl>
                                        <p:attrNameLst>
                                          <p:attrName>style.visibility</p:attrName>
                                        </p:attrNameLst>
                                      </p:cBhvr>
                                      <p:to>
                                        <p:strVal val="visible"/>
                                      </p:to>
                                    </p:set>
                                    <p:anim calcmode="lin" valueType="num">
                                      <p:cBhvr additive="base">
                                        <p:cTn id="7" dur="500" fill="hold"/>
                                        <p:tgtEl>
                                          <p:spTgt spid="1726467"/>
                                        </p:tgtEl>
                                        <p:attrNameLst>
                                          <p:attrName>ppt_x</p:attrName>
                                        </p:attrNameLst>
                                      </p:cBhvr>
                                      <p:tavLst>
                                        <p:tav tm="0">
                                          <p:val>
                                            <p:strVal val="0-#ppt_w/2"/>
                                          </p:val>
                                        </p:tav>
                                        <p:tav tm="100000">
                                          <p:val>
                                            <p:strVal val="#ppt_x"/>
                                          </p:val>
                                        </p:tav>
                                      </p:tavLst>
                                    </p:anim>
                                    <p:anim calcmode="lin" valueType="num">
                                      <p:cBhvr additive="base">
                                        <p:cTn id="8" dur="500" fill="hold"/>
                                        <p:tgtEl>
                                          <p:spTgt spid="17264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6467" grpId="0"/>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53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853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85348"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宋体" panose="02010600030101010101" pitchFamily="2" charset="-122"/>
                <a:ea typeface="黑体" panose="02010609060101010101" pitchFamily="49" charset="-122"/>
                <a:cs typeface="+mn-cs"/>
              </a:rPr>
              <a:t>8.1 for</a:t>
            </a:r>
            <a:r>
              <a:rPr lang="zh-CN" altLang="en-US" sz="2800" dirty="0">
                <a:solidFill>
                  <a:schemeClr val="tx2"/>
                </a:solidFill>
                <a:latin typeface="宋体" panose="02010600030101010101" pitchFamily="2" charset="-122"/>
                <a:ea typeface="华文楷体" panose="02010600040101010101" pitchFamily="2" charset="-122"/>
                <a:cs typeface="+mn-cs"/>
              </a:rPr>
              <a:t>语句</a:t>
            </a:r>
            <a:endParaRPr lang="zh-CN" altLang="en-US" sz="2800" dirty="0">
              <a:solidFill>
                <a:schemeClr val="tx2"/>
              </a:solidFill>
              <a:latin typeface="宋体" panose="02010600030101010101" pitchFamily="2" charset="-122"/>
              <a:ea typeface="华文楷体" panose="02010600040101010101" pitchFamily="2" charset="-122"/>
              <a:cs typeface="+mn-cs"/>
            </a:endParaRPr>
          </a:p>
        </p:txBody>
      </p:sp>
      <p:sp>
        <p:nvSpPr>
          <p:cNvPr id="1728516" name="Text Box 4"/>
          <p:cNvSpPr txBox="1"/>
          <p:nvPr/>
        </p:nvSpPr>
        <p:spPr>
          <a:xfrm>
            <a:off x="2646363" y="1905000"/>
            <a:ext cx="5105400" cy="427038"/>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for</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）语句</a:t>
            </a:r>
            <a:endParaRPr lang="zh-CN" altLang="en-US" b="1" dirty="0">
              <a:latin typeface="宋体" panose="02010600030101010101" pitchFamily="2" charset="-122"/>
              <a:ea typeface="宋体" panose="02010600030101010101" pitchFamily="2" charset="-122"/>
            </a:endParaRPr>
          </a:p>
        </p:txBody>
      </p:sp>
      <p:sp>
        <p:nvSpPr>
          <p:cNvPr id="1728517" name="Text Box 5"/>
          <p:cNvSpPr txBox="1"/>
          <p:nvPr/>
        </p:nvSpPr>
        <p:spPr>
          <a:xfrm>
            <a:off x="2452688" y="2514600"/>
            <a:ext cx="6511925" cy="762000"/>
          </a:xfrm>
          <a:prstGeom prst="rect">
            <a:avLst/>
          </a:prstGeom>
          <a:no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for</a:t>
            </a:r>
            <a:r>
              <a:rPr lang="zh-CN" altLang="en-US" b="1" dirty="0">
                <a:latin typeface="宋体" panose="02010600030101010101" pitchFamily="2" charset="-122"/>
                <a:ea typeface="宋体" panose="02010600030101010101" pitchFamily="2" charset="-122"/>
              </a:rPr>
              <a:t>（循环变量赋初值；循环执行条件；循环变量增值）</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执行语句</a:t>
            </a:r>
            <a:endParaRPr lang="zh-CN" altLang="en-US" b="1" dirty="0">
              <a:latin typeface="宋体" panose="02010600030101010101" pitchFamily="2" charset="-122"/>
              <a:ea typeface="宋体" panose="02010600030101010101" pitchFamily="2" charset="-122"/>
            </a:endParaRPr>
          </a:p>
        </p:txBody>
      </p:sp>
      <p:sp>
        <p:nvSpPr>
          <p:cNvPr id="1728518" name="AutoShape 6"/>
          <p:cNvSpPr/>
          <p:nvPr/>
        </p:nvSpPr>
        <p:spPr>
          <a:xfrm>
            <a:off x="6453188" y="3465513"/>
            <a:ext cx="1371600" cy="457200"/>
          </a:xfrm>
          <a:prstGeom prst="wedgeRoundRectCallout">
            <a:avLst>
              <a:gd name="adj1" fmla="val -59144"/>
              <a:gd name="adj2" fmla="val -95139"/>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solidFill>
                  <a:srgbClr val="FF0066"/>
                </a:solidFill>
                <a:latin typeface="华文楷体" panose="02010600040101010101" pitchFamily="2" charset="-122"/>
                <a:ea typeface="华文楷体" panose="02010600040101010101" pitchFamily="2" charset="-122"/>
              </a:rPr>
              <a:t>两</a:t>
            </a:r>
            <a:r>
              <a:rPr lang="zh-CN" altLang="en-US" dirty="0">
                <a:latin typeface="华文楷体" panose="02010600040101010101" pitchFamily="2" charset="-122"/>
                <a:ea typeface="华文楷体" panose="02010600040101010101" pitchFamily="2" charset="-122"/>
              </a:rPr>
              <a:t>条语句</a:t>
            </a:r>
            <a:endParaRPr lang="zh-CN" altLang="en-US" dirty="0">
              <a:latin typeface="华文楷体" panose="02010600040101010101" pitchFamily="2" charset="-122"/>
              <a:ea typeface="华文楷体" panose="02010600040101010101" pitchFamily="2" charset="-122"/>
            </a:endParaRPr>
          </a:p>
        </p:txBody>
      </p:sp>
      <p:grpSp>
        <p:nvGrpSpPr>
          <p:cNvPr id="2" name="Group 7"/>
          <p:cNvGrpSpPr/>
          <p:nvPr/>
        </p:nvGrpSpPr>
        <p:grpSpPr>
          <a:xfrm>
            <a:off x="3717925" y="4056063"/>
            <a:ext cx="1752600" cy="2365375"/>
            <a:chOff x="2400" y="2496"/>
            <a:chExt cx="1104" cy="1632"/>
          </a:xfrm>
        </p:grpSpPr>
        <p:sp>
          <p:nvSpPr>
            <p:cNvPr id="185357" name="AutoShape 8"/>
            <p:cNvSpPr/>
            <p:nvPr/>
          </p:nvSpPr>
          <p:spPr>
            <a:xfrm>
              <a:off x="2400" y="2496"/>
              <a:ext cx="192" cy="1632"/>
            </a:xfrm>
            <a:prstGeom prst="rightBrace">
              <a:avLst>
                <a:gd name="adj1" fmla="val 70439"/>
                <a:gd name="adj2" fmla="val 50000"/>
              </a:avLst>
            </a:prstGeom>
            <a:noFill/>
            <a:ln w="1587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85358" name="AutoShape 9"/>
            <p:cNvSpPr/>
            <p:nvPr/>
          </p:nvSpPr>
          <p:spPr>
            <a:xfrm>
              <a:off x="2736" y="3408"/>
              <a:ext cx="768" cy="288"/>
            </a:xfrm>
            <a:prstGeom prst="wedgeRoundRectCallout">
              <a:avLst>
                <a:gd name="adj1" fmla="val -60287"/>
                <a:gd name="adj2" fmla="val -95139"/>
                <a:gd name="adj3" fmla="val 16667"/>
              </a:avLst>
            </a:prstGeom>
            <a:solidFill>
              <a:srgbClr val="00CC99"/>
            </a:solidFill>
            <a:ln w="9525" cap="flat" cmpd="sng">
              <a:solidFill>
                <a:schemeClr val="tx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b="1" dirty="0">
                  <a:solidFill>
                    <a:srgbClr val="FF0066"/>
                  </a:solidFill>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条语句</a:t>
              </a:r>
              <a:endParaRPr lang="zh-CN" altLang="en-US" dirty="0">
                <a:latin typeface="Tahoma" panose="020B0604030504040204" pitchFamily="34" charset="0"/>
                <a:ea typeface="宋体" panose="02010600030101010101" pitchFamily="2" charset="-122"/>
              </a:endParaRPr>
            </a:p>
          </p:txBody>
        </p:sp>
      </p:grpSp>
      <p:sp>
        <p:nvSpPr>
          <p:cNvPr id="1728523" name="Text Box 11"/>
          <p:cNvSpPr txBox="1"/>
          <p:nvPr/>
        </p:nvSpPr>
        <p:spPr>
          <a:xfrm>
            <a:off x="609600" y="1901825"/>
            <a:ext cx="1631950" cy="46037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rgbClr val="3333FF"/>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一般形式</a:t>
            </a:r>
            <a:endParaRPr lang="zh-CN" altLang="en-US" sz="2400" b="1" dirty="0">
              <a:latin typeface="华文楷体" panose="02010600040101010101" pitchFamily="2" charset="-122"/>
              <a:ea typeface="华文楷体" panose="02010600040101010101" pitchFamily="2" charset="-122"/>
            </a:endParaRPr>
          </a:p>
        </p:txBody>
      </p:sp>
      <p:sp>
        <p:nvSpPr>
          <p:cNvPr id="1728524" name="Text Box 12"/>
          <p:cNvSpPr txBox="1"/>
          <p:nvPr/>
        </p:nvSpPr>
        <p:spPr>
          <a:xfrm>
            <a:off x="327025" y="2644775"/>
            <a:ext cx="2198688" cy="46037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rgbClr val="3333FF"/>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简单应用形式</a:t>
            </a:r>
            <a:endParaRPr lang="zh-CN" altLang="en-US" sz="2400" b="1" dirty="0">
              <a:latin typeface="华文楷体" panose="02010600040101010101" pitchFamily="2" charset="-122"/>
              <a:ea typeface="华文楷体" panose="02010600040101010101" pitchFamily="2" charset="-122"/>
            </a:endParaRPr>
          </a:p>
        </p:txBody>
      </p:sp>
      <p:sp>
        <p:nvSpPr>
          <p:cNvPr id="1728525" name="Text Box 13"/>
          <p:cNvSpPr txBox="1"/>
          <p:nvPr/>
        </p:nvSpPr>
        <p:spPr>
          <a:xfrm>
            <a:off x="38100" y="3521075"/>
            <a:ext cx="6019800" cy="29845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rgbClr val="3333FF"/>
              </a:buClr>
              <a:buFont typeface="Wingdings" panose="05000000000000000000" pitchFamily="2" charset="2"/>
              <a:buNone/>
            </a:pPr>
            <a:r>
              <a:rPr lang="zh-CN" altLang="en-US" sz="2400" b="1" dirty="0">
                <a:solidFill>
                  <a:srgbClr val="CC3300"/>
                </a:solidFill>
                <a:latin typeface="Times New Roman" panose="02020603050405020304" pitchFamily="18" charset="0"/>
                <a:ea typeface="华文楷体" panose="02010600040101010101" pitchFamily="2" charset="-122"/>
              </a:rPr>
              <a:t>相当于采用</a:t>
            </a:r>
            <a:r>
              <a:rPr lang="en-US" altLang="zh-CN" sz="2400" b="1" dirty="0">
                <a:solidFill>
                  <a:srgbClr val="CC3300"/>
                </a:solidFill>
                <a:latin typeface="Times New Roman" panose="02020603050405020304" pitchFamily="18" charset="0"/>
                <a:ea typeface="华文楷体" panose="02010600040101010101" pitchFamily="2" charset="-122"/>
              </a:rPr>
              <a:t>while</a:t>
            </a:r>
            <a:r>
              <a:rPr lang="zh-CN" altLang="en-US" sz="2400" b="1" dirty="0">
                <a:solidFill>
                  <a:srgbClr val="CC3300"/>
                </a:solidFill>
                <a:latin typeface="Times New Roman" panose="02020603050405020304" pitchFamily="18" charset="0"/>
                <a:ea typeface="华文楷体" panose="02010600040101010101" pitchFamily="2" charset="-122"/>
              </a:rPr>
              <a:t>语句建立的循环结构：</a:t>
            </a:r>
            <a:endParaRPr lang="zh-CN" altLang="en-US" sz="2400" b="1" dirty="0">
              <a:solidFill>
                <a:srgbClr val="CC3300"/>
              </a:solidFill>
              <a:latin typeface="Times New Roman" panose="02020603050405020304" pitchFamily="18" charset="0"/>
              <a:ea typeface="华文楷体" panose="02010600040101010101" pitchFamily="2" charset="-122"/>
            </a:endParaRPr>
          </a:p>
          <a:p>
            <a:pPr marL="471805" lvl="1" indent="0" eaLnBrk="1" hangingPunct="1">
              <a:lnSpc>
                <a:spcPct val="9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begin</a:t>
            </a:r>
            <a:endParaRPr lang="en-US" altLang="zh-CN" sz="2200" b="1" dirty="0">
              <a:latin typeface="Times New Roman" panose="02020603050405020304" pitchFamily="18" charset="0"/>
              <a:ea typeface="华文楷体" panose="02010600040101010101" pitchFamily="2" charset="-122"/>
            </a:endParaRPr>
          </a:p>
          <a:p>
            <a:pPr marL="471805" lvl="1" indent="0" eaLnBrk="1" hangingPunct="1">
              <a:lnSpc>
                <a:spcPct val="9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循环变量赋初值；</a:t>
            </a:r>
            <a:endParaRPr lang="zh-CN" altLang="en-US" sz="2200" b="1" dirty="0">
              <a:latin typeface="Times New Roman" panose="02020603050405020304" pitchFamily="18" charset="0"/>
              <a:ea typeface="华文楷体" panose="02010600040101010101" pitchFamily="2" charset="-122"/>
            </a:endParaRPr>
          </a:p>
          <a:p>
            <a:pPr marL="471805" lvl="1" indent="0" eaLnBrk="1" hangingPunct="1">
              <a:lnSpc>
                <a:spcPct val="95000"/>
              </a:lnSpc>
              <a:spcBef>
                <a:spcPct val="0"/>
              </a:spcBef>
              <a:buClr>
                <a:srgbClr val="FF0000"/>
              </a:buClr>
              <a:buSzPct val="80000"/>
              <a:buFont typeface="Wingdings" panose="05000000000000000000" pitchFamily="2" charset="2"/>
              <a:buNone/>
            </a:pPr>
            <a:r>
              <a:rPr lang="zh-CN" altLang="en-US" sz="2200" b="1" dirty="0">
                <a:latin typeface="Times New Roman" panose="02020603050405020304" pitchFamily="18" charset="0"/>
                <a:ea typeface="华文楷体" panose="02010600040101010101" pitchFamily="2" charset="-122"/>
              </a:rPr>
              <a:t>  </a:t>
            </a:r>
            <a:r>
              <a:rPr lang="en-US" altLang="zh-CN" sz="2200" b="1" dirty="0">
                <a:latin typeface="Times New Roman" panose="02020603050405020304" pitchFamily="18" charset="0"/>
                <a:ea typeface="华文楷体" panose="02010600040101010101" pitchFamily="2" charset="-122"/>
              </a:rPr>
              <a:t>while(</a:t>
            </a:r>
            <a:r>
              <a:rPr lang="zh-CN" altLang="en-US" sz="2200" b="1" dirty="0">
                <a:latin typeface="Times New Roman" panose="02020603050405020304" pitchFamily="18" charset="0"/>
                <a:ea typeface="华文楷体" panose="02010600040101010101" pitchFamily="2" charset="-122"/>
              </a:rPr>
              <a:t>循环执行条件</a:t>
            </a:r>
            <a:r>
              <a:rPr lang="en-US" altLang="zh-CN" sz="2200" b="1" dirty="0">
                <a:latin typeface="Times New Roman" panose="02020603050405020304" pitchFamily="18" charset="0"/>
                <a:ea typeface="华文楷体" panose="02010600040101010101" pitchFamily="2" charset="-122"/>
              </a:rPr>
              <a:t>)</a:t>
            </a:r>
            <a:endParaRPr lang="en-US" altLang="zh-CN" sz="2200" b="1" dirty="0">
              <a:latin typeface="Times New Roman" panose="02020603050405020304" pitchFamily="18" charset="0"/>
              <a:ea typeface="华文楷体" panose="02010600040101010101" pitchFamily="2" charset="-122"/>
            </a:endParaRPr>
          </a:p>
          <a:p>
            <a:pPr marL="471805" lvl="1" indent="0" eaLnBrk="1" hangingPunct="1">
              <a:lnSpc>
                <a:spcPct val="90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begin</a:t>
            </a:r>
            <a:endParaRPr lang="en-US" altLang="zh-CN" sz="2200" b="1" dirty="0">
              <a:latin typeface="Times New Roman" panose="02020603050405020304" pitchFamily="18" charset="0"/>
              <a:ea typeface="华文楷体" panose="02010600040101010101" pitchFamily="2" charset="-122"/>
            </a:endParaRPr>
          </a:p>
          <a:p>
            <a:pPr marL="471805" lvl="1" indent="0" eaLnBrk="1" hangingPunct="1">
              <a:lnSpc>
                <a:spcPct val="90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&lt;</a:t>
            </a:r>
            <a:r>
              <a:rPr lang="zh-CN" altLang="en-US" sz="2200" b="1" dirty="0">
                <a:latin typeface="Times New Roman" panose="02020603050405020304" pitchFamily="18" charset="0"/>
                <a:ea typeface="华文楷体" panose="02010600040101010101" pitchFamily="2" charset="-122"/>
              </a:rPr>
              <a:t>执行语句</a:t>
            </a:r>
            <a:r>
              <a:rPr lang="en-US" altLang="zh-CN" sz="2200" b="1" dirty="0">
                <a:latin typeface="Times New Roman" panose="02020603050405020304" pitchFamily="18" charset="0"/>
                <a:ea typeface="华文楷体" panose="02010600040101010101" pitchFamily="2" charset="-122"/>
              </a:rPr>
              <a:t>&gt;</a:t>
            </a:r>
            <a:endParaRPr lang="en-US" altLang="zh-CN" sz="2200" b="1" dirty="0">
              <a:latin typeface="Times New Roman" panose="02020603050405020304" pitchFamily="18" charset="0"/>
              <a:ea typeface="华文楷体" panose="02010600040101010101" pitchFamily="2" charset="-122"/>
            </a:endParaRPr>
          </a:p>
          <a:p>
            <a:pPr marL="471805" lvl="1" indent="0" eaLnBrk="1" hangingPunct="1">
              <a:lnSpc>
                <a:spcPct val="90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a:t>
            </a:r>
            <a:r>
              <a:rPr lang="zh-CN" altLang="en-US" sz="2200" b="1" dirty="0">
                <a:latin typeface="Times New Roman" panose="02020603050405020304" pitchFamily="18" charset="0"/>
                <a:ea typeface="华文楷体" panose="02010600040101010101" pitchFamily="2" charset="-122"/>
              </a:rPr>
              <a:t>循环变量增值；</a:t>
            </a:r>
            <a:endParaRPr lang="zh-CN" altLang="en-US" sz="2200" b="1" dirty="0">
              <a:latin typeface="Times New Roman" panose="02020603050405020304" pitchFamily="18" charset="0"/>
              <a:ea typeface="华文楷体" panose="02010600040101010101" pitchFamily="2" charset="-122"/>
            </a:endParaRPr>
          </a:p>
          <a:p>
            <a:pPr marL="471805" lvl="1" indent="0" eaLnBrk="1" hangingPunct="1">
              <a:lnSpc>
                <a:spcPct val="90000"/>
              </a:lnSpc>
              <a:spcBef>
                <a:spcPct val="0"/>
              </a:spcBef>
              <a:buClr>
                <a:srgbClr val="FF0000"/>
              </a:buClr>
              <a:buSzPct val="80000"/>
              <a:buFont typeface="Wingdings" panose="05000000000000000000" pitchFamily="2" charset="2"/>
              <a:buNone/>
            </a:pPr>
            <a:r>
              <a:rPr lang="zh-CN" altLang="en-US" sz="2200" b="1" dirty="0">
                <a:latin typeface="Times New Roman" panose="02020603050405020304" pitchFamily="18" charset="0"/>
                <a:ea typeface="华文楷体" panose="02010600040101010101" pitchFamily="2" charset="-122"/>
              </a:rPr>
              <a:t>    </a:t>
            </a:r>
            <a:r>
              <a:rPr lang="en-US" altLang="zh-CN" sz="2200" b="1" dirty="0">
                <a:latin typeface="Times New Roman" panose="02020603050405020304" pitchFamily="18" charset="0"/>
                <a:ea typeface="华文楷体" panose="02010600040101010101" pitchFamily="2" charset="-122"/>
              </a:rPr>
              <a:t>end</a:t>
            </a:r>
            <a:endParaRPr lang="en-US" altLang="zh-CN" sz="2200" b="1" dirty="0">
              <a:latin typeface="Times New Roman" panose="02020603050405020304" pitchFamily="18" charset="0"/>
              <a:ea typeface="华文楷体" panose="02010600040101010101" pitchFamily="2" charset="-122"/>
            </a:endParaRPr>
          </a:p>
          <a:p>
            <a:pPr marL="471805" lvl="1" indent="0" eaLnBrk="1" hangingPunct="1">
              <a:lnSpc>
                <a:spcPct val="90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end</a:t>
            </a:r>
            <a:endParaRPr lang="en-US" altLang="zh-CN" sz="2200" b="1" dirty="0">
              <a:latin typeface="Times New Roman" panose="02020603050405020304" pitchFamily="18" charset="0"/>
              <a:ea typeface="华文楷体" panose="02010600040101010101" pitchFamily="2" charset="-122"/>
            </a:endParaRPr>
          </a:p>
        </p:txBody>
      </p:sp>
      <p:sp>
        <p:nvSpPr>
          <p:cNvPr id="1728526" name="Text Box 14"/>
          <p:cNvSpPr txBox="1"/>
          <p:nvPr/>
        </p:nvSpPr>
        <p:spPr>
          <a:xfrm>
            <a:off x="4876800" y="4645025"/>
            <a:ext cx="3886200" cy="460375"/>
          </a:xfrm>
          <a:prstGeom prst="rect">
            <a:avLst/>
          </a:prstGeom>
          <a:noFill/>
          <a:ln w="9525" cap="flat" cmpd="sng">
            <a:solidFill>
              <a:schemeClr val="accent1"/>
            </a:solidFill>
            <a:prstDash val="solid"/>
            <a:round/>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sz="2400" b="1" dirty="0">
                <a:latin typeface="Times New Roman" panose="02020603050405020304" pitchFamily="18" charset="0"/>
                <a:ea typeface="华文楷体" panose="02010600040101010101" pitchFamily="2" charset="-122"/>
              </a:rPr>
              <a:t>for</a:t>
            </a:r>
            <a:r>
              <a:rPr lang="zh-CN" altLang="en-US" sz="2400" b="1" dirty="0">
                <a:latin typeface="Times New Roman" panose="02020603050405020304" pitchFamily="18" charset="0"/>
                <a:ea typeface="华文楷体" panose="02010600040101010101" pitchFamily="2" charset="-122"/>
              </a:rPr>
              <a:t>语句比</a:t>
            </a:r>
            <a:r>
              <a:rPr lang="en-US" altLang="zh-CN" sz="2400" b="1" dirty="0">
                <a:latin typeface="Times New Roman" panose="02020603050405020304" pitchFamily="18" charset="0"/>
                <a:ea typeface="华文楷体" panose="02010600040101010101" pitchFamily="2" charset="-122"/>
              </a:rPr>
              <a:t>while</a:t>
            </a:r>
            <a:r>
              <a:rPr lang="zh-CN" altLang="en-US" sz="2400" b="1" dirty="0">
                <a:latin typeface="Times New Roman" panose="02020603050405020304" pitchFamily="18" charset="0"/>
                <a:ea typeface="华文楷体" panose="02010600040101010101" pitchFamily="2" charset="-122"/>
              </a:rPr>
              <a:t>语句简洁！</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28523"/>
                                        </p:tgtEl>
                                        <p:attrNameLst>
                                          <p:attrName>style.visibility</p:attrName>
                                        </p:attrNameLst>
                                      </p:cBhvr>
                                      <p:to>
                                        <p:strVal val="visible"/>
                                      </p:to>
                                    </p:set>
                                    <p:animEffect transition="in" filter="dissolve">
                                      <p:cBhvr>
                                        <p:cTn id="7" dur="500"/>
                                        <p:tgtEl>
                                          <p:spTgt spid="17285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28516"/>
                                        </p:tgtEl>
                                        <p:attrNameLst>
                                          <p:attrName>style.visibility</p:attrName>
                                        </p:attrNameLst>
                                      </p:cBhvr>
                                      <p:to>
                                        <p:strVal val="visible"/>
                                      </p:to>
                                    </p:set>
                                    <p:animEffect transition="in" filter="wipe(left)">
                                      <p:cBhvr>
                                        <p:cTn id="11" dur="500"/>
                                        <p:tgtEl>
                                          <p:spTgt spid="17285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728524"/>
                                        </p:tgtEl>
                                        <p:attrNameLst>
                                          <p:attrName>style.visibility</p:attrName>
                                        </p:attrNameLst>
                                      </p:cBhvr>
                                      <p:to>
                                        <p:strVal val="visible"/>
                                      </p:to>
                                    </p:set>
                                    <p:animEffect transition="in" filter="dissolve">
                                      <p:cBhvr>
                                        <p:cTn id="16" dur="500"/>
                                        <p:tgtEl>
                                          <p:spTgt spid="172852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728517"/>
                                        </p:tgtEl>
                                        <p:attrNameLst>
                                          <p:attrName>style.visibility</p:attrName>
                                        </p:attrNameLst>
                                      </p:cBhvr>
                                      <p:to>
                                        <p:strVal val="visible"/>
                                      </p:to>
                                    </p:set>
                                    <p:animEffect transition="in" filter="wipe(left)">
                                      <p:cBhvr>
                                        <p:cTn id="20" dur="500"/>
                                        <p:tgtEl>
                                          <p:spTgt spid="17285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28525">
                                            <p:txEl>
                                              <p:charRg st="0" end="21"/>
                                            </p:txEl>
                                          </p:spTgt>
                                        </p:tgtEl>
                                        <p:attrNameLst>
                                          <p:attrName>style.visibility</p:attrName>
                                        </p:attrNameLst>
                                      </p:cBhvr>
                                      <p:to>
                                        <p:strVal val="visible"/>
                                      </p:to>
                                    </p:set>
                                    <p:animEffect transition="in" filter="wipe(left)">
                                      <p:cBhvr>
                                        <p:cTn id="25" dur="500"/>
                                        <p:tgtEl>
                                          <p:spTgt spid="1728525">
                                            <p:txEl>
                                              <p:charRg st="0" end="21"/>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728525">
                                            <p:txEl>
                                              <p:charRg st="21" end="27"/>
                                            </p:txEl>
                                          </p:spTgt>
                                        </p:tgtEl>
                                        <p:attrNameLst>
                                          <p:attrName>style.visibility</p:attrName>
                                        </p:attrNameLst>
                                      </p:cBhvr>
                                      <p:to>
                                        <p:strVal val="visible"/>
                                      </p:to>
                                    </p:set>
                                    <p:animEffect transition="in" filter="wipe(left)">
                                      <p:cBhvr>
                                        <p:cTn id="28" dur="500"/>
                                        <p:tgtEl>
                                          <p:spTgt spid="1728525">
                                            <p:txEl>
                                              <p:charRg st="21" end="2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728525">
                                            <p:txEl>
                                              <p:charRg st="27" end="38"/>
                                            </p:txEl>
                                          </p:spTgt>
                                        </p:tgtEl>
                                        <p:attrNameLst>
                                          <p:attrName>style.visibility</p:attrName>
                                        </p:attrNameLst>
                                      </p:cBhvr>
                                      <p:to>
                                        <p:strVal val="visible"/>
                                      </p:to>
                                    </p:set>
                                    <p:animEffect transition="in" filter="wipe(left)">
                                      <p:cBhvr>
                                        <p:cTn id="31" dur="500"/>
                                        <p:tgtEl>
                                          <p:spTgt spid="1728525">
                                            <p:txEl>
                                              <p:charRg st="27" end="3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28525">
                                            <p:txEl>
                                              <p:charRg st="38" end="54"/>
                                            </p:txEl>
                                          </p:spTgt>
                                        </p:tgtEl>
                                        <p:attrNameLst>
                                          <p:attrName>style.visibility</p:attrName>
                                        </p:attrNameLst>
                                      </p:cBhvr>
                                      <p:to>
                                        <p:strVal val="visible"/>
                                      </p:to>
                                    </p:set>
                                    <p:animEffect transition="in" filter="wipe(left)">
                                      <p:cBhvr>
                                        <p:cTn id="34" dur="500"/>
                                        <p:tgtEl>
                                          <p:spTgt spid="1728525">
                                            <p:txEl>
                                              <p:charRg st="38" end="54"/>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728525">
                                            <p:txEl>
                                              <p:charRg st="54" end="64"/>
                                            </p:txEl>
                                          </p:spTgt>
                                        </p:tgtEl>
                                        <p:attrNameLst>
                                          <p:attrName>style.visibility</p:attrName>
                                        </p:attrNameLst>
                                      </p:cBhvr>
                                      <p:to>
                                        <p:strVal val="visible"/>
                                      </p:to>
                                    </p:set>
                                    <p:animEffect transition="in" filter="wipe(left)">
                                      <p:cBhvr>
                                        <p:cTn id="37" dur="500"/>
                                        <p:tgtEl>
                                          <p:spTgt spid="1728525">
                                            <p:txEl>
                                              <p:charRg st="54" end="64"/>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728525">
                                            <p:txEl>
                                              <p:charRg st="64" end="77"/>
                                            </p:txEl>
                                          </p:spTgt>
                                        </p:tgtEl>
                                        <p:attrNameLst>
                                          <p:attrName>style.visibility</p:attrName>
                                        </p:attrNameLst>
                                      </p:cBhvr>
                                      <p:to>
                                        <p:strVal val="visible"/>
                                      </p:to>
                                    </p:set>
                                    <p:animEffect transition="in" filter="wipe(left)">
                                      <p:cBhvr>
                                        <p:cTn id="40" dur="500"/>
                                        <p:tgtEl>
                                          <p:spTgt spid="1728525">
                                            <p:txEl>
                                              <p:charRg st="64" end="77"/>
                                            </p:txEl>
                                          </p:spTgt>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728525">
                                            <p:txEl>
                                              <p:charRg st="77" end="91"/>
                                            </p:txEl>
                                          </p:spTgt>
                                        </p:tgtEl>
                                        <p:attrNameLst>
                                          <p:attrName>style.visibility</p:attrName>
                                        </p:attrNameLst>
                                      </p:cBhvr>
                                      <p:to>
                                        <p:strVal val="visible"/>
                                      </p:to>
                                    </p:set>
                                    <p:animEffect transition="in" filter="wipe(left)">
                                      <p:cBhvr>
                                        <p:cTn id="43" dur="500"/>
                                        <p:tgtEl>
                                          <p:spTgt spid="1728525">
                                            <p:txEl>
                                              <p:charRg st="77" end="91"/>
                                            </p:txEl>
                                          </p:spTgt>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728525">
                                            <p:txEl>
                                              <p:charRg st="91" end="99"/>
                                            </p:txEl>
                                          </p:spTgt>
                                        </p:tgtEl>
                                        <p:attrNameLst>
                                          <p:attrName>style.visibility</p:attrName>
                                        </p:attrNameLst>
                                      </p:cBhvr>
                                      <p:to>
                                        <p:strVal val="visible"/>
                                      </p:to>
                                    </p:set>
                                    <p:animEffect transition="in" filter="wipe(left)">
                                      <p:cBhvr>
                                        <p:cTn id="46" dur="500"/>
                                        <p:tgtEl>
                                          <p:spTgt spid="1728525">
                                            <p:txEl>
                                              <p:charRg st="91" end="99"/>
                                            </p:txEl>
                                          </p:spTgt>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728525">
                                            <p:txEl>
                                              <p:charRg st="99" end="103"/>
                                            </p:txEl>
                                          </p:spTgt>
                                        </p:tgtEl>
                                        <p:attrNameLst>
                                          <p:attrName>style.visibility</p:attrName>
                                        </p:attrNameLst>
                                      </p:cBhvr>
                                      <p:to>
                                        <p:strVal val="visible"/>
                                      </p:to>
                                    </p:set>
                                    <p:animEffect transition="in" filter="wipe(left)">
                                      <p:cBhvr>
                                        <p:cTn id="49" dur="500"/>
                                        <p:tgtEl>
                                          <p:spTgt spid="1728525">
                                            <p:txEl>
                                              <p:charRg st="99" end="10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728518"/>
                                        </p:tgtEl>
                                        <p:attrNameLst>
                                          <p:attrName>style.visibility</p:attrName>
                                        </p:attrNameLst>
                                      </p:cBhvr>
                                      <p:to>
                                        <p:strVal val="visible"/>
                                      </p:to>
                                    </p:set>
                                    <p:animEffect transition="in" filter="dissolve">
                                      <p:cBhvr>
                                        <p:cTn id="54" dur="500"/>
                                        <p:tgtEl>
                                          <p:spTgt spid="1728518"/>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dissolve">
                                      <p:cBhvr>
                                        <p:cTn id="59" dur="500"/>
                                        <p:tgtEl>
                                          <p:spTgt spid="2"/>
                                        </p:tgtEl>
                                      </p:cBhvr>
                                    </p:animEffect>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1728526"/>
                                        </p:tgtEl>
                                        <p:attrNameLst>
                                          <p:attrName>style.visibility</p:attrName>
                                        </p:attrNameLst>
                                      </p:cBhvr>
                                      <p:to>
                                        <p:strVal val="visible"/>
                                      </p:to>
                                    </p:set>
                                    <p:anim calcmode="lin" valueType="num">
                                      <p:cBhvr>
                                        <p:cTn id="64" dur="500" fill="hold"/>
                                        <p:tgtEl>
                                          <p:spTgt spid="1728526"/>
                                        </p:tgtEl>
                                        <p:attrNameLst>
                                          <p:attrName>ppt_w</p:attrName>
                                        </p:attrNameLst>
                                      </p:cBhvr>
                                      <p:tavLst>
                                        <p:tav tm="0">
                                          <p:val>
                                            <p:fltVal val="0.000000"/>
                                          </p:val>
                                        </p:tav>
                                        <p:tav tm="100000">
                                          <p:val>
                                            <p:strVal val="#ppt_w"/>
                                          </p:val>
                                        </p:tav>
                                      </p:tavLst>
                                    </p:anim>
                                    <p:anim calcmode="lin" valueType="num">
                                      <p:cBhvr>
                                        <p:cTn id="65" dur="500" fill="hold"/>
                                        <p:tgtEl>
                                          <p:spTgt spid="172852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8516" grpId="0" bldLvl="0" animBg="1"/>
      <p:bldP spid="1728517" grpId="0" bldLvl="0" animBg="1"/>
      <p:bldP spid="1728518" grpId="0" bldLvl="0" animBg="1"/>
      <p:bldP spid="1728523" grpId="0"/>
      <p:bldP spid="1728524" grpId="0"/>
      <p:bldP spid="1728525" grpId="0" build="p"/>
      <p:bldP spid="1728526"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873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8739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30563" name="Rectangle 3"/>
          <p:cNvSpPr>
            <a:spLocks noGrp="1"/>
          </p:cNvSpPr>
          <p:nvPr>
            <p:ph idx="1"/>
          </p:nvPr>
        </p:nvSpPr>
        <p:spPr/>
        <p:txBody>
          <a:bodyPr vert="horz" wrap="square" lIns="91440" tIns="45720" rIns="91440" bIns="45720" anchor="t" anchorCtr="0"/>
          <a:p>
            <a:pPr marL="377825" lvl="1" indent="-182245" eaLnBrk="1" hangingPunct="1">
              <a:lnSpc>
                <a:spcPct val="90000"/>
              </a:lnSpc>
            </a:pPr>
            <a:r>
              <a:rPr lang="en-US" altLang="zh-CN" dirty="0">
                <a:latin typeface="宋体" panose="02010600030101010101" pitchFamily="2" charset="-122"/>
                <a:ea typeface="黑体" panose="02010609060101010101" pitchFamily="49" charset="-122"/>
              </a:rPr>
              <a:t>[</a:t>
            </a:r>
            <a:r>
              <a:rPr lang="zh-CN" altLang="en-US" dirty="0">
                <a:solidFill>
                  <a:srgbClr val="FF0066"/>
                </a:solidFill>
                <a:latin typeface="华文楷体" panose="02010600040101010101" pitchFamily="2" charset="-122"/>
                <a:ea typeface="华文楷体" panose="02010600040101010101" pitchFamily="2" charset="-122"/>
              </a:rPr>
              <a:t>例</a:t>
            </a:r>
            <a:r>
              <a:rPr lang="en-US" altLang="zh-CN" dirty="0">
                <a:latin typeface="华文楷体" panose="02010600040101010101" pitchFamily="2" charset="-122"/>
                <a:ea typeface="黑体" panose="02010609060101010101" pitchFamily="49" charset="-122"/>
              </a:rPr>
              <a:t>]</a:t>
            </a:r>
            <a:r>
              <a:rPr lang="zh-CN" altLang="en-US" dirty="0">
                <a:latin typeface="华文楷体" panose="02010600040101010101" pitchFamily="2" charset="-122"/>
                <a:ea typeface="华文楷体" panose="02010600040101010101" pitchFamily="2" charset="-122"/>
              </a:rPr>
              <a:t>用</a:t>
            </a:r>
            <a:r>
              <a:rPr lang="en-US" altLang="zh-CN" dirty="0">
                <a:latin typeface="华文楷体" panose="02010600040101010101" pitchFamily="2" charset="-122"/>
                <a:ea typeface="黑体" panose="02010609060101010101" pitchFamily="49" charset="-122"/>
              </a:rPr>
              <a:t>for</a:t>
            </a:r>
            <a:r>
              <a:rPr lang="zh-CN" altLang="en-US" dirty="0">
                <a:latin typeface="华文楷体" panose="02010600040101010101" pitchFamily="2" charset="-122"/>
                <a:ea typeface="华文楷体" panose="02010600040101010101" pitchFamily="2" charset="-122"/>
              </a:rPr>
              <a:t>语句描述的</a:t>
            </a:r>
            <a:r>
              <a:rPr lang="en-US" altLang="zh-CN" dirty="0">
                <a:latin typeface="华文楷体" panose="02010600040101010101" pitchFamily="2" charset="-122"/>
                <a:ea typeface="黑体" panose="02010609060101010101" pitchFamily="49" charset="-122"/>
              </a:rPr>
              <a:t>7</a:t>
            </a:r>
            <a:r>
              <a:rPr lang="zh-CN" altLang="en-US" dirty="0">
                <a:latin typeface="华文楷体" panose="02010600040101010101" pitchFamily="2" charset="-122"/>
                <a:ea typeface="华文楷体" panose="02010600040101010101" pitchFamily="2" charset="-122"/>
              </a:rPr>
              <a:t>人投票表决器：若超过</a:t>
            </a:r>
            <a:r>
              <a:rPr lang="en-US" altLang="zh-CN" dirty="0">
                <a:latin typeface="华文楷体" panose="02010600040101010101" pitchFamily="2" charset="-122"/>
                <a:ea typeface="黑体" panose="02010609060101010101" pitchFamily="49" charset="-122"/>
              </a:rPr>
              <a:t>4</a:t>
            </a:r>
            <a:r>
              <a:rPr lang="zh-CN" altLang="en-US" dirty="0">
                <a:latin typeface="华文楷体" panose="02010600040101010101" pitchFamily="2" charset="-122"/>
                <a:ea typeface="华文楷体" panose="02010600040101010101" pitchFamily="2" charset="-122"/>
              </a:rPr>
              <a:t>人（含</a:t>
            </a:r>
            <a:r>
              <a:rPr lang="en-US" altLang="zh-CN" dirty="0">
                <a:latin typeface="华文楷体" panose="02010600040101010101" pitchFamily="2" charset="-122"/>
                <a:ea typeface="黑体" panose="02010609060101010101" pitchFamily="49" charset="-122"/>
              </a:rPr>
              <a:t>4</a:t>
            </a:r>
            <a:r>
              <a:rPr lang="zh-CN" altLang="en-US" dirty="0">
                <a:latin typeface="华文楷体" panose="02010600040101010101" pitchFamily="2" charset="-122"/>
                <a:ea typeface="华文楷体" panose="02010600040101010101" pitchFamily="2" charset="-122"/>
              </a:rPr>
              <a:t>人）投赞成票，则表决通过。</a:t>
            </a:r>
            <a:endParaRPr lang="zh-CN" altLang="en-US" dirty="0">
              <a:latin typeface="华文楷体" panose="02010600040101010101" pitchFamily="2" charset="-122"/>
              <a:ea typeface="华文楷体" panose="02010600040101010101" pitchFamily="2" charset="-122"/>
            </a:endParaRPr>
          </a:p>
        </p:txBody>
      </p:sp>
      <p:sp>
        <p:nvSpPr>
          <p:cNvPr id="1730565" name="Text Box 5"/>
          <p:cNvSpPr txBox="1"/>
          <p:nvPr/>
        </p:nvSpPr>
        <p:spPr>
          <a:xfrm>
            <a:off x="850900" y="1801813"/>
            <a:ext cx="7477125" cy="4522787"/>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module  vote7 ( pass,vote ); 	</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output pass;	</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input [6:0] vote; 				</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reg[2:0] sum;      </a:t>
            </a:r>
            <a:r>
              <a:rPr lang="en-US" altLang="zh-CN" dirty="0">
                <a:latin typeface="Times New Roman" panose="02020603050405020304" pitchFamily="18" charset="0"/>
                <a:ea typeface="华文楷体" panose="02010600040101010101" pitchFamily="2" charset="-122"/>
              </a:rPr>
              <a:t>//sum</a:t>
            </a:r>
            <a:r>
              <a:rPr lang="zh-CN" altLang="en-US" dirty="0">
                <a:latin typeface="Times New Roman" panose="02020603050405020304" pitchFamily="18" charset="0"/>
                <a:ea typeface="华文楷体" panose="02010600040101010101" pitchFamily="2" charset="-122"/>
              </a:rPr>
              <a:t>为</a:t>
            </a:r>
            <a:r>
              <a:rPr lang="en-US" altLang="zh-CN" dirty="0">
                <a:latin typeface="Times New Roman" panose="02020603050405020304" pitchFamily="18" charset="0"/>
                <a:ea typeface="华文楷体" panose="02010600040101010101" pitchFamily="2" charset="-122"/>
              </a:rPr>
              <a:t>reg</a:t>
            </a:r>
            <a:r>
              <a:rPr lang="zh-CN" altLang="en-US" dirty="0">
                <a:latin typeface="Times New Roman" panose="02020603050405020304" pitchFamily="18" charset="0"/>
                <a:ea typeface="华文楷体" panose="02010600040101010101" pitchFamily="2" charset="-122"/>
              </a:rPr>
              <a:t>型变量，用于统计赞成的人数</a:t>
            </a:r>
            <a:endParaRPr lang="zh-CN" altLang="en-US"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integer i; </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reg pass;</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always @(vote)</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begin</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sum = 0;                                    </a:t>
            </a:r>
            <a:r>
              <a:rPr lang="en-US" altLang="zh-CN" dirty="0">
                <a:latin typeface="Times New Roman" panose="02020603050405020304" pitchFamily="18" charset="0"/>
                <a:ea typeface="华文楷体" panose="02010600040101010101" pitchFamily="2" charset="-122"/>
              </a:rPr>
              <a:t>//sum</a:t>
            </a:r>
            <a:r>
              <a:rPr lang="zh-CN" altLang="en-US" dirty="0">
                <a:latin typeface="Times New Roman" panose="02020603050405020304" pitchFamily="18" charset="0"/>
                <a:ea typeface="华文楷体" panose="02010600040101010101" pitchFamily="2" charset="-122"/>
              </a:rPr>
              <a:t>初值为</a:t>
            </a:r>
            <a:r>
              <a:rPr lang="en-US" altLang="zh-CN" dirty="0">
                <a:latin typeface="Times New Roman" panose="02020603050405020304" pitchFamily="18" charset="0"/>
                <a:ea typeface="华文楷体" panose="02010600040101010101" pitchFamily="2" charset="-122"/>
              </a:rPr>
              <a:t>0</a:t>
            </a:r>
            <a:endParaRPr lang="en-US" altLang="zh-CN"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r>
              <a:rPr lang="en-US" altLang="zh-CN" b="1" dirty="0">
                <a:solidFill>
                  <a:srgbClr val="FF0066"/>
                </a:solidFill>
                <a:latin typeface="Times New Roman" panose="02020603050405020304" pitchFamily="18" charset="0"/>
                <a:ea typeface="华文楷体" panose="02010600040101010101" pitchFamily="2" charset="-122"/>
              </a:rPr>
              <a:t>for(i = 0;i&lt;=6;i = i+1)</a:t>
            </a:r>
            <a:r>
              <a:rPr lang="en-US" altLang="zh-CN" b="1" dirty="0">
                <a:latin typeface="Times New Roman" panose="02020603050405020304" pitchFamily="18" charset="0"/>
                <a:ea typeface="华文楷体" panose="02010600040101010101" pitchFamily="2" charset="-122"/>
              </a:rPr>
              <a:t>                </a:t>
            </a:r>
            <a:r>
              <a:rPr lang="en-US" altLang="zh-CN" dirty="0">
                <a:latin typeface="Times New Roman" panose="02020603050405020304" pitchFamily="18" charset="0"/>
                <a:ea typeface="华文楷体" panose="02010600040101010101" pitchFamily="2" charset="-122"/>
              </a:rPr>
              <a:t>//for</a:t>
            </a:r>
            <a:r>
              <a:rPr lang="zh-CN" altLang="en-US" dirty="0">
                <a:latin typeface="Times New Roman" panose="02020603050405020304" pitchFamily="18" charset="0"/>
                <a:ea typeface="华文楷体" panose="02010600040101010101" pitchFamily="2" charset="-122"/>
              </a:rPr>
              <a:t>语句</a:t>
            </a:r>
            <a:endParaRPr lang="zh-CN" altLang="en-US"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if(vote[i])      sum = sum+1; </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r>
              <a:rPr lang="en-US" altLang="zh-CN" dirty="0">
                <a:latin typeface="Times New Roman" panose="02020603050405020304" pitchFamily="18" charset="0"/>
                <a:ea typeface="华文楷体" panose="02010600040101010101" pitchFamily="2" charset="-122"/>
              </a:rPr>
              <a:t>//</a:t>
            </a:r>
            <a:r>
              <a:rPr lang="zh-CN" altLang="en-US" dirty="0">
                <a:latin typeface="Times New Roman" panose="02020603050405020304" pitchFamily="18" charset="0"/>
                <a:ea typeface="华文楷体" panose="02010600040101010101" pitchFamily="2" charset="-122"/>
              </a:rPr>
              <a:t>只要有人投赞成票，则 </a:t>
            </a:r>
            <a:r>
              <a:rPr lang="en-US" altLang="zh-CN" dirty="0">
                <a:latin typeface="Times New Roman" panose="02020603050405020304" pitchFamily="18" charset="0"/>
                <a:ea typeface="华文楷体" panose="02010600040101010101" pitchFamily="2" charset="-122"/>
              </a:rPr>
              <a:t>sum</a:t>
            </a:r>
            <a:r>
              <a:rPr lang="zh-CN" altLang="en-US" dirty="0">
                <a:latin typeface="Times New Roman" panose="02020603050405020304" pitchFamily="18" charset="0"/>
                <a:ea typeface="华文楷体" panose="02010600040101010101" pitchFamily="2" charset="-122"/>
              </a:rPr>
              <a:t>加</a:t>
            </a:r>
            <a:r>
              <a:rPr lang="en-US" altLang="zh-CN" dirty="0">
                <a:latin typeface="Times New Roman" panose="02020603050405020304" pitchFamily="18" charset="0"/>
                <a:ea typeface="华文楷体" panose="02010600040101010101" pitchFamily="2" charset="-122"/>
              </a:rPr>
              <a:t>1</a:t>
            </a:r>
            <a:endParaRPr lang="en-US" altLang="zh-CN"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a:t>
            </a:r>
            <a:r>
              <a:rPr lang="en-US" altLang="zh-CN" b="1" dirty="0">
                <a:solidFill>
                  <a:srgbClr val="CC3300"/>
                </a:solidFill>
                <a:latin typeface="Times New Roman" panose="02020603050405020304" pitchFamily="18" charset="0"/>
                <a:ea typeface="华文楷体" panose="02010600040101010101" pitchFamily="2" charset="-122"/>
              </a:rPr>
              <a:t>if(sum[2])</a:t>
            </a:r>
            <a:r>
              <a:rPr lang="en-US" altLang="zh-CN" b="1" dirty="0">
                <a:latin typeface="Times New Roman" panose="02020603050405020304" pitchFamily="18" charset="0"/>
                <a:ea typeface="华文楷体" panose="02010600040101010101" pitchFamily="2" charset="-122"/>
              </a:rPr>
              <a:t>     pass = 1;  </a:t>
            </a:r>
            <a:r>
              <a:rPr lang="en-US" altLang="zh-CN" dirty="0">
                <a:latin typeface="Times New Roman" panose="02020603050405020304" pitchFamily="18" charset="0"/>
                <a:ea typeface="华文楷体" panose="02010600040101010101" pitchFamily="2" charset="-122"/>
              </a:rPr>
              <a:t>//</a:t>
            </a:r>
            <a:r>
              <a:rPr lang="zh-CN" altLang="en-US" dirty="0">
                <a:latin typeface="Times New Roman" panose="02020603050405020304" pitchFamily="18" charset="0"/>
                <a:ea typeface="华文楷体" panose="02010600040101010101" pitchFamily="2" charset="-122"/>
              </a:rPr>
              <a:t>若超过</a:t>
            </a:r>
            <a:r>
              <a:rPr lang="en-US" altLang="zh-CN" dirty="0">
                <a:latin typeface="Times New Roman" panose="02020603050405020304" pitchFamily="18" charset="0"/>
                <a:ea typeface="华文楷体" panose="02010600040101010101" pitchFamily="2" charset="-122"/>
              </a:rPr>
              <a:t>4</a:t>
            </a:r>
            <a:r>
              <a:rPr lang="zh-CN" altLang="en-US" dirty="0">
                <a:latin typeface="Times New Roman" panose="02020603050405020304" pitchFamily="18" charset="0"/>
                <a:ea typeface="华文楷体" panose="02010600040101010101" pitchFamily="2" charset="-122"/>
              </a:rPr>
              <a:t>人赞成，则表决通过</a:t>
            </a:r>
            <a:r>
              <a:rPr lang="zh-CN" altLang="en-US" b="1" dirty="0">
                <a:latin typeface="Times New Roman" panose="02020603050405020304" pitchFamily="18" charset="0"/>
                <a:ea typeface="华文楷体" panose="02010600040101010101" pitchFamily="2" charset="-122"/>
              </a:rPr>
              <a:t>	</a:t>
            </a:r>
            <a:r>
              <a:rPr lang="en-US" altLang="zh-CN" b="1" dirty="0">
                <a:latin typeface="Times New Roman" panose="02020603050405020304" pitchFamily="18" charset="0"/>
                <a:ea typeface="华文楷体" panose="02010600040101010101" pitchFamily="2" charset="-122"/>
              </a:rPr>
              <a:t>else                 pass = 0;</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         end</a:t>
            </a:r>
            <a:endParaRPr lang="en-US" altLang="zh-CN"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华文楷体" panose="02010600040101010101" pitchFamily="2" charset="-122"/>
              </a:rPr>
              <a:t>endmodule</a:t>
            </a:r>
            <a:endParaRPr lang="en-US" altLang="zh-CN" b="1" dirty="0">
              <a:latin typeface="Times New Roman" panose="02020603050405020304" pitchFamily="18" charset="0"/>
              <a:ea typeface="华文楷体" panose="02010600040101010101" pitchFamily="2" charset="-122"/>
            </a:endParaRPr>
          </a:p>
        </p:txBody>
      </p:sp>
      <p:sp>
        <p:nvSpPr>
          <p:cNvPr id="1730564" name="AutoShape 4"/>
          <p:cNvSpPr/>
          <p:nvPr/>
        </p:nvSpPr>
        <p:spPr>
          <a:xfrm>
            <a:off x="2820988" y="6029325"/>
            <a:ext cx="3200400" cy="381000"/>
          </a:xfrm>
          <a:prstGeom prst="wedgeRectCallout">
            <a:avLst>
              <a:gd name="adj1" fmla="val -50000"/>
              <a:gd name="adj2" fmla="val -1941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imes New Roman" panose="02020603050405020304" pitchFamily="18" charset="0"/>
                <a:ea typeface="华文楷体" panose="02010600040101010101" pitchFamily="2" charset="-122"/>
              </a:rPr>
              <a:t>或写为</a:t>
            </a:r>
            <a:r>
              <a:rPr lang="en-US" altLang="zh-CN" b="1" dirty="0">
                <a:latin typeface="Times New Roman" panose="02020603050405020304" pitchFamily="18" charset="0"/>
                <a:ea typeface="华文楷体" panose="02010600040101010101" pitchFamily="2" charset="-122"/>
              </a:rPr>
              <a:t>if(sum[2:0]&gt;=3’d4) </a:t>
            </a:r>
            <a:endParaRPr lang="en-US" altLang="zh-CN"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30563"/>
                                        </p:tgtEl>
                                        <p:attrNameLst>
                                          <p:attrName>style.visibility</p:attrName>
                                        </p:attrNameLst>
                                      </p:cBhvr>
                                      <p:to>
                                        <p:strVal val="visible"/>
                                      </p:to>
                                    </p:set>
                                    <p:anim calcmode="lin" valueType="num">
                                      <p:cBhvr additive="base">
                                        <p:cTn id="7" dur="500" fill="hold"/>
                                        <p:tgtEl>
                                          <p:spTgt spid="1730563"/>
                                        </p:tgtEl>
                                        <p:attrNameLst>
                                          <p:attrName>ppt_x</p:attrName>
                                        </p:attrNameLst>
                                      </p:cBhvr>
                                      <p:tavLst>
                                        <p:tav tm="0">
                                          <p:val>
                                            <p:strVal val="0-#ppt_w/2"/>
                                          </p:val>
                                        </p:tav>
                                        <p:tav tm="100000">
                                          <p:val>
                                            <p:strVal val="#ppt_x"/>
                                          </p:val>
                                        </p:tav>
                                      </p:tavLst>
                                    </p:anim>
                                    <p:anim calcmode="lin" valueType="num">
                                      <p:cBhvr additive="base">
                                        <p:cTn id="8" dur="500" fill="hold"/>
                                        <p:tgtEl>
                                          <p:spTgt spid="17305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1730565"/>
                                        </p:tgtEl>
                                        <p:attrNameLst>
                                          <p:attrName>style.visibility</p:attrName>
                                        </p:attrNameLst>
                                      </p:cBhvr>
                                      <p:to>
                                        <p:strVal val="visible"/>
                                      </p:to>
                                    </p:set>
                                    <p:anim calcmode="lin" valueType="num">
                                      <p:cBhvr additive="base">
                                        <p:cTn id="12" dur="500" fill="hold"/>
                                        <p:tgtEl>
                                          <p:spTgt spid="1730565"/>
                                        </p:tgtEl>
                                        <p:attrNameLst>
                                          <p:attrName>ppt_x</p:attrName>
                                        </p:attrNameLst>
                                      </p:cBhvr>
                                      <p:tavLst>
                                        <p:tav tm="0">
                                          <p:val>
                                            <p:strVal val="0-#ppt_w/2"/>
                                          </p:val>
                                        </p:tav>
                                        <p:tav tm="100000">
                                          <p:val>
                                            <p:strVal val="#ppt_x"/>
                                          </p:val>
                                        </p:tav>
                                      </p:tavLst>
                                    </p:anim>
                                    <p:anim calcmode="lin" valueType="num">
                                      <p:cBhvr additive="base">
                                        <p:cTn id="13" dur="500" fill="hold"/>
                                        <p:tgtEl>
                                          <p:spTgt spid="173056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30564"/>
                                        </p:tgtEl>
                                        <p:attrNameLst>
                                          <p:attrName>style.visibility</p:attrName>
                                        </p:attrNameLst>
                                      </p:cBhvr>
                                      <p:to>
                                        <p:strVal val="visible"/>
                                      </p:to>
                                    </p:set>
                                    <p:animEffect transition="in" filter="dissolve">
                                      <p:cBhvr>
                                        <p:cTn id="18" dur="500"/>
                                        <p:tgtEl>
                                          <p:spTgt spid="1730564"/>
                                        </p:tgtEl>
                                      </p:cBhvr>
                                    </p:animEffect>
                                  </p:childTnLst>
                                  <p:subTnLst>
                                    <p:set>
                                      <p:cBhvr override="childStyle">
                                        <p:cTn dur="1" fill="hold" display="0" masterRel="nextClick" afterEffect="1"/>
                                        <p:tgtEl>
                                          <p:spTgt spid="173056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63" grpId="0"/>
      <p:bldP spid="1730565" grpId="0" bldLvl="0" animBg="1"/>
      <p:bldP spid="1730564"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89442" name="内容占位符 1"/>
          <p:cNvPicPr>
            <a:picLocks noGrp="1" noChangeAspect="1"/>
          </p:cNvPicPr>
          <p:nvPr>
            <p:ph idx="1"/>
          </p:nvPr>
        </p:nvPicPr>
        <p:blipFill>
          <a:blip r:embed="rId1"/>
          <a:srcRect/>
          <a:stretch>
            <a:fillRect/>
          </a:stretch>
        </p:blipFill>
        <p:spPr>
          <a:xfrm>
            <a:off x="107950" y="2362200"/>
            <a:ext cx="8928100" cy="2133600"/>
          </a:xfrm>
        </p:spPr>
      </p:pic>
      <p:sp>
        <p:nvSpPr>
          <p:cNvPr id="189443"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8944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32613" name="AutoShape 5"/>
          <p:cNvSpPr/>
          <p:nvPr/>
        </p:nvSpPr>
        <p:spPr>
          <a:xfrm>
            <a:off x="5194300" y="4813300"/>
            <a:ext cx="2819400" cy="381000"/>
          </a:xfrm>
          <a:prstGeom prst="wedgeRectCallout">
            <a:avLst>
              <a:gd name="adj1" fmla="val -51463"/>
              <a:gd name="adj2" fmla="val -251250"/>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imes New Roman" panose="02020603050405020304" pitchFamily="18" charset="0"/>
                <a:ea typeface="华文楷体" panose="02010600040101010101" pitchFamily="2" charset="-122"/>
              </a:rPr>
              <a:t>超过</a:t>
            </a:r>
            <a:r>
              <a:rPr lang="en-US" altLang="zh-CN" b="1" dirty="0">
                <a:latin typeface="Times New Roman" panose="02020603050405020304" pitchFamily="18" charset="0"/>
                <a:ea typeface="华文楷体" panose="02010600040101010101" pitchFamily="2" charset="-122"/>
              </a:rPr>
              <a:t>4</a:t>
            </a:r>
            <a:r>
              <a:rPr lang="zh-CN" altLang="en-US" b="1" dirty="0">
                <a:latin typeface="Times New Roman" panose="02020603050405020304" pitchFamily="18" charset="0"/>
                <a:ea typeface="华文楷体" panose="02010600040101010101" pitchFamily="2" charset="-122"/>
              </a:rPr>
              <a:t>人赞成</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则</a:t>
            </a:r>
            <a:r>
              <a:rPr lang="en-US" altLang="zh-CN" b="1" dirty="0">
                <a:latin typeface="Times New Roman" panose="02020603050405020304" pitchFamily="18" charset="0"/>
                <a:ea typeface="华文楷体" panose="02010600040101010101" pitchFamily="2" charset="-122"/>
              </a:rPr>
              <a:t>pass=1</a:t>
            </a:r>
            <a:r>
              <a:rPr lang="en-US" altLang="zh-CN" b="1" dirty="0">
                <a:ea typeface="宋体" panose="02010600030101010101" pitchFamily="2" charset="-122"/>
              </a:rPr>
              <a:t> </a:t>
            </a:r>
            <a:endParaRPr lang="en-US" altLang="zh-CN" b="1" dirty="0">
              <a:ea typeface="宋体" panose="02010600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732613"/>
                                        </p:tgtEl>
                                        <p:attrNameLst>
                                          <p:attrName>style.visibility</p:attrName>
                                        </p:attrNameLst>
                                      </p:cBhvr>
                                      <p:to>
                                        <p:strVal val="visible"/>
                                      </p:to>
                                    </p:set>
                                    <p:animEffect transition="in" filter="dissolve">
                                      <p:cBhvr>
                                        <p:cTn id="7" dur="500"/>
                                        <p:tgtEl>
                                          <p:spTgt spid="1732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2613"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149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149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34659" name="Rectangle 3"/>
          <p:cNvSpPr>
            <a:spLocks noGrp="1"/>
          </p:cNvSpPr>
          <p:nvPr>
            <p:ph idx="1"/>
          </p:nvPr>
        </p:nvSpPr>
        <p:spPr/>
        <p:txBody>
          <a:bodyPr vert="horz" wrap="square" lIns="91440" tIns="45720" rIns="91440" bIns="45720" anchor="t" anchorCtr="0"/>
          <a:p>
            <a:pPr marL="482600" lvl="1" indent="-287020" eaLnBrk="1" hangingPunct="1"/>
            <a:r>
              <a:rPr lang="en-US" altLang="zh-CN" dirty="0">
                <a:latin typeface="Times New Roman" panose="02020603050405020304" pitchFamily="18" charset="0"/>
                <a:ea typeface="黑体" panose="02010609060101010101" pitchFamily="49" charset="-122"/>
              </a:rPr>
              <a:t>[</a:t>
            </a:r>
            <a:r>
              <a:rPr lang="zh-CN" altLang="en-US" dirty="0">
                <a:solidFill>
                  <a:srgbClr val="FF0066"/>
                </a:solidFill>
                <a:latin typeface="Times New Roman" panose="02020603050405020304" pitchFamily="18" charset="0"/>
                <a:ea typeface="华文楷体" panose="02010600040101010101" pitchFamily="2" charset="-122"/>
              </a:rPr>
              <a:t>例</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华文楷体" panose="02010600040101010101" pitchFamily="2" charset="-122"/>
              </a:rPr>
              <a:t>用</a:t>
            </a:r>
            <a:r>
              <a:rPr lang="en-US" altLang="zh-CN" dirty="0">
                <a:latin typeface="Times New Roman" panose="02020603050405020304" pitchFamily="18" charset="0"/>
                <a:ea typeface="黑体" panose="02010609060101010101" pitchFamily="49" charset="-122"/>
              </a:rPr>
              <a:t>for</a:t>
            </a:r>
            <a:r>
              <a:rPr lang="zh-CN" altLang="en-US" dirty="0">
                <a:latin typeface="Times New Roman" panose="02020603050405020304" pitchFamily="18" charset="0"/>
                <a:ea typeface="华文楷体" panose="02010600040101010101" pitchFamily="2" charset="-122"/>
              </a:rPr>
              <a:t>语句初始化</a:t>
            </a:r>
            <a:r>
              <a:rPr lang="en-US" altLang="zh-CN" dirty="0">
                <a:latin typeface="Times New Roman" panose="02020603050405020304" pitchFamily="18" charset="0"/>
                <a:ea typeface="黑体" panose="02010609060101010101" pitchFamily="49" charset="-122"/>
              </a:rPr>
              <a:t>memory</a:t>
            </a:r>
            <a:r>
              <a:rPr lang="zh-CN" altLang="en-US" dirty="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1734660" name="Text Box 4"/>
          <p:cNvSpPr txBox="1"/>
          <p:nvPr/>
        </p:nvSpPr>
        <p:spPr>
          <a:xfrm>
            <a:off x="2492375" y="5116513"/>
            <a:ext cx="4267200" cy="830262"/>
          </a:xfrm>
          <a:prstGeom prst="rect">
            <a:avLst/>
          </a:prstGeom>
          <a:noFill/>
          <a:ln w="9525" cap="flat" cmpd="sng">
            <a:solidFill>
              <a:schemeClr val="accent1"/>
            </a:solidFill>
            <a:prstDash val="solid"/>
            <a:round/>
            <a:headEnd type="none" w="med" len="med"/>
            <a:tailEnd type="none" w="med" len="med"/>
          </a:ln>
          <a:effectLst>
            <a:prstShdw prst="shdw13" dist="53882" dir="13499999">
              <a:schemeClr val="bg2"/>
            </a:prstShdw>
          </a:effectLst>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sz="2400" b="1" dirty="0">
                <a:latin typeface="Times New Roman" panose="02020603050405020304" pitchFamily="18" charset="0"/>
                <a:ea typeface="华文楷体" panose="02010600040101010101" pitchFamily="2" charset="-122"/>
              </a:rPr>
              <a:t>注：当执行语句有多条时，可用</a:t>
            </a:r>
            <a:r>
              <a:rPr lang="en-US" altLang="zh-CN" sz="2400" b="1" dirty="0">
                <a:solidFill>
                  <a:srgbClr val="CC3300"/>
                </a:solidFill>
                <a:latin typeface="Times New Roman" panose="02020603050405020304" pitchFamily="18" charset="0"/>
                <a:ea typeface="华文楷体" panose="02010600040101010101" pitchFamily="2" charset="-122"/>
              </a:rPr>
              <a:t>begin_end</a:t>
            </a:r>
            <a:r>
              <a:rPr lang="zh-CN" altLang="en-US" sz="2400" b="1" dirty="0">
                <a:latin typeface="Times New Roman" panose="02020603050405020304" pitchFamily="18" charset="0"/>
                <a:ea typeface="华文楷体" panose="02010600040101010101" pitchFamily="2" charset="-122"/>
              </a:rPr>
              <a:t>语句将其括起来！</a:t>
            </a:r>
            <a:endParaRPr lang="zh-CN" altLang="en-US" sz="2400" b="1" dirty="0">
              <a:latin typeface="Times New Roman" panose="02020603050405020304" pitchFamily="18" charset="0"/>
              <a:ea typeface="华文楷体" panose="02010600040101010101" pitchFamily="2" charset="-122"/>
            </a:endParaRPr>
          </a:p>
        </p:txBody>
      </p:sp>
      <p:sp>
        <p:nvSpPr>
          <p:cNvPr id="1734661" name="Text Box 5"/>
          <p:cNvSpPr txBox="1"/>
          <p:nvPr/>
        </p:nvSpPr>
        <p:spPr>
          <a:xfrm>
            <a:off x="1111250" y="1985963"/>
            <a:ext cx="6927850" cy="1752600"/>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begin:init_mem 	</a:t>
            </a:r>
            <a:endParaRPr lang="en-US" altLang="zh-CN" sz="2400"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sz="2400" b="1" dirty="0">
                <a:latin typeface="Times New Roman" panose="02020603050405020304" pitchFamily="18" charset="0"/>
                <a:ea typeface="华文楷体" panose="02010600040101010101" pitchFamily="2" charset="-122"/>
              </a:rPr>
              <a:t>    reg[7:0] tempi;      </a:t>
            </a:r>
            <a:r>
              <a:rPr lang="en-US" altLang="zh-CN" sz="2400" dirty="0">
                <a:latin typeface="Times New Roman" panose="02020603050405020304" pitchFamily="18" charset="0"/>
                <a:ea typeface="华文楷体" panose="02010600040101010101" pitchFamily="2" charset="-122"/>
              </a:rPr>
              <a:t>//</a:t>
            </a:r>
            <a:r>
              <a:rPr lang="zh-CN" altLang="en-US" sz="2400" dirty="0">
                <a:latin typeface="Times New Roman" panose="02020603050405020304" pitchFamily="18" charset="0"/>
                <a:ea typeface="华文楷体" panose="02010600040101010101" pitchFamily="2" charset="-122"/>
              </a:rPr>
              <a:t>存储器的地址变量</a:t>
            </a:r>
            <a:endParaRPr lang="zh-CN" altLang="en-US" sz="2400"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zh-CN" altLang="en-US" sz="2400" b="1" dirty="0">
                <a:latin typeface="Times New Roman" panose="02020603050405020304" pitchFamily="18" charset="0"/>
                <a:ea typeface="华文楷体" panose="02010600040101010101" pitchFamily="2" charset="-122"/>
              </a:rPr>
              <a:t>    </a:t>
            </a:r>
            <a:r>
              <a:rPr lang="en-US" altLang="zh-CN" sz="2400" b="1" dirty="0">
                <a:solidFill>
                  <a:srgbClr val="FF0066"/>
                </a:solidFill>
                <a:latin typeface="Times New Roman" panose="02020603050405020304" pitchFamily="18" charset="0"/>
                <a:ea typeface="华文楷体" panose="02010600040101010101" pitchFamily="2" charset="-122"/>
              </a:rPr>
              <a:t>for(tempi = 0;tempi&lt;memsize;tempi = tempi+1)</a:t>
            </a:r>
            <a:endParaRPr lang="en-US" altLang="zh-CN" sz="2400"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sz="2400" b="1" dirty="0">
                <a:latin typeface="Times New Roman" panose="02020603050405020304" pitchFamily="18" charset="0"/>
                <a:ea typeface="华文楷体" panose="02010600040101010101" pitchFamily="2" charset="-122"/>
              </a:rPr>
              <a:t>        memory[tempi] = 0; </a:t>
            </a:r>
            <a:endParaRPr lang="en-US" altLang="zh-CN" sz="2400" b="1" dirty="0">
              <a:latin typeface="Times New Roman" panose="02020603050405020304" pitchFamily="18" charset="0"/>
              <a:ea typeface="华文楷体" panose="02010600040101010101" pitchFamily="2" charset="-122"/>
            </a:endParaRPr>
          </a:p>
          <a:p>
            <a:pPr marL="0" lvl="0" indent="0" algn="just">
              <a:lnSpc>
                <a:spcPct val="90000"/>
              </a:lnSpc>
              <a:spcBef>
                <a:spcPct val="0"/>
              </a:spcBef>
              <a:buNone/>
            </a:pPr>
            <a:r>
              <a:rPr lang="en-US" altLang="zh-CN" sz="2400" b="1" dirty="0">
                <a:latin typeface="Times New Roman" panose="02020603050405020304" pitchFamily="18" charset="0"/>
                <a:ea typeface="华文楷体" panose="02010600040101010101" pitchFamily="2" charset="-122"/>
              </a:rPr>
              <a:t>end</a:t>
            </a:r>
            <a:endParaRPr lang="en-US" altLang="zh-CN" sz="2400" b="1" dirty="0">
              <a:latin typeface="Times New Roman" panose="02020603050405020304" pitchFamily="18" charset="0"/>
              <a:ea typeface="华文楷体" panose="02010600040101010101" pitchFamily="2" charset="-122"/>
            </a:endParaRPr>
          </a:p>
        </p:txBody>
      </p:sp>
      <p:sp>
        <p:nvSpPr>
          <p:cNvPr id="1734662" name="Rectangle 6"/>
          <p:cNvSpPr/>
          <p:nvPr/>
        </p:nvSpPr>
        <p:spPr>
          <a:xfrm>
            <a:off x="446088" y="4240213"/>
            <a:ext cx="6427787" cy="508000"/>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2600" lvl="1" indent="-28702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例</a:t>
            </a:r>
            <a:r>
              <a:rPr lang="en-US" altLang="zh-CN" sz="2400" b="1" dirty="0">
                <a:latin typeface="Times New Roman" panose="02020603050405020304" pitchFamily="18" charset="0"/>
                <a:ea typeface="华文楷体" panose="02010600040101010101" pitchFamily="2" charset="-122"/>
              </a:rPr>
              <a:t>] </a:t>
            </a:r>
            <a:r>
              <a:rPr lang="zh-CN" altLang="en-US" sz="2400" b="1" dirty="0">
                <a:latin typeface="Times New Roman" panose="02020603050405020304" pitchFamily="18" charset="0"/>
                <a:ea typeface="华文楷体" panose="02010600040101010101" pitchFamily="2" charset="-122"/>
              </a:rPr>
              <a:t>用</a:t>
            </a:r>
            <a:r>
              <a:rPr lang="en-US" altLang="zh-CN" sz="2400" b="1" dirty="0">
                <a:latin typeface="Times New Roman" panose="02020603050405020304" pitchFamily="18" charset="0"/>
                <a:ea typeface="华文楷体" panose="02010600040101010101" pitchFamily="2" charset="-122"/>
              </a:rPr>
              <a:t>for</a:t>
            </a:r>
            <a:r>
              <a:rPr lang="zh-CN" altLang="en-US" sz="2400" b="1" dirty="0">
                <a:latin typeface="Times New Roman" panose="02020603050405020304" pitchFamily="18" charset="0"/>
                <a:ea typeface="华文楷体" panose="02010600040101010101" pitchFamily="2" charset="-122"/>
              </a:rPr>
              <a:t>语句实现两个</a:t>
            </a:r>
            <a:r>
              <a:rPr lang="en-US" altLang="zh-CN" sz="2400" b="1" dirty="0">
                <a:latin typeface="Times New Roman" panose="02020603050405020304" pitchFamily="18" charset="0"/>
                <a:ea typeface="华文楷体" panose="02010600040101010101" pitchFamily="2" charset="-122"/>
              </a:rPr>
              <a:t>8</a:t>
            </a:r>
            <a:r>
              <a:rPr lang="zh-CN" altLang="en-US" sz="2400" b="1" dirty="0">
                <a:latin typeface="Times New Roman" panose="02020603050405020304" pitchFamily="18" charset="0"/>
                <a:ea typeface="华文楷体" panose="02010600040101010101" pitchFamily="2" charset="-122"/>
              </a:rPr>
              <a:t>位二进制数乘法</a:t>
            </a:r>
            <a:endParaRPr lang="zh-CN" altLang="en-US"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34659"/>
                                        </p:tgtEl>
                                        <p:attrNameLst>
                                          <p:attrName>style.visibility</p:attrName>
                                        </p:attrNameLst>
                                      </p:cBhvr>
                                      <p:to>
                                        <p:strVal val="visible"/>
                                      </p:to>
                                    </p:set>
                                    <p:anim calcmode="lin" valueType="num">
                                      <p:cBhvr additive="base">
                                        <p:cTn id="7" dur="500" fill="hold"/>
                                        <p:tgtEl>
                                          <p:spTgt spid="1734659"/>
                                        </p:tgtEl>
                                        <p:attrNameLst>
                                          <p:attrName>ppt_x</p:attrName>
                                        </p:attrNameLst>
                                      </p:cBhvr>
                                      <p:tavLst>
                                        <p:tav tm="0">
                                          <p:val>
                                            <p:strVal val="0-#ppt_w/2"/>
                                          </p:val>
                                        </p:tav>
                                        <p:tav tm="100000">
                                          <p:val>
                                            <p:strVal val="#ppt_x"/>
                                          </p:val>
                                        </p:tav>
                                      </p:tavLst>
                                    </p:anim>
                                    <p:anim calcmode="lin" valueType="num">
                                      <p:cBhvr additive="base">
                                        <p:cTn id="8" dur="500" fill="hold"/>
                                        <p:tgtEl>
                                          <p:spTgt spid="17346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734661"/>
                                        </p:tgtEl>
                                        <p:attrNameLst>
                                          <p:attrName>style.visibility</p:attrName>
                                        </p:attrNameLst>
                                      </p:cBhvr>
                                      <p:to>
                                        <p:strVal val="visible"/>
                                      </p:to>
                                    </p:set>
                                    <p:anim calcmode="lin" valueType="num">
                                      <p:cBhvr additive="base">
                                        <p:cTn id="13" dur="500" fill="hold"/>
                                        <p:tgtEl>
                                          <p:spTgt spid="1734661"/>
                                        </p:tgtEl>
                                        <p:attrNameLst>
                                          <p:attrName>ppt_x</p:attrName>
                                        </p:attrNameLst>
                                      </p:cBhvr>
                                      <p:tavLst>
                                        <p:tav tm="0">
                                          <p:val>
                                            <p:strVal val="0-#ppt_w/2"/>
                                          </p:val>
                                        </p:tav>
                                        <p:tav tm="100000">
                                          <p:val>
                                            <p:strVal val="#ppt_x"/>
                                          </p:val>
                                        </p:tav>
                                      </p:tavLst>
                                    </p:anim>
                                    <p:anim calcmode="lin" valueType="num">
                                      <p:cBhvr additive="base">
                                        <p:cTn id="14" dur="500" fill="hold"/>
                                        <p:tgtEl>
                                          <p:spTgt spid="173466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34662">
                                            <p:txEl>
                                              <p:charRg st="0" end="23"/>
                                            </p:txEl>
                                          </p:spTgt>
                                        </p:tgtEl>
                                        <p:attrNameLst>
                                          <p:attrName>style.visibility</p:attrName>
                                        </p:attrNameLst>
                                      </p:cBhvr>
                                      <p:to>
                                        <p:strVal val="visible"/>
                                      </p:to>
                                    </p:set>
                                    <p:anim calcmode="lin" valueType="num">
                                      <p:cBhvr additive="base">
                                        <p:cTn id="19" dur="500" fill="hold"/>
                                        <p:tgtEl>
                                          <p:spTgt spid="1734662">
                                            <p:txEl>
                                              <p:charRg st="0" end="2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34662">
                                            <p:txEl>
                                              <p:charRg st="0" end="2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734660"/>
                                        </p:tgtEl>
                                        <p:attrNameLst>
                                          <p:attrName>style.visibility</p:attrName>
                                        </p:attrNameLst>
                                      </p:cBhvr>
                                      <p:to>
                                        <p:strVal val="visible"/>
                                      </p:to>
                                    </p:set>
                                    <p:anim calcmode="lin" valueType="num">
                                      <p:cBhvr>
                                        <p:cTn id="25" dur="500" fill="hold"/>
                                        <p:tgtEl>
                                          <p:spTgt spid="1734660"/>
                                        </p:tgtEl>
                                        <p:attrNameLst>
                                          <p:attrName>ppt_w</p:attrName>
                                        </p:attrNameLst>
                                      </p:cBhvr>
                                      <p:tavLst>
                                        <p:tav tm="0">
                                          <p:val>
                                            <p:fltVal val="0.000000"/>
                                          </p:val>
                                        </p:tav>
                                        <p:tav tm="100000">
                                          <p:val>
                                            <p:strVal val="#ppt_w"/>
                                          </p:val>
                                        </p:tav>
                                      </p:tavLst>
                                    </p:anim>
                                    <p:anim calcmode="lin" valueType="num">
                                      <p:cBhvr>
                                        <p:cTn id="26" dur="500" fill="hold"/>
                                        <p:tgtEl>
                                          <p:spTgt spid="1734660"/>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4659" grpId="0"/>
      <p:bldP spid="1734660" grpId="0" bldLvl="0" animBg="1"/>
      <p:bldP spid="1734661" grpId="0" bldLvl="0" animBg="1"/>
      <p:bldP spid="1734662"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93538" name="图片 2"/>
          <p:cNvPicPr>
            <a:picLocks noChangeAspect="1"/>
          </p:cNvPicPr>
          <p:nvPr/>
        </p:nvPicPr>
        <p:blipFill>
          <a:blip r:embed="rId1"/>
          <a:stretch>
            <a:fillRect/>
          </a:stretch>
        </p:blipFill>
        <p:spPr>
          <a:xfrm>
            <a:off x="1093788" y="1412875"/>
            <a:ext cx="5800725" cy="4657725"/>
          </a:xfrm>
          <a:prstGeom prst="rect">
            <a:avLst/>
          </a:prstGeom>
          <a:noFill/>
          <a:ln w="9525">
            <a:noFill/>
          </a:ln>
        </p:spPr>
      </p:pic>
      <p:sp>
        <p:nvSpPr>
          <p:cNvPr id="193539"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354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36709" name="AutoShape 5"/>
          <p:cNvSpPr/>
          <p:nvPr/>
        </p:nvSpPr>
        <p:spPr>
          <a:xfrm>
            <a:off x="3079750" y="5761038"/>
            <a:ext cx="2743200" cy="381000"/>
          </a:xfrm>
          <a:prstGeom prst="wedgeRectCallout">
            <a:avLst>
              <a:gd name="adj1" fmla="val -42648"/>
              <a:gd name="adj2" fmla="val -181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Times New Roman" panose="02020603050405020304" pitchFamily="18" charset="0"/>
                <a:ea typeface="华文楷体" panose="02010600040101010101" pitchFamily="2" charset="-122"/>
              </a:rPr>
              <a:t>等同于</a:t>
            </a:r>
            <a:r>
              <a:rPr lang="en-US" altLang="zh-CN" b="1" dirty="0">
                <a:latin typeface="Times New Roman" panose="02020603050405020304" pitchFamily="18" charset="0"/>
                <a:ea typeface="华文楷体" panose="02010600040101010101" pitchFamily="2" charset="-122"/>
              </a:rPr>
              <a:t>if(b[i]= =1) </a:t>
            </a:r>
            <a:endParaRPr lang="en-US" altLang="zh-CN" b="1" dirty="0">
              <a:latin typeface="Times New Roman" panose="02020603050405020304" pitchFamily="18" charset="0"/>
              <a:ea typeface="华文楷体" panose="02010600040101010101" pitchFamily="2" charset="-122"/>
            </a:endParaRPr>
          </a:p>
        </p:txBody>
      </p:sp>
      <p:sp>
        <p:nvSpPr>
          <p:cNvPr id="1736710" name="AutoShape 6"/>
          <p:cNvSpPr/>
          <p:nvPr/>
        </p:nvSpPr>
        <p:spPr>
          <a:xfrm>
            <a:off x="6159500" y="5761038"/>
            <a:ext cx="1905000" cy="914400"/>
          </a:xfrm>
          <a:prstGeom prst="wedgeRectCallout">
            <a:avLst>
              <a:gd name="adj1" fmla="val -49065"/>
              <a:gd name="adj2" fmla="val -96491"/>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sz="1800" b="1" dirty="0">
                <a:latin typeface="Times New Roman" panose="02020603050405020304" pitchFamily="18" charset="0"/>
                <a:ea typeface="华文楷体" panose="02010600040101010101" pitchFamily="2" charset="-122"/>
              </a:rPr>
              <a:t>a</a:t>
            </a:r>
            <a:r>
              <a:rPr lang="zh-CN" altLang="en-US" sz="1800" b="1" dirty="0">
                <a:latin typeface="Times New Roman" panose="02020603050405020304" pitchFamily="18" charset="0"/>
                <a:ea typeface="华文楷体" panose="02010600040101010101" pitchFamily="2" charset="-122"/>
              </a:rPr>
              <a:t>左移</a:t>
            </a:r>
            <a:r>
              <a:rPr lang="en-US" altLang="zh-CN" sz="1800" b="1" dirty="0">
                <a:latin typeface="Times New Roman" panose="02020603050405020304" pitchFamily="18" charset="0"/>
                <a:ea typeface="华文楷体" panose="02010600040101010101" pitchFamily="2" charset="-122"/>
              </a:rPr>
              <a:t>(i-1) </a:t>
            </a:r>
            <a:r>
              <a:rPr lang="zh-CN" altLang="en-US" sz="1800" b="1" dirty="0">
                <a:latin typeface="Times New Roman" panose="02020603050405020304" pitchFamily="18" charset="0"/>
                <a:ea typeface="华文楷体" panose="02010600040101010101" pitchFamily="2" charset="-122"/>
              </a:rPr>
              <a:t>位，同时用（</a:t>
            </a:r>
            <a:r>
              <a:rPr lang="en-US" altLang="zh-CN" sz="1800" b="1" dirty="0">
                <a:latin typeface="Times New Roman" panose="02020603050405020304" pitchFamily="18" charset="0"/>
                <a:ea typeface="华文楷体" panose="02010600040101010101" pitchFamily="2" charset="-122"/>
              </a:rPr>
              <a:t>i-1</a:t>
            </a:r>
            <a:r>
              <a:rPr lang="zh-CN" altLang="en-US" sz="1800" b="1" dirty="0">
                <a:latin typeface="Times New Roman" panose="02020603050405020304" pitchFamily="18" charset="0"/>
                <a:ea typeface="华文楷体" panose="02010600040101010101" pitchFamily="2" charset="-122"/>
              </a:rPr>
              <a:t>）个</a:t>
            </a:r>
            <a:r>
              <a:rPr lang="en-US" altLang="zh-CN" sz="1800" b="1" dirty="0">
                <a:latin typeface="Times New Roman" panose="02020603050405020304" pitchFamily="18" charset="0"/>
                <a:ea typeface="华文楷体" panose="02010600040101010101" pitchFamily="2" charset="-122"/>
              </a:rPr>
              <a:t>0</a:t>
            </a:r>
            <a:r>
              <a:rPr lang="zh-CN" altLang="en-US" sz="1800" b="1" dirty="0">
                <a:latin typeface="Times New Roman" panose="02020603050405020304" pitchFamily="18" charset="0"/>
                <a:ea typeface="华文楷体" panose="02010600040101010101" pitchFamily="2" charset="-122"/>
              </a:rPr>
              <a:t>填补移出的位</a:t>
            </a:r>
            <a:endParaRPr lang="zh-CN" altLang="en-US" sz="1800" b="1" dirty="0">
              <a:latin typeface="Times New Roman" panose="02020603050405020304" pitchFamily="18" charset="0"/>
              <a:ea typeface="华文楷体" panose="02010600040101010101" pitchFamily="2" charset="-122"/>
            </a:endParaRPr>
          </a:p>
        </p:txBody>
      </p:sp>
      <p:sp>
        <p:nvSpPr>
          <p:cNvPr id="1736711" name="AutoShape 7"/>
          <p:cNvSpPr/>
          <p:nvPr/>
        </p:nvSpPr>
        <p:spPr>
          <a:xfrm>
            <a:off x="5518150" y="2527300"/>
            <a:ext cx="2743200" cy="381000"/>
          </a:xfrm>
          <a:prstGeom prst="wedgeRectCallout">
            <a:avLst>
              <a:gd name="adj1" fmla="val -86111"/>
              <a:gd name="adj2" fmla="val 5417"/>
            </a:avLst>
          </a:prstGeom>
          <a:solidFill>
            <a:schemeClr val="bg1"/>
          </a:solidFill>
          <a:ln w="12700" cap="flat" cmpd="sng">
            <a:solidFill>
              <a:srgbClr val="89A4A7"/>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b="1" dirty="0">
                <a:latin typeface="华文楷体" panose="02010600040101010101" pitchFamily="2" charset="-122"/>
                <a:ea typeface="华文楷体" panose="02010600040101010101" pitchFamily="2" charset="-122"/>
              </a:rPr>
              <a:t>a</a:t>
            </a:r>
            <a:r>
              <a:rPr lang="zh-CN" altLang="en-US" b="1" dirty="0">
                <a:latin typeface="华文楷体" panose="02010600040101010101" pitchFamily="2" charset="-122"/>
                <a:ea typeface="华文楷体" panose="02010600040101010101" pitchFamily="2" charset="-122"/>
              </a:rPr>
              <a:t>为被乘数</a:t>
            </a:r>
            <a:r>
              <a:rPr lang="en-US" altLang="zh-CN" b="1" dirty="0">
                <a:latin typeface="华文楷体" panose="02010600040101010101" pitchFamily="2" charset="-122"/>
                <a:ea typeface="华文楷体" panose="02010600040101010101" pitchFamily="2" charset="-122"/>
              </a:rPr>
              <a:t>,b</a:t>
            </a:r>
            <a:r>
              <a:rPr lang="zh-CN" altLang="en-US" b="1" dirty="0">
                <a:latin typeface="华文楷体" panose="02010600040101010101" pitchFamily="2" charset="-122"/>
                <a:ea typeface="华文楷体" panose="02010600040101010101" pitchFamily="2" charset="-122"/>
              </a:rPr>
              <a:t>为乘数 </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36711"/>
                                        </p:tgtEl>
                                        <p:attrNameLst>
                                          <p:attrName>style.visibility</p:attrName>
                                        </p:attrNameLst>
                                      </p:cBhvr>
                                      <p:to>
                                        <p:strVal val="visible"/>
                                      </p:to>
                                    </p:set>
                                    <p:animEffect transition="in" filter="dissolve">
                                      <p:cBhvr>
                                        <p:cTn id="7" dur="500"/>
                                        <p:tgtEl>
                                          <p:spTgt spid="17367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36709"/>
                                        </p:tgtEl>
                                        <p:attrNameLst>
                                          <p:attrName>style.visibility</p:attrName>
                                        </p:attrNameLst>
                                      </p:cBhvr>
                                      <p:to>
                                        <p:strVal val="visible"/>
                                      </p:to>
                                    </p:set>
                                    <p:animEffect transition="in" filter="dissolve">
                                      <p:cBhvr>
                                        <p:cTn id="12" dur="500"/>
                                        <p:tgtEl>
                                          <p:spTgt spid="173670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36710"/>
                                        </p:tgtEl>
                                        <p:attrNameLst>
                                          <p:attrName>style.visibility</p:attrName>
                                        </p:attrNameLst>
                                      </p:cBhvr>
                                      <p:to>
                                        <p:strVal val="visible"/>
                                      </p:to>
                                    </p:set>
                                    <p:animEffect transition="in" filter="dissolve">
                                      <p:cBhvr>
                                        <p:cTn id="17" dur="500"/>
                                        <p:tgtEl>
                                          <p:spTgt spid="1736710"/>
                                        </p:tgtEl>
                                      </p:cBhvr>
                                    </p:animEffect>
                                  </p:childTnLst>
                                  <p:subTnLst>
                                    <p:set>
                                      <p:cBhvr override="childStyle">
                                        <p:cTn dur="1" fill="hold" display="0" masterRel="nextClick" afterEffect="1"/>
                                        <p:tgtEl>
                                          <p:spTgt spid="17367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6709" grpId="0" bldLvl="0" animBg="1"/>
      <p:bldP spid="1736710" grpId="0" bldLvl="0" animBg="1"/>
      <p:bldP spid="1736711"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195586" name="图片 3"/>
          <p:cNvPicPr>
            <a:picLocks noChangeAspect="1"/>
          </p:cNvPicPr>
          <p:nvPr/>
        </p:nvPicPr>
        <p:blipFill>
          <a:blip r:embed="rId1"/>
          <a:stretch>
            <a:fillRect/>
          </a:stretch>
        </p:blipFill>
        <p:spPr>
          <a:xfrm>
            <a:off x="180975" y="2705100"/>
            <a:ext cx="8782050" cy="1447800"/>
          </a:xfrm>
          <a:prstGeom prst="rect">
            <a:avLst/>
          </a:prstGeom>
          <a:noFill/>
          <a:ln w="9525">
            <a:noFill/>
          </a:ln>
        </p:spPr>
      </p:pic>
      <p:sp>
        <p:nvSpPr>
          <p:cNvPr id="195587"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558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38757" name="AutoShape 5"/>
          <p:cNvSpPr/>
          <p:nvPr/>
        </p:nvSpPr>
        <p:spPr>
          <a:xfrm>
            <a:off x="1674813" y="4806950"/>
            <a:ext cx="3925887" cy="428625"/>
          </a:xfrm>
          <a:prstGeom prst="wedgeRectCallout">
            <a:avLst>
              <a:gd name="adj1" fmla="val -49759"/>
              <a:gd name="adj2" fmla="val -268519"/>
            </a:avLst>
          </a:prstGeom>
          <a:noFill/>
          <a:ln w="9525" cap="flat" cmpd="sng">
            <a:solidFill>
              <a:schemeClr val="accent1"/>
            </a:solidFill>
            <a:prstDash val="solid"/>
            <a:round/>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宋体" panose="02010600030101010101" pitchFamily="2" charset="-122"/>
                <a:ea typeface="宋体" panose="02010600030101010101" pitchFamily="2" charset="-122"/>
              </a:rPr>
              <a:t>建议用</a:t>
            </a:r>
            <a:r>
              <a:rPr lang="zh-CN" altLang="en-US" b="1" dirty="0">
                <a:solidFill>
                  <a:srgbClr val="CC3300"/>
                </a:solidFill>
                <a:latin typeface="宋体" panose="02010600030101010101" pitchFamily="2" charset="-122"/>
                <a:ea typeface="宋体" panose="02010600030101010101" pitchFamily="2" charset="-122"/>
              </a:rPr>
              <a:t>无符号十进制</a:t>
            </a:r>
            <a:r>
              <a:rPr lang="zh-CN" altLang="en-US" b="1" dirty="0">
                <a:latin typeface="宋体" panose="02010600030101010101" pitchFamily="2" charset="-122"/>
                <a:ea typeface="宋体" panose="02010600030101010101" pitchFamily="2" charset="-122"/>
              </a:rPr>
              <a:t>表示，直观</a:t>
            </a:r>
            <a:r>
              <a:rPr lang="en-US" altLang="zh-CN" b="1" dirty="0">
                <a:latin typeface="宋体" panose="02010600030101010101" pitchFamily="2" charset="-122"/>
                <a:ea typeface="宋体" panose="02010600030101010101" pitchFamily="2" charset="-122"/>
              </a:rPr>
              <a:t>!</a:t>
            </a:r>
            <a:r>
              <a:rPr lang="en-US" altLang="zh-CN" b="1" dirty="0">
                <a:ea typeface="宋体" panose="02010600030101010101" pitchFamily="2" charset="-122"/>
              </a:rPr>
              <a:t> </a:t>
            </a:r>
            <a:endParaRPr lang="en-US" altLang="zh-CN" b="1" dirty="0">
              <a:ea typeface="宋体" panose="02010600030101010101" pitchFamily="2" charset="-122"/>
            </a:endParaRPr>
          </a:p>
        </p:txBody>
      </p:sp>
      <p:sp>
        <p:nvSpPr>
          <p:cNvPr id="195590" name="内容占位符 1"/>
          <p:cNvSpPr>
            <a:spLocks noGrp="1"/>
          </p:cNvSpPr>
          <p:nvPr>
            <p:ph idx="1"/>
          </p:nvPr>
        </p:nvSpPr>
        <p:spPr/>
        <p:txBody>
          <a:bodyPr vert="horz" wrap="square" lIns="91440" tIns="45720" rIns="91440" bIns="45720" anchor="t" anchorCtr="0"/>
          <a:p>
            <a:r>
              <a:rPr lang="zh-CN" altLang="en-US" dirty="0">
                <a:latin typeface="华文楷体" panose="02010600040101010101" pitchFamily="2" charset="-122"/>
                <a:ea typeface="华文楷体" panose="02010600040101010101" pitchFamily="2" charset="-122"/>
                <a:cs typeface="+mn-cs"/>
              </a:rPr>
              <a:t>功能仿真</a:t>
            </a:r>
            <a:endParaRPr lang="zh-CN" altLang="en-US"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38757"/>
                                        </p:tgtEl>
                                        <p:attrNameLst>
                                          <p:attrName>style.visibility</p:attrName>
                                        </p:attrNameLst>
                                      </p:cBhvr>
                                      <p:to>
                                        <p:strVal val="visible"/>
                                      </p:to>
                                    </p:set>
                                    <p:animEffect transition="in" filter="dissolve">
                                      <p:cBhvr>
                                        <p:cTn id="7" dur="500"/>
                                        <p:tgtEl>
                                          <p:spTgt spid="1738757"/>
                                        </p:tgtEl>
                                      </p:cBhvr>
                                    </p:animEffect>
                                  </p:childTnLst>
                                  <p:subTnLst>
                                    <p:set>
                                      <p:cBhvr override="childStyle">
                                        <p:cTn dur="1" fill="hold" display="0" masterRel="nextClick" afterEffect="1"/>
                                        <p:tgtEl>
                                          <p:spTgt spid="173875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8757"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76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763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42851" name="Rectangle 3"/>
          <p:cNvSpPr>
            <a:spLocks noGrp="1"/>
          </p:cNvSpPr>
          <p:nvPr>
            <p:ph idx="1"/>
          </p:nvPr>
        </p:nvSpPr>
        <p:spPr>
          <a:xfrm>
            <a:off x="539750" y="1085850"/>
            <a:ext cx="8164513" cy="4719638"/>
          </a:xfrm>
        </p:spPr>
        <p:txBody>
          <a:bodyPr vert="horz" wrap="square" lIns="91440" tIns="45720" rIns="91440" bIns="45720" anchor="t" anchorCtr="0"/>
          <a:p>
            <a:pPr algn="just" eaLnBrk="1" hangingPunct="1">
              <a:lnSpc>
                <a:spcPct val="110000"/>
              </a:lnSpc>
            </a:pPr>
            <a:r>
              <a:rPr lang="en-US" altLang="zh-CN" dirty="0">
                <a:solidFill>
                  <a:schemeClr val="tx2"/>
                </a:solidFill>
                <a:latin typeface="Times New Roman" panose="02020603050405020304" pitchFamily="18" charset="0"/>
                <a:ea typeface="黑体" panose="02010609060101010101" pitchFamily="49" charset="-122"/>
                <a:cs typeface="+mn-cs"/>
              </a:rPr>
              <a:t>8.2 while</a:t>
            </a:r>
            <a:r>
              <a:rPr lang="zh-CN" altLang="en-US" dirty="0">
                <a:solidFill>
                  <a:schemeClr val="tx2"/>
                </a:solidFill>
                <a:latin typeface="Times New Roman" panose="02020603050405020304" pitchFamily="18" charset="0"/>
                <a:ea typeface="华文楷体" panose="02010600040101010101" pitchFamily="2" charset="-122"/>
                <a:cs typeface="+mn-cs"/>
              </a:rPr>
              <a:t>语句</a:t>
            </a:r>
            <a:endParaRPr lang="zh-CN" altLang="en-US" dirty="0">
              <a:solidFill>
                <a:schemeClr val="tx2"/>
              </a:solidFill>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1.while</a:t>
            </a:r>
            <a:r>
              <a:rPr lang="zh-CN" altLang="en-US" dirty="0">
                <a:latin typeface="Times New Roman" panose="02020603050405020304" pitchFamily="18" charset="0"/>
                <a:ea typeface="华文楷体" panose="02010600040101010101" pitchFamily="2" charset="-122"/>
                <a:cs typeface="+mn-cs"/>
              </a:rPr>
              <a:t>语句</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zh-CN" dirty="0">
                <a:solidFill>
                  <a:srgbClr val="FF66CC"/>
                </a:solidFill>
                <a:latin typeface="Times New Roman" panose="02020603050405020304" pitchFamily="18" charset="0"/>
                <a:ea typeface="华文楷体" panose="02010600040101010101" pitchFamily="2" charset="-122"/>
                <a:cs typeface="+mn-cs"/>
              </a:rPr>
              <a:t>有条件</a:t>
            </a:r>
            <a:r>
              <a:rPr lang="zh-CN" altLang="zh-CN" dirty="0">
                <a:latin typeface="Times New Roman" panose="02020603050405020304" pitchFamily="18" charset="0"/>
                <a:ea typeface="华文楷体" panose="02010600040101010101" pitchFamily="2" charset="-122"/>
                <a:cs typeface="+mn-cs"/>
              </a:rPr>
              <a:t>地执行一条或多条语句。</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      首先判断循环执行条件表达式是否为真。若为真，则执行后面的语句或语句块；然后再回头判断循环执行条件表达式是否为真，若为真，再执行一次后面的语句；如此不断，直到条件表达式不为真。</a:t>
            </a:r>
            <a:endParaRPr lang="zh-CN" altLang="en-US" sz="2600" dirty="0">
              <a:latin typeface="Times New Roman" panose="02020603050405020304" pitchFamily="18" charset="0"/>
              <a:ea typeface="华文楷体" panose="02010600040101010101" pitchFamily="2" charset="-122"/>
              <a:cs typeface="+mn-cs"/>
            </a:endParaRPr>
          </a:p>
        </p:txBody>
      </p:sp>
      <p:sp>
        <p:nvSpPr>
          <p:cNvPr id="1742852" name="Text Box 4"/>
          <p:cNvSpPr txBox="1"/>
          <p:nvPr/>
        </p:nvSpPr>
        <p:spPr>
          <a:xfrm>
            <a:off x="2176463" y="3535363"/>
            <a:ext cx="4648200" cy="427037"/>
          </a:xfrm>
          <a:prstGeom prst="rect">
            <a:avLst/>
          </a:prstGeom>
          <a:solidFill>
            <a:schemeClr val="bg1"/>
          </a:solid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while</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（循环执行</a:t>
            </a:r>
            <a:r>
              <a:rPr lang="zh-CN" altLang="en-US" b="1" dirty="0">
                <a:solidFill>
                  <a:srgbClr val="FF6600"/>
                </a:solidFill>
                <a:latin typeface="宋体" panose="02010600030101010101" pitchFamily="2" charset="-122"/>
                <a:ea typeface="宋体" panose="02010600030101010101" pitchFamily="2" charset="-122"/>
              </a:rPr>
              <a:t>条件</a:t>
            </a:r>
            <a:r>
              <a:rPr lang="zh-CN" altLang="en-US" b="1" dirty="0">
                <a:latin typeface="宋体" panose="02010600030101010101" pitchFamily="2" charset="-122"/>
                <a:ea typeface="宋体" panose="02010600030101010101" pitchFamily="2" charset="-122"/>
              </a:rPr>
              <a:t>表达式）语句</a:t>
            </a:r>
            <a:endParaRPr lang="zh-CN" altLang="en-US" b="1" dirty="0">
              <a:latin typeface="宋体" panose="02010600030101010101" pitchFamily="2" charset="-122"/>
              <a:ea typeface="宋体" panose="02010600030101010101" pitchFamily="2" charset="-122"/>
            </a:endParaRPr>
          </a:p>
        </p:txBody>
      </p:sp>
      <p:sp>
        <p:nvSpPr>
          <p:cNvPr id="1742853" name="Text Box 5"/>
          <p:cNvSpPr txBox="1"/>
          <p:nvPr/>
        </p:nvSpPr>
        <p:spPr>
          <a:xfrm>
            <a:off x="2667000" y="4338638"/>
            <a:ext cx="3810000" cy="1311275"/>
          </a:xfrm>
          <a:prstGeom prst="rect">
            <a:avLst/>
          </a:prstGeom>
          <a:solidFill>
            <a:schemeClr val="bg1"/>
          </a:solidFill>
          <a:ln w="9525" cap="flat" cmpd="sng">
            <a:solidFill>
              <a:schemeClr val="accent1"/>
            </a:solidFill>
            <a:prstDash val="solid"/>
            <a:round/>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spcBef>
                <a:spcPct val="0"/>
              </a:spcBef>
              <a:buNone/>
            </a:pPr>
            <a:r>
              <a:rPr lang="en-US" altLang="zh-CN" b="1" dirty="0">
                <a:solidFill>
                  <a:srgbClr val="FF0066"/>
                </a:solidFill>
                <a:latin typeface="宋体" panose="02010600030101010101" pitchFamily="2" charset="-122"/>
                <a:ea typeface="宋体" panose="02010600030101010101" pitchFamily="2" charset="-122"/>
              </a:rPr>
              <a:t>while</a:t>
            </a: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（循环执行</a:t>
            </a:r>
            <a:r>
              <a:rPr lang="zh-CN" altLang="en-US" b="1" dirty="0">
                <a:solidFill>
                  <a:srgbClr val="FF6600"/>
                </a:solidFill>
                <a:latin typeface="宋体" panose="02010600030101010101" pitchFamily="2" charset="-122"/>
                <a:ea typeface="宋体" panose="02010600030101010101" pitchFamily="2" charset="-122"/>
              </a:rPr>
              <a:t>条件</a:t>
            </a:r>
            <a:r>
              <a:rPr lang="zh-CN" altLang="en-US" b="1" dirty="0">
                <a:latin typeface="宋体" panose="02010600030101010101" pitchFamily="2" charset="-122"/>
                <a:ea typeface="宋体" panose="02010600030101010101" pitchFamily="2" charset="-122"/>
              </a:rPr>
              <a:t>表达式）</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begin</a:t>
            </a:r>
            <a:endParaRPr lang="en-US" altLang="zh-CN" b="1" dirty="0">
              <a:solidFill>
                <a:srgbClr val="FF6600"/>
              </a:solidFill>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end</a:t>
            </a:r>
            <a:endParaRPr lang="en-US" altLang="zh-CN" b="1" dirty="0">
              <a:solidFill>
                <a:srgbClr val="FF6600"/>
              </a:solidFill>
              <a:latin typeface="宋体" panose="02010600030101010101" pitchFamily="2" charset="-122"/>
              <a:ea typeface="宋体" panose="02010600030101010101" pitchFamily="2" charset="-122"/>
            </a:endParaRPr>
          </a:p>
        </p:txBody>
      </p:sp>
      <p:sp>
        <p:nvSpPr>
          <p:cNvPr id="1742855" name="Text Box 7"/>
          <p:cNvSpPr txBox="1"/>
          <p:nvPr/>
        </p:nvSpPr>
        <p:spPr>
          <a:xfrm>
            <a:off x="1677988" y="4335463"/>
            <a:ext cx="609600" cy="430212"/>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Clr>
                <a:srgbClr val="3333FF"/>
              </a:buClr>
              <a:buFont typeface="Wingdings" panose="05000000000000000000" pitchFamily="2" charset="2"/>
              <a:buNone/>
            </a:pPr>
            <a:r>
              <a:rPr lang="zh-CN" altLang="en-US" sz="2200" b="1" dirty="0">
                <a:latin typeface="宋体" panose="02010600030101010101" pitchFamily="2" charset="-122"/>
                <a:ea typeface="宋体" panose="02010600030101010101" pitchFamily="2" charset="-122"/>
              </a:rPr>
              <a:t>或</a:t>
            </a:r>
            <a:endParaRPr lang="zh-CN" altLang="en-US" sz="2200"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42851"/>
                                        </p:tgtEl>
                                        <p:attrNameLst>
                                          <p:attrName>style.visibility</p:attrName>
                                        </p:attrNameLst>
                                      </p:cBhvr>
                                      <p:to>
                                        <p:strVal val="visible"/>
                                      </p:to>
                                    </p:set>
                                    <p:anim calcmode="lin" valueType="num">
                                      <p:cBhvr additive="base">
                                        <p:cTn id="7" dur="500" fill="hold"/>
                                        <p:tgtEl>
                                          <p:spTgt spid="1742851"/>
                                        </p:tgtEl>
                                        <p:attrNameLst>
                                          <p:attrName>ppt_x</p:attrName>
                                        </p:attrNameLst>
                                      </p:cBhvr>
                                      <p:tavLst>
                                        <p:tav tm="0">
                                          <p:val>
                                            <p:strVal val="0-#ppt_w/2"/>
                                          </p:val>
                                        </p:tav>
                                        <p:tav tm="100000">
                                          <p:val>
                                            <p:strVal val="#ppt_x"/>
                                          </p:val>
                                        </p:tav>
                                      </p:tavLst>
                                    </p:anim>
                                    <p:anim calcmode="lin" valueType="num">
                                      <p:cBhvr additive="base">
                                        <p:cTn id="8" dur="500" fill="hold"/>
                                        <p:tgtEl>
                                          <p:spTgt spid="17428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742852"/>
                                        </p:tgtEl>
                                        <p:attrNameLst>
                                          <p:attrName>style.visibility</p:attrName>
                                        </p:attrNameLst>
                                      </p:cBhvr>
                                      <p:to>
                                        <p:strVal val="visible"/>
                                      </p:to>
                                    </p:set>
                                    <p:animEffect transition="in" filter="wipe(left)">
                                      <p:cBhvr>
                                        <p:cTn id="12" dur="500"/>
                                        <p:tgtEl>
                                          <p:spTgt spid="17428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2855"/>
                                        </p:tgtEl>
                                        <p:attrNameLst>
                                          <p:attrName>style.visibility</p:attrName>
                                        </p:attrNameLst>
                                      </p:cBhvr>
                                      <p:to>
                                        <p:strVal val="visible"/>
                                      </p:to>
                                    </p:set>
                                    <p:animEffect transition="in" filter="wipe(left)">
                                      <p:cBhvr>
                                        <p:cTn id="17" dur="500"/>
                                        <p:tgtEl>
                                          <p:spTgt spid="174285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742853"/>
                                        </p:tgtEl>
                                        <p:attrNameLst>
                                          <p:attrName>style.visibility</p:attrName>
                                        </p:attrNameLst>
                                      </p:cBhvr>
                                      <p:to>
                                        <p:strVal val="visible"/>
                                      </p:to>
                                    </p:set>
                                    <p:animEffect transition="in" filter="wipe(left)">
                                      <p:cBhvr>
                                        <p:cTn id="21" dur="500"/>
                                        <p:tgtEl>
                                          <p:spTgt spid="174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851" grpId="0"/>
      <p:bldP spid="1742852" grpId="0" bldLvl="0" animBg="1"/>
      <p:bldP spid="1742853" grpId="0" bldLvl="0" animBg="1"/>
      <p:bldP spid="1742855" grpId="0"/>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9968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99683" name="Rectangle 1026"/>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2139146" name="Rectangle 1034"/>
          <p:cNvSpPr>
            <a:spLocks noGrp="1"/>
          </p:cNvSpPr>
          <p:nvPr>
            <p:ph idx="1"/>
          </p:nvPr>
        </p:nvSpPr>
        <p:spPr>
          <a:effectLst>
            <a:prstShdw prst="shdw13" dist="53882" dir="13499999">
              <a:schemeClr val="bg2">
                <a:alpha val="100000"/>
              </a:schemeClr>
            </a:prstShdw>
          </a:effectLst>
        </p:spPr>
        <p:txBody>
          <a:bodyPr vert="horz" wrap="square" lIns="91440" tIns="45720" rIns="91440" bIns="45720" anchor="t" anchorCtr="0"/>
          <a:p>
            <a:pPr marL="663575" indent="-663575" eaLnBrk="1" hangingPunct="1">
              <a:lnSpc>
                <a:spcPct val="105000"/>
              </a:lnSpc>
            </a:pPr>
            <a:r>
              <a:rPr lang="zh-CN" altLang="en-US" dirty="0">
                <a:solidFill>
                  <a:srgbClr val="FF3399"/>
                </a:solidFill>
                <a:latin typeface="Times New Roman" panose="02020603050405020304" pitchFamily="18" charset="0"/>
                <a:ea typeface="华文楷体" panose="02010600040101010101" pitchFamily="2" charset="-122"/>
                <a:cs typeface="+mn-cs"/>
              </a:rPr>
              <a:t>注</a:t>
            </a:r>
            <a:r>
              <a:rPr lang="en-US" altLang="zh-CN" dirty="0">
                <a:solidFill>
                  <a:srgbClr val="FF3399"/>
                </a:solidFill>
                <a:latin typeface="Times New Roman" panose="02020603050405020304" pitchFamily="18" charset="0"/>
                <a:ea typeface="黑体" panose="02010609060101010101" pitchFamily="49" charset="-122"/>
                <a:cs typeface="+mn-cs"/>
              </a:rPr>
              <a:t>1</a:t>
            </a:r>
            <a:r>
              <a:rPr lang="zh-CN" altLang="en-US" dirty="0">
                <a:latin typeface="Times New Roman" panose="02020603050405020304" pitchFamily="18" charset="0"/>
                <a:ea typeface="华文楷体" panose="02010600040101010101" pitchFamily="2" charset="-122"/>
                <a:cs typeface="+mn-cs"/>
              </a:rPr>
              <a:t>：首先判断循环执行条件表达式是否为真，若不为真，则其后的语句一次也不被执行！</a:t>
            </a:r>
            <a:endParaRPr lang="zh-CN" altLang="en-US" dirty="0">
              <a:latin typeface="Times New Roman" panose="02020603050405020304" pitchFamily="18" charset="0"/>
              <a:ea typeface="华文楷体" panose="02010600040101010101" pitchFamily="2" charset="-122"/>
              <a:cs typeface="+mn-cs"/>
            </a:endParaRPr>
          </a:p>
          <a:p>
            <a:pPr marL="663575" indent="-663575" eaLnBrk="1" hangingPunct="1">
              <a:lnSpc>
                <a:spcPct val="105000"/>
              </a:lnSpc>
            </a:pPr>
            <a:r>
              <a:rPr lang="zh-CN" altLang="en-US" dirty="0">
                <a:solidFill>
                  <a:srgbClr val="FF3399"/>
                </a:solidFill>
                <a:latin typeface="Times New Roman" panose="02020603050405020304" pitchFamily="18" charset="0"/>
                <a:ea typeface="华文楷体" panose="02010600040101010101" pitchFamily="2" charset="-122"/>
                <a:cs typeface="+mn-cs"/>
              </a:rPr>
              <a:t>注</a:t>
            </a:r>
            <a:r>
              <a:rPr lang="en-US" altLang="zh-CN" dirty="0">
                <a:solidFill>
                  <a:srgbClr val="FF3399"/>
                </a:solidFill>
                <a:latin typeface="Times New Roman" panose="02020603050405020304" pitchFamily="18" charset="0"/>
                <a:ea typeface="黑体" panose="02010609060101010101" pitchFamily="49" charset="-122"/>
                <a:cs typeface="+mn-cs"/>
              </a:rPr>
              <a:t>2</a:t>
            </a:r>
            <a:r>
              <a:rPr lang="zh-CN" altLang="en-US" dirty="0">
                <a:latin typeface="Times New Roman" panose="02020603050405020304" pitchFamily="18" charset="0"/>
                <a:ea typeface="华文楷体" panose="02010600040101010101" pitchFamily="2" charset="-122"/>
                <a:cs typeface="+mn-cs"/>
              </a:rPr>
              <a:t>：在执行语句中，必须有一条改变循环执行条件表达式的值的语句！</a:t>
            </a:r>
            <a:endParaRPr lang="zh-CN" altLang="en-US" dirty="0">
              <a:latin typeface="Times New Roman" panose="02020603050405020304" pitchFamily="18" charset="0"/>
              <a:ea typeface="华文楷体" panose="02010600040101010101" pitchFamily="2" charset="-122"/>
              <a:cs typeface="+mn-cs"/>
            </a:endParaRPr>
          </a:p>
          <a:p>
            <a:pPr marL="663575" indent="-663575" algn="just">
              <a:lnSpc>
                <a:spcPct val="105000"/>
              </a:lnSpc>
              <a:spcBef>
                <a:spcPct val="0"/>
              </a:spcBef>
              <a:buClr>
                <a:srgbClr val="FF0066"/>
              </a:buClr>
            </a:pPr>
            <a:r>
              <a:rPr lang="zh-CN" altLang="en-US" dirty="0">
                <a:solidFill>
                  <a:srgbClr val="FF3399"/>
                </a:solidFill>
                <a:latin typeface="Times New Roman" panose="02020603050405020304" pitchFamily="18" charset="0"/>
                <a:ea typeface="华文楷体" panose="02010600040101010101" pitchFamily="2" charset="-122"/>
                <a:cs typeface="+mn-cs"/>
              </a:rPr>
              <a:t>注</a:t>
            </a:r>
            <a:r>
              <a:rPr lang="en-US" altLang="zh-CN" dirty="0">
                <a:solidFill>
                  <a:srgbClr val="FF3399"/>
                </a:solidFill>
                <a:latin typeface="Times New Roman" panose="02020603050405020304" pitchFamily="18" charset="0"/>
                <a:ea typeface="黑体" panose="02010609060101010101" pitchFamily="49" charset="-122"/>
                <a:cs typeface="+mn-cs"/>
              </a:rPr>
              <a:t>3</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while</a:t>
            </a:r>
            <a:r>
              <a:rPr lang="zh-CN" altLang="en-US" dirty="0">
                <a:latin typeface="Times New Roman" panose="02020603050405020304" pitchFamily="18" charset="0"/>
                <a:ea typeface="华文楷体" panose="02010600040101010101" pitchFamily="2" charset="-122"/>
                <a:cs typeface="+mn-cs"/>
              </a:rPr>
              <a:t>语句只有当循环块有事件控制（即</a:t>
            </a:r>
            <a:r>
              <a:rPr lang="en-US" altLang="zh-CN" dirty="0">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黑体" panose="02010609060101010101" pitchFamily="49" charset="-122"/>
                <a:cs typeface="+mn-cs"/>
              </a:rPr>
              <a:t>posedge clock</a:t>
            </a:r>
            <a:r>
              <a:rPr lang="zh-CN" altLang="en-US" dirty="0">
                <a:latin typeface="Times New Roman" panose="02020603050405020304" pitchFamily="18" charset="0"/>
                <a:ea typeface="华文楷体" panose="02010600040101010101" pitchFamily="2" charset="-122"/>
                <a:cs typeface="+mn-cs"/>
              </a:rPr>
              <a:t>））时才可综合！</a:t>
            </a:r>
            <a:endParaRPr lang="zh-CN" altLang="en-US" dirty="0">
              <a:latin typeface="Times New Roman" panose="02020603050405020304" pitchFamily="18" charset="0"/>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139146"/>
                                        </p:tgtEl>
                                        <p:attrNameLst>
                                          <p:attrName>style.visibility</p:attrName>
                                        </p:attrNameLst>
                                      </p:cBhvr>
                                      <p:to>
                                        <p:strVal val="visible"/>
                                      </p:to>
                                    </p:set>
                                    <p:animEffect transition="in" filter="barn(outVertical)">
                                      <p:cBhvr>
                                        <p:cTn id="7" dur="500"/>
                                        <p:tgtEl>
                                          <p:spTgt spid="2139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9146"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17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1744904" name="Text Box 8"/>
          <p:cNvSpPr txBox="1"/>
          <p:nvPr/>
        </p:nvSpPr>
        <p:spPr>
          <a:xfrm>
            <a:off x="642938" y="1408113"/>
            <a:ext cx="7432675" cy="5076825"/>
          </a:xfrm>
          <a:prstGeom prst="rect">
            <a:avLst/>
          </a:prstGeom>
          <a:noFill/>
          <a:ln w="12700" cap="flat" cmpd="sng">
            <a:solidFill>
              <a:schemeClr val="accent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module  count1s_while ( count,rega,clk );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output[3:0] count;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input [7:0]   rega;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input clk;</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reg[3:0]      count;</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always @(posedge clk)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begin:count1</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reg[7:0] tempreg;          </a:t>
            </a:r>
            <a:r>
              <a:rPr lang="en-US" altLang="zh-CN" dirty="0">
                <a:latin typeface="Times New Roman" panose="02020603050405020304" pitchFamily="18" charset="0"/>
                <a:ea typeface="方正姚体" panose="02010601030101010101" pitchFamily="2" charset="-122"/>
              </a:rPr>
              <a:t>//</a:t>
            </a:r>
            <a:r>
              <a:rPr lang="zh-CN" altLang="en-US" dirty="0">
                <a:latin typeface="Times New Roman" panose="02020603050405020304" pitchFamily="18" charset="0"/>
                <a:ea typeface="方正姚体" panose="02010601030101010101" pitchFamily="2" charset="-122"/>
              </a:rPr>
              <a:t>用作循环执行条件表达式</a:t>
            </a:r>
            <a:endParaRPr lang="zh-CN" altLang="en-US"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count = 0;                      </a:t>
            </a:r>
            <a:r>
              <a:rPr lang="en-US" altLang="zh-CN" dirty="0">
                <a:latin typeface="Times New Roman" panose="02020603050405020304" pitchFamily="18" charset="0"/>
                <a:ea typeface="方正姚体" panose="02010601030101010101" pitchFamily="2" charset="-122"/>
              </a:rPr>
              <a:t>// count</a:t>
            </a:r>
            <a:r>
              <a:rPr lang="zh-CN" altLang="en-US" dirty="0">
                <a:latin typeface="Times New Roman" panose="02020603050405020304" pitchFamily="18" charset="0"/>
                <a:ea typeface="方正姚体" panose="02010601030101010101" pitchFamily="2" charset="-122"/>
              </a:rPr>
              <a:t>初值为</a:t>
            </a:r>
            <a:r>
              <a:rPr lang="en-US" altLang="zh-CN" dirty="0">
                <a:latin typeface="Times New Roman" panose="02020603050405020304" pitchFamily="18" charset="0"/>
                <a:ea typeface="方正姚体" panose="02010601030101010101" pitchFamily="2" charset="-122"/>
              </a:rPr>
              <a:t>0</a:t>
            </a:r>
            <a:endParaRPr lang="en-US" altLang="zh-CN"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tempreg = rega;           </a:t>
            </a:r>
            <a:r>
              <a:rPr lang="en-US" altLang="zh-CN" dirty="0">
                <a:latin typeface="Times New Roman" panose="02020603050405020304" pitchFamily="18" charset="0"/>
                <a:ea typeface="方正姚体" panose="02010601030101010101" pitchFamily="2" charset="-122"/>
              </a:rPr>
              <a:t>//  tempreg </a:t>
            </a:r>
            <a:r>
              <a:rPr lang="zh-CN" altLang="en-US" dirty="0">
                <a:latin typeface="Times New Roman" panose="02020603050405020304" pitchFamily="18" charset="0"/>
                <a:ea typeface="方正姚体" panose="02010601030101010101" pitchFamily="2" charset="-122"/>
              </a:rPr>
              <a:t>初值为</a:t>
            </a:r>
            <a:r>
              <a:rPr lang="en-US" altLang="zh-CN" dirty="0">
                <a:latin typeface="Times New Roman" panose="02020603050405020304" pitchFamily="18" charset="0"/>
                <a:ea typeface="方正姚体" panose="02010601030101010101" pitchFamily="2" charset="-122"/>
              </a:rPr>
              <a:t>rega</a:t>
            </a:r>
            <a:endParaRPr lang="en-US" altLang="zh-CN"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FF0066"/>
                </a:solidFill>
                <a:latin typeface="Times New Roman" panose="02020603050405020304" pitchFamily="18" charset="0"/>
                <a:ea typeface="宋体" panose="02010600030101010101" pitchFamily="2" charset="-122"/>
              </a:rPr>
              <a:t>while(tempreg)</a:t>
            </a:r>
            <a:r>
              <a:rPr lang="en-US" altLang="zh-CN" b="1"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方正姚体" panose="02010601030101010101" pitchFamily="2" charset="-122"/>
              </a:rPr>
              <a:t>// </a:t>
            </a:r>
            <a:r>
              <a:rPr lang="zh-CN" altLang="en-US" dirty="0">
                <a:latin typeface="Times New Roman" panose="02020603050405020304" pitchFamily="18" charset="0"/>
                <a:ea typeface="方正姚体" panose="02010601030101010101" pitchFamily="2" charset="-122"/>
              </a:rPr>
              <a:t>若</a:t>
            </a:r>
            <a:r>
              <a:rPr lang="en-US" altLang="zh-CN" dirty="0">
                <a:latin typeface="Times New Roman" panose="02020603050405020304" pitchFamily="18" charset="0"/>
                <a:ea typeface="方正姚体" panose="02010601030101010101" pitchFamily="2" charset="-122"/>
              </a:rPr>
              <a:t>tempreg</a:t>
            </a:r>
            <a:r>
              <a:rPr lang="zh-CN" altLang="en-US" dirty="0">
                <a:latin typeface="Times New Roman" panose="02020603050405020304" pitchFamily="18" charset="0"/>
                <a:ea typeface="方正姚体" panose="02010601030101010101" pitchFamily="2" charset="-122"/>
              </a:rPr>
              <a:t>非</a:t>
            </a:r>
            <a:r>
              <a:rPr lang="en-US" altLang="zh-CN" dirty="0">
                <a:latin typeface="Times New Roman" panose="02020603050405020304" pitchFamily="18" charset="0"/>
                <a:ea typeface="方正姚体" panose="02010601030101010101" pitchFamily="2" charset="-122"/>
              </a:rPr>
              <a:t>0</a:t>
            </a:r>
            <a:r>
              <a:rPr lang="zh-CN" altLang="en-US" dirty="0">
                <a:latin typeface="Times New Roman" panose="02020603050405020304" pitchFamily="18" charset="0"/>
                <a:ea typeface="方正姚体" panose="02010601030101010101" pitchFamily="2" charset="-122"/>
              </a:rPr>
              <a:t>，则执行以下语句</a:t>
            </a:r>
            <a:endParaRPr lang="zh-CN" altLang="en-US"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begin</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if(tempreg[0])      count = count+1;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方正姚体" panose="02010601030101010101" pitchFamily="2" charset="-122"/>
              </a:rPr>
              <a:t>//</a:t>
            </a:r>
            <a:r>
              <a:rPr lang="zh-CN" altLang="en-US" dirty="0">
                <a:latin typeface="Times New Roman" panose="02020603050405020304" pitchFamily="18" charset="0"/>
                <a:ea typeface="方正姚体" panose="02010601030101010101" pitchFamily="2" charset="-122"/>
              </a:rPr>
              <a:t>只要</a:t>
            </a:r>
            <a:r>
              <a:rPr lang="en-US" altLang="zh-CN" dirty="0">
                <a:latin typeface="Times New Roman" panose="02020603050405020304" pitchFamily="18" charset="0"/>
                <a:ea typeface="方正姚体" panose="02010601030101010101" pitchFamily="2" charset="-122"/>
              </a:rPr>
              <a:t>tempreg</a:t>
            </a:r>
            <a:r>
              <a:rPr lang="zh-CN" altLang="en-US" dirty="0">
                <a:latin typeface="Times New Roman" panose="02020603050405020304" pitchFamily="18" charset="0"/>
                <a:ea typeface="方正姚体" panose="02010601030101010101" pitchFamily="2" charset="-122"/>
              </a:rPr>
              <a:t>最低位为</a:t>
            </a:r>
            <a:r>
              <a:rPr lang="en-US" altLang="zh-CN" dirty="0">
                <a:latin typeface="Times New Roman" panose="02020603050405020304" pitchFamily="18" charset="0"/>
                <a:ea typeface="方正姚体" panose="02010601030101010101" pitchFamily="2" charset="-122"/>
              </a:rPr>
              <a:t>1</a:t>
            </a:r>
            <a:r>
              <a:rPr lang="zh-CN" altLang="en-US" dirty="0">
                <a:latin typeface="Times New Roman" panose="02020603050405020304" pitchFamily="18" charset="0"/>
                <a:ea typeface="方正姚体" panose="02010601030101010101" pitchFamily="2" charset="-122"/>
              </a:rPr>
              <a:t>，则 </a:t>
            </a:r>
            <a:r>
              <a:rPr lang="en-US" altLang="zh-CN" dirty="0">
                <a:latin typeface="Times New Roman" panose="02020603050405020304" pitchFamily="18" charset="0"/>
                <a:ea typeface="方正姚体" panose="02010601030101010101" pitchFamily="2" charset="-122"/>
              </a:rPr>
              <a:t>count</a:t>
            </a:r>
            <a:r>
              <a:rPr lang="zh-CN" altLang="en-US" dirty="0">
                <a:latin typeface="Times New Roman" panose="02020603050405020304" pitchFamily="18" charset="0"/>
                <a:ea typeface="方正姚体" panose="02010601030101010101" pitchFamily="2" charset="-122"/>
              </a:rPr>
              <a:t>加</a:t>
            </a:r>
            <a:r>
              <a:rPr lang="en-US" altLang="zh-CN" dirty="0">
                <a:latin typeface="Times New Roman" panose="02020603050405020304" pitchFamily="18" charset="0"/>
                <a:ea typeface="方正姚体" panose="02010601030101010101" pitchFamily="2" charset="-122"/>
              </a:rPr>
              <a:t>1</a:t>
            </a:r>
            <a:endParaRPr lang="en-US" altLang="zh-CN"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FF0066"/>
                </a:solidFill>
                <a:latin typeface="Times New Roman" panose="02020603050405020304" pitchFamily="18" charset="0"/>
                <a:ea typeface="宋体" panose="02010600030101010101" pitchFamily="2" charset="-122"/>
              </a:rPr>
              <a:t>tempreg = tempreg &gt;&gt;1;</a:t>
            </a:r>
            <a:r>
              <a:rPr lang="en-US" altLang="zh-CN" b="1"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方正姚体" panose="02010601030101010101" pitchFamily="2" charset="-122"/>
              </a:rPr>
              <a:t>//</a:t>
            </a:r>
            <a:r>
              <a:rPr lang="zh-CN" altLang="en-US" dirty="0">
                <a:latin typeface="Times New Roman" panose="02020603050405020304" pitchFamily="18" charset="0"/>
                <a:ea typeface="方正姚体" panose="02010601030101010101" pitchFamily="2" charset="-122"/>
              </a:rPr>
              <a:t>右移</a:t>
            </a:r>
            <a:r>
              <a:rPr lang="en-US" altLang="zh-CN" dirty="0">
                <a:latin typeface="Times New Roman" panose="02020603050405020304" pitchFamily="18" charset="0"/>
                <a:ea typeface="方正姚体" panose="02010601030101010101" pitchFamily="2" charset="-122"/>
              </a:rPr>
              <a:t>1</a:t>
            </a:r>
            <a:r>
              <a:rPr lang="zh-CN" altLang="en-US" dirty="0">
                <a:latin typeface="Times New Roman" panose="02020603050405020304" pitchFamily="18" charset="0"/>
                <a:ea typeface="方正姚体" panose="02010601030101010101" pitchFamily="2" charset="-122"/>
              </a:rPr>
              <a:t>位	</a:t>
            </a:r>
            <a:endParaRPr lang="zh-CN" altLang="en-US" dirty="0">
              <a:latin typeface="Times New Roman" panose="02020603050405020304" pitchFamily="18" charset="0"/>
              <a:ea typeface="方正姚体" panose="02010601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end</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end</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endmodule</a:t>
            </a:r>
            <a:endParaRPr lang="en-US" altLang="zh-CN" sz="2400" b="1" dirty="0">
              <a:latin typeface="Times New Roman" panose="02020603050405020304" pitchFamily="18" charset="0"/>
              <a:ea typeface="宋体" panose="02010600030101010101" pitchFamily="2" charset="-122"/>
            </a:endParaRPr>
          </a:p>
        </p:txBody>
      </p:sp>
      <p:sp>
        <p:nvSpPr>
          <p:cNvPr id="20173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1744899" name="Rectangle 3"/>
          <p:cNvSpPr>
            <a:spLocks noGrp="1"/>
          </p:cNvSpPr>
          <p:nvPr>
            <p:ph idx="1"/>
          </p:nvPr>
        </p:nvSpPr>
        <p:spPr/>
        <p:txBody>
          <a:bodyPr vert="horz" wrap="square" lIns="91440" tIns="45720" rIns="91440" bIns="45720" anchor="t" anchorCtr="0"/>
          <a:p>
            <a:pPr lvl="1" eaLnBrk="1" hangingPunct="1">
              <a:lnSpc>
                <a:spcPct val="105000"/>
              </a:lnSpc>
            </a:pPr>
            <a:r>
              <a:rPr lang="en-US" altLang="zh-CN" dirty="0">
                <a:latin typeface="Times New Roman" panose="02020603050405020304" pitchFamily="18" charset="0"/>
                <a:ea typeface="黑体" panose="02010609060101010101" pitchFamily="49" charset="-122"/>
              </a:rPr>
              <a:t>[</a:t>
            </a:r>
            <a:r>
              <a:rPr lang="zh-CN" altLang="en-US" dirty="0">
                <a:solidFill>
                  <a:srgbClr val="FF0066"/>
                </a:solidFill>
                <a:latin typeface="Times New Roman" panose="02020603050405020304" pitchFamily="18" charset="0"/>
                <a:ea typeface="华文楷体" panose="02010600040101010101" pitchFamily="2" charset="-122"/>
              </a:rPr>
              <a:t>例</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华文楷体" panose="02010600040101010101" pitchFamily="2" charset="-122"/>
              </a:rPr>
              <a:t>用</a:t>
            </a:r>
            <a:r>
              <a:rPr lang="en-US" altLang="zh-CN" dirty="0">
                <a:latin typeface="Times New Roman" panose="02020603050405020304" pitchFamily="18" charset="0"/>
                <a:ea typeface="黑体" panose="02010609060101010101" pitchFamily="49" charset="-122"/>
              </a:rPr>
              <a:t>while</a:t>
            </a:r>
            <a:r>
              <a:rPr lang="zh-CN" altLang="en-US" dirty="0">
                <a:latin typeface="Times New Roman" panose="02020603050405020304" pitchFamily="18" charset="0"/>
                <a:ea typeface="华文楷体" panose="02010600040101010101" pitchFamily="2" charset="-122"/>
              </a:rPr>
              <a:t>语句对一个</a:t>
            </a:r>
            <a:r>
              <a:rPr lang="en-US" altLang="zh-CN" dirty="0">
                <a:latin typeface="Times New Roman" panose="02020603050405020304" pitchFamily="18" charset="0"/>
                <a:ea typeface="黑体" panose="02010609060101010101" pitchFamily="49" charset="-122"/>
              </a:rPr>
              <a:t>8</a:t>
            </a:r>
            <a:r>
              <a:rPr lang="zh-CN" altLang="en-US" dirty="0">
                <a:latin typeface="Times New Roman" panose="02020603050405020304" pitchFamily="18" charset="0"/>
                <a:ea typeface="华文楷体" panose="02010600040101010101" pitchFamily="2" charset="-122"/>
              </a:rPr>
              <a:t>位二进制数中值为</a:t>
            </a:r>
            <a:r>
              <a:rPr lang="en-US" altLang="zh-CN" dirty="0">
                <a:latin typeface="Times New Roman" panose="02020603050405020304" pitchFamily="18" charset="0"/>
                <a:ea typeface="黑体" panose="02010609060101010101" pitchFamily="49" charset="-122"/>
              </a:rPr>
              <a:t>1</a:t>
            </a:r>
            <a:r>
              <a:rPr lang="zh-CN" altLang="en-US" dirty="0">
                <a:latin typeface="Times New Roman" panose="02020603050405020304" pitchFamily="18" charset="0"/>
                <a:ea typeface="华文楷体" panose="02010600040101010101" pitchFamily="2" charset="-122"/>
              </a:rPr>
              <a:t>的位进行计数。</a:t>
            </a:r>
            <a:endParaRPr lang="zh-CN" altLang="en-US" sz="2200" dirty="0">
              <a:latin typeface="Times New Roman" panose="02020603050405020304" pitchFamily="18" charset="0"/>
              <a:ea typeface="华文楷体" panose="02010600040101010101" pitchFamily="2" charset="-122"/>
            </a:endParaRPr>
          </a:p>
        </p:txBody>
      </p:sp>
      <p:sp>
        <p:nvSpPr>
          <p:cNvPr id="1744901" name="AutoShape 5"/>
          <p:cNvSpPr/>
          <p:nvPr/>
        </p:nvSpPr>
        <p:spPr>
          <a:xfrm>
            <a:off x="3730625" y="6103938"/>
            <a:ext cx="3962400" cy="381000"/>
          </a:xfrm>
          <a:prstGeom prst="wedgeRectCallout">
            <a:avLst>
              <a:gd name="adj1" fmla="val -45866"/>
              <a:gd name="adj2" fmla="val -18541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宋体" panose="02010600030101010101" pitchFamily="2" charset="-122"/>
                <a:ea typeface="宋体" panose="02010600030101010101" pitchFamily="2" charset="-122"/>
              </a:rPr>
              <a:t>改变循环执行条件表达式的值</a:t>
            </a:r>
            <a:endParaRPr lang="zh-CN" altLang="en-US" dirty="0">
              <a:latin typeface="宋体" panose="02010600030101010101" pitchFamily="2" charset="-122"/>
              <a:ea typeface="宋体" panose="02010600030101010101" pitchFamily="2" charset="-122"/>
            </a:endParaRPr>
          </a:p>
        </p:txBody>
      </p:sp>
      <p:sp>
        <p:nvSpPr>
          <p:cNvPr id="1744902" name="AutoShape 6"/>
          <p:cNvSpPr/>
          <p:nvPr/>
        </p:nvSpPr>
        <p:spPr>
          <a:xfrm rot="-76865">
            <a:off x="5307013" y="2027238"/>
            <a:ext cx="3211512" cy="1106487"/>
          </a:xfrm>
          <a:prstGeom prst="cloudCallout">
            <a:avLst>
              <a:gd name="adj1" fmla="val -65306"/>
              <a:gd name="adj2" fmla="val 60319"/>
            </a:avLst>
          </a:prstGeom>
          <a:noFill/>
          <a:ln w="9525" cap="flat" cmpd="sng">
            <a:solidFill>
              <a:schemeClr val="accent1"/>
            </a:solidFill>
            <a:prstDash val="solid"/>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buClr>
                <a:schemeClr val="tx1"/>
              </a:buClr>
              <a:buSzPct val="80000"/>
              <a:buFont typeface="Wingdings" panose="05000000000000000000" pitchFamily="2" charset="2"/>
              <a:buNone/>
            </a:pPr>
            <a:r>
              <a:rPr lang="zh-CN" altLang="en-US" sz="2400" b="1" dirty="0">
                <a:solidFill>
                  <a:srgbClr val="800000"/>
                </a:solidFill>
                <a:latin typeface="Tahoma" panose="020B0604030504040204" pitchFamily="34" charset="0"/>
                <a:ea typeface="华文行楷" panose="02010800040101010101" pitchFamily="2" charset="-122"/>
              </a:rPr>
              <a:t>如何用</a:t>
            </a:r>
            <a:r>
              <a:rPr lang="en-US" altLang="zh-CN" sz="2400" b="1" dirty="0">
                <a:solidFill>
                  <a:schemeClr val="hlink"/>
                </a:solidFill>
                <a:latin typeface="Tahoma" panose="020B0604030504040204" pitchFamily="34" charset="0"/>
                <a:ea typeface="华文行楷" panose="02010800040101010101" pitchFamily="2" charset="-122"/>
              </a:rPr>
              <a:t>for</a:t>
            </a:r>
            <a:r>
              <a:rPr lang="zh-CN" altLang="en-US" sz="2400" b="1" dirty="0">
                <a:solidFill>
                  <a:srgbClr val="800000"/>
                </a:solidFill>
                <a:latin typeface="Tahoma" panose="020B0604030504040204" pitchFamily="34" charset="0"/>
                <a:ea typeface="华文行楷" panose="02010800040101010101" pitchFamily="2" charset="-122"/>
              </a:rPr>
              <a:t>语句改写此程序呢？</a:t>
            </a:r>
            <a:endParaRPr lang="zh-CN" altLang="en-US" sz="2400" b="1" dirty="0">
              <a:solidFill>
                <a:srgbClr val="800000"/>
              </a:solidFill>
              <a:latin typeface="Tahoma" panose="020B0604030504040204" pitchFamily="34" charset="0"/>
              <a:ea typeface="华文行楷" panose="020108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44899"/>
                                        </p:tgtEl>
                                        <p:attrNameLst>
                                          <p:attrName>style.visibility</p:attrName>
                                        </p:attrNameLst>
                                      </p:cBhvr>
                                      <p:to>
                                        <p:strVal val="visible"/>
                                      </p:to>
                                    </p:set>
                                    <p:anim calcmode="lin" valueType="num">
                                      <p:cBhvr additive="base">
                                        <p:cTn id="7" dur="500" fill="hold"/>
                                        <p:tgtEl>
                                          <p:spTgt spid="1744899"/>
                                        </p:tgtEl>
                                        <p:attrNameLst>
                                          <p:attrName>ppt_x</p:attrName>
                                        </p:attrNameLst>
                                      </p:cBhvr>
                                      <p:tavLst>
                                        <p:tav tm="0">
                                          <p:val>
                                            <p:strVal val="0-#ppt_w/2"/>
                                          </p:val>
                                        </p:tav>
                                        <p:tav tm="100000">
                                          <p:val>
                                            <p:strVal val="#ppt_x"/>
                                          </p:val>
                                        </p:tav>
                                      </p:tavLst>
                                    </p:anim>
                                    <p:anim calcmode="lin" valueType="num">
                                      <p:cBhvr additive="base">
                                        <p:cTn id="8" dur="500" fill="hold"/>
                                        <p:tgtEl>
                                          <p:spTgt spid="174489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1744904"/>
                                        </p:tgtEl>
                                        <p:attrNameLst>
                                          <p:attrName>style.visibility</p:attrName>
                                        </p:attrNameLst>
                                      </p:cBhvr>
                                      <p:to>
                                        <p:strVal val="visible"/>
                                      </p:to>
                                    </p:set>
                                    <p:anim calcmode="lin" valueType="num">
                                      <p:cBhvr additive="base">
                                        <p:cTn id="12" dur="500" fill="hold"/>
                                        <p:tgtEl>
                                          <p:spTgt spid="1744904"/>
                                        </p:tgtEl>
                                        <p:attrNameLst>
                                          <p:attrName>ppt_x</p:attrName>
                                        </p:attrNameLst>
                                      </p:cBhvr>
                                      <p:tavLst>
                                        <p:tav tm="0">
                                          <p:val>
                                            <p:strVal val="0-#ppt_w/2"/>
                                          </p:val>
                                        </p:tav>
                                        <p:tav tm="100000">
                                          <p:val>
                                            <p:strVal val="#ppt_x"/>
                                          </p:val>
                                        </p:tav>
                                      </p:tavLst>
                                    </p:anim>
                                    <p:anim calcmode="lin" valueType="num">
                                      <p:cBhvr additive="base">
                                        <p:cTn id="13" dur="500" fill="hold"/>
                                        <p:tgtEl>
                                          <p:spTgt spid="17449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44901"/>
                                        </p:tgtEl>
                                        <p:attrNameLst>
                                          <p:attrName>style.visibility</p:attrName>
                                        </p:attrNameLst>
                                      </p:cBhvr>
                                      <p:to>
                                        <p:strVal val="visible"/>
                                      </p:to>
                                    </p:set>
                                    <p:animEffect transition="in" filter="dissolve">
                                      <p:cBhvr>
                                        <p:cTn id="18" dur="500"/>
                                        <p:tgtEl>
                                          <p:spTgt spid="174490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44902"/>
                                        </p:tgtEl>
                                        <p:attrNameLst>
                                          <p:attrName>style.visibility</p:attrName>
                                        </p:attrNameLst>
                                      </p:cBhvr>
                                      <p:to>
                                        <p:strVal val="visible"/>
                                      </p:to>
                                    </p:set>
                                    <p:animEffect transition="in" filter="dissolve">
                                      <p:cBhvr>
                                        <p:cTn id="23" dur="500"/>
                                        <p:tgtEl>
                                          <p:spTgt spid="1744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4904" grpId="0" bldLvl="0" animBg="1"/>
      <p:bldP spid="1744899" grpId="0"/>
      <p:bldP spid="1744901" grpId="0" bldLvl="0" animBg="1"/>
      <p:bldP spid="1744902"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37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377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8  </a:t>
            </a:r>
            <a:r>
              <a:rPr lang="zh-CN" altLang="en-US" dirty="0">
                <a:latin typeface="华文楷体" panose="02010600040101010101" pitchFamily="2" charset="-122"/>
                <a:ea typeface="黑体" panose="02010609060101010101" pitchFamily="49" charset="-122"/>
                <a:cs typeface="+mj-cs"/>
              </a:rPr>
              <a:t>循环语句</a:t>
            </a:r>
            <a:endParaRPr lang="zh-CN" altLang="en-US" dirty="0">
              <a:latin typeface="华文楷体" panose="02010600040101010101" pitchFamily="2" charset="-122"/>
              <a:ea typeface="黑体" panose="02010609060101010101" pitchFamily="49" charset="-122"/>
              <a:cs typeface="+mj-cs"/>
            </a:endParaRPr>
          </a:p>
        </p:txBody>
      </p:sp>
      <p:sp>
        <p:nvSpPr>
          <p:cNvPr id="2" name="Rectangle 3"/>
          <p:cNvSpPr>
            <a:spLocks noGrp="1"/>
          </p:cNvSpPr>
          <p:nvPr>
            <p:ph idx="1"/>
          </p:nvPr>
        </p:nvSpPr>
        <p:spPr/>
        <p:txBody>
          <a:bodyPr vert="horz" wrap="square" lIns="91440" tIns="45720" rIns="91440" bIns="45720" anchor="t" anchorCtr="0"/>
          <a:p>
            <a:pPr marL="0" indent="0" algn="just">
              <a:spcBef>
                <a:spcPct val="0"/>
              </a:spcBef>
            </a:pPr>
            <a:endParaRPr lang="en-US" altLang="zh-CN" dirty="0">
              <a:latin typeface="宋体" panose="02010600030101010101" pitchFamily="2" charset="-122"/>
              <a:ea typeface="黑体" panose="02010609060101010101" pitchFamily="49" charset="-122"/>
              <a:cs typeface="+mn-cs"/>
            </a:endParaRPr>
          </a:p>
          <a:p>
            <a:pPr marL="0" indent="0" algn="just">
              <a:spcBef>
                <a:spcPct val="0"/>
              </a:spcBef>
            </a:pPr>
            <a:r>
              <a:rPr lang="en-US" altLang="zh-CN" dirty="0">
                <a:latin typeface="宋体" panose="02010600030101010101" pitchFamily="2" charset="-122"/>
                <a:ea typeface="黑体" panose="02010609060101010101" pitchFamily="49" charset="-122"/>
                <a:cs typeface="+mn-cs"/>
              </a:rPr>
              <a:t>[</a:t>
            </a:r>
            <a:r>
              <a:rPr lang="zh-CN" altLang="en-US" dirty="0">
                <a:solidFill>
                  <a:srgbClr val="FF0066"/>
                </a:solidFill>
                <a:latin typeface="宋体" panose="02010600030101010101" pitchFamily="2" charset="-122"/>
                <a:ea typeface="华文楷体" panose="02010600040101010101" pitchFamily="2" charset="-122"/>
                <a:cs typeface="+mn-cs"/>
              </a:rPr>
              <a:t>例</a:t>
            </a:r>
            <a:r>
              <a:rPr lang="en-US" altLang="zh-CN" dirty="0">
                <a:latin typeface="宋体" panose="02010600030101010101" pitchFamily="2" charset="-122"/>
                <a:ea typeface="黑体" panose="02010609060101010101" pitchFamily="49" charset="-122"/>
                <a:cs typeface="+mn-cs"/>
              </a:rPr>
              <a:t>] </a:t>
            </a:r>
            <a:r>
              <a:rPr lang="zh-CN" altLang="en-US" dirty="0">
                <a:latin typeface="宋体" panose="02010600030101010101" pitchFamily="2" charset="-122"/>
                <a:ea typeface="华文楷体" panose="02010600040101010101" pitchFamily="2" charset="-122"/>
                <a:cs typeface="+mn-cs"/>
              </a:rPr>
              <a:t>用</a:t>
            </a:r>
            <a:r>
              <a:rPr lang="en-US" altLang="zh-CN" dirty="0">
                <a:latin typeface="宋体" panose="02010600030101010101" pitchFamily="2" charset="-122"/>
                <a:ea typeface="黑体" panose="02010609060101010101" pitchFamily="49" charset="-122"/>
                <a:cs typeface="+mn-cs"/>
              </a:rPr>
              <a:t>for</a:t>
            </a:r>
            <a:r>
              <a:rPr lang="zh-CN" altLang="en-US" dirty="0">
                <a:latin typeface="宋体" panose="02010600030101010101" pitchFamily="2" charset="-122"/>
                <a:ea typeface="华文楷体" panose="02010600040101010101" pitchFamily="2" charset="-122"/>
                <a:cs typeface="+mn-cs"/>
              </a:rPr>
              <a:t>语句对一个</a:t>
            </a:r>
            <a:r>
              <a:rPr lang="en-US" altLang="zh-CN" dirty="0">
                <a:latin typeface="宋体" panose="02010600030101010101" pitchFamily="2" charset="-122"/>
                <a:ea typeface="黑体" panose="02010609060101010101" pitchFamily="49" charset="-122"/>
                <a:cs typeface="+mn-cs"/>
              </a:rPr>
              <a:t>8</a:t>
            </a:r>
            <a:r>
              <a:rPr lang="zh-CN" altLang="en-US" dirty="0">
                <a:latin typeface="宋体" panose="02010600030101010101" pitchFamily="2" charset="-122"/>
                <a:ea typeface="华文楷体" panose="02010600040101010101" pitchFamily="2" charset="-122"/>
                <a:cs typeface="+mn-cs"/>
              </a:rPr>
              <a:t>位二进制数中值为</a:t>
            </a:r>
            <a:r>
              <a:rPr lang="en-US" altLang="zh-CN" dirty="0">
                <a:latin typeface="宋体" panose="02010600030101010101" pitchFamily="2" charset="-122"/>
                <a:ea typeface="黑体" panose="02010609060101010101" pitchFamily="49" charset="-122"/>
                <a:cs typeface="+mn-cs"/>
              </a:rPr>
              <a:t>1</a:t>
            </a:r>
            <a:r>
              <a:rPr lang="zh-CN" altLang="en-US" dirty="0">
                <a:latin typeface="宋体" panose="02010600030101010101" pitchFamily="2" charset="-122"/>
                <a:ea typeface="华文楷体" panose="02010600040101010101" pitchFamily="2" charset="-122"/>
                <a:cs typeface="+mn-cs"/>
              </a:rPr>
              <a:t>的位进行计数。</a:t>
            </a:r>
            <a:endParaRPr lang="zh-CN" altLang="en-US" dirty="0">
              <a:latin typeface="宋体" panose="02010600030101010101" pitchFamily="2" charset="-122"/>
              <a:ea typeface="华文楷体" panose="02010600040101010101" pitchFamily="2" charset="-122"/>
              <a:cs typeface="+mn-cs"/>
            </a:endParaRPr>
          </a:p>
        </p:txBody>
      </p:sp>
      <p:sp>
        <p:nvSpPr>
          <p:cNvPr id="2115591" name="AutoShape 7"/>
          <p:cNvSpPr/>
          <p:nvPr/>
        </p:nvSpPr>
        <p:spPr>
          <a:xfrm rot="-479700">
            <a:off x="6030913" y="550863"/>
            <a:ext cx="2655887" cy="827087"/>
          </a:xfrm>
          <a:prstGeom prst="star16">
            <a:avLst>
              <a:gd name="adj" fmla="val 37500"/>
            </a:avLst>
          </a:prstGeom>
          <a:noFill/>
          <a:ln w="9525" cap="flat" cmpd="sng">
            <a:solidFill>
              <a:schemeClr val="accent1"/>
            </a:solidFill>
            <a:prstDash val="solid"/>
            <a:round/>
            <a:headEnd type="none" w="med" len="med"/>
            <a:tailEnd type="none" w="med" len="med"/>
          </a:ln>
        </p:spPr>
        <p:txBody>
          <a:bodyPr anchor="ctr" anchorCtr="1"/>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spcBef>
                <a:spcPct val="0"/>
              </a:spcBef>
              <a:buNone/>
            </a:pPr>
            <a:r>
              <a:rPr lang="zh-CN" altLang="en-US" sz="2800" b="1" dirty="0">
                <a:latin typeface="华文楷体" panose="02010600040101010101" pitchFamily="2" charset="-122"/>
                <a:ea typeface="华文楷体" panose="02010600040101010101" pitchFamily="2" charset="-122"/>
              </a:rPr>
              <a:t>简单！</a:t>
            </a:r>
            <a:endParaRPr lang="zh-CN" altLang="en-US" sz="2800" b="1" dirty="0">
              <a:latin typeface="华文楷体" panose="02010600040101010101" pitchFamily="2" charset="-122"/>
              <a:ea typeface="华文楷体" panose="02010600040101010101" pitchFamily="2" charset="-122"/>
            </a:endParaRPr>
          </a:p>
        </p:txBody>
      </p:sp>
      <p:pic>
        <p:nvPicPr>
          <p:cNvPr id="203782" name="图片 1"/>
          <p:cNvPicPr>
            <a:picLocks noChangeAspect="1"/>
          </p:cNvPicPr>
          <p:nvPr/>
        </p:nvPicPr>
        <p:blipFill>
          <a:blip r:embed="rId1"/>
          <a:stretch>
            <a:fillRect/>
          </a:stretch>
        </p:blipFill>
        <p:spPr>
          <a:xfrm>
            <a:off x="1162050" y="1843088"/>
            <a:ext cx="6819900" cy="4476750"/>
          </a:xfrm>
          <a:prstGeom prst="rect">
            <a:avLst/>
          </a:prstGeom>
          <a:noFill/>
          <a:ln w="9525">
            <a:noFill/>
          </a:ln>
        </p:spPr>
      </p:pic>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115591"/>
                                        </p:tgtEl>
                                        <p:attrNameLst>
                                          <p:attrName>style.visibility</p:attrName>
                                        </p:attrNameLst>
                                      </p:cBhvr>
                                      <p:to>
                                        <p:strVal val="visible"/>
                                      </p:to>
                                    </p:set>
                                    <p:anim calcmode="lin" valueType="num">
                                      <p:cBhvr>
                                        <p:cTn id="7" dur="500" fill="hold"/>
                                        <p:tgtEl>
                                          <p:spTgt spid="2115591"/>
                                        </p:tgtEl>
                                        <p:attrNameLst>
                                          <p:attrName>ppt_w</p:attrName>
                                        </p:attrNameLst>
                                      </p:cBhvr>
                                      <p:tavLst>
                                        <p:tav tm="0">
                                          <p:val>
                                            <p:fltVal val="0.000000"/>
                                          </p:val>
                                        </p:tav>
                                        <p:tav tm="100000">
                                          <p:val>
                                            <p:strVal val="#ppt_w"/>
                                          </p:val>
                                        </p:tav>
                                      </p:tavLst>
                                    </p:anim>
                                    <p:anim calcmode="lin" valueType="num">
                                      <p:cBhvr>
                                        <p:cTn id="8" dur="500" fill="hold"/>
                                        <p:tgtEl>
                                          <p:spTgt spid="211559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1000" build="p"/>
      <p:bldP spid="2115591" grpId="0" bldLvl="0" animBg="1"/>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58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493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044931" name="Rectangle 3"/>
          <p:cNvSpPr>
            <a:spLocks noGrp="1"/>
          </p:cNvSpPr>
          <p:nvPr>
            <p:ph idx="1"/>
          </p:nvPr>
        </p:nvSpPr>
        <p:spPr/>
        <p:txBody>
          <a:bodyPr vert="horz" wrap="square" lIns="91440" tIns="45720" rIns="91440" bIns="45720" anchor="t" anchorCtr="0"/>
          <a:p>
            <a:pPr eaLnBrk="1" hangingPunct="1">
              <a:lnSpc>
                <a:spcPct val="120000"/>
              </a:lnSpc>
            </a:pPr>
            <a:r>
              <a:rPr lang="en-US" altLang="zh-CN" sz="2800" dirty="0">
                <a:latin typeface="华文楷体" panose="02010600040101010101" pitchFamily="2" charset="-122"/>
                <a:ea typeface="华文楷体" panose="02010600040101010101" pitchFamily="2" charset="-122"/>
                <a:cs typeface="+mn-cs"/>
              </a:rPr>
              <a:t>9.1 always</a:t>
            </a:r>
            <a:r>
              <a:rPr lang="zh-CN" altLang="en-US" sz="2800" dirty="0">
                <a:latin typeface="华文楷体" panose="02010600040101010101" pitchFamily="2" charset="-122"/>
                <a:ea typeface="华文楷体" panose="02010600040101010101" pitchFamily="2" charset="-122"/>
                <a:cs typeface="+mn-cs"/>
              </a:rPr>
              <a:t>块语句</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2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9.2 initial</a:t>
            </a:r>
            <a:r>
              <a:rPr lang="zh-CN" altLang="en-US" sz="2800" dirty="0">
                <a:latin typeface="华文楷体" panose="02010600040101010101" pitchFamily="2" charset="-122"/>
                <a:ea typeface="华文楷体" panose="02010600040101010101" pitchFamily="2" charset="-122"/>
                <a:cs typeface="+mn-cs"/>
              </a:rPr>
              <a:t>语句</a:t>
            </a:r>
            <a:endParaRPr lang="zh-CN" altLang="en-US" sz="2800" dirty="0">
              <a:latin typeface="华文楷体" panose="02010600040101010101" pitchFamily="2" charset="-122"/>
              <a:ea typeface="华文楷体" panose="02010600040101010101" pitchFamily="2" charset="-122"/>
              <a:cs typeface="+mn-cs"/>
            </a:endParaRPr>
          </a:p>
          <a:p>
            <a:pPr eaLnBrk="1" hangingPunct="1"/>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9.3 task</a:t>
            </a:r>
            <a:r>
              <a:rPr lang="zh-CN" altLang="en-US" sz="2800" dirty="0">
                <a:latin typeface="华文楷体" panose="02010600040101010101" pitchFamily="2" charset="-122"/>
                <a:ea typeface="华文楷体" panose="02010600040101010101" pitchFamily="2" charset="-122"/>
                <a:cs typeface="+mn-cs"/>
              </a:rPr>
              <a:t>和</a:t>
            </a:r>
            <a:r>
              <a:rPr lang="en-US" altLang="zh-CN" sz="2800" dirty="0">
                <a:latin typeface="华文楷体" panose="02010600040101010101" pitchFamily="2" charset="-122"/>
                <a:ea typeface="华文楷体" panose="02010600040101010101" pitchFamily="2" charset="-122"/>
                <a:cs typeface="+mn-cs"/>
              </a:rPr>
              <a:t>function</a:t>
            </a:r>
            <a:r>
              <a:rPr lang="zh-CN" altLang="en-US" sz="2800" dirty="0">
                <a:latin typeface="华文楷体" panose="02010600040101010101" pitchFamily="2" charset="-122"/>
                <a:ea typeface="华文楷体" panose="02010600040101010101" pitchFamily="2" charset="-122"/>
                <a:cs typeface="+mn-cs"/>
              </a:rPr>
              <a:t>语句</a:t>
            </a:r>
            <a:endParaRPr lang="zh-CN" altLang="en-US" sz="2800"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4930"/>
                                        </p:tgtEl>
                                        <p:attrNameLst>
                                          <p:attrName>style.visibility</p:attrName>
                                        </p:attrNameLst>
                                      </p:cBhvr>
                                      <p:to>
                                        <p:strVal val="visible"/>
                                      </p:to>
                                    </p:set>
                                    <p:anim calcmode="lin" valueType="num">
                                      <p:cBhvr additive="base">
                                        <p:cTn id="7" dur="500" fill="hold"/>
                                        <p:tgtEl>
                                          <p:spTgt spid="2044930"/>
                                        </p:tgtEl>
                                        <p:attrNameLst>
                                          <p:attrName>ppt_x</p:attrName>
                                        </p:attrNameLst>
                                      </p:cBhvr>
                                      <p:tavLst>
                                        <p:tav tm="0">
                                          <p:val>
                                            <p:strVal val="#ppt_x"/>
                                          </p:val>
                                        </p:tav>
                                        <p:tav tm="100000">
                                          <p:val>
                                            <p:strVal val="#ppt_x"/>
                                          </p:val>
                                        </p:tav>
                                      </p:tavLst>
                                    </p:anim>
                                    <p:anim calcmode="lin" valueType="num">
                                      <p:cBhvr additive="base">
                                        <p:cTn id="8" dur="500" fill="hold"/>
                                        <p:tgtEl>
                                          <p:spTgt spid="204493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4931"/>
                                        </p:tgtEl>
                                        <p:attrNameLst>
                                          <p:attrName>style.visibility</p:attrName>
                                        </p:attrNameLst>
                                      </p:cBhvr>
                                      <p:to>
                                        <p:strVal val="visible"/>
                                      </p:to>
                                    </p:set>
                                    <p:anim calcmode="lin" valueType="num">
                                      <p:cBhvr additive="base">
                                        <p:cTn id="12" dur="500" fill="hold"/>
                                        <p:tgtEl>
                                          <p:spTgt spid="2044931"/>
                                        </p:tgtEl>
                                        <p:attrNameLst>
                                          <p:attrName>ppt_x</p:attrName>
                                        </p:attrNameLst>
                                      </p:cBhvr>
                                      <p:tavLst>
                                        <p:tav tm="0">
                                          <p:val>
                                            <p:strVal val="0-#ppt_w/2"/>
                                          </p:val>
                                        </p:tav>
                                        <p:tav tm="100000">
                                          <p:val>
                                            <p:strVal val="#ppt_x"/>
                                          </p:val>
                                        </p:tav>
                                      </p:tavLst>
                                    </p:anim>
                                    <p:anim calcmode="lin" valueType="num">
                                      <p:cBhvr additive="base">
                                        <p:cTn id="13" dur="500" fill="hold"/>
                                        <p:tgtEl>
                                          <p:spTgt spid="2044931"/>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4930" grpId="0"/>
      <p:bldP spid="2044931" grpId="0"/>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685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685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52067" name="Rectangle 3"/>
          <p:cNvSpPr>
            <a:spLocks noGrp="1"/>
          </p:cNvSpPr>
          <p:nvPr>
            <p:ph idx="1"/>
          </p:nvPr>
        </p:nvSpPr>
        <p:spPr>
          <a:ln>
            <a:solidFill>
              <a:schemeClr val="accent1">
                <a:alpha val="100000"/>
              </a:schemeClr>
            </a:solidFill>
            <a:miter lim="800000"/>
          </a:ln>
        </p:spPr>
        <p:txBody>
          <a:bodyPr vert="horz" wrap="square" lIns="91440" tIns="45720" rIns="91440" bIns="45720" anchor="t" anchorCtr="0"/>
          <a:p>
            <a:pPr algn="just">
              <a:lnSpc>
                <a:spcPct val="110000"/>
              </a:lnSpc>
              <a:spcBef>
                <a:spcPct val="0"/>
              </a:spcBef>
              <a:buClr>
                <a:schemeClr val="hlink"/>
              </a:buClr>
              <a:buSzPct val="80000"/>
              <a:buFont typeface="Wingdings" panose="05000000000000000000" pitchFamily="2" charset="2"/>
              <a:buChar char="Ø"/>
            </a:pPr>
            <a:endParaRPr lang="en-US" altLang="zh-CN" dirty="0">
              <a:solidFill>
                <a:srgbClr val="CC9900"/>
              </a:solidFill>
              <a:latin typeface="Times New Roman" panose="02020603050405020304" pitchFamily="18" charset="0"/>
              <a:ea typeface="黑体" panose="02010609060101010101" pitchFamily="49" charset="-122"/>
              <a:cs typeface="+mn-cs"/>
            </a:endParaRPr>
          </a:p>
          <a:p>
            <a:pPr algn="just">
              <a:lnSpc>
                <a:spcPct val="110000"/>
              </a:lnSpc>
              <a:spcBef>
                <a:spcPct val="0"/>
              </a:spcBef>
              <a:buClr>
                <a:schemeClr val="hlink"/>
              </a:buClr>
              <a:buSzPct val="80000"/>
              <a:buFont typeface="Wingdings" panose="05000000000000000000" pitchFamily="2" charset="2"/>
              <a:buChar char="Ø"/>
            </a:pPr>
            <a:endParaRPr lang="en-US" altLang="zh-CN" dirty="0">
              <a:solidFill>
                <a:srgbClr val="CC9900"/>
              </a:solidFill>
              <a:latin typeface="Times New Roman" panose="02020603050405020304" pitchFamily="18" charset="0"/>
              <a:ea typeface="黑体" panose="02010609060101010101" pitchFamily="49" charset="-122"/>
              <a:cs typeface="+mn-cs"/>
            </a:endParaRPr>
          </a:p>
          <a:p>
            <a:pPr algn="just">
              <a:lnSpc>
                <a:spcPct val="110000"/>
              </a:lnSpc>
              <a:spcBef>
                <a:spcPct val="0"/>
              </a:spcBef>
              <a:buClr>
                <a:schemeClr val="hlink"/>
              </a:buClr>
              <a:buSzPct val="80000"/>
              <a:buFont typeface="Wingdings" panose="05000000000000000000" pitchFamily="2" charset="2"/>
              <a:buChar char="Ø"/>
            </a:pPr>
            <a:endParaRPr lang="en-US" altLang="zh-CN" dirty="0">
              <a:latin typeface="Times New Roman" panose="02020603050405020304" pitchFamily="18" charset="0"/>
              <a:ea typeface="黑体" panose="02010609060101010101" pitchFamily="49" charset="-122"/>
              <a:cs typeface="+mn-cs"/>
            </a:endParaRPr>
          </a:p>
          <a:p>
            <a:pPr algn="just">
              <a:lnSpc>
                <a:spcPct val="110000"/>
              </a:lnSpc>
              <a:spcBef>
                <a:spcPct val="0"/>
              </a:spcBef>
              <a:buClr>
                <a:schemeClr val="hlink"/>
              </a:buClr>
              <a:buSzPct val="80000"/>
              <a:buFont typeface="Wingdings" panose="05000000000000000000" pitchFamily="2" charset="2"/>
              <a:buChar char="Ø"/>
            </a:pPr>
            <a:r>
              <a:rPr lang="en-US" altLang="zh-CN" dirty="0">
                <a:latin typeface="Times New Roman" panose="02020603050405020304" pitchFamily="18" charset="0"/>
                <a:ea typeface="黑体" panose="02010609060101010101" pitchFamily="49" charset="-122"/>
                <a:cs typeface="+mn-cs"/>
              </a:rPr>
              <a:t>initial</a:t>
            </a:r>
            <a:r>
              <a:rPr lang="zh-CN" altLang="en-US" dirty="0">
                <a:latin typeface="宋体" panose="02010600030101010101" pitchFamily="2" charset="-122"/>
                <a:ea typeface="华文楷体" panose="02010600040101010101" pitchFamily="2" charset="-122"/>
                <a:cs typeface="+mn-cs"/>
              </a:rPr>
              <a:t>说明</a:t>
            </a:r>
            <a:r>
              <a:rPr lang="zh-CN" altLang="zh-CN" dirty="0">
                <a:latin typeface="宋体" panose="02010600030101010101" pitchFamily="2" charset="-122"/>
                <a:ea typeface="华文楷体" panose="02010600040101010101" pitchFamily="2" charset="-122"/>
                <a:cs typeface="+mn-cs"/>
              </a:rPr>
              <a:t>语句</a:t>
            </a:r>
            <a:r>
              <a:rPr lang="en-US" altLang="zh-CN" dirty="0">
                <a:latin typeface="Times New Roman" panose="02020603050405020304" pitchFamily="18" charset="0"/>
                <a:ea typeface="黑体" panose="02010609060101010101" pitchFamily="49" charset="-122"/>
                <a:cs typeface="+mn-cs"/>
              </a:rPr>
              <a:t>——</a:t>
            </a:r>
            <a:r>
              <a:rPr lang="zh-CN" altLang="en-US" dirty="0">
                <a:latin typeface="宋体" panose="02010600030101010101" pitchFamily="2" charset="-122"/>
                <a:ea typeface="华文楷体" panose="02010600040101010101" pitchFamily="2" charset="-122"/>
                <a:cs typeface="+mn-cs"/>
              </a:rPr>
              <a:t>只执行一次</a:t>
            </a:r>
            <a:endParaRPr lang="zh-CN" altLang="en-US" dirty="0">
              <a:latin typeface="宋体" panose="02010600030101010101" pitchFamily="2" charset="-122"/>
              <a:ea typeface="华文楷体" panose="02010600040101010101" pitchFamily="2" charset="-122"/>
              <a:cs typeface="+mn-cs"/>
            </a:endParaRPr>
          </a:p>
          <a:p>
            <a:pPr algn="just">
              <a:lnSpc>
                <a:spcPct val="110000"/>
              </a:lnSpc>
              <a:spcBef>
                <a:spcPct val="0"/>
              </a:spcBef>
              <a:buClr>
                <a:schemeClr val="hlink"/>
              </a:buClr>
              <a:buSzPct val="80000"/>
              <a:buFont typeface="Wingdings" panose="05000000000000000000" pitchFamily="2" charset="2"/>
              <a:buChar char="Ø"/>
            </a:pPr>
            <a:r>
              <a:rPr lang="en-US" altLang="zh-CN" dirty="0">
                <a:latin typeface="Times New Roman" panose="02020603050405020304" pitchFamily="18" charset="0"/>
                <a:ea typeface="黑体" panose="02010609060101010101" pitchFamily="49" charset="-122"/>
                <a:cs typeface="+mn-cs"/>
              </a:rPr>
              <a:t>always</a:t>
            </a:r>
            <a:r>
              <a:rPr lang="zh-CN" altLang="en-US" dirty="0">
                <a:latin typeface="宋体" panose="02010600030101010101" pitchFamily="2" charset="-122"/>
                <a:ea typeface="华文楷体" panose="02010600040101010101" pitchFamily="2" charset="-122"/>
                <a:cs typeface="+mn-cs"/>
              </a:rPr>
              <a:t>说明</a:t>
            </a:r>
            <a:r>
              <a:rPr lang="zh-CN" altLang="zh-CN" dirty="0">
                <a:latin typeface="宋体" panose="02010600030101010101" pitchFamily="2" charset="-122"/>
                <a:ea typeface="华文楷体" panose="02010600040101010101" pitchFamily="2" charset="-122"/>
                <a:cs typeface="+mn-cs"/>
              </a:rPr>
              <a:t>语句</a:t>
            </a:r>
            <a:r>
              <a:rPr lang="zh-CN" altLang="zh-CN" dirty="0">
                <a:latin typeface="Times New Roman" panose="02020603050405020304" pitchFamily="18" charset="0"/>
                <a:ea typeface="华文楷体" panose="02010600040101010101" pitchFamily="2" charset="-122"/>
                <a:cs typeface="+mn-cs"/>
              </a:rPr>
              <a:t>——</a:t>
            </a:r>
            <a:r>
              <a:rPr lang="zh-CN" altLang="zh-CN" dirty="0">
                <a:latin typeface="宋体" panose="02010600030101010101" pitchFamily="2" charset="-122"/>
                <a:ea typeface="华文楷体" panose="02010600040101010101" pitchFamily="2" charset="-122"/>
                <a:cs typeface="+mn-cs"/>
              </a:rPr>
              <a:t>不断重复执行，直到仿真结束</a:t>
            </a:r>
            <a:endParaRPr lang="zh-CN" altLang="zh-CN" dirty="0">
              <a:latin typeface="宋体" panose="02010600030101010101" pitchFamily="2" charset="-122"/>
              <a:ea typeface="华文楷体" panose="02010600040101010101" pitchFamily="2" charset="-122"/>
              <a:cs typeface="+mn-cs"/>
            </a:endParaRPr>
          </a:p>
          <a:p>
            <a:pPr algn="just">
              <a:lnSpc>
                <a:spcPct val="110000"/>
              </a:lnSpc>
              <a:spcBef>
                <a:spcPct val="0"/>
              </a:spcBef>
              <a:buClr>
                <a:schemeClr val="hlink"/>
              </a:buClr>
              <a:buSzPct val="80000"/>
              <a:buFont typeface="Wingdings" panose="05000000000000000000" pitchFamily="2" charset="2"/>
              <a:buChar char="Ø"/>
            </a:pPr>
            <a:r>
              <a:rPr lang="en-US" altLang="zh-CN" dirty="0">
                <a:latin typeface="Times New Roman" panose="02020603050405020304" pitchFamily="18" charset="0"/>
                <a:ea typeface="黑体" panose="02010609060101010101" pitchFamily="49" charset="-122"/>
                <a:cs typeface="+mn-cs"/>
              </a:rPr>
              <a:t>task</a:t>
            </a:r>
            <a:r>
              <a:rPr lang="zh-CN" altLang="en-US" dirty="0">
                <a:latin typeface="宋体" panose="02010600030101010101" pitchFamily="2" charset="-122"/>
                <a:ea typeface="华文楷体" panose="02010600040101010101" pitchFamily="2" charset="-122"/>
                <a:cs typeface="+mn-cs"/>
              </a:rPr>
              <a:t>说明语句</a:t>
            </a:r>
            <a:r>
              <a:rPr lang="en-US" altLang="zh-CN" dirty="0">
                <a:latin typeface="Times New Roman" panose="02020603050405020304" pitchFamily="18" charset="0"/>
                <a:ea typeface="黑体" panose="02010609060101010101" pitchFamily="49" charset="-122"/>
                <a:cs typeface="+mn-cs"/>
              </a:rPr>
              <a:t>——</a:t>
            </a:r>
            <a:r>
              <a:rPr lang="zh-CN" altLang="en-US" dirty="0">
                <a:latin typeface="宋体" panose="02010600030101010101" pitchFamily="2" charset="-122"/>
                <a:ea typeface="华文楷体" panose="02010600040101010101" pitchFamily="2" charset="-122"/>
                <a:cs typeface="+mn-cs"/>
              </a:rPr>
              <a:t>可在程序模块中的一处或多处调用</a:t>
            </a:r>
            <a:endParaRPr lang="zh-CN" altLang="en-US" dirty="0">
              <a:latin typeface="宋体" panose="02010600030101010101" pitchFamily="2" charset="-122"/>
              <a:ea typeface="华文楷体" panose="02010600040101010101" pitchFamily="2" charset="-122"/>
              <a:cs typeface="+mn-cs"/>
            </a:endParaRPr>
          </a:p>
          <a:p>
            <a:pPr algn="just">
              <a:lnSpc>
                <a:spcPct val="110000"/>
              </a:lnSpc>
              <a:spcBef>
                <a:spcPct val="0"/>
              </a:spcBef>
              <a:buClr>
                <a:schemeClr val="hlink"/>
              </a:buClr>
              <a:buSzPct val="80000"/>
              <a:buFont typeface="Wingdings" panose="05000000000000000000" pitchFamily="2" charset="2"/>
              <a:buChar char="Ø"/>
            </a:pPr>
            <a:r>
              <a:rPr lang="en-US" altLang="zh-CN" dirty="0">
                <a:latin typeface="Times New Roman" panose="02020603050405020304" pitchFamily="18" charset="0"/>
                <a:ea typeface="黑体" panose="02010609060101010101" pitchFamily="49" charset="-122"/>
                <a:cs typeface="+mn-cs"/>
              </a:rPr>
              <a:t>function</a:t>
            </a:r>
            <a:r>
              <a:rPr lang="zh-CN" altLang="en-US" dirty="0">
                <a:latin typeface="宋体" panose="02010600030101010101" pitchFamily="2" charset="-122"/>
                <a:ea typeface="华文楷体" panose="02010600040101010101" pitchFamily="2" charset="-122"/>
                <a:cs typeface="+mn-cs"/>
              </a:rPr>
              <a:t>说明语句</a:t>
            </a:r>
            <a:r>
              <a:rPr lang="en-US" altLang="zh-CN" dirty="0">
                <a:latin typeface="Times New Roman" panose="02020603050405020304" pitchFamily="18" charset="0"/>
                <a:ea typeface="黑体" panose="02010609060101010101" pitchFamily="49" charset="-122"/>
                <a:cs typeface="+mn-cs"/>
              </a:rPr>
              <a:t>——</a:t>
            </a:r>
            <a:r>
              <a:rPr lang="zh-CN" altLang="en-US" dirty="0">
                <a:latin typeface="宋体" panose="02010600030101010101" pitchFamily="2" charset="-122"/>
                <a:ea typeface="华文楷体" panose="02010600040101010101" pitchFamily="2" charset="-122"/>
                <a:cs typeface="+mn-cs"/>
              </a:rPr>
              <a:t>可在程序模块中的一处或多处调用</a:t>
            </a:r>
            <a:endParaRPr lang="zh-CN" altLang="en-US" dirty="0">
              <a:latin typeface="宋体" panose="02010600030101010101" pitchFamily="2" charset="-122"/>
              <a:ea typeface="华文楷体" panose="02010600040101010101" pitchFamily="2" charset="-122"/>
              <a:cs typeface="+mn-cs"/>
            </a:endParaRPr>
          </a:p>
        </p:txBody>
      </p:sp>
      <p:sp>
        <p:nvSpPr>
          <p:cNvPr id="1752068" name="AutoShape 4"/>
          <p:cNvSpPr>
            <a:spLocks noChangeArrowheads="1"/>
          </p:cNvSpPr>
          <p:nvPr/>
        </p:nvSpPr>
        <p:spPr bwMode="auto">
          <a:xfrm rot="21351074">
            <a:off x="291772" y="1220568"/>
            <a:ext cx="3736975" cy="742748"/>
          </a:xfrm>
          <a:prstGeom prst="star16">
            <a:avLst>
              <a:gd name="adj" fmla="val 37500"/>
            </a:avLst>
          </a:prstGeom>
          <a:noFill/>
          <a:ln w="9525">
            <a:noFill/>
            <a:miter lim="800000"/>
          </a:ln>
          <a:effectLst>
            <a:glow rad="127000">
              <a:schemeClr val="bg1"/>
            </a:glow>
            <a:outerShdw blurRad="50800" dist="50800" dir="5400000" algn="ctr" rotWithShape="0">
              <a:schemeClr val="bg1"/>
            </a:outerShdw>
          </a:effectLst>
        </p:spPr>
        <p:txBody>
          <a:bodyPr wrap="none" anchor="ctr">
            <a:flatTx/>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结构说明语句分为</a:t>
            </a: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4</a:t>
            </a:r>
            <a:r>
              <a:rPr kumimoji="0" lang="zh-CN"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种</a:t>
            </a:r>
            <a:endParaRPr kumimoji="0" lang="zh-CN"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p:txBody>
      </p:sp>
      <p:sp>
        <p:nvSpPr>
          <p:cNvPr id="1752069" name="Rectangle 5"/>
          <p:cNvSpPr/>
          <p:nvPr/>
        </p:nvSpPr>
        <p:spPr>
          <a:xfrm>
            <a:off x="706438" y="4110038"/>
            <a:ext cx="7486650" cy="1677988"/>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marR="0" lvl="0" indent="0" algn="just" defTabSz="914400" rtl="0" eaLnBrk="1" fontAlgn="base" latinLnBrk="0" hangingPunct="1">
              <a:lnSpc>
                <a:spcPct val="110000"/>
              </a:lnSpc>
              <a:spcBef>
                <a:spcPct val="20000"/>
              </a:spcBef>
              <a:spcAft>
                <a:spcPct val="0"/>
              </a:spcAft>
              <a:buClr>
                <a:srgbClr val="3333FF"/>
              </a:buClr>
              <a:buSzTx/>
              <a:buFont typeface="Wingdings" panose="05000000000000000000" pitchFamily="2" charset="2"/>
              <a:buNone/>
              <a:defRPr/>
            </a:pPr>
            <a:r>
              <a:rPr kumimoji="0" lang="en-US" altLang="zh-CN" sz="28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9.1 always</a:t>
            </a:r>
            <a:r>
              <a:rPr kumimoji="0" lang="zh-CN" altLang="en-US" sz="28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块语句</a:t>
            </a:r>
            <a:endParaRPr kumimoji="0" lang="zh-CN" altLang="en-US" sz="28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342900" marR="0" lvl="0" indent="-342900" algn="just" defTabSz="914400" rtl="0" eaLnBrk="1" fontAlgn="base" latinLnBrk="0" hangingPunct="1">
              <a:lnSpc>
                <a:spcPct val="110000"/>
              </a:lnSpc>
              <a:spcBef>
                <a:spcPct val="20000"/>
              </a:spcBef>
              <a:spcAft>
                <a:spcPct val="0"/>
              </a:spcAft>
              <a:buClr>
                <a:srgbClr val="3333FF"/>
              </a:buClr>
              <a:buSzTx/>
              <a:buFont typeface="Wingdings" panose="05000000000000000000" pitchFamily="2" charset="2"/>
              <a:buChar char="§"/>
              <a:defRPr/>
            </a:pP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包含一个或一个以上的声明语句</a:t>
            </a:r>
            <a:r>
              <a:rPr kumimoji="0" lang="en-US" altLang="zh-CN"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如</a:t>
            </a:r>
            <a:r>
              <a:rPr kumimoji="0" lang="en-US" altLang="zh-CN"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过程赋值语句、任务调用、条件语句和循环语句等），在仿真运行的全过程中，在定时控制下被反复执行。</a:t>
            </a:r>
            <a:endPar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752068"/>
                                        </p:tgtEl>
                                        <p:attrNameLst>
                                          <p:attrName>style.visibility</p:attrName>
                                        </p:attrNameLst>
                                      </p:cBhvr>
                                      <p:to>
                                        <p:strVal val="visible"/>
                                      </p:to>
                                    </p:set>
                                    <p:animEffect transition="in" filter="barn(outHorizontal)">
                                      <p:cBhvr>
                                        <p:cTn id="7" dur="500"/>
                                        <p:tgtEl>
                                          <p:spTgt spid="1752068"/>
                                        </p:tgtEl>
                                      </p:cBhvr>
                                    </p:animEffect>
                                  </p:childTnLst>
                                </p:cTn>
                              </p:par>
                            </p:childTnLst>
                          </p:cTn>
                        </p:par>
                        <p:par>
                          <p:cTn id="8" fill="hold">
                            <p:stCondLst>
                              <p:cond delay="500"/>
                            </p:stCondLst>
                            <p:childTnLst>
                              <p:par>
                                <p:cTn id="9" presetID="2" presetClass="entr" presetSubtype="12" fill="hold" grpId="0" nodeType="afterEffect">
                                  <p:stCondLst>
                                    <p:cond delay="0"/>
                                  </p:stCondLst>
                                  <p:childTnLst>
                                    <p:set>
                                      <p:cBhvr>
                                        <p:cTn id="10" dur="1" fill="hold">
                                          <p:stCondLst>
                                            <p:cond delay="0"/>
                                          </p:stCondLst>
                                        </p:cTn>
                                        <p:tgtEl>
                                          <p:spTgt spid="1752067"/>
                                        </p:tgtEl>
                                        <p:attrNameLst>
                                          <p:attrName>style.visibility</p:attrName>
                                        </p:attrNameLst>
                                      </p:cBhvr>
                                      <p:to>
                                        <p:strVal val="visible"/>
                                      </p:to>
                                    </p:set>
                                    <p:anim calcmode="lin" valueType="num">
                                      <p:cBhvr additive="base">
                                        <p:cTn id="11" dur="500" fill="hold"/>
                                        <p:tgtEl>
                                          <p:spTgt spid="1752067"/>
                                        </p:tgtEl>
                                        <p:attrNameLst>
                                          <p:attrName>ppt_x</p:attrName>
                                        </p:attrNameLst>
                                      </p:cBhvr>
                                      <p:tavLst>
                                        <p:tav tm="0">
                                          <p:val>
                                            <p:strVal val="0-#ppt_w/2"/>
                                          </p:val>
                                        </p:tav>
                                        <p:tav tm="100000">
                                          <p:val>
                                            <p:strVal val="#ppt_x"/>
                                          </p:val>
                                        </p:tav>
                                      </p:tavLst>
                                    </p:anim>
                                    <p:anim calcmode="lin" valueType="num">
                                      <p:cBhvr additive="base">
                                        <p:cTn id="12" dur="500" fill="hold"/>
                                        <p:tgtEl>
                                          <p:spTgt spid="175206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52069"/>
                                        </p:tgtEl>
                                        <p:attrNameLst>
                                          <p:attrName>style.visibility</p:attrName>
                                        </p:attrNameLst>
                                      </p:cBhvr>
                                      <p:to>
                                        <p:strVal val="visible"/>
                                      </p:to>
                                    </p:set>
                                    <p:anim calcmode="lin" valueType="num">
                                      <p:cBhvr additive="base">
                                        <p:cTn id="17" dur="500" fill="hold"/>
                                        <p:tgtEl>
                                          <p:spTgt spid="1752069"/>
                                        </p:tgtEl>
                                        <p:attrNameLst>
                                          <p:attrName>ppt_x</p:attrName>
                                        </p:attrNameLst>
                                      </p:cBhvr>
                                      <p:tavLst>
                                        <p:tav tm="0">
                                          <p:val>
                                            <p:strVal val="0-#ppt_w/2"/>
                                          </p:val>
                                        </p:tav>
                                        <p:tav tm="100000">
                                          <p:val>
                                            <p:strVal val="#ppt_x"/>
                                          </p:val>
                                        </p:tav>
                                      </p:tavLst>
                                    </p:anim>
                                    <p:anim calcmode="lin" valueType="num">
                                      <p:cBhvr additive="base">
                                        <p:cTn id="18" dur="500" fill="hold"/>
                                        <p:tgtEl>
                                          <p:spTgt spid="17520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2067" grpId="0" bldLvl="0" animBg="1"/>
      <p:bldP spid="1752069" grpId="0"/>
    </p:bld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088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889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54115" name="Rectangle 3"/>
          <p:cNvSpPr>
            <a:spLocks noGrp="1"/>
          </p:cNvSpPr>
          <p:nvPr>
            <p:ph idx="1"/>
          </p:nvPr>
        </p:nvSpPr>
        <p:spPr/>
        <p:txBody>
          <a:bodyPr vert="horz" wrap="square" lIns="91440" tIns="45720" rIns="91440" bIns="45720" anchor="t" anchorCtr="0"/>
          <a:p>
            <a:pPr algn="just" eaLnBrk="1" hangingPunct="1">
              <a:lnSpc>
                <a:spcPct val="110000"/>
              </a:lnSpc>
              <a:buClr>
                <a:srgbClr val="FF505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在</a:t>
            </a:r>
            <a:r>
              <a:rPr lang="en-US" altLang="zh-CN" sz="2200" dirty="0">
                <a:latin typeface="Times New Roman" panose="02020603050405020304" pitchFamily="18" charset="0"/>
                <a:ea typeface="黑体" panose="02010609060101010101" pitchFamily="49" charset="-122"/>
                <a:cs typeface="+mn-cs"/>
              </a:rPr>
              <a:t>always</a:t>
            </a:r>
            <a:r>
              <a:rPr lang="zh-CN" altLang="en-US" sz="2200" dirty="0">
                <a:latin typeface="Times New Roman" panose="02020603050405020304" pitchFamily="18" charset="0"/>
                <a:ea typeface="华文楷体" panose="02010600040101010101" pitchFamily="2" charset="-122"/>
                <a:cs typeface="+mn-cs"/>
              </a:rPr>
              <a:t>块中被赋值的只能是</a:t>
            </a:r>
            <a:r>
              <a:rPr lang="en-US" altLang="zh-CN" sz="2200" dirty="0">
                <a:solidFill>
                  <a:srgbClr val="FF66CC"/>
                </a:solidFill>
                <a:latin typeface="Times New Roman" panose="02020603050405020304" pitchFamily="18" charset="0"/>
                <a:ea typeface="黑体" panose="02010609060101010101" pitchFamily="49" charset="-122"/>
                <a:cs typeface="+mn-cs"/>
              </a:rPr>
              <a:t>register</a:t>
            </a:r>
            <a:r>
              <a:rPr lang="zh-CN" altLang="en-US" sz="2200" dirty="0">
                <a:solidFill>
                  <a:srgbClr val="FF66CC"/>
                </a:solidFill>
                <a:latin typeface="Times New Roman" panose="02020603050405020304" pitchFamily="18" charset="0"/>
                <a:ea typeface="华文楷体" panose="02010600040101010101" pitchFamily="2" charset="-122"/>
                <a:cs typeface="+mn-cs"/>
              </a:rPr>
              <a:t>型</a:t>
            </a:r>
            <a:r>
              <a:rPr lang="zh-CN" altLang="en-US" sz="2200" dirty="0">
                <a:latin typeface="Times New Roman" panose="02020603050405020304" pitchFamily="18" charset="0"/>
                <a:ea typeface="华文楷体" panose="02010600040101010101" pitchFamily="2" charset="-122"/>
                <a:cs typeface="+mn-cs"/>
              </a:rPr>
              <a:t>变量（如</a:t>
            </a:r>
            <a:r>
              <a:rPr lang="en-US" altLang="zh-CN" sz="2200" dirty="0">
                <a:latin typeface="Times New Roman" panose="02020603050405020304" pitchFamily="18" charset="0"/>
                <a:ea typeface="黑体" panose="02010609060101010101" pitchFamily="49" charset="-122"/>
                <a:cs typeface="+mn-cs"/>
              </a:rPr>
              <a:t>reg</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integer</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real</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time</a:t>
            </a:r>
            <a:r>
              <a:rPr lang="zh-CN" altLang="en-US" sz="2200" dirty="0">
                <a:latin typeface="Times New Roman" panose="02020603050405020304" pitchFamily="18" charset="0"/>
                <a:ea typeface="华文楷体" panose="02010600040101010101" pitchFamily="2" charset="-122"/>
                <a:cs typeface="+mn-cs"/>
              </a:rPr>
              <a:t>）。</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sz="2200" dirty="0">
                <a:latin typeface="Times New Roman" panose="02020603050405020304" pitchFamily="18" charset="0"/>
                <a:ea typeface="华文楷体" panose="02010600040101010101" pitchFamily="2" charset="-122"/>
                <a:cs typeface="+mn-cs"/>
              </a:rPr>
              <a:t>每个</a:t>
            </a:r>
            <a:r>
              <a:rPr lang="en-US" altLang="zh-CN" sz="2200" dirty="0">
                <a:latin typeface="Times New Roman" panose="02020603050405020304" pitchFamily="18" charset="0"/>
                <a:ea typeface="黑体" panose="02010609060101010101" pitchFamily="49" charset="-122"/>
                <a:cs typeface="+mn-cs"/>
              </a:rPr>
              <a:t>always</a:t>
            </a:r>
            <a:r>
              <a:rPr lang="zh-CN" altLang="en-US" sz="2200" dirty="0">
                <a:latin typeface="Times New Roman" panose="02020603050405020304" pitchFamily="18" charset="0"/>
                <a:ea typeface="华文楷体" panose="02010600040101010101" pitchFamily="2" charset="-122"/>
                <a:cs typeface="+mn-cs"/>
              </a:rPr>
              <a:t>块在仿真一开始便开始执行，当执行完块中最后一个语句，继续从</a:t>
            </a:r>
            <a:r>
              <a:rPr lang="en-US" altLang="zh-CN" sz="2200" dirty="0">
                <a:latin typeface="Times New Roman" panose="02020603050405020304" pitchFamily="18" charset="0"/>
                <a:ea typeface="黑体" panose="02010609060101010101" pitchFamily="49" charset="-122"/>
                <a:cs typeface="+mn-cs"/>
              </a:rPr>
              <a:t>always</a:t>
            </a:r>
            <a:r>
              <a:rPr lang="zh-CN" altLang="en-US" sz="2200" dirty="0">
                <a:latin typeface="Times New Roman" panose="02020603050405020304" pitchFamily="18" charset="0"/>
                <a:ea typeface="华文楷体" panose="02010600040101010101" pitchFamily="2" charset="-122"/>
                <a:cs typeface="+mn-cs"/>
              </a:rPr>
              <a:t>块的开头执行。</a:t>
            </a:r>
            <a:endParaRPr lang="zh-CN" altLang="en-US" sz="2200" dirty="0">
              <a:latin typeface="Times New Roman" panose="02020603050405020304" pitchFamily="18" charset="0"/>
              <a:ea typeface="华文楷体" panose="02010600040101010101" pitchFamily="2" charset="-122"/>
              <a:cs typeface="+mn-cs"/>
            </a:endParaRPr>
          </a:p>
        </p:txBody>
      </p:sp>
      <p:sp>
        <p:nvSpPr>
          <p:cNvPr id="1754116" name="Text Box 4"/>
          <p:cNvSpPr txBox="1"/>
          <p:nvPr/>
        </p:nvSpPr>
        <p:spPr>
          <a:xfrm>
            <a:off x="2932113" y="3087688"/>
            <a:ext cx="3352800" cy="427037"/>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Times New Roman" panose="02020603050405020304" pitchFamily="18" charset="0"/>
                <a:ea typeface="宋体" panose="02010600030101010101" pitchFamily="2" charset="-122"/>
              </a:rPr>
              <a:t>always</a:t>
            </a:r>
            <a:r>
              <a:rPr lang="en-US" altLang="zh-CN" b="1" dirty="0">
                <a:latin typeface="Times New Roman" panose="02020603050405020304" pitchFamily="18" charset="0"/>
                <a:ea typeface="宋体" panose="02010600030101010101" pitchFamily="2" charset="-122"/>
              </a:rPr>
              <a:t> </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时序控制</a:t>
            </a:r>
            <a:r>
              <a:rPr lang="en-US" altLang="zh-CN" b="1" dirty="0">
                <a:latin typeface="宋体" panose="02010600030101010101" pitchFamily="2" charset="-122"/>
                <a:ea typeface="宋体" panose="02010600030101010101" pitchFamily="2" charset="-122"/>
              </a:rPr>
              <a:t>&gt; &lt;</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&gt;</a:t>
            </a:r>
            <a:endParaRPr lang="en-US" altLang="zh-CN" b="1" dirty="0">
              <a:latin typeface="宋体" panose="02010600030101010101" pitchFamily="2" charset="-122"/>
              <a:ea typeface="宋体" panose="02010600030101010101" pitchFamily="2" charset="-122"/>
            </a:endParaRPr>
          </a:p>
        </p:txBody>
      </p:sp>
      <p:sp>
        <p:nvSpPr>
          <p:cNvPr id="1754117" name="Rectangle 5"/>
          <p:cNvSpPr/>
          <p:nvPr/>
        </p:nvSpPr>
        <p:spPr>
          <a:xfrm>
            <a:off x="706438" y="3979863"/>
            <a:ext cx="7467600" cy="8350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sz="2200" b="1" dirty="0">
                <a:solidFill>
                  <a:srgbClr val="FF3399"/>
                </a:solidFill>
                <a:latin typeface="华文楷体" panose="02010600040101010101" pitchFamily="2" charset="-122"/>
                <a:ea typeface="华文楷体" panose="02010600040101010101" pitchFamily="2" charset="-122"/>
              </a:rPr>
              <a:t>注</a:t>
            </a:r>
            <a:r>
              <a:rPr lang="en-US" altLang="zh-CN" sz="2200" b="1" dirty="0">
                <a:solidFill>
                  <a:srgbClr val="FF3399"/>
                </a:solidFill>
                <a:latin typeface="华文楷体" panose="02010600040101010101" pitchFamily="2" charset="-122"/>
                <a:ea typeface="华文楷体" panose="02010600040101010101" pitchFamily="2" charset="-122"/>
              </a:rPr>
              <a:t>1</a:t>
            </a:r>
            <a:r>
              <a:rPr lang="zh-CN" altLang="zh-CN" sz="2200" b="1" dirty="0">
                <a:latin typeface="华文楷体" panose="02010600040101010101" pitchFamily="2" charset="-122"/>
                <a:ea typeface="华文楷体" panose="02010600040101010101" pitchFamily="2" charset="-122"/>
              </a:rPr>
              <a:t>：如果</a:t>
            </a:r>
            <a:r>
              <a:rPr lang="en-US" altLang="zh-CN" sz="2200" b="1" dirty="0">
                <a:latin typeface="华文楷体" panose="02010600040101010101" pitchFamily="2" charset="-122"/>
                <a:ea typeface="华文楷体" panose="02010600040101010101" pitchFamily="2" charset="-122"/>
              </a:rPr>
              <a:t>always</a:t>
            </a:r>
            <a:r>
              <a:rPr lang="zh-CN" altLang="zh-CN" sz="2200" b="1" dirty="0">
                <a:latin typeface="华文楷体" panose="02010600040101010101" pitchFamily="2" charset="-122"/>
                <a:ea typeface="华文楷体" panose="02010600040101010101" pitchFamily="2" charset="-122"/>
              </a:rPr>
              <a:t>块中包含一个以上的语句，则这些语句必须放在</a:t>
            </a:r>
            <a:r>
              <a:rPr lang="en-US" altLang="zh-CN" sz="2200" b="1" dirty="0">
                <a:solidFill>
                  <a:srgbClr val="CC3300"/>
                </a:solidFill>
                <a:latin typeface="华文楷体" panose="02010600040101010101" pitchFamily="2" charset="-122"/>
                <a:ea typeface="华文楷体" panose="02010600040101010101" pitchFamily="2" charset="-122"/>
              </a:rPr>
              <a:t>begin_end</a:t>
            </a:r>
            <a:r>
              <a:rPr lang="zh-CN" altLang="en-US" sz="2200" b="1" dirty="0">
                <a:latin typeface="华文楷体" panose="02010600040101010101" pitchFamily="2" charset="-122"/>
                <a:ea typeface="华文楷体" panose="02010600040101010101" pitchFamily="2" charset="-122"/>
              </a:rPr>
              <a:t>或</a:t>
            </a:r>
            <a:r>
              <a:rPr lang="en-US" altLang="zh-CN" sz="2200" b="1" dirty="0">
                <a:solidFill>
                  <a:srgbClr val="CC3300"/>
                </a:solidFill>
                <a:latin typeface="华文楷体" panose="02010600040101010101" pitchFamily="2" charset="-122"/>
                <a:ea typeface="华文楷体" panose="02010600040101010101" pitchFamily="2" charset="-122"/>
              </a:rPr>
              <a:t>fork_join</a:t>
            </a:r>
            <a:r>
              <a:rPr lang="zh-CN" altLang="en-US" sz="2200" b="1" dirty="0">
                <a:latin typeface="华文楷体" panose="02010600040101010101" pitchFamily="2" charset="-122"/>
                <a:ea typeface="华文楷体" panose="02010600040101010101" pitchFamily="2" charset="-122"/>
              </a:rPr>
              <a:t>块中！</a:t>
            </a:r>
            <a:endParaRPr lang="zh-CN" altLang="en-US" sz="2200" b="1" dirty="0">
              <a:latin typeface="华文楷体" panose="02010600040101010101" pitchFamily="2" charset="-122"/>
              <a:ea typeface="华文楷体" panose="02010600040101010101" pitchFamily="2" charset="-122"/>
            </a:endParaRPr>
          </a:p>
        </p:txBody>
      </p:sp>
      <p:sp>
        <p:nvSpPr>
          <p:cNvPr id="1754120" name="AutoShape 8"/>
          <p:cNvSpPr/>
          <p:nvPr/>
        </p:nvSpPr>
        <p:spPr>
          <a:xfrm rot="-765681">
            <a:off x="-31750" y="623888"/>
            <a:ext cx="1257300" cy="631825"/>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2400" b="1" dirty="0">
                <a:latin typeface="Times New Roman" panose="02020603050405020304" pitchFamily="18" charset="0"/>
                <a:ea typeface="华文楷体" panose="02010600040101010101" pitchFamily="2" charset="-122"/>
              </a:rPr>
              <a:t>规则</a:t>
            </a:r>
            <a:endParaRPr lang="zh-CN" altLang="en-US" sz="2400" b="1" dirty="0">
              <a:latin typeface="Times New Roman" panose="02020603050405020304" pitchFamily="18" charset="0"/>
              <a:ea typeface="华文楷体" panose="02010600040101010101" pitchFamily="2" charset="-122"/>
            </a:endParaRPr>
          </a:p>
        </p:txBody>
      </p:sp>
      <p:sp>
        <p:nvSpPr>
          <p:cNvPr id="1754121" name="Text Box 9"/>
          <p:cNvSpPr txBox="1"/>
          <p:nvPr/>
        </p:nvSpPr>
        <p:spPr>
          <a:xfrm>
            <a:off x="2274888" y="4997450"/>
            <a:ext cx="4667250" cy="1592263"/>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(posedge clk or negedge clear)</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if(!clear)  qout = 0;   //</a:t>
            </a:r>
            <a:r>
              <a:rPr lang="zh-CN" altLang="en-US" b="1" dirty="0">
                <a:latin typeface="Times New Roman" panose="02020603050405020304" pitchFamily="18" charset="0"/>
                <a:ea typeface="宋体" panose="02010600030101010101" pitchFamily="2" charset="-122"/>
              </a:rPr>
              <a:t>异步清零</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else           qout = 1;</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1754120"/>
                                        </p:tgtEl>
                                        <p:attrNameLst>
                                          <p:attrName>style.visibility</p:attrName>
                                        </p:attrNameLst>
                                      </p:cBhvr>
                                      <p:to>
                                        <p:strVal val="visible"/>
                                      </p:to>
                                    </p:set>
                                    <p:anim calcmode="lin" valueType="num">
                                      <p:cBhvr>
                                        <p:cTn id="7" dur="500" fill="hold"/>
                                        <p:tgtEl>
                                          <p:spTgt spid="1754120"/>
                                        </p:tgtEl>
                                        <p:attrNameLst>
                                          <p:attrName>ppt_w</p:attrName>
                                        </p:attrNameLst>
                                      </p:cBhvr>
                                      <p:tavLst>
                                        <p:tav tm="0">
                                          <p:val>
                                            <p:strVal val="4/3*#ppt_w"/>
                                          </p:val>
                                        </p:tav>
                                        <p:tav tm="100000">
                                          <p:val>
                                            <p:strVal val="#ppt_w"/>
                                          </p:val>
                                        </p:tav>
                                      </p:tavLst>
                                    </p:anim>
                                    <p:anim calcmode="lin" valueType="num">
                                      <p:cBhvr>
                                        <p:cTn id="8" dur="500" fill="hold"/>
                                        <p:tgtEl>
                                          <p:spTgt spid="1754120"/>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754115"/>
                                        </p:tgtEl>
                                        <p:attrNameLst>
                                          <p:attrName>style.visibility</p:attrName>
                                        </p:attrNameLst>
                                      </p:cBhvr>
                                      <p:to>
                                        <p:strVal val="visible"/>
                                      </p:to>
                                    </p:set>
                                    <p:anim calcmode="lin" valueType="num">
                                      <p:cBhvr additive="base">
                                        <p:cTn id="12" dur="500" fill="hold"/>
                                        <p:tgtEl>
                                          <p:spTgt spid="1754115"/>
                                        </p:tgtEl>
                                        <p:attrNameLst>
                                          <p:attrName>ppt_x</p:attrName>
                                        </p:attrNameLst>
                                      </p:cBhvr>
                                      <p:tavLst>
                                        <p:tav tm="0">
                                          <p:val>
                                            <p:strVal val="1+#ppt_w/2"/>
                                          </p:val>
                                        </p:tav>
                                        <p:tav tm="100000">
                                          <p:val>
                                            <p:strVal val="#ppt_x"/>
                                          </p:val>
                                        </p:tav>
                                      </p:tavLst>
                                    </p:anim>
                                    <p:anim calcmode="lin" valueType="num">
                                      <p:cBhvr additive="base">
                                        <p:cTn id="13" dur="500" fill="hold"/>
                                        <p:tgtEl>
                                          <p:spTgt spid="175411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754116"/>
                                        </p:tgtEl>
                                        <p:attrNameLst>
                                          <p:attrName>style.visibility</p:attrName>
                                        </p:attrNameLst>
                                      </p:cBhvr>
                                      <p:to>
                                        <p:strVal val="visible"/>
                                      </p:to>
                                    </p:set>
                                    <p:animEffect transition="in" filter="wipe(left)">
                                      <p:cBhvr>
                                        <p:cTn id="17" dur="500"/>
                                        <p:tgtEl>
                                          <p:spTgt spid="1754116"/>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1754117"/>
                                        </p:tgtEl>
                                        <p:attrNameLst>
                                          <p:attrName>style.visibility</p:attrName>
                                        </p:attrNameLst>
                                      </p:cBhvr>
                                      <p:to>
                                        <p:strVal val="visible"/>
                                      </p:to>
                                    </p:set>
                                    <p:anim calcmode="lin" valueType="num">
                                      <p:cBhvr>
                                        <p:cTn id="22" dur="500" fill="hold"/>
                                        <p:tgtEl>
                                          <p:spTgt spid="1754117"/>
                                        </p:tgtEl>
                                        <p:attrNameLst>
                                          <p:attrName>ppt_w</p:attrName>
                                        </p:attrNameLst>
                                      </p:cBhvr>
                                      <p:tavLst>
                                        <p:tav tm="0">
                                          <p:val>
                                            <p:fltVal val="0.000000"/>
                                          </p:val>
                                        </p:tav>
                                        <p:tav tm="100000">
                                          <p:val>
                                            <p:strVal val="#ppt_w"/>
                                          </p:val>
                                        </p:tav>
                                      </p:tavLst>
                                    </p:anim>
                                    <p:anim calcmode="lin" valueType="num">
                                      <p:cBhvr>
                                        <p:cTn id="23" dur="500" fill="hold"/>
                                        <p:tgtEl>
                                          <p:spTgt spid="1754117"/>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754121"/>
                                        </p:tgtEl>
                                        <p:attrNameLst>
                                          <p:attrName>style.visibility</p:attrName>
                                        </p:attrNameLst>
                                      </p:cBhvr>
                                      <p:to>
                                        <p:strVal val="visible"/>
                                      </p:to>
                                    </p:set>
                                    <p:anim calcmode="lin" valueType="num">
                                      <p:cBhvr additive="base">
                                        <p:cTn id="28" dur="500" fill="hold"/>
                                        <p:tgtEl>
                                          <p:spTgt spid="1754121"/>
                                        </p:tgtEl>
                                        <p:attrNameLst>
                                          <p:attrName>ppt_x</p:attrName>
                                        </p:attrNameLst>
                                      </p:cBhvr>
                                      <p:tavLst>
                                        <p:tav tm="0">
                                          <p:val>
                                            <p:strVal val="#ppt_x"/>
                                          </p:val>
                                        </p:tav>
                                        <p:tav tm="100000">
                                          <p:val>
                                            <p:strVal val="#ppt_x"/>
                                          </p:val>
                                        </p:tav>
                                      </p:tavLst>
                                    </p:anim>
                                    <p:anim calcmode="lin" valueType="num">
                                      <p:cBhvr additive="base">
                                        <p:cTn id="29" dur="500" fill="hold"/>
                                        <p:tgtEl>
                                          <p:spTgt spid="17541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4115" grpId="0"/>
      <p:bldP spid="1754116" grpId="0" animBg="1"/>
      <p:bldP spid="1754117" grpId="0" bldLvl="0" animBg="1"/>
      <p:bldP spid="1754120" grpId="0" bldLvl="0"/>
      <p:bldP spid="1754121" grpId="0" bldLvl="0" animBg="1"/>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09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09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56163" name="Rectangle 3"/>
          <p:cNvSpPr>
            <a:spLocks noGrp="1"/>
          </p:cNvSpPr>
          <p:nvPr>
            <p:ph idx="1"/>
          </p:nvPr>
        </p:nvSpPr>
        <p:spPr>
          <a:xfrm>
            <a:off x="719138" y="1085850"/>
            <a:ext cx="8150225" cy="4719638"/>
          </a:xfrm>
        </p:spPr>
        <p:txBody>
          <a:bodyPr vert="horz" wrap="square" lIns="91440" tIns="45720" rIns="91440" bIns="45720" anchor="t" anchorCtr="0"/>
          <a:p>
            <a:pPr marL="574675" lvl="1" indent="90805" eaLnBrk="1" hangingPunct="1">
              <a:lnSpc>
                <a:spcPct val="90000"/>
              </a:lnSpc>
              <a:buClr>
                <a:srgbClr val="3333FF"/>
              </a:buClr>
            </a:pPr>
            <a:r>
              <a:rPr lang="en-US" altLang="zh-CN" sz="1600" dirty="0">
                <a:latin typeface="Times New Roman" panose="02020603050405020304" pitchFamily="18" charset="0"/>
                <a:ea typeface="黑体" panose="02010609060101010101" pitchFamily="49" charset="-122"/>
              </a:rPr>
              <a:t>		</a:t>
            </a:r>
            <a:endParaRPr lang="en-US" altLang="zh-CN" sz="1600" dirty="0">
              <a:latin typeface="Times New Roman" panose="02020603050405020304" pitchFamily="18" charset="0"/>
              <a:ea typeface="黑体" panose="02010609060101010101" pitchFamily="49" charset="-122"/>
            </a:endParaRPr>
          </a:p>
          <a:p>
            <a:pPr marL="574675" lvl="1" indent="90805" eaLnBrk="1" hangingPunct="1">
              <a:lnSpc>
                <a:spcPct val="90000"/>
              </a:lnSpc>
              <a:buClr>
                <a:srgbClr val="3333FF"/>
              </a:buClr>
            </a:pPr>
            <a:endParaRPr lang="en-US" altLang="zh-CN" sz="1600" dirty="0">
              <a:latin typeface="Times New Roman" panose="02020603050405020304" pitchFamily="18" charset="0"/>
              <a:ea typeface="黑体" panose="02010609060101010101" pitchFamily="49" charset="-122"/>
            </a:endParaRPr>
          </a:p>
          <a:p>
            <a:pPr marL="574675" lvl="1" indent="90805" eaLnBrk="1" hangingPunct="1">
              <a:lnSpc>
                <a:spcPct val="90000"/>
              </a:lnSpc>
              <a:buClr>
                <a:srgbClr val="3333FF"/>
              </a:buClr>
            </a:pPr>
            <a:endParaRPr lang="en-US" altLang="zh-CN" sz="1600" dirty="0">
              <a:latin typeface="Times New Roman" panose="02020603050405020304" pitchFamily="18" charset="0"/>
              <a:ea typeface="黑体" panose="02010609060101010101" pitchFamily="49" charset="-122"/>
            </a:endParaRPr>
          </a:p>
          <a:p>
            <a:pPr marL="574675" lvl="1" indent="90805" eaLnBrk="1" hangingPunct="1">
              <a:lnSpc>
                <a:spcPct val="90000"/>
              </a:lnSpc>
              <a:buClr>
                <a:srgbClr val="3333FF"/>
              </a:buClr>
            </a:pPr>
            <a:endParaRPr lang="en-US" altLang="zh-CN" sz="1600" dirty="0">
              <a:latin typeface="Times New Roman" panose="02020603050405020304" pitchFamily="18" charset="0"/>
              <a:ea typeface="黑体" panose="02010609060101010101" pitchFamily="49" charset="-122"/>
            </a:endParaRPr>
          </a:p>
          <a:p>
            <a:pPr marL="574675" lvl="1" indent="90805" eaLnBrk="1" hangingPunct="1">
              <a:lnSpc>
                <a:spcPct val="90000"/>
              </a:lnSpc>
              <a:buClr>
                <a:srgbClr val="3333FF"/>
              </a:buClr>
            </a:pPr>
            <a:endParaRPr lang="en-US" altLang="zh-CN" sz="1600" dirty="0">
              <a:latin typeface="Times New Roman" panose="02020603050405020304" pitchFamily="18" charset="0"/>
              <a:ea typeface="黑体" panose="02010609060101010101" pitchFamily="49" charset="-122"/>
            </a:endParaRPr>
          </a:p>
          <a:p>
            <a:pPr marL="574675" lvl="1" indent="90805" eaLnBrk="1" hangingPunct="1">
              <a:lnSpc>
                <a:spcPct val="90000"/>
              </a:lnSpc>
              <a:buClr>
                <a:srgbClr val="3333FF"/>
              </a:buClr>
            </a:pPr>
            <a:endParaRPr lang="en-US" altLang="zh-CN" sz="1600" dirty="0">
              <a:latin typeface="华文楷体" panose="02010600040101010101" pitchFamily="2" charset="-122"/>
              <a:ea typeface="华文楷体" panose="02010600040101010101" pitchFamily="2" charset="-122"/>
            </a:endParaRPr>
          </a:p>
          <a:p>
            <a:pPr marL="287655" indent="-287655" algn="just">
              <a:lnSpc>
                <a:spcPct val="90000"/>
              </a:lnSpc>
              <a:spcBef>
                <a:spcPct val="0"/>
              </a:spcBef>
            </a:pPr>
            <a:r>
              <a:rPr lang="en-US" altLang="zh-CN" dirty="0">
                <a:latin typeface="华文楷体" panose="02010600040101010101" pitchFamily="2" charset="-122"/>
                <a:ea typeface="华文楷体" panose="02010600040101010101" pitchFamily="2" charset="-122"/>
                <a:cs typeface="+mn-cs"/>
              </a:rPr>
              <a:t>[</a:t>
            </a:r>
            <a:r>
              <a:rPr lang="zh-CN" altLang="en-US" dirty="0">
                <a:solidFill>
                  <a:srgbClr val="FF0066"/>
                </a:solidFill>
                <a:latin typeface="华文楷体" panose="02010600040101010101" pitchFamily="2" charset="-122"/>
                <a:ea typeface="华文楷体" panose="02010600040101010101" pitchFamily="2" charset="-122"/>
                <a:cs typeface="+mn-cs"/>
              </a:rPr>
              <a:t>例</a:t>
            </a:r>
            <a:r>
              <a:rPr lang="en-US" altLang="zh-CN" dirty="0">
                <a:solidFill>
                  <a:srgbClr val="FF0066"/>
                </a:solidFill>
                <a:latin typeface="华文楷体" panose="02010600040101010101" pitchFamily="2" charset="-122"/>
                <a:ea typeface="华文楷体" panose="02010600040101010101" pitchFamily="2" charset="-122"/>
                <a:cs typeface="+mn-cs"/>
              </a:rPr>
              <a:t>9.1</a:t>
            </a:r>
            <a:r>
              <a:rPr lang="en-US" altLang="zh-CN" dirty="0">
                <a:latin typeface="华文楷体" panose="02010600040101010101" pitchFamily="2" charset="-122"/>
                <a:ea typeface="华文楷体" panose="02010600040101010101" pitchFamily="2" charset="-122"/>
                <a:cs typeface="+mn-cs"/>
              </a:rPr>
              <a:t>]</a:t>
            </a:r>
            <a:r>
              <a:rPr lang="zh-CN" altLang="en-US" dirty="0">
                <a:latin typeface="华文楷体" panose="02010600040101010101" pitchFamily="2" charset="-122"/>
                <a:ea typeface="华文楷体" panose="02010600040101010101" pitchFamily="2" charset="-122"/>
                <a:cs typeface="+mn-cs"/>
              </a:rPr>
              <a:t>生成一个</a:t>
            </a:r>
            <a:r>
              <a:rPr lang="en-US" altLang="zh-CN" dirty="0">
                <a:latin typeface="华文楷体" panose="02010600040101010101" pitchFamily="2" charset="-122"/>
                <a:ea typeface="华文楷体" panose="02010600040101010101" pitchFamily="2" charset="-122"/>
                <a:cs typeface="+mn-cs"/>
              </a:rPr>
              <a:t>0</a:t>
            </a:r>
            <a:r>
              <a:rPr lang="zh-CN" altLang="en-US" dirty="0">
                <a:latin typeface="华文楷体" panose="02010600040101010101" pitchFamily="2" charset="-122"/>
                <a:ea typeface="华文楷体" panose="02010600040101010101" pitchFamily="2" charset="-122"/>
                <a:cs typeface="+mn-cs"/>
              </a:rPr>
              <a:t>延迟的无限循环跳变过程</a:t>
            </a:r>
            <a:r>
              <a:rPr lang="en-US" altLang="zh-CN" dirty="0">
                <a:latin typeface="华文楷体" panose="02010600040101010101" pitchFamily="2" charset="-122"/>
                <a:ea typeface="华文楷体" panose="02010600040101010101" pitchFamily="2" charset="-122"/>
                <a:cs typeface="+mn-cs"/>
              </a:rPr>
              <a:t>——</a:t>
            </a:r>
            <a:r>
              <a:rPr lang="zh-CN" altLang="en-US" dirty="0">
                <a:latin typeface="华文楷体" panose="02010600040101010101" pitchFamily="2" charset="-122"/>
                <a:ea typeface="华文楷体" panose="02010600040101010101" pitchFamily="2" charset="-122"/>
                <a:cs typeface="+mn-cs"/>
              </a:rPr>
              <a:t>形成仿真死锁！ </a:t>
            </a:r>
            <a:endParaRPr lang="zh-CN" altLang="en-US" dirty="0">
              <a:latin typeface="华文楷体" panose="02010600040101010101" pitchFamily="2" charset="-122"/>
              <a:ea typeface="华文楷体" panose="02010600040101010101" pitchFamily="2" charset="-122"/>
              <a:cs typeface="+mn-cs"/>
            </a:endParaRPr>
          </a:p>
          <a:p>
            <a:pPr marL="287655" indent="-287655" algn="just">
              <a:lnSpc>
                <a:spcPct val="90000"/>
              </a:lnSpc>
              <a:spcBef>
                <a:spcPct val="0"/>
              </a:spcBef>
            </a:pPr>
            <a:r>
              <a:rPr lang="zh-CN" altLang="en-US" dirty="0">
                <a:latin typeface="华文楷体" panose="02010600040101010101" pitchFamily="2" charset="-122"/>
                <a:ea typeface="华文楷体" panose="02010600040101010101" pitchFamily="2" charset="-122"/>
                <a:cs typeface="+mn-cs"/>
              </a:rPr>
              <a:t>                                    </a:t>
            </a:r>
            <a:r>
              <a:rPr lang="en-US" altLang="zh-CN" dirty="0">
                <a:latin typeface="华文楷体" panose="02010600040101010101" pitchFamily="2" charset="-122"/>
                <a:ea typeface="华文楷体" panose="02010600040101010101" pitchFamily="2" charset="-122"/>
                <a:cs typeface="+mn-cs"/>
              </a:rPr>
              <a:t>always  areg = ~areg;</a:t>
            </a:r>
            <a:endParaRPr lang="en-US" altLang="zh-CN" dirty="0">
              <a:latin typeface="华文楷体" panose="02010600040101010101" pitchFamily="2" charset="-122"/>
              <a:ea typeface="华文楷体" panose="02010600040101010101" pitchFamily="2" charset="-122"/>
              <a:cs typeface="+mn-cs"/>
            </a:endParaRPr>
          </a:p>
          <a:p>
            <a:pPr marL="287655" indent="-287655" algn="just">
              <a:lnSpc>
                <a:spcPct val="90000"/>
              </a:lnSpc>
              <a:spcBef>
                <a:spcPct val="0"/>
              </a:spcBef>
            </a:pPr>
            <a:endParaRPr lang="en-US" altLang="zh-CN" dirty="0">
              <a:latin typeface="华文楷体" panose="02010600040101010101" pitchFamily="2" charset="-122"/>
              <a:ea typeface="华文楷体" panose="02010600040101010101" pitchFamily="2" charset="-122"/>
              <a:cs typeface="+mn-cs"/>
            </a:endParaRPr>
          </a:p>
          <a:p>
            <a:pPr marL="287655" indent="-287655" algn="just">
              <a:lnSpc>
                <a:spcPct val="90000"/>
              </a:lnSpc>
              <a:spcBef>
                <a:spcPct val="0"/>
              </a:spcBef>
            </a:pPr>
            <a:r>
              <a:rPr lang="en-US" altLang="zh-CN" dirty="0">
                <a:latin typeface="华文楷体" panose="02010600040101010101" pitchFamily="2" charset="-122"/>
                <a:ea typeface="华文楷体" panose="02010600040101010101" pitchFamily="2" charset="-122"/>
                <a:cs typeface="+mn-cs"/>
              </a:rPr>
              <a:t>[</a:t>
            </a:r>
            <a:r>
              <a:rPr lang="zh-CN" altLang="en-US" dirty="0">
                <a:solidFill>
                  <a:srgbClr val="FF0066"/>
                </a:solidFill>
                <a:latin typeface="华文楷体" panose="02010600040101010101" pitchFamily="2" charset="-122"/>
                <a:ea typeface="华文楷体" panose="02010600040101010101" pitchFamily="2" charset="-122"/>
                <a:cs typeface="+mn-cs"/>
              </a:rPr>
              <a:t>例</a:t>
            </a:r>
            <a:r>
              <a:rPr lang="en-US" altLang="zh-CN" dirty="0">
                <a:solidFill>
                  <a:srgbClr val="FF0066"/>
                </a:solidFill>
                <a:latin typeface="华文楷体" panose="02010600040101010101" pitchFamily="2" charset="-122"/>
                <a:ea typeface="华文楷体" panose="02010600040101010101" pitchFamily="2" charset="-122"/>
                <a:cs typeface="+mn-cs"/>
              </a:rPr>
              <a:t>9.2</a:t>
            </a:r>
            <a:r>
              <a:rPr lang="en-US" altLang="zh-CN" dirty="0">
                <a:latin typeface="华文楷体" panose="02010600040101010101" pitchFamily="2" charset="-122"/>
                <a:ea typeface="华文楷体" panose="02010600040101010101" pitchFamily="2" charset="-122"/>
                <a:cs typeface="+mn-cs"/>
              </a:rPr>
              <a:t>]</a:t>
            </a:r>
            <a:r>
              <a:rPr lang="zh-CN" altLang="en-US" dirty="0">
                <a:latin typeface="华文楷体" panose="02010600040101010101" pitchFamily="2" charset="-122"/>
                <a:ea typeface="华文楷体" panose="02010600040101010101" pitchFamily="2" charset="-122"/>
                <a:cs typeface="+mn-cs"/>
              </a:rPr>
              <a:t>在测试文件中，用于生成一个无限延续的信号波形</a:t>
            </a:r>
            <a:r>
              <a:rPr lang="en-US" altLang="zh-CN" dirty="0">
                <a:latin typeface="华文楷体" panose="02010600040101010101" pitchFamily="2" charset="-122"/>
                <a:ea typeface="华文楷体" panose="02010600040101010101" pitchFamily="2" charset="-122"/>
                <a:cs typeface="+mn-cs"/>
              </a:rPr>
              <a:t>——</a:t>
            </a:r>
            <a:r>
              <a:rPr lang="zh-CN" altLang="en-US" dirty="0">
                <a:latin typeface="华文楷体" panose="02010600040101010101" pitchFamily="2" charset="-122"/>
                <a:ea typeface="华文楷体" panose="02010600040101010101" pitchFamily="2" charset="-122"/>
                <a:cs typeface="+mn-cs"/>
              </a:rPr>
              <a:t>时钟信号</a:t>
            </a:r>
            <a:endParaRPr lang="zh-CN" altLang="en-US" dirty="0">
              <a:latin typeface="华文楷体" panose="02010600040101010101" pitchFamily="2" charset="-122"/>
              <a:ea typeface="华文楷体" panose="02010600040101010101" pitchFamily="2" charset="-122"/>
              <a:cs typeface="+mn-cs"/>
            </a:endParaRPr>
          </a:p>
        </p:txBody>
      </p:sp>
      <p:sp>
        <p:nvSpPr>
          <p:cNvPr id="1756164" name="Rectangle 4"/>
          <p:cNvSpPr/>
          <p:nvPr/>
        </p:nvSpPr>
        <p:spPr>
          <a:xfrm>
            <a:off x="719138" y="1455738"/>
            <a:ext cx="7696200" cy="8350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en-US" sz="2200" b="1" dirty="0">
                <a:solidFill>
                  <a:srgbClr val="FF3399"/>
                </a:solidFill>
                <a:latin typeface="华文楷体" panose="02010600040101010101" pitchFamily="2" charset="-122"/>
                <a:ea typeface="华文楷体" panose="02010600040101010101" pitchFamily="2" charset="-122"/>
              </a:rPr>
              <a:t>注</a:t>
            </a:r>
            <a:r>
              <a:rPr lang="en-US" altLang="zh-CN" sz="2200" b="1" dirty="0">
                <a:solidFill>
                  <a:srgbClr val="FF3399"/>
                </a:solidFill>
                <a:latin typeface="华文楷体" panose="02010600040101010101" pitchFamily="2" charset="-122"/>
                <a:ea typeface="华文楷体" panose="02010600040101010101" pitchFamily="2" charset="-122"/>
              </a:rPr>
              <a:t>2</a:t>
            </a:r>
            <a:r>
              <a:rPr lang="zh-CN" altLang="en-US" sz="2200" b="1" dirty="0">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always</a:t>
            </a:r>
            <a:r>
              <a:rPr lang="zh-CN" altLang="en-US" sz="2200" b="1" dirty="0">
                <a:latin typeface="华文楷体" panose="02010600040101010101" pitchFamily="2" charset="-122"/>
                <a:ea typeface="华文楷体" panose="02010600040101010101" pitchFamily="2" charset="-122"/>
              </a:rPr>
              <a:t>语句必须与一定的</a:t>
            </a:r>
            <a:r>
              <a:rPr lang="zh-CN" altLang="en-US" sz="2200" b="1" dirty="0">
                <a:solidFill>
                  <a:srgbClr val="CC3300"/>
                </a:solidFill>
                <a:latin typeface="华文楷体" panose="02010600040101010101" pitchFamily="2" charset="-122"/>
                <a:ea typeface="华文楷体" panose="02010600040101010101" pitchFamily="2" charset="-122"/>
              </a:rPr>
              <a:t>时序控制</a:t>
            </a:r>
            <a:r>
              <a:rPr lang="zh-CN" altLang="en-US" sz="2200" b="1" dirty="0">
                <a:latin typeface="华文楷体" panose="02010600040101010101" pitchFamily="2" charset="-122"/>
                <a:ea typeface="华文楷体" panose="02010600040101010101" pitchFamily="2" charset="-122"/>
              </a:rPr>
              <a:t>结合在一起才有用！</a:t>
            </a:r>
            <a:endParaRPr lang="zh-CN" altLang="en-US" sz="2200" b="1" dirty="0">
              <a:latin typeface="华文楷体" panose="02010600040101010101" pitchFamily="2" charset="-122"/>
              <a:ea typeface="华文楷体" panose="02010600040101010101" pitchFamily="2" charset="-122"/>
            </a:endParaRPr>
          </a:p>
          <a:p>
            <a:pPr marL="0" lvl="0" indent="0" algn="just">
              <a:lnSpc>
                <a:spcPct val="110000"/>
              </a:lnSpc>
              <a:spcBef>
                <a:spcPct val="0"/>
              </a:spcBef>
              <a:buClr>
                <a:schemeClr val="hlink"/>
              </a:buClr>
              <a:buFont typeface="Wingdings" panose="05000000000000000000" pitchFamily="2" charset="2"/>
              <a:buNone/>
            </a:pPr>
            <a:r>
              <a:rPr lang="zh-CN" altLang="en-US" sz="2200" b="1" dirty="0">
                <a:latin typeface="华文楷体" panose="02010600040101010101" pitchFamily="2" charset="-122"/>
                <a:ea typeface="华文楷体" panose="02010600040101010101" pitchFamily="2" charset="-122"/>
              </a:rPr>
              <a:t>     如果没有时序控制，则易形成</a:t>
            </a:r>
            <a:r>
              <a:rPr lang="zh-CN" altLang="en-US" sz="2200" b="1" dirty="0">
                <a:solidFill>
                  <a:srgbClr val="CC3300"/>
                </a:solidFill>
                <a:latin typeface="华文楷体" panose="02010600040101010101" pitchFamily="2" charset="-122"/>
                <a:ea typeface="华文楷体" panose="02010600040101010101" pitchFamily="2" charset="-122"/>
              </a:rPr>
              <a:t>仿真死锁</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p:txBody>
      </p:sp>
      <p:sp>
        <p:nvSpPr>
          <p:cNvPr id="1756165" name="Text Box 5"/>
          <p:cNvSpPr txBox="1"/>
          <p:nvPr/>
        </p:nvSpPr>
        <p:spPr>
          <a:xfrm>
            <a:off x="2166938" y="4148138"/>
            <a:ext cx="4667250" cy="2027237"/>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‘define half_period 50</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module half_clk_top;</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reg reset, clk;  // </a:t>
            </a:r>
            <a:r>
              <a:rPr lang="zh-CN" altLang="en-US" b="1" dirty="0">
                <a:latin typeface="Times New Roman" panose="02020603050405020304" pitchFamily="18" charset="0"/>
                <a:ea typeface="宋体" panose="02010600030101010101" pitchFamily="2" charset="-122"/>
              </a:rPr>
              <a:t>输入信号</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wire clk_out;   // </a:t>
            </a:r>
            <a:r>
              <a:rPr lang="zh-CN" altLang="en-US" b="1" dirty="0">
                <a:latin typeface="Times New Roman" panose="02020603050405020304" pitchFamily="18" charset="0"/>
                <a:ea typeface="宋体" panose="02010600030101010101" pitchFamily="2" charset="-122"/>
              </a:rPr>
              <a:t>输出信号</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always  </a:t>
            </a:r>
            <a:r>
              <a:rPr lang="en-US" altLang="zh-CN" b="1" dirty="0">
                <a:solidFill>
                  <a:srgbClr val="FF0066"/>
                </a:solidFill>
                <a:latin typeface="Times New Roman" panose="02020603050405020304" pitchFamily="18" charset="0"/>
                <a:ea typeface="宋体" panose="02010600030101010101" pitchFamily="2" charset="-122"/>
              </a:rPr>
              <a:t>#half_period</a:t>
            </a:r>
            <a:r>
              <a:rPr lang="en-US" altLang="zh-CN" b="1" dirty="0">
                <a:latin typeface="Times New Roman" panose="02020603050405020304" pitchFamily="18" charset="0"/>
                <a:ea typeface="宋体" panose="02010600030101010101" pitchFamily="2" charset="-122"/>
              </a:rPr>
              <a:t> clk = ~clk;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endmodule	</a:t>
            </a:r>
            <a:endParaRPr lang="en-US" altLang="zh-CN"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56164"/>
                                        </p:tgtEl>
                                        <p:attrNameLst>
                                          <p:attrName>style.visibility</p:attrName>
                                        </p:attrNameLst>
                                      </p:cBhvr>
                                      <p:to>
                                        <p:strVal val="visible"/>
                                      </p:to>
                                    </p:set>
                                    <p:anim calcmode="lin" valueType="num">
                                      <p:cBhvr>
                                        <p:cTn id="7" dur="500" fill="hold"/>
                                        <p:tgtEl>
                                          <p:spTgt spid="1756164"/>
                                        </p:tgtEl>
                                        <p:attrNameLst>
                                          <p:attrName>ppt_w</p:attrName>
                                        </p:attrNameLst>
                                      </p:cBhvr>
                                      <p:tavLst>
                                        <p:tav tm="0">
                                          <p:val>
                                            <p:fltVal val="0.000000"/>
                                          </p:val>
                                        </p:tav>
                                        <p:tav tm="100000">
                                          <p:val>
                                            <p:strVal val="#ppt_w"/>
                                          </p:val>
                                        </p:tav>
                                      </p:tavLst>
                                    </p:anim>
                                    <p:anim calcmode="lin" valueType="num">
                                      <p:cBhvr>
                                        <p:cTn id="8" dur="500" fill="hold"/>
                                        <p:tgtEl>
                                          <p:spTgt spid="1756164"/>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56163"/>
                                        </p:tgtEl>
                                        <p:attrNameLst>
                                          <p:attrName>style.visibility</p:attrName>
                                        </p:attrNameLst>
                                      </p:cBhvr>
                                      <p:to>
                                        <p:strVal val="visible"/>
                                      </p:to>
                                    </p:set>
                                    <p:anim calcmode="lin" valueType="num">
                                      <p:cBhvr additive="base">
                                        <p:cTn id="13" dur="500" fill="hold"/>
                                        <p:tgtEl>
                                          <p:spTgt spid="1756163"/>
                                        </p:tgtEl>
                                        <p:attrNameLst>
                                          <p:attrName>ppt_x</p:attrName>
                                        </p:attrNameLst>
                                      </p:cBhvr>
                                      <p:tavLst>
                                        <p:tav tm="0">
                                          <p:val>
                                            <p:strVal val="0-#ppt_w/2"/>
                                          </p:val>
                                        </p:tav>
                                        <p:tav tm="100000">
                                          <p:val>
                                            <p:strVal val="#ppt_x"/>
                                          </p:val>
                                        </p:tav>
                                      </p:tavLst>
                                    </p:anim>
                                    <p:anim calcmode="lin" valueType="num">
                                      <p:cBhvr additive="base">
                                        <p:cTn id="14" dur="500" fill="hold"/>
                                        <p:tgtEl>
                                          <p:spTgt spid="175616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56165"/>
                                        </p:tgtEl>
                                        <p:attrNameLst>
                                          <p:attrName>style.visibility</p:attrName>
                                        </p:attrNameLst>
                                      </p:cBhvr>
                                      <p:to>
                                        <p:strVal val="visible"/>
                                      </p:to>
                                    </p:set>
                                    <p:anim calcmode="lin" valueType="num">
                                      <p:cBhvr additive="base">
                                        <p:cTn id="19" dur="500" fill="hold"/>
                                        <p:tgtEl>
                                          <p:spTgt spid="1756165"/>
                                        </p:tgtEl>
                                        <p:attrNameLst>
                                          <p:attrName>ppt_x</p:attrName>
                                        </p:attrNameLst>
                                      </p:cBhvr>
                                      <p:tavLst>
                                        <p:tav tm="0">
                                          <p:val>
                                            <p:strVal val="#ppt_x"/>
                                          </p:val>
                                        </p:tav>
                                        <p:tav tm="100000">
                                          <p:val>
                                            <p:strVal val="#ppt_x"/>
                                          </p:val>
                                        </p:tav>
                                      </p:tavLst>
                                    </p:anim>
                                    <p:anim calcmode="lin" valueType="num">
                                      <p:cBhvr additive="base">
                                        <p:cTn id="20" dur="500" fill="hold"/>
                                        <p:tgtEl>
                                          <p:spTgt spid="1756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6163" grpId="0"/>
      <p:bldP spid="1756164" grpId="0" bldLvl="0" animBg="1"/>
      <p:bldP spid="1756165" grpId="0" bldLvl="0" animBg="1"/>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29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299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58211" name="Rectangle 3"/>
          <p:cNvSpPr>
            <a:spLocks noGrp="1"/>
          </p:cNvSpPr>
          <p:nvPr>
            <p:ph idx="1"/>
          </p:nvPr>
        </p:nvSpPr>
        <p:spPr/>
        <p:txBody>
          <a:bodyPr vert="horz" wrap="square" lIns="91440" tIns="45720" rIns="91440" bIns="45720" anchor="t" anchorCtr="0"/>
          <a:p>
            <a:pPr marL="384175" lvl="1" indent="0" eaLnBrk="1" hangingPunct="1">
              <a:buClr>
                <a:srgbClr val="3333FF"/>
              </a:buClr>
            </a:pPr>
            <a:endParaRPr lang="en-US" altLang="zh-CN" dirty="0">
              <a:latin typeface="Times New Roman" panose="02020603050405020304" pitchFamily="18" charset="0"/>
              <a:ea typeface="黑体" panose="02010609060101010101" pitchFamily="49" charset="-122"/>
            </a:endParaRPr>
          </a:p>
          <a:p>
            <a:pPr marL="0" indent="0" algn="just">
              <a:spcBef>
                <a:spcPct val="0"/>
              </a:spcBef>
            </a:pPr>
            <a:r>
              <a:rPr lang="en-US" altLang="zh-CN" dirty="0">
                <a:latin typeface="Times New Roman" panose="02020603050405020304" pitchFamily="18" charset="0"/>
                <a:ea typeface="黑体" panose="02010609060101010101" pitchFamily="49" charset="-122"/>
                <a:cs typeface="+mn-cs"/>
              </a:rPr>
              <a:t>  [</a:t>
            </a:r>
            <a:r>
              <a:rPr lang="zh-CN" altLang="en-US" dirty="0">
                <a:solidFill>
                  <a:srgbClr val="FF0066"/>
                </a:solidFill>
                <a:latin typeface="Times New Roman" panose="02020603050405020304" pitchFamily="18" charset="0"/>
                <a:ea typeface="华文楷体" panose="02010600040101010101" pitchFamily="2" charset="-122"/>
                <a:cs typeface="+mn-cs"/>
              </a:rPr>
              <a:t>例</a:t>
            </a:r>
            <a:r>
              <a:rPr lang="en-US" altLang="zh-CN" dirty="0">
                <a:solidFill>
                  <a:srgbClr val="FF0066"/>
                </a:solidFill>
                <a:latin typeface="Times New Roman" panose="02020603050405020304" pitchFamily="18" charset="0"/>
                <a:ea typeface="黑体" panose="02010609060101010101" pitchFamily="49" charset="-122"/>
                <a:cs typeface="+mn-cs"/>
              </a:rPr>
              <a:t>9.3</a:t>
            </a:r>
            <a:r>
              <a:rPr lang="en-US" altLang="zh-CN" dirty="0">
                <a:latin typeface="Times New Roman" panose="02020603050405020304" pitchFamily="18" charset="0"/>
                <a:ea typeface="黑体" panose="02010609060101010101" pitchFamily="49" charset="-122"/>
                <a:cs typeface="+mn-cs"/>
              </a:rPr>
              <a:t>] </a:t>
            </a:r>
            <a:r>
              <a:rPr lang="zh-CN" altLang="en-US" dirty="0">
                <a:latin typeface="Times New Roman" panose="02020603050405020304" pitchFamily="18" charset="0"/>
                <a:ea typeface="华文楷体" panose="02010600040101010101" pitchFamily="2" charset="-122"/>
                <a:cs typeface="+mn-cs"/>
              </a:rPr>
              <a:t>用</a:t>
            </a:r>
            <a:r>
              <a:rPr lang="en-US" altLang="zh-CN" dirty="0">
                <a:latin typeface="Times New Roman" panose="02020603050405020304" pitchFamily="18" charset="0"/>
                <a:ea typeface="黑体" panose="02010609060101010101" pitchFamily="49" charset="-122"/>
                <a:cs typeface="+mn-cs"/>
              </a:rPr>
              <a:t>always</a:t>
            </a:r>
            <a:r>
              <a:rPr lang="zh-CN" altLang="en-US" dirty="0">
                <a:latin typeface="Times New Roman" panose="02020603050405020304" pitchFamily="18" charset="0"/>
                <a:ea typeface="华文楷体" panose="02010600040101010101" pitchFamily="2" charset="-122"/>
                <a:cs typeface="+mn-cs"/>
              </a:rPr>
              <a:t>块语句产生</a:t>
            </a:r>
            <a:r>
              <a:rPr lang="en-US" altLang="zh-CN" dirty="0">
                <a:latin typeface="Times New Roman" panose="02020603050405020304" pitchFamily="18" charset="0"/>
                <a:ea typeface="黑体" panose="02010609060101010101" pitchFamily="49" charset="-122"/>
                <a:cs typeface="+mn-cs"/>
              </a:rPr>
              <a:t>T’FF</a:t>
            </a:r>
            <a:r>
              <a:rPr lang="zh-CN" altLang="en-US" dirty="0">
                <a:latin typeface="Times New Roman" panose="02020603050405020304" pitchFamily="18" charset="0"/>
                <a:ea typeface="华文楷体" panose="02010600040101010101" pitchFamily="2" charset="-122"/>
                <a:cs typeface="+mn-cs"/>
              </a:rPr>
              <a:t>和</a:t>
            </a:r>
            <a:r>
              <a:rPr lang="en-US" altLang="zh-CN" dirty="0">
                <a:latin typeface="Times New Roman" panose="02020603050405020304" pitchFamily="18" charset="0"/>
                <a:ea typeface="黑体" panose="02010609060101010101" pitchFamily="49" charset="-122"/>
                <a:cs typeface="+mn-cs"/>
              </a:rPr>
              <a:t>8</a:t>
            </a:r>
            <a:r>
              <a:rPr lang="zh-CN" altLang="en-US" dirty="0">
                <a:latin typeface="Times New Roman" panose="02020603050405020304" pitchFamily="18" charset="0"/>
                <a:ea typeface="华文楷体" panose="02010600040101010101" pitchFamily="2" charset="-122"/>
                <a:cs typeface="+mn-cs"/>
              </a:rPr>
              <a:t>位二进制计数器。</a:t>
            </a:r>
            <a:endParaRPr lang="zh-CN" altLang="en-US" dirty="0">
              <a:latin typeface="宋体" panose="02010600030101010101" pitchFamily="2" charset="-122"/>
              <a:ea typeface="华文楷体" panose="02010600040101010101" pitchFamily="2" charset="-122"/>
              <a:cs typeface="+mn-cs"/>
            </a:endParaRPr>
          </a:p>
        </p:txBody>
      </p:sp>
      <p:pic>
        <p:nvPicPr>
          <p:cNvPr id="2" name="图片 1"/>
          <p:cNvPicPr>
            <a:picLocks noChangeAspect="1"/>
          </p:cNvPicPr>
          <p:nvPr/>
        </p:nvPicPr>
        <p:blipFill>
          <a:blip r:embed="rId1"/>
          <a:stretch>
            <a:fillRect/>
          </a:stretch>
        </p:blipFill>
        <p:spPr>
          <a:xfrm>
            <a:off x="2208213" y="620713"/>
            <a:ext cx="4584700" cy="4271962"/>
          </a:xfrm>
          <a:prstGeom prst="rect">
            <a:avLst/>
          </a:prstGeom>
          <a:noFill/>
          <a:ln w="9525">
            <a:noFill/>
          </a:ln>
        </p:spPr>
      </p:pic>
      <p:pic>
        <p:nvPicPr>
          <p:cNvPr id="3" name="图片 2"/>
          <p:cNvPicPr>
            <a:picLocks noChangeAspect="1"/>
          </p:cNvPicPr>
          <p:nvPr/>
        </p:nvPicPr>
        <p:blipFill>
          <a:blip r:embed="rId2"/>
          <a:stretch>
            <a:fillRect/>
          </a:stretch>
        </p:blipFill>
        <p:spPr>
          <a:xfrm>
            <a:off x="90488" y="5119688"/>
            <a:ext cx="8963025" cy="1289050"/>
          </a:xfrm>
          <a:prstGeom prst="rect">
            <a:avLst/>
          </a:prstGeom>
          <a:noFill/>
          <a:ln w="9525">
            <a:noFill/>
          </a:ln>
        </p:spPr>
      </p:pic>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58211"/>
                                        </p:tgtEl>
                                        <p:attrNameLst>
                                          <p:attrName>style.visibility</p:attrName>
                                        </p:attrNameLst>
                                      </p:cBhvr>
                                      <p:to>
                                        <p:strVal val="visible"/>
                                      </p:to>
                                    </p:set>
                                    <p:anim calcmode="lin" valueType="num">
                                      <p:cBhvr additive="base">
                                        <p:cTn id="7" dur="500" fill="hold"/>
                                        <p:tgtEl>
                                          <p:spTgt spid="1758211"/>
                                        </p:tgtEl>
                                        <p:attrNameLst>
                                          <p:attrName>ppt_x</p:attrName>
                                        </p:attrNameLst>
                                      </p:cBhvr>
                                      <p:tavLst>
                                        <p:tav tm="0">
                                          <p:val>
                                            <p:strVal val="0-#ppt_w/2"/>
                                          </p:val>
                                        </p:tav>
                                        <p:tav tm="100000">
                                          <p:val>
                                            <p:strVal val="#ppt_x"/>
                                          </p:val>
                                        </p:tav>
                                      </p:tavLst>
                                    </p:anim>
                                    <p:anim calcmode="lin" valueType="num">
                                      <p:cBhvr additive="base">
                                        <p:cTn id="8" dur="500" fill="hold"/>
                                        <p:tgtEl>
                                          <p:spTgt spid="17582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8211"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504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504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60260" name="Text Box 4"/>
          <p:cNvSpPr txBox="1"/>
          <p:nvPr/>
        </p:nvSpPr>
        <p:spPr>
          <a:xfrm>
            <a:off x="3963988" y="1031875"/>
            <a:ext cx="4291012" cy="2590800"/>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spcBef>
                <a:spcPct val="0"/>
              </a:spcBef>
              <a:buNone/>
            </a:pPr>
            <a:r>
              <a:rPr lang="en-US" altLang="zh-CN" b="1" dirty="0">
                <a:solidFill>
                  <a:srgbClr val="FF0066"/>
                </a:solidFill>
                <a:latin typeface="宋体" panose="02010600030101010101" pitchFamily="2" charset="-122"/>
                <a:ea typeface="宋体" panose="02010600030101010101" pitchFamily="2" charset="-122"/>
              </a:rPr>
              <a:t>always </a:t>
            </a:r>
            <a:r>
              <a:rPr lang="en-US" altLang="zh-CN" sz="2400" b="1" dirty="0">
                <a:solidFill>
                  <a:srgbClr val="FF0066"/>
                </a:solidFill>
                <a:latin typeface="Times New Roman" panose="02020603050405020304" pitchFamily="18" charset="0"/>
                <a:ea typeface="宋体" panose="02010600030101010101" pitchFamily="2" charset="-122"/>
              </a:rPr>
              <a:t>@ </a:t>
            </a:r>
            <a:r>
              <a:rPr lang="en-US" altLang="zh-CN" b="1" dirty="0">
                <a:solidFill>
                  <a:srgbClr val="FF0066"/>
                </a:solidFill>
                <a:latin typeface="宋体" panose="02010600030101010101" pitchFamily="2" charset="-122"/>
                <a:ea typeface="宋体" panose="02010600030101010101" pitchFamily="2" charset="-122"/>
              </a:rPr>
              <a:t>(&lt;</a:t>
            </a:r>
            <a:r>
              <a:rPr lang="zh-CN" altLang="en-US" b="1" dirty="0">
                <a:solidFill>
                  <a:srgbClr val="FF0066"/>
                </a:solidFill>
                <a:latin typeface="宋体" panose="02010600030101010101" pitchFamily="2" charset="-122"/>
                <a:ea typeface="宋体" panose="02010600030101010101" pitchFamily="2" charset="-122"/>
              </a:rPr>
              <a:t>敏感信号表达式</a:t>
            </a:r>
            <a:r>
              <a:rPr lang="en-US" altLang="zh-CN" b="1" dirty="0">
                <a:solidFill>
                  <a:srgbClr val="FF0066"/>
                </a:solidFill>
                <a:latin typeface="宋体" panose="02010600030101010101" pitchFamily="2" charset="-122"/>
                <a:ea typeface="宋体" panose="02010600030101010101" pitchFamily="2" charset="-122"/>
              </a:rPr>
              <a:t>&gt;)</a:t>
            </a:r>
            <a:r>
              <a:rPr lang="en-US" altLang="zh-CN" b="1" dirty="0">
                <a:latin typeface="宋体" panose="02010600030101010101" pitchFamily="2" charset="-122"/>
                <a:ea typeface="宋体" panose="02010600030101010101" pitchFamily="2" charset="-122"/>
              </a:rPr>
              <a:t> </a:t>
            </a:r>
            <a:endParaRPr lang="en-US" altLang="zh-CN" b="1" dirty="0">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begin</a:t>
            </a:r>
            <a:endParaRPr lang="en-US" altLang="zh-CN" b="1" dirty="0">
              <a:solidFill>
                <a:srgbClr val="FF6600"/>
              </a:solidFill>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 </a:t>
            </a:r>
            <a:r>
              <a:rPr lang="zh-CN" altLang="en-US" b="1" dirty="0">
                <a:latin typeface="宋体" panose="02010600030101010101" pitchFamily="2" charset="-122"/>
                <a:ea typeface="宋体" panose="02010600030101010101" pitchFamily="2" charset="-122"/>
              </a:rPr>
              <a:t>过程赋值语句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if</a:t>
            </a:r>
            <a:r>
              <a:rPr lang="zh-CN" altLang="en-US" b="1" dirty="0">
                <a:latin typeface="宋体" panose="02010600030101010101" pitchFamily="2" charset="-122"/>
                <a:ea typeface="宋体" panose="02010600030101010101" pitchFamily="2" charset="-122"/>
              </a:rPr>
              <a:t>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case</a:t>
            </a:r>
            <a:r>
              <a:rPr lang="zh-CN" altLang="en-US" b="1" dirty="0">
                <a:latin typeface="宋体" panose="02010600030101010101" pitchFamily="2" charset="-122"/>
                <a:ea typeface="宋体" panose="02010600030101010101" pitchFamily="2" charset="-122"/>
              </a:rPr>
              <a:t>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while</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repeat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for</a:t>
            </a:r>
            <a:r>
              <a:rPr lang="zh-CN" altLang="en-US" b="1" dirty="0">
                <a:latin typeface="宋体" panose="02010600030101010101" pitchFamily="2" charset="-122"/>
                <a:ea typeface="宋体" panose="02010600030101010101" pitchFamily="2" charset="-122"/>
              </a:rPr>
              <a:t>循环</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 task</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function</a:t>
            </a:r>
            <a:r>
              <a:rPr lang="zh-CN" altLang="en-US" b="1" dirty="0">
                <a:latin typeface="宋体" panose="02010600030101010101" pitchFamily="2" charset="-122"/>
                <a:ea typeface="宋体" panose="02010600030101010101" pitchFamily="2" charset="-122"/>
              </a:rPr>
              <a:t>调用    </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end</a:t>
            </a:r>
            <a:endParaRPr lang="en-US" altLang="zh-CN" b="1" dirty="0">
              <a:solidFill>
                <a:srgbClr val="FF6600"/>
              </a:solidFill>
              <a:latin typeface="宋体" panose="02010600030101010101" pitchFamily="2" charset="-122"/>
              <a:ea typeface="宋体" panose="02010600030101010101" pitchFamily="2" charset="-122"/>
            </a:endParaRPr>
          </a:p>
        </p:txBody>
      </p:sp>
      <p:sp>
        <p:nvSpPr>
          <p:cNvPr id="1760262" name="AutoShape 6"/>
          <p:cNvSpPr/>
          <p:nvPr/>
        </p:nvSpPr>
        <p:spPr>
          <a:xfrm>
            <a:off x="7185025" y="4375150"/>
            <a:ext cx="1598613" cy="387350"/>
          </a:xfrm>
          <a:prstGeom prst="wedgeRoundRectCallout">
            <a:avLst>
              <a:gd name="adj1" fmla="val -56454"/>
              <a:gd name="adj2" fmla="val 75412"/>
              <a:gd name="adj3" fmla="val 16667"/>
            </a:avLst>
          </a:prstGeom>
          <a:noFill/>
          <a:ln w="9525" cap="flat" cmpd="sng">
            <a:solidFill>
              <a:srgbClr val="FF9900"/>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一般为输入</a:t>
            </a:r>
            <a:endParaRPr lang="zh-CN" altLang="en-US" dirty="0">
              <a:latin typeface="华文楷体" panose="02010600040101010101" pitchFamily="2" charset="-122"/>
              <a:ea typeface="华文楷体" panose="02010600040101010101" pitchFamily="2" charset="-122"/>
            </a:endParaRPr>
          </a:p>
        </p:txBody>
      </p:sp>
      <p:sp>
        <p:nvSpPr>
          <p:cNvPr id="1760263" name="Text Box 7"/>
          <p:cNvSpPr txBox="1"/>
          <p:nvPr/>
        </p:nvSpPr>
        <p:spPr>
          <a:xfrm>
            <a:off x="455613" y="3883025"/>
            <a:ext cx="7966075" cy="261143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7825" lvl="1" indent="-182245" algn="just" eaLnBrk="1" hangingPunct="1">
              <a:lnSpc>
                <a:spcPct val="110000"/>
              </a:lnSpc>
              <a:spcBef>
                <a:spcPct val="10000"/>
              </a:spcBef>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敏感信号表达式又称</a:t>
            </a:r>
            <a:r>
              <a:rPr lang="zh-CN" altLang="en-US" sz="2400" b="1" dirty="0">
                <a:solidFill>
                  <a:srgbClr val="FF0066"/>
                </a:solidFill>
                <a:latin typeface="华文楷体" panose="02010600040101010101" pitchFamily="2" charset="-122"/>
                <a:ea typeface="华文楷体" panose="02010600040101010101" pitchFamily="2" charset="-122"/>
              </a:rPr>
              <a:t>事件</a:t>
            </a:r>
            <a:r>
              <a:rPr lang="zh-CN" altLang="en-US" sz="2400" b="1" dirty="0">
                <a:latin typeface="华文楷体" panose="02010600040101010101" pitchFamily="2" charset="-122"/>
                <a:ea typeface="华文楷体" panose="02010600040101010101" pitchFamily="2" charset="-122"/>
              </a:rPr>
              <a:t>表达式或敏感表，当其值改变时，则执行一遍块内语句；</a:t>
            </a:r>
            <a:endParaRPr lang="zh-CN" altLang="en-US" sz="2400" b="1" dirty="0">
              <a:latin typeface="华文楷体" panose="02010600040101010101" pitchFamily="2" charset="-122"/>
              <a:ea typeface="华文楷体" panose="02010600040101010101" pitchFamily="2" charset="-122"/>
            </a:endParaRPr>
          </a:p>
          <a:p>
            <a:pPr marL="377825" lvl="1" indent="-182245" algn="just" eaLnBrk="1" hangingPunct="1">
              <a:lnSpc>
                <a:spcPct val="110000"/>
              </a:lnSpc>
              <a:spcBef>
                <a:spcPct val="10000"/>
              </a:spcBef>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在敏感信号表达式中应列出影响块内取值的</a:t>
            </a:r>
            <a:r>
              <a:rPr lang="zh-CN" altLang="en-US" sz="2400" b="1" dirty="0">
                <a:solidFill>
                  <a:srgbClr val="FF66CC"/>
                </a:solidFill>
                <a:latin typeface="华文楷体" panose="02010600040101010101" pitchFamily="2" charset="-122"/>
                <a:ea typeface="华文楷体" panose="02010600040101010101" pitchFamily="2" charset="-122"/>
              </a:rPr>
              <a:t>所有</a:t>
            </a:r>
            <a:r>
              <a:rPr lang="zh-CN" altLang="en-US" sz="2400" b="1" dirty="0">
                <a:latin typeface="华文楷体" panose="02010600040101010101" pitchFamily="2" charset="-122"/>
                <a:ea typeface="华文楷体" panose="02010600040101010101" pitchFamily="2" charset="-122"/>
              </a:rPr>
              <a:t>信号</a:t>
            </a:r>
            <a:r>
              <a:rPr lang="en-US" altLang="zh-CN" sz="2400" b="1" dirty="0">
                <a:latin typeface="华文楷体" panose="02010600040101010101" pitchFamily="2" charset="-122"/>
                <a:ea typeface="华文楷体" panose="02010600040101010101" pitchFamily="2" charset="-122"/>
              </a:rPr>
              <a:t>!</a:t>
            </a:r>
            <a:endParaRPr lang="en-US" altLang="zh-CN" sz="2400" b="1" dirty="0">
              <a:latin typeface="华文楷体" panose="02010600040101010101" pitchFamily="2" charset="-122"/>
              <a:ea typeface="华文楷体" panose="02010600040101010101" pitchFamily="2" charset="-122"/>
            </a:endParaRPr>
          </a:p>
          <a:p>
            <a:pPr marL="377825" lvl="1" indent="-182245" algn="just" eaLnBrk="1" hangingPunct="1">
              <a:lnSpc>
                <a:spcPct val="110000"/>
              </a:lnSpc>
              <a:spcBef>
                <a:spcPct val="10000"/>
              </a:spcBef>
              <a:buClr>
                <a:srgbClr val="FF0000"/>
              </a:buClr>
              <a:buSzPct val="80000"/>
              <a:buFont typeface="Wingdings" panose="05000000000000000000" pitchFamily="2" charset="2"/>
              <a:buChar char="Ø"/>
            </a:pP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敏感信号可以为</a:t>
            </a:r>
            <a:r>
              <a:rPr lang="zh-CN" altLang="en-US" sz="2400" b="1" dirty="0">
                <a:solidFill>
                  <a:srgbClr val="FF66CC"/>
                </a:solidFill>
                <a:latin typeface="华文楷体" panose="02010600040101010101" pitchFamily="2" charset="-122"/>
                <a:ea typeface="华文楷体" panose="02010600040101010101" pitchFamily="2" charset="-122"/>
              </a:rPr>
              <a:t>单</a:t>
            </a:r>
            <a:r>
              <a:rPr lang="zh-CN" altLang="en-US" sz="2400" b="1" dirty="0">
                <a:latin typeface="华文楷体" panose="02010600040101010101" pitchFamily="2" charset="-122"/>
                <a:ea typeface="华文楷体" panose="02010600040101010101" pitchFamily="2" charset="-122"/>
              </a:rPr>
              <a:t>个信号，也可为</a:t>
            </a:r>
            <a:r>
              <a:rPr lang="zh-CN" altLang="en-US" sz="2400" b="1" dirty="0">
                <a:solidFill>
                  <a:srgbClr val="FF66CC"/>
                </a:solidFill>
                <a:latin typeface="华文楷体" panose="02010600040101010101" pitchFamily="2" charset="-122"/>
                <a:ea typeface="华文楷体" panose="02010600040101010101" pitchFamily="2" charset="-122"/>
              </a:rPr>
              <a:t>多</a:t>
            </a:r>
            <a:r>
              <a:rPr lang="zh-CN" altLang="en-US" sz="2400" b="1" dirty="0">
                <a:latin typeface="华文楷体" panose="02010600040101010101" pitchFamily="2" charset="-122"/>
                <a:ea typeface="华文楷体" panose="02010600040101010101" pitchFamily="2" charset="-122"/>
              </a:rPr>
              <a:t>个信号，中间需用关键字</a:t>
            </a:r>
            <a:r>
              <a:rPr lang="en-US" altLang="zh-CN" sz="2400" b="1" dirty="0">
                <a:solidFill>
                  <a:srgbClr val="FF66CC"/>
                </a:solidFill>
                <a:latin typeface="华文楷体" panose="02010600040101010101" pitchFamily="2" charset="-122"/>
                <a:ea typeface="华文楷体" panose="02010600040101010101" pitchFamily="2" charset="-122"/>
              </a:rPr>
              <a:t>or</a:t>
            </a:r>
            <a:r>
              <a:rPr lang="zh-CN" altLang="en-US" sz="2400" b="1" dirty="0">
                <a:latin typeface="华文楷体" panose="02010600040101010101" pitchFamily="2" charset="-122"/>
                <a:ea typeface="华文楷体" panose="02010600040101010101" pitchFamily="2" charset="-122"/>
              </a:rPr>
              <a:t>连接！</a:t>
            </a:r>
            <a:endParaRPr lang="zh-CN" altLang="en-US" sz="2400" b="1" dirty="0">
              <a:latin typeface="华文楷体" panose="02010600040101010101" pitchFamily="2" charset="-122"/>
              <a:ea typeface="华文楷体" panose="02010600040101010101" pitchFamily="2" charset="-122"/>
            </a:endParaRPr>
          </a:p>
          <a:p>
            <a:pPr marL="377825" lvl="1" indent="-182245" algn="just" eaLnBrk="1" hangingPunct="1">
              <a:lnSpc>
                <a:spcPct val="110000"/>
              </a:lnSpc>
              <a:spcBef>
                <a:spcPct val="10000"/>
              </a:spcBef>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敏感信号不要为</a:t>
            </a:r>
            <a:r>
              <a:rPr lang="en-US" altLang="zh-CN" sz="2400" b="1" dirty="0">
                <a:latin typeface="华文楷体" panose="02010600040101010101" pitchFamily="2" charset="-122"/>
                <a:ea typeface="华文楷体" panose="02010600040101010101" pitchFamily="2" charset="-122"/>
              </a:rPr>
              <a:t>x</a:t>
            </a:r>
            <a:r>
              <a:rPr lang="zh-CN" altLang="en-US" sz="2400" b="1" dirty="0">
                <a:latin typeface="华文楷体" panose="02010600040101010101" pitchFamily="2" charset="-122"/>
                <a:ea typeface="华文楷体" panose="02010600040101010101" pitchFamily="2" charset="-122"/>
              </a:rPr>
              <a:t>或</a:t>
            </a:r>
            <a:r>
              <a:rPr lang="en-US" altLang="zh-CN" sz="2400" b="1" dirty="0">
                <a:latin typeface="华文楷体" panose="02010600040101010101" pitchFamily="2" charset="-122"/>
                <a:ea typeface="华文楷体" panose="02010600040101010101" pitchFamily="2" charset="-122"/>
              </a:rPr>
              <a:t>z</a:t>
            </a:r>
            <a:r>
              <a:rPr lang="zh-CN" altLang="en-US" sz="2400" b="1" dirty="0">
                <a:latin typeface="华文楷体" panose="02010600040101010101" pitchFamily="2" charset="-122"/>
                <a:ea typeface="华文楷体" panose="02010600040101010101" pitchFamily="2" charset="-122"/>
              </a:rPr>
              <a:t>，否则会阻挡进程！</a:t>
            </a:r>
            <a:endParaRPr lang="zh-CN" altLang="en-US" sz="2400" b="1" dirty="0">
              <a:latin typeface="华文楷体" panose="02010600040101010101" pitchFamily="2" charset="-122"/>
              <a:ea typeface="华文楷体" panose="02010600040101010101" pitchFamily="2" charset="-122"/>
            </a:endParaRPr>
          </a:p>
        </p:txBody>
      </p:sp>
      <p:sp>
        <p:nvSpPr>
          <p:cNvPr id="1760266" name="Rectangle 10"/>
          <p:cNvSpPr>
            <a:spLocks noGrp="1"/>
          </p:cNvSpPr>
          <p:nvPr>
            <p:ph idx="1"/>
          </p:nvPr>
        </p:nvSpPr>
        <p:spPr>
          <a:xfrm>
            <a:off x="647700" y="1063625"/>
            <a:ext cx="7921625" cy="600075"/>
          </a:xfrm>
          <a:ln w="25400"/>
        </p:spPr>
        <p:txBody>
          <a:bodyPr vert="horz" wrap="square" lIns="91440" tIns="45720" rIns="91440" bIns="45720" anchor="t" anchorCtr="0"/>
          <a:p>
            <a:pPr eaLnBrk="1" hangingPunct="1">
              <a:lnSpc>
                <a:spcPct val="90000"/>
              </a:lnSpc>
              <a:spcBef>
                <a:spcPct val="30000"/>
              </a:spcBef>
              <a:buClr>
                <a:schemeClr val="tx2"/>
              </a:buClr>
              <a:buSzPct val="85000"/>
            </a:pPr>
            <a:r>
              <a:rPr lang="en-US" altLang="zh-CN" dirty="0">
                <a:solidFill>
                  <a:srgbClr val="CC3300"/>
                </a:solidFill>
                <a:latin typeface="华文楷体" panose="02010600040101010101" pitchFamily="2" charset="-122"/>
                <a:ea typeface="华文楷体" panose="02010600040101010101" pitchFamily="2" charset="-122"/>
                <a:cs typeface="+mn-cs"/>
              </a:rPr>
              <a:t>always</a:t>
            </a:r>
            <a:r>
              <a:rPr lang="en-US" altLang="en-US" dirty="0">
                <a:solidFill>
                  <a:srgbClr val="CC3300"/>
                </a:solidFill>
                <a:latin typeface="华文楷体" panose="02010600040101010101" pitchFamily="2" charset="-122"/>
                <a:ea typeface="华文楷体" panose="02010600040101010101" pitchFamily="2" charset="-122"/>
                <a:cs typeface="+mn-cs"/>
              </a:rPr>
              <a:t>块语句</a:t>
            </a:r>
            <a:r>
              <a:rPr lang="en-US" altLang="en-US" dirty="0">
                <a:solidFill>
                  <a:srgbClr val="CC0000"/>
                </a:solidFill>
                <a:latin typeface="华文楷体" panose="02010600040101010101" pitchFamily="2" charset="-122"/>
                <a:ea typeface="华文楷体" panose="02010600040101010101" pitchFamily="2" charset="-122"/>
                <a:cs typeface="+mn-cs"/>
              </a:rPr>
              <a:t>模板</a:t>
            </a:r>
            <a:endParaRPr lang="en-US" altLang="en-US" dirty="0">
              <a:solidFill>
                <a:srgbClr val="CC0000"/>
              </a:solidFill>
              <a:latin typeface="华文楷体" panose="02010600040101010101" pitchFamily="2" charset="-122"/>
              <a:ea typeface="华文楷体" panose="02010600040101010101" pitchFamily="2" charset="-122"/>
              <a:cs typeface="+mn-cs"/>
            </a:endParaRPr>
          </a:p>
        </p:txBody>
      </p:sp>
      <p:sp>
        <p:nvSpPr>
          <p:cNvPr id="1760267" name="AutoShape 11"/>
          <p:cNvSpPr/>
          <p:nvPr/>
        </p:nvSpPr>
        <p:spPr>
          <a:xfrm rot="-479700">
            <a:off x="850900" y="1978025"/>
            <a:ext cx="2982913" cy="1590675"/>
          </a:xfrm>
          <a:prstGeom prst="star16">
            <a:avLst>
              <a:gd name="adj" fmla="val 37500"/>
            </a:avLst>
          </a:prstGeom>
          <a:noFill/>
          <a:ln w="9525" cap="flat" cmpd="sng">
            <a:solidFill>
              <a:srgbClr val="FF9900"/>
            </a:solidFill>
            <a:prstDash val="solid"/>
            <a:miter/>
            <a:headEnd type="none" w="med" len="med"/>
            <a:tailEnd type="none" w="med" len="med"/>
          </a:ln>
        </p:spPr>
        <p:txBody>
          <a:bodyPr anchor="ctr" anchorCtr="1"/>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一个变量不能在多个</a:t>
            </a:r>
            <a:r>
              <a:rPr lang="en-US" altLang="zh-CN" b="1" dirty="0">
                <a:latin typeface="华文楷体" panose="02010600040101010101" pitchFamily="2" charset="-122"/>
                <a:ea typeface="华文楷体" panose="02010600040101010101" pitchFamily="2" charset="-122"/>
              </a:rPr>
              <a:t>always</a:t>
            </a:r>
            <a:r>
              <a:rPr lang="zh-CN" altLang="en-US" b="1" dirty="0">
                <a:latin typeface="华文楷体" panose="02010600040101010101" pitchFamily="2" charset="-122"/>
                <a:ea typeface="华文楷体" panose="02010600040101010101" pitchFamily="2" charset="-122"/>
              </a:rPr>
              <a:t>块中被赋值！</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60266"/>
                                        </p:tgtEl>
                                        <p:attrNameLst>
                                          <p:attrName>style.visibility</p:attrName>
                                        </p:attrNameLst>
                                      </p:cBhvr>
                                      <p:to>
                                        <p:strVal val="visible"/>
                                      </p:to>
                                    </p:set>
                                    <p:anim calcmode="lin" valueType="num">
                                      <p:cBhvr>
                                        <p:cTn id="7" dur="500" fill="hold"/>
                                        <p:tgtEl>
                                          <p:spTgt spid="1760266"/>
                                        </p:tgtEl>
                                        <p:attrNameLst>
                                          <p:attrName>ppt_w</p:attrName>
                                        </p:attrNameLst>
                                      </p:cBhvr>
                                      <p:tavLst>
                                        <p:tav tm="0">
                                          <p:val>
                                            <p:fltVal val="0.000000"/>
                                          </p:val>
                                        </p:tav>
                                        <p:tav tm="100000">
                                          <p:val>
                                            <p:strVal val="#ppt_w"/>
                                          </p:val>
                                        </p:tav>
                                      </p:tavLst>
                                    </p:anim>
                                    <p:anim calcmode="lin" valueType="num">
                                      <p:cBhvr>
                                        <p:cTn id="8" dur="500" fill="hold"/>
                                        <p:tgtEl>
                                          <p:spTgt spid="1760266"/>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760260"/>
                                        </p:tgtEl>
                                        <p:attrNameLst>
                                          <p:attrName>style.visibility</p:attrName>
                                        </p:attrNameLst>
                                      </p:cBhvr>
                                      <p:to>
                                        <p:strVal val="visible"/>
                                      </p:to>
                                    </p:set>
                                    <p:animEffect transition="in" filter="wipe(left)">
                                      <p:cBhvr>
                                        <p:cTn id="12" dur="500"/>
                                        <p:tgtEl>
                                          <p:spTgt spid="176026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60263"/>
                                        </p:tgtEl>
                                        <p:attrNameLst>
                                          <p:attrName>style.visibility</p:attrName>
                                        </p:attrNameLst>
                                      </p:cBhvr>
                                      <p:to>
                                        <p:strVal val="visible"/>
                                      </p:to>
                                    </p:set>
                                    <p:anim calcmode="lin" valueType="num">
                                      <p:cBhvr additive="base">
                                        <p:cTn id="17" dur="500" fill="hold"/>
                                        <p:tgtEl>
                                          <p:spTgt spid="1760263"/>
                                        </p:tgtEl>
                                        <p:attrNameLst>
                                          <p:attrName>ppt_x</p:attrName>
                                        </p:attrNameLst>
                                      </p:cBhvr>
                                      <p:tavLst>
                                        <p:tav tm="0">
                                          <p:val>
                                            <p:strVal val="#ppt_x"/>
                                          </p:val>
                                        </p:tav>
                                        <p:tav tm="100000">
                                          <p:val>
                                            <p:strVal val="#ppt_x"/>
                                          </p:val>
                                        </p:tav>
                                      </p:tavLst>
                                    </p:anim>
                                    <p:anim calcmode="lin" valueType="num">
                                      <p:cBhvr additive="base">
                                        <p:cTn id="18" dur="500" fill="hold"/>
                                        <p:tgtEl>
                                          <p:spTgt spid="176026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60262"/>
                                        </p:tgtEl>
                                        <p:attrNameLst>
                                          <p:attrName>style.visibility</p:attrName>
                                        </p:attrNameLst>
                                      </p:cBhvr>
                                      <p:to>
                                        <p:strVal val="visible"/>
                                      </p:to>
                                    </p:set>
                                    <p:animEffect transition="in" filter="dissolve">
                                      <p:cBhvr>
                                        <p:cTn id="23" dur="500"/>
                                        <p:tgtEl>
                                          <p:spTgt spid="1760262"/>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760267"/>
                                        </p:tgtEl>
                                        <p:attrNameLst>
                                          <p:attrName>style.visibility</p:attrName>
                                        </p:attrNameLst>
                                      </p:cBhvr>
                                      <p:to>
                                        <p:strVal val="visible"/>
                                      </p:to>
                                    </p:set>
                                    <p:anim calcmode="lin" valueType="num">
                                      <p:cBhvr>
                                        <p:cTn id="28" dur="500" fill="hold"/>
                                        <p:tgtEl>
                                          <p:spTgt spid="1760267"/>
                                        </p:tgtEl>
                                        <p:attrNameLst>
                                          <p:attrName>ppt_w</p:attrName>
                                        </p:attrNameLst>
                                      </p:cBhvr>
                                      <p:tavLst>
                                        <p:tav tm="0">
                                          <p:val>
                                            <p:fltVal val="0.000000"/>
                                          </p:val>
                                        </p:tav>
                                        <p:tav tm="100000">
                                          <p:val>
                                            <p:strVal val="#ppt_w"/>
                                          </p:val>
                                        </p:tav>
                                      </p:tavLst>
                                    </p:anim>
                                    <p:anim calcmode="lin" valueType="num">
                                      <p:cBhvr>
                                        <p:cTn id="29" dur="500" fill="hold"/>
                                        <p:tgtEl>
                                          <p:spTgt spid="1760267"/>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0260" grpId="0" animBg="1"/>
      <p:bldP spid="1760262" grpId="0" animBg="1"/>
      <p:bldP spid="1760263" grpId="0"/>
      <p:bldP spid="1760266" grpId="0" bldLvl="0"/>
      <p:bldP spid="1760267"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709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709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62307" name="Rectangle 3"/>
          <p:cNvSpPr>
            <a:spLocks noGrp="1"/>
          </p:cNvSpPr>
          <p:nvPr>
            <p:ph idx="1"/>
          </p:nvPr>
        </p:nvSpPr>
        <p:spPr/>
        <p:txBody>
          <a:bodyPr vert="horz" wrap="square" lIns="91440" tIns="45720" rIns="91440" bIns="45720" anchor="t" anchorCtr="0"/>
          <a:p>
            <a:pPr algn="just" eaLnBrk="1" hangingPunct="1">
              <a:lnSpc>
                <a:spcPct val="110000"/>
              </a:lnSpc>
              <a:buClr>
                <a:srgbClr val="FF5050"/>
              </a:buClr>
              <a:buSzPct val="80000"/>
              <a:buFont typeface="Wingdings" panose="05000000000000000000" pitchFamily="2" charset="2"/>
              <a:buChar char="Ø"/>
            </a:pPr>
            <a:r>
              <a:rPr lang="en-US" altLang="zh-CN" dirty="0">
                <a:latin typeface="Times New Roman" panose="02020603050405020304" pitchFamily="18" charset="0"/>
                <a:ea typeface="华文楷体" panose="02010600040101010101" pitchFamily="2" charset="-122"/>
                <a:cs typeface="+mn-cs"/>
              </a:rPr>
              <a:t>always</a:t>
            </a:r>
            <a:r>
              <a:rPr lang="zh-CN" altLang="en-US" dirty="0">
                <a:latin typeface="Times New Roman" panose="02020603050405020304" pitchFamily="18" charset="0"/>
                <a:ea typeface="华文楷体" panose="02010600040101010101" pitchFamily="2" charset="-122"/>
                <a:cs typeface="+mn-cs"/>
              </a:rPr>
              <a:t>的时间控制可以为</a:t>
            </a:r>
            <a:r>
              <a:rPr lang="zh-CN" altLang="en-US" dirty="0">
                <a:solidFill>
                  <a:srgbClr val="FF66CC"/>
                </a:solidFill>
                <a:latin typeface="Times New Roman" panose="02020603050405020304" pitchFamily="18" charset="0"/>
                <a:ea typeface="华文楷体" panose="02010600040101010101" pitchFamily="2" charset="-122"/>
                <a:cs typeface="+mn-cs"/>
              </a:rPr>
              <a:t>沿</a:t>
            </a:r>
            <a:r>
              <a:rPr lang="zh-CN" altLang="en-US" dirty="0">
                <a:latin typeface="Times New Roman" panose="02020603050405020304" pitchFamily="18" charset="0"/>
                <a:ea typeface="华文楷体" panose="02010600040101010101" pitchFamily="2" charset="-122"/>
                <a:cs typeface="+mn-cs"/>
              </a:rPr>
              <a:t>触发，也可为</a:t>
            </a:r>
            <a:r>
              <a:rPr lang="zh-CN" altLang="en-US" dirty="0">
                <a:solidFill>
                  <a:srgbClr val="FF66CC"/>
                </a:solidFill>
                <a:latin typeface="Times New Roman" panose="02020603050405020304" pitchFamily="18" charset="0"/>
                <a:ea typeface="华文楷体" panose="02010600040101010101" pitchFamily="2" charset="-122"/>
                <a:cs typeface="+mn-cs"/>
              </a:rPr>
              <a:t>电平</a:t>
            </a:r>
            <a:r>
              <a:rPr lang="zh-CN" altLang="en-US" dirty="0">
                <a:latin typeface="Times New Roman" panose="02020603050405020304" pitchFamily="18" charset="0"/>
                <a:ea typeface="华文楷体" panose="02010600040101010101" pitchFamily="2" charset="-122"/>
                <a:cs typeface="+mn-cs"/>
              </a:rPr>
              <a:t>触发。</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关键字</a:t>
            </a:r>
            <a:r>
              <a:rPr lang="en-US" altLang="zh-CN" dirty="0">
                <a:solidFill>
                  <a:srgbClr val="FF66CC"/>
                </a:solidFill>
                <a:latin typeface="Times New Roman" panose="02020603050405020304" pitchFamily="18" charset="0"/>
                <a:ea typeface="华文楷体" panose="02010600040101010101" pitchFamily="2" charset="-122"/>
                <a:cs typeface="+mn-cs"/>
              </a:rPr>
              <a:t>posedge</a:t>
            </a:r>
            <a:r>
              <a:rPr lang="zh-CN" altLang="en-US" dirty="0">
                <a:latin typeface="Times New Roman" panose="02020603050405020304" pitchFamily="18" charset="0"/>
                <a:ea typeface="华文楷体" panose="02010600040101010101" pitchFamily="2" charset="-122"/>
                <a:cs typeface="+mn-cs"/>
              </a:rPr>
              <a:t>表示上升沿；</a:t>
            </a:r>
            <a:r>
              <a:rPr lang="en-US" altLang="zh-CN" dirty="0">
                <a:solidFill>
                  <a:srgbClr val="FF66CC"/>
                </a:solidFill>
                <a:latin typeface="Times New Roman" panose="02020603050405020304" pitchFamily="18" charset="0"/>
                <a:ea typeface="华文楷体" panose="02010600040101010101" pitchFamily="2" charset="-122"/>
                <a:cs typeface="+mn-cs"/>
              </a:rPr>
              <a:t>negedge</a:t>
            </a:r>
            <a:r>
              <a:rPr lang="zh-CN" altLang="en-US" dirty="0">
                <a:latin typeface="Times New Roman" panose="02020603050405020304" pitchFamily="18" charset="0"/>
                <a:ea typeface="华文楷体" panose="02010600040101010101" pitchFamily="2" charset="-122"/>
                <a:cs typeface="+mn-cs"/>
              </a:rPr>
              <a:t>表示下降沿。</a:t>
            </a:r>
            <a:endParaRPr lang="zh-CN" altLang="en-US" dirty="0">
              <a:latin typeface="Times New Roman" panose="02020603050405020304" pitchFamily="18" charset="0"/>
              <a:ea typeface="华文楷体" panose="02010600040101010101" pitchFamily="2" charset="-122"/>
              <a:cs typeface="+mn-cs"/>
            </a:endParaRPr>
          </a:p>
        </p:txBody>
      </p:sp>
      <p:sp>
        <p:nvSpPr>
          <p:cNvPr id="1762308" name="AutoShape 4"/>
          <p:cNvSpPr/>
          <p:nvPr/>
        </p:nvSpPr>
        <p:spPr>
          <a:xfrm>
            <a:off x="3070225" y="2433638"/>
            <a:ext cx="1676400" cy="685800"/>
          </a:xfrm>
          <a:prstGeom prst="wedgeRoundRectCallout">
            <a:avLst>
              <a:gd name="adj1" fmla="val -68181"/>
              <a:gd name="adj2" fmla="val 58796"/>
              <a:gd name="adj3" fmla="val 16667"/>
            </a:avLst>
          </a:prstGeom>
          <a:noFill/>
          <a:ln w="9525" cap="flat" cmpd="sng">
            <a:solidFill>
              <a:srgbClr val="FF9900"/>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常用于描述</a:t>
            </a:r>
            <a:r>
              <a:rPr lang="zh-CN" altLang="en-US" b="1" dirty="0">
                <a:solidFill>
                  <a:srgbClr val="FF0066"/>
                </a:solidFill>
                <a:latin typeface="华文楷体" panose="02010600040101010101" pitchFamily="2" charset="-122"/>
                <a:ea typeface="华文楷体" panose="02010600040101010101" pitchFamily="2" charset="-122"/>
              </a:rPr>
              <a:t>时序</a:t>
            </a:r>
            <a:r>
              <a:rPr lang="zh-CN" altLang="en-US" dirty="0">
                <a:latin typeface="华文楷体" panose="02010600040101010101" pitchFamily="2" charset="-122"/>
                <a:ea typeface="华文楷体" panose="02010600040101010101" pitchFamily="2" charset="-122"/>
              </a:rPr>
              <a:t>逻辑</a:t>
            </a:r>
            <a:endParaRPr lang="zh-CN" altLang="en-US" dirty="0">
              <a:latin typeface="华文楷体" panose="02010600040101010101" pitchFamily="2" charset="-122"/>
              <a:ea typeface="华文楷体" panose="02010600040101010101" pitchFamily="2" charset="-122"/>
            </a:endParaRPr>
          </a:p>
        </p:txBody>
      </p:sp>
      <p:sp>
        <p:nvSpPr>
          <p:cNvPr id="1762309" name="AutoShape 5"/>
          <p:cNvSpPr/>
          <p:nvPr/>
        </p:nvSpPr>
        <p:spPr>
          <a:xfrm>
            <a:off x="6934200" y="2433638"/>
            <a:ext cx="1676400" cy="685800"/>
          </a:xfrm>
          <a:prstGeom prst="wedgeRoundRectCallout">
            <a:avLst>
              <a:gd name="adj1" fmla="val -72065"/>
              <a:gd name="adj2" fmla="val 64583"/>
              <a:gd name="adj3" fmla="val 16667"/>
            </a:avLst>
          </a:prstGeom>
          <a:noFill/>
          <a:ln w="9525" cap="flat" cmpd="sng">
            <a:solidFill>
              <a:srgbClr val="FF9900"/>
            </a:solidFill>
            <a:prstDash val="solid"/>
            <a:miter/>
            <a:headEnd type="none" w="med" len="med"/>
            <a:tailEnd type="none" w="med" len="med"/>
          </a:ln>
          <a:effectLst>
            <a:prstShdw prst="shdw17" dist="17961" dir="2699999">
              <a:srgbClr val="999985"/>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常用于描述</a:t>
            </a:r>
            <a:r>
              <a:rPr lang="zh-CN" altLang="en-US" b="1" dirty="0">
                <a:solidFill>
                  <a:srgbClr val="FF0066"/>
                </a:solidFill>
                <a:latin typeface="华文楷体" panose="02010600040101010101" pitchFamily="2" charset="-122"/>
                <a:ea typeface="华文楷体" panose="02010600040101010101" pitchFamily="2" charset="-122"/>
              </a:rPr>
              <a:t>组合</a:t>
            </a:r>
            <a:r>
              <a:rPr lang="zh-CN" altLang="en-US" dirty="0">
                <a:latin typeface="华文楷体" panose="02010600040101010101" pitchFamily="2" charset="-122"/>
                <a:ea typeface="华文楷体" panose="02010600040101010101" pitchFamily="2" charset="-122"/>
              </a:rPr>
              <a:t>逻辑</a:t>
            </a:r>
            <a:endParaRPr lang="zh-CN" altLang="en-US" dirty="0">
              <a:latin typeface="华文楷体" panose="02010600040101010101" pitchFamily="2" charset="-122"/>
              <a:ea typeface="华文楷体" panose="02010600040101010101" pitchFamily="2" charset="-122"/>
            </a:endParaRPr>
          </a:p>
        </p:txBody>
      </p:sp>
      <p:sp>
        <p:nvSpPr>
          <p:cNvPr id="1762310" name="Text Box 6"/>
          <p:cNvSpPr txBox="1"/>
          <p:nvPr/>
        </p:nvSpPr>
        <p:spPr>
          <a:xfrm>
            <a:off x="381000" y="3962400"/>
            <a:ext cx="4800600" cy="17811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always@ (posedge clock or posedge reset)</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begin</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 </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end</a:t>
            </a:r>
            <a:endParaRPr lang="en-US" altLang="zh-CN" b="1" dirty="0">
              <a:latin typeface="Times New Roman" panose="02020603050405020304" pitchFamily="18" charset="0"/>
              <a:ea typeface="宋体" panose="02010600030101010101" pitchFamily="2" charset="-122"/>
            </a:endParaRPr>
          </a:p>
        </p:txBody>
      </p:sp>
      <p:sp>
        <p:nvSpPr>
          <p:cNvPr id="1762311" name="Text Box 7"/>
          <p:cNvSpPr txBox="1"/>
          <p:nvPr/>
        </p:nvSpPr>
        <p:spPr>
          <a:xfrm>
            <a:off x="5867400" y="3962400"/>
            <a:ext cx="2743200" cy="17811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always@ (a or b or c)</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begin</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 </a:t>
            </a:r>
            <a:endParaRPr lang="en-US" altLang="zh-CN" b="1" dirty="0">
              <a:latin typeface="Times New Roman" panose="02020603050405020304" pitchFamily="18" charset="0"/>
              <a:ea typeface="宋体" panose="02010600030101010101" pitchFamily="2" charset="-122"/>
            </a:endParaRPr>
          </a:p>
          <a:p>
            <a:pPr marL="0" lvl="0" indent="0" eaLnBrk="1" hangingPunct="1">
              <a:spcBef>
                <a:spcPct val="50000"/>
              </a:spcBef>
              <a:buNone/>
            </a:pPr>
            <a:r>
              <a:rPr lang="en-US" altLang="zh-CN" b="1" dirty="0">
                <a:latin typeface="Times New Roman" panose="02020603050405020304" pitchFamily="18" charset="0"/>
                <a:ea typeface="宋体" panose="02010600030101010101" pitchFamily="2" charset="-122"/>
              </a:rPr>
              <a:t>   end</a:t>
            </a:r>
            <a:endParaRPr lang="en-US" altLang="zh-CN" b="1" dirty="0">
              <a:latin typeface="Times New Roman" panose="02020603050405020304" pitchFamily="18" charset="0"/>
              <a:ea typeface="宋体" panose="02010600030101010101" pitchFamily="2" charset="-122"/>
            </a:endParaRPr>
          </a:p>
        </p:txBody>
      </p:sp>
      <p:sp>
        <p:nvSpPr>
          <p:cNvPr id="1762312" name="Text Box 8"/>
          <p:cNvSpPr txBox="1"/>
          <p:nvPr/>
        </p:nvSpPr>
        <p:spPr>
          <a:xfrm>
            <a:off x="685800" y="3195638"/>
            <a:ext cx="3962400" cy="42703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spcBef>
                <a:spcPct val="0"/>
              </a:spcBef>
              <a:buNone/>
            </a:pPr>
            <a:r>
              <a:rPr lang="zh-CN" altLang="en-US" sz="2200" b="1" dirty="0">
                <a:solidFill>
                  <a:srgbClr val="CC3300"/>
                </a:solidFill>
                <a:latin typeface="华文楷体" panose="02010600040101010101" pitchFamily="2" charset="-122"/>
                <a:ea typeface="华文楷体" panose="02010600040101010101" pitchFamily="2" charset="-122"/>
              </a:rPr>
              <a:t>由两个沿触发的</a:t>
            </a:r>
            <a:r>
              <a:rPr lang="en-US" altLang="zh-CN" sz="2200" b="1" dirty="0">
                <a:solidFill>
                  <a:srgbClr val="CC3300"/>
                </a:solidFill>
                <a:latin typeface="华文楷体" panose="02010600040101010101" pitchFamily="2" charset="-122"/>
                <a:ea typeface="华文楷体" panose="02010600040101010101" pitchFamily="2" charset="-122"/>
              </a:rPr>
              <a:t>always </a:t>
            </a:r>
            <a:r>
              <a:rPr lang="zh-CN" altLang="en-US" sz="2200" b="1" dirty="0">
                <a:solidFill>
                  <a:srgbClr val="CC3300"/>
                </a:solidFill>
                <a:latin typeface="华文楷体" panose="02010600040101010101" pitchFamily="2" charset="-122"/>
                <a:ea typeface="华文楷体" panose="02010600040101010101" pitchFamily="2" charset="-122"/>
              </a:rPr>
              <a:t>块</a:t>
            </a:r>
            <a:endParaRPr lang="zh-CN" altLang="en-US" sz="2200" b="1" dirty="0">
              <a:solidFill>
                <a:srgbClr val="CC3300"/>
              </a:solidFill>
              <a:latin typeface="华文楷体" panose="02010600040101010101" pitchFamily="2" charset="-122"/>
              <a:ea typeface="华文楷体" panose="02010600040101010101" pitchFamily="2" charset="-122"/>
            </a:endParaRPr>
          </a:p>
        </p:txBody>
      </p:sp>
      <p:sp>
        <p:nvSpPr>
          <p:cNvPr id="1762313" name="Text Box 9"/>
          <p:cNvSpPr txBox="1"/>
          <p:nvPr/>
        </p:nvSpPr>
        <p:spPr>
          <a:xfrm>
            <a:off x="5181600" y="3216275"/>
            <a:ext cx="3962400" cy="42703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spcBef>
                <a:spcPct val="0"/>
              </a:spcBef>
              <a:buNone/>
            </a:pPr>
            <a:r>
              <a:rPr lang="zh-CN" altLang="en-US" sz="2200" b="1" dirty="0">
                <a:solidFill>
                  <a:srgbClr val="CC3300"/>
                </a:solidFill>
                <a:latin typeface="华文楷体" panose="02010600040101010101" pitchFamily="2" charset="-122"/>
                <a:ea typeface="华文楷体" panose="02010600040101010101" pitchFamily="2" charset="-122"/>
              </a:rPr>
              <a:t>由多个电平触发的</a:t>
            </a:r>
            <a:r>
              <a:rPr lang="en-US" altLang="zh-CN" sz="2200" b="1" dirty="0">
                <a:solidFill>
                  <a:srgbClr val="CC3300"/>
                </a:solidFill>
                <a:latin typeface="华文楷体" panose="02010600040101010101" pitchFamily="2" charset="-122"/>
                <a:ea typeface="华文楷体" panose="02010600040101010101" pitchFamily="2" charset="-122"/>
              </a:rPr>
              <a:t>always </a:t>
            </a:r>
            <a:r>
              <a:rPr lang="zh-CN" altLang="en-US" sz="2200" b="1" dirty="0">
                <a:solidFill>
                  <a:srgbClr val="CC3300"/>
                </a:solidFill>
                <a:latin typeface="华文楷体" panose="02010600040101010101" pitchFamily="2" charset="-122"/>
                <a:ea typeface="华文楷体" panose="02010600040101010101" pitchFamily="2" charset="-122"/>
              </a:rPr>
              <a:t>块</a:t>
            </a:r>
            <a:endParaRPr lang="zh-CN" altLang="en-US" sz="2200" b="1" dirty="0">
              <a:solidFill>
                <a:srgbClr val="CC3300"/>
              </a:solidFill>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62307"/>
                                        </p:tgtEl>
                                        <p:attrNameLst>
                                          <p:attrName>style.visibility</p:attrName>
                                        </p:attrNameLst>
                                      </p:cBhvr>
                                      <p:to>
                                        <p:strVal val="visible"/>
                                      </p:to>
                                    </p:set>
                                    <p:anim calcmode="lin" valueType="num">
                                      <p:cBhvr additive="base">
                                        <p:cTn id="7" dur="500" fill="hold"/>
                                        <p:tgtEl>
                                          <p:spTgt spid="1762307"/>
                                        </p:tgtEl>
                                        <p:attrNameLst>
                                          <p:attrName>ppt_x</p:attrName>
                                        </p:attrNameLst>
                                      </p:cBhvr>
                                      <p:tavLst>
                                        <p:tav tm="0">
                                          <p:val>
                                            <p:strVal val="0-#ppt_w/2"/>
                                          </p:val>
                                        </p:tav>
                                        <p:tav tm="100000">
                                          <p:val>
                                            <p:strVal val="#ppt_x"/>
                                          </p:val>
                                        </p:tav>
                                      </p:tavLst>
                                    </p:anim>
                                    <p:anim calcmode="lin" valueType="num">
                                      <p:cBhvr additive="base">
                                        <p:cTn id="8" dur="500" fill="hold"/>
                                        <p:tgtEl>
                                          <p:spTgt spid="176230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62308"/>
                                        </p:tgtEl>
                                        <p:attrNameLst>
                                          <p:attrName>style.visibility</p:attrName>
                                        </p:attrNameLst>
                                      </p:cBhvr>
                                      <p:to>
                                        <p:strVal val="visible"/>
                                      </p:to>
                                    </p:set>
                                    <p:animEffect transition="in" filter="dissolve">
                                      <p:cBhvr>
                                        <p:cTn id="13" dur="500"/>
                                        <p:tgtEl>
                                          <p:spTgt spid="176230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62309"/>
                                        </p:tgtEl>
                                        <p:attrNameLst>
                                          <p:attrName>style.visibility</p:attrName>
                                        </p:attrNameLst>
                                      </p:cBhvr>
                                      <p:to>
                                        <p:strVal val="visible"/>
                                      </p:to>
                                    </p:set>
                                    <p:animEffect transition="in" filter="dissolve">
                                      <p:cBhvr>
                                        <p:cTn id="18" dur="500"/>
                                        <p:tgtEl>
                                          <p:spTgt spid="176230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62312"/>
                                        </p:tgtEl>
                                        <p:attrNameLst>
                                          <p:attrName>style.visibility</p:attrName>
                                        </p:attrNameLst>
                                      </p:cBhvr>
                                      <p:to>
                                        <p:strVal val="visible"/>
                                      </p:to>
                                    </p:set>
                                    <p:animEffect transition="in" filter="wipe(left)">
                                      <p:cBhvr>
                                        <p:cTn id="23" dur="500"/>
                                        <p:tgtEl>
                                          <p:spTgt spid="1762312"/>
                                        </p:tgtEl>
                                      </p:cBhvr>
                                    </p:animEffect>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1762310"/>
                                        </p:tgtEl>
                                        <p:attrNameLst>
                                          <p:attrName>style.visibility</p:attrName>
                                        </p:attrNameLst>
                                      </p:cBhvr>
                                      <p:to>
                                        <p:strVal val="visible"/>
                                      </p:to>
                                    </p:set>
                                    <p:anim calcmode="lin" valueType="num">
                                      <p:cBhvr additive="base">
                                        <p:cTn id="27" dur="500" fill="hold"/>
                                        <p:tgtEl>
                                          <p:spTgt spid="1762310"/>
                                        </p:tgtEl>
                                        <p:attrNameLst>
                                          <p:attrName>ppt_x</p:attrName>
                                        </p:attrNameLst>
                                      </p:cBhvr>
                                      <p:tavLst>
                                        <p:tav tm="0">
                                          <p:val>
                                            <p:strVal val="#ppt_x"/>
                                          </p:val>
                                        </p:tav>
                                        <p:tav tm="100000">
                                          <p:val>
                                            <p:strVal val="#ppt_x"/>
                                          </p:val>
                                        </p:tav>
                                      </p:tavLst>
                                    </p:anim>
                                    <p:anim calcmode="lin" valueType="num">
                                      <p:cBhvr additive="base">
                                        <p:cTn id="28" dur="500" fill="hold"/>
                                        <p:tgtEl>
                                          <p:spTgt spid="17623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762313"/>
                                        </p:tgtEl>
                                        <p:attrNameLst>
                                          <p:attrName>style.visibility</p:attrName>
                                        </p:attrNameLst>
                                      </p:cBhvr>
                                      <p:to>
                                        <p:strVal val="visible"/>
                                      </p:to>
                                    </p:set>
                                    <p:anim calcmode="lin" valueType="num">
                                      <p:cBhvr additive="base">
                                        <p:cTn id="33" dur="500" fill="hold"/>
                                        <p:tgtEl>
                                          <p:spTgt spid="1762313"/>
                                        </p:tgtEl>
                                        <p:attrNameLst>
                                          <p:attrName>ppt_x</p:attrName>
                                        </p:attrNameLst>
                                      </p:cBhvr>
                                      <p:tavLst>
                                        <p:tav tm="0">
                                          <p:val>
                                            <p:strVal val="1+#ppt_w/2"/>
                                          </p:val>
                                        </p:tav>
                                        <p:tav tm="100000">
                                          <p:val>
                                            <p:strVal val="#ppt_x"/>
                                          </p:val>
                                        </p:tav>
                                      </p:tavLst>
                                    </p:anim>
                                    <p:anim calcmode="lin" valueType="num">
                                      <p:cBhvr additive="base">
                                        <p:cTn id="34" dur="500" fill="hold"/>
                                        <p:tgtEl>
                                          <p:spTgt spid="1762313"/>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 presetClass="entr" presetSubtype="4" fill="hold" grpId="0" nodeType="afterEffect">
                                  <p:stCondLst>
                                    <p:cond delay="0"/>
                                  </p:stCondLst>
                                  <p:childTnLst>
                                    <p:set>
                                      <p:cBhvr>
                                        <p:cTn id="37" dur="1" fill="hold">
                                          <p:stCondLst>
                                            <p:cond delay="0"/>
                                          </p:stCondLst>
                                        </p:cTn>
                                        <p:tgtEl>
                                          <p:spTgt spid="1762311"/>
                                        </p:tgtEl>
                                        <p:attrNameLst>
                                          <p:attrName>style.visibility</p:attrName>
                                        </p:attrNameLst>
                                      </p:cBhvr>
                                      <p:to>
                                        <p:strVal val="visible"/>
                                      </p:to>
                                    </p:set>
                                    <p:anim calcmode="lin" valueType="num">
                                      <p:cBhvr additive="base">
                                        <p:cTn id="38" dur="500" fill="hold"/>
                                        <p:tgtEl>
                                          <p:spTgt spid="1762311"/>
                                        </p:tgtEl>
                                        <p:attrNameLst>
                                          <p:attrName>ppt_x</p:attrName>
                                        </p:attrNameLst>
                                      </p:cBhvr>
                                      <p:tavLst>
                                        <p:tav tm="0">
                                          <p:val>
                                            <p:strVal val="#ppt_x"/>
                                          </p:val>
                                        </p:tav>
                                        <p:tav tm="100000">
                                          <p:val>
                                            <p:strVal val="#ppt_x"/>
                                          </p:val>
                                        </p:tav>
                                      </p:tavLst>
                                    </p:anim>
                                    <p:anim calcmode="lin" valueType="num">
                                      <p:cBhvr additive="base">
                                        <p:cTn id="39" dur="500" fill="hold"/>
                                        <p:tgtEl>
                                          <p:spTgt spid="17623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2307" grpId="0"/>
      <p:bldP spid="1762308" grpId="0" bldLvl="0" animBg="1"/>
      <p:bldP spid="1762309" grpId="0" bldLvl="0" animBg="1"/>
      <p:bldP spid="1762310" grpId="0" animBg="1"/>
      <p:bldP spid="1762311" grpId="0" animBg="1"/>
      <p:bldP spid="1762312" grpId="0"/>
      <p:bldP spid="1762313"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1913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1913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02275" name="Rectangle 3"/>
          <p:cNvSpPr>
            <a:spLocks noGrp="1"/>
          </p:cNvSpPr>
          <p:nvPr>
            <p:ph idx="1"/>
          </p:nvPr>
        </p:nvSpPr>
        <p:spPr/>
        <p:txBody>
          <a:bodyPr vert="horz" wrap="square" lIns="91440" tIns="45720" rIns="91440" bIns="45720" anchor="t" anchorCtr="0"/>
          <a:p>
            <a:pPr algn="just" eaLnBrk="1" hangingPunct="1">
              <a:lnSpc>
                <a:spcPct val="110000"/>
              </a:lnSpc>
              <a:buClr>
                <a:srgbClr val="FF5050"/>
              </a:buClr>
              <a:buSzPct val="80000"/>
              <a:buFont typeface="Wingdings" panose="05000000000000000000" pitchFamily="2" charset="2"/>
              <a:buChar char="Ø"/>
            </a:pPr>
            <a:endParaRPr lang="en-US" altLang="zh-CN" dirty="0">
              <a:latin typeface="Times New Roman" panose="02020603050405020304" pitchFamily="18" charset="0"/>
              <a:ea typeface="黑体" panose="02010609060101010101" pitchFamily="49" charset="-122"/>
              <a:cs typeface="+mn-cs"/>
            </a:endParaRPr>
          </a:p>
          <a:p>
            <a:pPr algn="just" eaLnBrk="1" hangingPunct="1">
              <a:lnSpc>
                <a:spcPct val="110000"/>
              </a:lnSpc>
              <a:buClr>
                <a:srgbClr val="FF5050"/>
              </a:buClr>
              <a:buSzPct val="80000"/>
              <a:buFont typeface="Wingdings" panose="05000000000000000000" pitchFamily="2" charset="2"/>
              <a:buChar char="Ø"/>
            </a:pPr>
            <a:endParaRPr lang="en-US" altLang="zh-CN" dirty="0">
              <a:latin typeface="Times New Roman" panose="02020603050405020304" pitchFamily="18" charset="0"/>
              <a:ea typeface="黑体" panose="02010609060101010101" pitchFamily="49" charset="-122"/>
              <a:cs typeface="+mn-cs"/>
            </a:endParaRPr>
          </a:p>
          <a:p>
            <a:pPr algn="just" eaLnBrk="1" hangingPunct="1">
              <a:lnSpc>
                <a:spcPct val="110000"/>
              </a:lnSpc>
              <a:buClr>
                <a:srgbClr val="FF5050"/>
              </a:buClr>
              <a:buSzPct val="80000"/>
              <a:buFont typeface="Wingdings" panose="05000000000000000000" pitchFamily="2" charset="2"/>
              <a:buChar char="Ø"/>
            </a:pPr>
            <a:r>
              <a:rPr lang="en-US" altLang="zh-CN" dirty="0">
                <a:latin typeface="Times New Roman" panose="02020603050405020304" pitchFamily="18" charset="0"/>
                <a:ea typeface="黑体" panose="02010609060101010101" pitchFamily="49" charset="-122"/>
                <a:cs typeface="+mn-cs"/>
              </a:rPr>
              <a:t>always</a:t>
            </a:r>
            <a:r>
              <a:rPr lang="zh-CN" altLang="en-US" dirty="0">
                <a:latin typeface="Times New Roman" panose="02020603050405020304" pitchFamily="18" charset="0"/>
                <a:ea typeface="华文楷体" panose="02010600040101010101" pitchFamily="2" charset="-122"/>
                <a:cs typeface="+mn-cs"/>
              </a:rPr>
              <a:t>块语句是用于综合过程的最有用的语句之一，但又常常是不可综合的。为得到最好的综合结果， </a:t>
            </a:r>
            <a:r>
              <a:rPr lang="en-US" altLang="zh-CN" dirty="0">
                <a:latin typeface="Times New Roman" panose="02020603050405020304" pitchFamily="18" charset="0"/>
                <a:ea typeface="黑体" panose="02010609060101010101" pitchFamily="49" charset="-122"/>
                <a:cs typeface="+mn-cs"/>
              </a:rPr>
              <a:t>always</a:t>
            </a:r>
            <a:r>
              <a:rPr lang="zh-CN" altLang="en-US" dirty="0">
                <a:latin typeface="Times New Roman" panose="02020603050405020304" pitchFamily="18" charset="0"/>
                <a:ea typeface="华文楷体" panose="02010600040101010101" pitchFamily="2" charset="-122"/>
                <a:cs typeface="+mn-cs"/>
              </a:rPr>
              <a:t>块程序应严格按以下模板来编写：</a:t>
            </a:r>
            <a:endParaRPr lang="zh-CN" altLang="en-US" dirty="0">
              <a:latin typeface="Times New Roman" panose="02020603050405020304" pitchFamily="18" charset="0"/>
              <a:ea typeface="华文楷体" panose="02010600040101010101" pitchFamily="2" charset="-122"/>
              <a:cs typeface="+mn-cs"/>
            </a:endParaRPr>
          </a:p>
        </p:txBody>
      </p:sp>
      <p:sp>
        <p:nvSpPr>
          <p:cNvPr id="2102278" name="Rectangle 6"/>
          <p:cNvSpPr>
            <a:spLocks noChangeArrowheads="1"/>
          </p:cNvSpPr>
          <p:nvPr/>
        </p:nvSpPr>
        <p:spPr bwMode="auto">
          <a:xfrm>
            <a:off x="412750" y="3116263"/>
            <a:ext cx="944563" cy="427038"/>
          </a:xfrm>
          <a:prstGeom prst="rect">
            <a:avLst/>
          </a:prstGeom>
          <a:noFill/>
          <a:ln w="25400">
            <a:noFill/>
            <a:miter lim="800000"/>
          </a:ln>
          <a:effectLst/>
        </p:spPr>
        <p:txBody>
          <a:bodyPr wrap="none">
            <a:spAutoFit/>
          </a:bodyPr>
          <a:lstStyle/>
          <a:p>
            <a:pPr marL="0" marR="0" lvl="0" indent="0" algn="l" defTabSz="914400" rtl="0" eaLnBrk="1" fontAlgn="base" latinLnBrk="0" hangingPunct="1">
              <a:lnSpc>
                <a:spcPct val="90000"/>
              </a:lnSpc>
              <a:spcBef>
                <a:spcPct val="30000"/>
              </a:spcBef>
              <a:spcAft>
                <a:spcPct val="0"/>
              </a:spcAft>
              <a:buClr>
                <a:schemeClr val="tx2"/>
              </a:buClr>
              <a:buSzPct val="85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rPr>
              <a:t>模板</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rPr>
              <a:t>1</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endParaRPr>
          </a:p>
        </p:txBody>
      </p:sp>
      <p:sp>
        <p:nvSpPr>
          <p:cNvPr id="2102279" name="AutoShape 7"/>
          <p:cNvSpPr/>
          <p:nvPr/>
        </p:nvSpPr>
        <p:spPr>
          <a:xfrm rot="-765681">
            <a:off x="0" y="1047750"/>
            <a:ext cx="2395538" cy="800100"/>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Times New Roman" panose="02020603050405020304" pitchFamily="18" charset="0"/>
                <a:ea typeface="华文楷体" panose="02010600040101010101" pitchFamily="2" charset="-122"/>
              </a:rPr>
              <a:t>可综合性问题</a:t>
            </a:r>
            <a:endParaRPr lang="en-US" altLang="en-US" sz="2400" b="1" dirty="0">
              <a:latin typeface="Times New Roman" panose="02020603050405020304" pitchFamily="18" charset="0"/>
              <a:ea typeface="华文楷体" panose="02010600040101010101" pitchFamily="2" charset="-122"/>
            </a:endParaRPr>
          </a:p>
        </p:txBody>
      </p:sp>
      <p:sp>
        <p:nvSpPr>
          <p:cNvPr id="2102280" name="Text Box 8"/>
          <p:cNvSpPr txBox="1"/>
          <p:nvPr/>
        </p:nvSpPr>
        <p:spPr>
          <a:xfrm>
            <a:off x="2014538" y="2986088"/>
            <a:ext cx="6221412" cy="1316037"/>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(Inputs) //</a:t>
            </a:r>
            <a:r>
              <a:rPr lang="zh-CN" altLang="en-US" b="1" dirty="0">
                <a:latin typeface="Times New Roman" panose="02020603050405020304" pitchFamily="18" charset="0"/>
                <a:ea typeface="宋体" panose="02010600030101010101" pitchFamily="2" charset="-122"/>
              </a:rPr>
              <a:t>所有输入信号必须列出，用</a:t>
            </a:r>
            <a:r>
              <a:rPr lang="en-US" altLang="zh-CN" b="1" dirty="0">
                <a:latin typeface="Times New Roman" panose="02020603050405020304" pitchFamily="18" charset="0"/>
                <a:ea typeface="宋体" panose="02010600030101010101" pitchFamily="2" charset="-122"/>
              </a:rPr>
              <a:t>or</a:t>
            </a:r>
            <a:r>
              <a:rPr lang="zh-CN" altLang="en-US" b="1" dirty="0">
                <a:latin typeface="Times New Roman" panose="02020603050405020304" pitchFamily="18" charset="0"/>
                <a:ea typeface="宋体" panose="02010600030101010101" pitchFamily="2" charset="-122"/>
              </a:rPr>
              <a:t>隔开</a:t>
            </a:r>
            <a:endParaRPr lang="zh-CN" altLang="en-US"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                 //</a:t>
            </a:r>
            <a:r>
              <a:rPr lang="zh-CN" altLang="en-US" b="1" dirty="0">
                <a:latin typeface="Times New Roman" panose="02020603050405020304" pitchFamily="18" charset="0"/>
                <a:ea typeface="宋体" panose="02010600030101010101" pitchFamily="2" charset="-122"/>
              </a:rPr>
              <a:t>组合逻辑关系</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
        <p:nvSpPr>
          <p:cNvPr id="2102281" name="Rectangle 9"/>
          <p:cNvSpPr>
            <a:spLocks noChangeArrowheads="1"/>
          </p:cNvSpPr>
          <p:nvPr/>
        </p:nvSpPr>
        <p:spPr bwMode="auto">
          <a:xfrm>
            <a:off x="417513" y="4862513"/>
            <a:ext cx="944563" cy="427038"/>
          </a:xfrm>
          <a:prstGeom prst="rect">
            <a:avLst/>
          </a:prstGeom>
          <a:noFill/>
          <a:ln w="25400">
            <a:noFill/>
            <a:miter lim="800000"/>
          </a:ln>
          <a:effectLst/>
        </p:spPr>
        <p:txBody>
          <a:bodyPr wrap="none">
            <a:spAutoFit/>
          </a:bodyPr>
          <a:lstStyle/>
          <a:p>
            <a:pPr marL="0" marR="0" lvl="0" indent="0" algn="l" defTabSz="914400" rtl="0" eaLnBrk="1" fontAlgn="base" latinLnBrk="0" hangingPunct="1">
              <a:lnSpc>
                <a:spcPct val="90000"/>
              </a:lnSpc>
              <a:spcBef>
                <a:spcPct val="30000"/>
              </a:spcBef>
              <a:spcAft>
                <a:spcPct val="0"/>
              </a:spcAft>
              <a:buClr>
                <a:schemeClr val="tx2"/>
              </a:buClr>
              <a:buSzPct val="85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rPr>
              <a:t>模板</a:t>
            </a:r>
            <a:r>
              <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rPr>
              <a:t>2</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endParaRPr>
          </a:p>
        </p:txBody>
      </p:sp>
      <p:sp>
        <p:nvSpPr>
          <p:cNvPr id="2102282" name="Text Box 10"/>
          <p:cNvSpPr txBox="1"/>
          <p:nvPr/>
        </p:nvSpPr>
        <p:spPr>
          <a:xfrm>
            <a:off x="1993900" y="4697413"/>
            <a:ext cx="6283325" cy="16541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(Inputs) //</a:t>
            </a:r>
            <a:r>
              <a:rPr lang="zh-CN" altLang="en-US" b="1" dirty="0">
                <a:latin typeface="Times New Roman" panose="02020603050405020304" pitchFamily="18" charset="0"/>
                <a:ea typeface="宋体" panose="02010600030101010101" pitchFamily="2" charset="-122"/>
              </a:rPr>
              <a:t>所有输入信号必须列出，用</a:t>
            </a:r>
            <a:r>
              <a:rPr lang="en-US" altLang="zh-CN" b="1" dirty="0">
                <a:latin typeface="Times New Roman" panose="02020603050405020304" pitchFamily="18" charset="0"/>
                <a:ea typeface="宋体" panose="02010600030101010101" pitchFamily="2" charset="-122"/>
              </a:rPr>
              <a:t>or</a:t>
            </a:r>
            <a:r>
              <a:rPr lang="zh-CN" altLang="en-US" b="1" dirty="0">
                <a:latin typeface="Times New Roman" panose="02020603050405020304" pitchFamily="18" charset="0"/>
                <a:ea typeface="宋体" panose="02010600030101010101" pitchFamily="2" charset="-122"/>
              </a:rPr>
              <a:t>隔开</a:t>
            </a:r>
            <a:endParaRPr lang="zh-CN" altLang="en-US"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if (Enable) </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                 //</a:t>
            </a:r>
            <a:r>
              <a:rPr lang="zh-CN" altLang="en-US" b="1" dirty="0">
                <a:latin typeface="Times New Roman" panose="02020603050405020304" pitchFamily="18" charset="0"/>
                <a:ea typeface="宋体" panose="02010600030101010101" pitchFamily="2" charset="-122"/>
              </a:rPr>
              <a:t>锁存动作</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102279"/>
                                        </p:tgtEl>
                                        <p:attrNameLst>
                                          <p:attrName>style.visibility</p:attrName>
                                        </p:attrNameLst>
                                      </p:cBhvr>
                                      <p:to>
                                        <p:strVal val="visible"/>
                                      </p:to>
                                    </p:set>
                                    <p:anim calcmode="lin" valueType="num">
                                      <p:cBhvr>
                                        <p:cTn id="7" dur="500" fill="hold"/>
                                        <p:tgtEl>
                                          <p:spTgt spid="2102279"/>
                                        </p:tgtEl>
                                        <p:attrNameLst>
                                          <p:attrName>ppt_w</p:attrName>
                                        </p:attrNameLst>
                                      </p:cBhvr>
                                      <p:tavLst>
                                        <p:tav tm="0">
                                          <p:val>
                                            <p:strVal val="4/3*#ppt_w"/>
                                          </p:val>
                                        </p:tav>
                                        <p:tav tm="100000">
                                          <p:val>
                                            <p:strVal val="#ppt_w"/>
                                          </p:val>
                                        </p:tav>
                                      </p:tavLst>
                                    </p:anim>
                                    <p:anim calcmode="lin" valueType="num">
                                      <p:cBhvr>
                                        <p:cTn id="8" dur="500" fill="hold"/>
                                        <p:tgtEl>
                                          <p:spTgt spid="2102279"/>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102275"/>
                                        </p:tgtEl>
                                        <p:attrNameLst>
                                          <p:attrName>style.visibility</p:attrName>
                                        </p:attrNameLst>
                                      </p:cBhvr>
                                      <p:to>
                                        <p:strVal val="visible"/>
                                      </p:to>
                                    </p:set>
                                    <p:anim calcmode="lin" valueType="num">
                                      <p:cBhvr additive="base">
                                        <p:cTn id="12" dur="500" fill="hold"/>
                                        <p:tgtEl>
                                          <p:spTgt spid="2102275"/>
                                        </p:tgtEl>
                                        <p:attrNameLst>
                                          <p:attrName>ppt_x</p:attrName>
                                        </p:attrNameLst>
                                      </p:cBhvr>
                                      <p:tavLst>
                                        <p:tav tm="0">
                                          <p:val>
                                            <p:strVal val="1+#ppt_w/2"/>
                                          </p:val>
                                        </p:tav>
                                        <p:tav tm="100000">
                                          <p:val>
                                            <p:strVal val="#ppt_x"/>
                                          </p:val>
                                        </p:tav>
                                      </p:tavLst>
                                    </p:anim>
                                    <p:anim calcmode="lin" valueType="num">
                                      <p:cBhvr additive="base">
                                        <p:cTn id="13" dur="500" fill="hold"/>
                                        <p:tgtEl>
                                          <p:spTgt spid="210227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102278"/>
                                        </p:tgtEl>
                                        <p:attrNameLst>
                                          <p:attrName>style.visibility</p:attrName>
                                        </p:attrNameLst>
                                      </p:cBhvr>
                                      <p:to>
                                        <p:strVal val="visible"/>
                                      </p:to>
                                    </p:set>
                                    <p:anim calcmode="lin" valueType="num">
                                      <p:cBhvr>
                                        <p:cTn id="18" dur="500" fill="hold"/>
                                        <p:tgtEl>
                                          <p:spTgt spid="2102278"/>
                                        </p:tgtEl>
                                        <p:attrNameLst>
                                          <p:attrName>ppt_w</p:attrName>
                                        </p:attrNameLst>
                                      </p:cBhvr>
                                      <p:tavLst>
                                        <p:tav tm="0">
                                          <p:val>
                                            <p:fltVal val="0.000000"/>
                                          </p:val>
                                        </p:tav>
                                        <p:tav tm="100000">
                                          <p:val>
                                            <p:strVal val="#ppt_w"/>
                                          </p:val>
                                        </p:tav>
                                      </p:tavLst>
                                    </p:anim>
                                    <p:anim calcmode="lin" valueType="num">
                                      <p:cBhvr>
                                        <p:cTn id="19" dur="500" fill="hold"/>
                                        <p:tgtEl>
                                          <p:spTgt spid="2102278"/>
                                        </p:tgtEl>
                                        <p:attrNameLst>
                                          <p:attrName>ppt_h</p:attrName>
                                        </p:attrNameLst>
                                      </p:cBhvr>
                                      <p:tavLst>
                                        <p:tav tm="0">
                                          <p:val>
                                            <p:fltVal val="0.000000"/>
                                          </p:val>
                                        </p:tav>
                                        <p:tav tm="100000">
                                          <p:val>
                                            <p:strVal val="#ppt_h"/>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102280"/>
                                        </p:tgtEl>
                                        <p:attrNameLst>
                                          <p:attrName>style.visibility</p:attrName>
                                        </p:attrNameLst>
                                      </p:cBhvr>
                                      <p:to>
                                        <p:strVal val="visible"/>
                                      </p:to>
                                    </p:set>
                                    <p:anim calcmode="lin" valueType="num">
                                      <p:cBhvr additive="base">
                                        <p:cTn id="23" dur="500" fill="hold"/>
                                        <p:tgtEl>
                                          <p:spTgt spid="2102280"/>
                                        </p:tgtEl>
                                        <p:attrNameLst>
                                          <p:attrName>ppt_x</p:attrName>
                                        </p:attrNameLst>
                                      </p:cBhvr>
                                      <p:tavLst>
                                        <p:tav tm="0">
                                          <p:val>
                                            <p:strVal val="#ppt_x"/>
                                          </p:val>
                                        </p:tav>
                                        <p:tav tm="100000">
                                          <p:val>
                                            <p:strVal val="#ppt_x"/>
                                          </p:val>
                                        </p:tav>
                                      </p:tavLst>
                                    </p:anim>
                                    <p:anim calcmode="lin" valueType="num">
                                      <p:cBhvr additive="base">
                                        <p:cTn id="24" dur="500" fill="hold"/>
                                        <p:tgtEl>
                                          <p:spTgt spid="210228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grpId="0" nodeType="clickEffect">
                                  <p:stCondLst>
                                    <p:cond delay="0"/>
                                  </p:stCondLst>
                                  <p:childTnLst>
                                    <p:set>
                                      <p:cBhvr>
                                        <p:cTn id="28" dur="1" fill="hold">
                                          <p:stCondLst>
                                            <p:cond delay="0"/>
                                          </p:stCondLst>
                                        </p:cTn>
                                        <p:tgtEl>
                                          <p:spTgt spid="2102281"/>
                                        </p:tgtEl>
                                        <p:attrNameLst>
                                          <p:attrName>style.visibility</p:attrName>
                                        </p:attrNameLst>
                                      </p:cBhvr>
                                      <p:to>
                                        <p:strVal val="visible"/>
                                      </p:to>
                                    </p:set>
                                    <p:anim calcmode="lin" valueType="num">
                                      <p:cBhvr>
                                        <p:cTn id="29" dur="500" fill="hold"/>
                                        <p:tgtEl>
                                          <p:spTgt spid="2102281"/>
                                        </p:tgtEl>
                                        <p:attrNameLst>
                                          <p:attrName>ppt_w</p:attrName>
                                        </p:attrNameLst>
                                      </p:cBhvr>
                                      <p:tavLst>
                                        <p:tav tm="0">
                                          <p:val>
                                            <p:fltVal val="0.000000"/>
                                          </p:val>
                                        </p:tav>
                                        <p:tav tm="100000">
                                          <p:val>
                                            <p:strVal val="#ppt_w"/>
                                          </p:val>
                                        </p:tav>
                                      </p:tavLst>
                                    </p:anim>
                                    <p:anim calcmode="lin" valueType="num">
                                      <p:cBhvr>
                                        <p:cTn id="30" dur="500" fill="hold"/>
                                        <p:tgtEl>
                                          <p:spTgt spid="2102281"/>
                                        </p:tgtEl>
                                        <p:attrNameLst>
                                          <p:attrName>ppt_h</p:attrName>
                                        </p:attrNameLst>
                                      </p:cBhvr>
                                      <p:tavLst>
                                        <p:tav tm="0">
                                          <p:val>
                                            <p:fltVal val="0.000000"/>
                                          </p:val>
                                        </p:tav>
                                        <p:tav tm="100000">
                                          <p:val>
                                            <p:strVal val="#ppt_h"/>
                                          </p:val>
                                        </p:tav>
                                      </p:tavLst>
                                    </p:anim>
                                  </p:childTnLst>
                                </p:cTn>
                              </p:par>
                            </p:childTnLst>
                          </p:cTn>
                        </p:par>
                        <p:par>
                          <p:cTn id="31" fill="hold">
                            <p:stCondLst>
                              <p:cond delay="500"/>
                            </p:stCondLst>
                            <p:childTnLst>
                              <p:par>
                                <p:cTn id="32" presetID="2" presetClass="entr" presetSubtype="4" fill="hold" grpId="0" nodeType="afterEffect">
                                  <p:stCondLst>
                                    <p:cond delay="0"/>
                                  </p:stCondLst>
                                  <p:childTnLst>
                                    <p:set>
                                      <p:cBhvr>
                                        <p:cTn id="33" dur="1" fill="hold">
                                          <p:stCondLst>
                                            <p:cond delay="0"/>
                                          </p:stCondLst>
                                        </p:cTn>
                                        <p:tgtEl>
                                          <p:spTgt spid="2102282"/>
                                        </p:tgtEl>
                                        <p:attrNameLst>
                                          <p:attrName>style.visibility</p:attrName>
                                        </p:attrNameLst>
                                      </p:cBhvr>
                                      <p:to>
                                        <p:strVal val="visible"/>
                                      </p:to>
                                    </p:set>
                                    <p:anim calcmode="lin" valueType="num">
                                      <p:cBhvr additive="base">
                                        <p:cTn id="34" dur="500" fill="hold"/>
                                        <p:tgtEl>
                                          <p:spTgt spid="2102282"/>
                                        </p:tgtEl>
                                        <p:attrNameLst>
                                          <p:attrName>ppt_x</p:attrName>
                                        </p:attrNameLst>
                                      </p:cBhvr>
                                      <p:tavLst>
                                        <p:tav tm="0">
                                          <p:val>
                                            <p:strVal val="#ppt_x"/>
                                          </p:val>
                                        </p:tav>
                                        <p:tav tm="100000">
                                          <p:val>
                                            <p:strVal val="#ppt_x"/>
                                          </p:val>
                                        </p:tav>
                                      </p:tavLst>
                                    </p:anim>
                                    <p:anim calcmode="lin" valueType="num">
                                      <p:cBhvr additive="base">
                                        <p:cTn id="35" dur="500" fill="hold"/>
                                        <p:tgtEl>
                                          <p:spTgt spid="21022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2275" grpId="0"/>
      <p:bldP spid="2102278" grpId="0"/>
      <p:bldP spid="2102279" grpId="0"/>
      <p:bldP spid="2102280" grpId="0" bldLvl="0" animBg="1"/>
      <p:bldP spid="2102281" grpId="0"/>
      <p:bldP spid="2102282" grpId="0" bldLvl="0" animBg="1"/>
    </p:bld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11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21187"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2118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04324" name="Rectangle 4"/>
          <p:cNvSpPr/>
          <p:nvPr/>
        </p:nvSpPr>
        <p:spPr>
          <a:xfrm>
            <a:off x="1195388" y="1127125"/>
            <a:ext cx="936625" cy="423863"/>
          </a:xfrm>
          <a:prstGeom prst="rect">
            <a:avLst/>
          </a:prstGeom>
          <a:noFill/>
          <a:ln w="25400">
            <a:noFill/>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模板</a:t>
            </a:r>
            <a:r>
              <a:rPr lang="en-US" altLang="zh-CN" sz="2400" b="1" dirty="0">
                <a:latin typeface="华文楷体" panose="02010600040101010101" pitchFamily="2" charset="-122"/>
                <a:ea typeface="华文楷体" panose="02010600040101010101" pitchFamily="2" charset="-122"/>
              </a:rPr>
              <a:t>3</a:t>
            </a:r>
            <a:endParaRPr lang="en-US" altLang="zh-CN" sz="2400" b="1" dirty="0">
              <a:latin typeface="华文楷体" panose="02010600040101010101" pitchFamily="2" charset="-122"/>
              <a:ea typeface="华文楷体" panose="02010600040101010101" pitchFamily="2" charset="-122"/>
            </a:endParaRPr>
          </a:p>
        </p:txBody>
      </p:sp>
      <p:sp>
        <p:nvSpPr>
          <p:cNvPr id="2104326" name="Text Box 6"/>
          <p:cNvSpPr txBox="1"/>
          <p:nvPr/>
        </p:nvSpPr>
        <p:spPr>
          <a:xfrm>
            <a:off x="2616200" y="1101725"/>
            <a:ext cx="4667250" cy="1316038"/>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(posedge Clock)  // Clock only</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                               // </a:t>
            </a:r>
            <a:r>
              <a:rPr lang="zh-CN" altLang="en-US" b="1" dirty="0">
                <a:latin typeface="Times New Roman" panose="02020603050405020304" pitchFamily="18" charset="0"/>
                <a:ea typeface="宋体" panose="02010600030101010101" pitchFamily="2" charset="-122"/>
              </a:rPr>
              <a:t>同步动作</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sz="2400" b="1" dirty="0">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
        <p:nvSpPr>
          <p:cNvPr id="2104328" name="Rectangle 8"/>
          <p:cNvSpPr/>
          <p:nvPr/>
        </p:nvSpPr>
        <p:spPr>
          <a:xfrm>
            <a:off x="844550" y="3201988"/>
            <a:ext cx="936625" cy="423862"/>
          </a:xfrm>
          <a:prstGeom prst="rect">
            <a:avLst/>
          </a:prstGeom>
          <a:noFill/>
          <a:ln w="25400">
            <a:noFill/>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模板</a:t>
            </a:r>
            <a:r>
              <a:rPr lang="en-US" altLang="zh-CN" sz="2400" b="1" dirty="0">
                <a:latin typeface="华文楷体" panose="02010600040101010101" pitchFamily="2" charset="-122"/>
                <a:ea typeface="华文楷体" panose="02010600040101010101" pitchFamily="2" charset="-122"/>
              </a:rPr>
              <a:t>4</a:t>
            </a:r>
            <a:endParaRPr lang="en-US" altLang="zh-CN" sz="2400" b="1" dirty="0">
              <a:latin typeface="华文楷体" panose="02010600040101010101" pitchFamily="2" charset="-122"/>
              <a:ea typeface="华文楷体" panose="02010600040101010101" pitchFamily="2" charset="-122"/>
            </a:endParaRPr>
          </a:p>
        </p:txBody>
      </p:sp>
      <p:sp>
        <p:nvSpPr>
          <p:cNvPr id="2104329" name="Text Box 9"/>
          <p:cNvSpPr txBox="1"/>
          <p:nvPr/>
        </p:nvSpPr>
        <p:spPr>
          <a:xfrm>
            <a:off x="2176463" y="3079750"/>
            <a:ext cx="6197600" cy="2430463"/>
          </a:xfrm>
          <a:prstGeom prst="rect">
            <a:avLst/>
          </a:prstGeom>
          <a:noFill/>
          <a:ln w="12700">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(posedge Clock or negedge Reset)</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Clock and Reset only</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if (! Reset)            // </a:t>
            </a:r>
            <a:r>
              <a:rPr lang="zh-CN" altLang="en-US" b="1" dirty="0">
                <a:latin typeface="Times New Roman" panose="02020603050405020304" pitchFamily="18" charset="0"/>
                <a:ea typeface="宋体" panose="02010600030101010101" pitchFamily="2" charset="-122"/>
              </a:rPr>
              <a:t>测试异步复位电平是否有效</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                  // </a:t>
            </a:r>
            <a:r>
              <a:rPr lang="zh-CN" altLang="en-US" b="1" dirty="0">
                <a:latin typeface="Times New Roman" panose="02020603050405020304" pitchFamily="18" charset="0"/>
                <a:ea typeface="宋体" panose="02010600030101010101" pitchFamily="2" charset="-122"/>
              </a:rPr>
              <a:t>异步动作</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else</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                 // </a:t>
            </a:r>
            <a:r>
              <a:rPr lang="zh-CN" altLang="en-US" b="1" dirty="0">
                <a:latin typeface="Times New Roman" panose="02020603050405020304" pitchFamily="18" charset="0"/>
                <a:ea typeface="宋体" panose="02010600030101010101" pitchFamily="2" charset="-122"/>
              </a:rPr>
              <a:t>同步动作</a:t>
            </a:r>
            <a:endParaRPr lang="zh-CN" altLang="en-US"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b="1" dirty="0">
                <a:latin typeface="Times New Roman" panose="02020603050405020304" pitchFamily="18" charset="0"/>
                <a:ea typeface="宋体" panose="02010600030101010101" pitchFamily="2" charset="-122"/>
              </a:rPr>
              <a:t>                           // </a:t>
            </a:r>
            <a:r>
              <a:rPr lang="zh-CN" altLang="en-US" b="1" dirty="0">
                <a:latin typeface="Times New Roman" panose="02020603050405020304" pitchFamily="18" charset="0"/>
                <a:ea typeface="宋体" panose="02010600030101010101" pitchFamily="2" charset="-122"/>
              </a:rPr>
              <a:t>可产生触发器和组合逻辑</a:t>
            </a:r>
            <a:endParaRPr lang="zh-CN" altLang="en-US"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104324"/>
                                        </p:tgtEl>
                                        <p:attrNameLst>
                                          <p:attrName>style.visibility</p:attrName>
                                        </p:attrNameLst>
                                      </p:cBhvr>
                                      <p:to>
                                        <p:strVal val="visible"/>
                                      </p:to>
                                    </p:set>
                                    <p:anim calcmode="lin" valueType="num">
                                      <p:cBhvr>
                                        <p:cTn id="7" dur="500" fill="hold"/>
                                        <p:tgtEl>
                                          <p:spTgt spid="2104324"/>
                                        </p:tgtEl>
                                        <p:attrNameLst>
                                          <p:attrName>ppt_w</p:attrName>
                                        </p:attrNameLst>
                                      </p:cBhvr>
                                      <p:tavLst>
                                        <p:tav tm="0">
                                          <p:val>
                                            <p:fltVal val="0.000000"/>
                                          </p:val>
                                        </p:tav>
                                        <p:tav tm="100000">
                                          <p:val>
                                            <p:strVal val="#ppt_w"/>
                                          </p:val>
                                        </p:tav>
                                      </p:tavLst>
                                    </p:anim>
                                    <p:anim calcmode="lin" valueType="num">
                                      <p:cBhvr>
                                        <p:cTn id="8" dur="500" fill="hold"/>
                                        <p:tgtEl>
                                          <p:spTgt spid="2104324"/>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104326"/>
                                        </p:tgtEl>
                                        <p:attrNameLst>
                                          <p:attrName>style.visibility</p:attrName>
                                        </p:attrNameLst>
                                      </p:cBhvr>
                                      <p:to>
                                        <p:strVal val="visible"/>
                                      </p:to>
                                    </p:set>
                                    <p:anim calcmode="lin" valueType="num">
                                      <p:cBhvr additive="base">
                                        <p:cTn id="12" dur="500" fill="hold"/>
                                        <p:tgtEl>
                                          <p:spTgt spid="2104326"/>
                                        </p:tgtEl>
                                        <p:attrNameLst>
                                          <p:attrName>ppt_x</p:attrName>
                                        </p:attrNameLst>
                                      </p:cBhvr>
                                      <p:tavLst>
                                        <p:tav tm="0">
                                          <p:val>
                                            <p:strVal val="#ppt_x"/>
                                          </p:val>
                                        </p:tav>
                                        <p:tav tm="100000">
                                          <p:val>
                                            <p:strVal val="#ppt_x"/>
                                          </p:val>
                                        </p:tav>
                                      </p:tavLst>
                                    </p:anim>
                                    <p:anim calcmode="lin" valueType="num">
                                      <p:cBhvr additive="base">
                                        <p:cTn id="13" dur="500" fill="hold"/>
                                        <p:tgtEl>
                                          <p:spTgt spid="21043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104328"/>
                                        </p:tgtEl>
                                        <p:attrNameLst>
                                          <p:attrName>style.visibility</p:attrName>
                                        </p:attrNameLst>
                                      </p:cBhvr>
                                      <p:to>
                                        <p:strVal val="visible"/>
                                      </p:to>
                                    </p:set>
                                    <p:anim calcmode="lin" valueType="num">
                                      <p:cBhvr>
                                        <p:cTn id="18" dur="500" fill="hold"/>
                                        <p:tgtEl>
                                          <p:spTgt spid="2104328"/>
                                        </p:tgtEl>
                                        <p:attrNameLst>
                                          <p:attrName>ppt_w</p:attrName>
                                        </p:attrNameLst>
                                      </p:cBhvr>
                                      <p:tavLst>
                                        <p:tav tm="0">
                                          <p:val>
                                            <p:fltVal val="0.000000"/>
                                          </p:val>
                                        </p:tav>
                                        <p:tav tm="100000">
                                          <p:val>
                                            <p:strVal val="#ppt_w"/>
                                          </p:val>
                                        </p:tav>
                                      </p:tavLst>
                                    </p:anim>
                                    <p:anim calcmode="lin" valueType="num">
                                      <p:cBhvr>
                                        <p:cTn id="19" dur="500" fill="hold"/>
                                        <p:tgtEl>
                                          <p:spTgt spid="2104328"/>
                                        </p:tgtEl>
                                        <p:attrNameLst>
                                          <p:attrName>ppt_h</p:attrName>
                                        </p:attrNameLst>
                                      </p:cBhvr>
                                      <p:tavLst>
                                        <p:tav tm="0">
                                          <p:val>
                                            <p:fltVal val="0.000000"/>
                                          </p:val>
                                        </p:tav>
                                        <p:tav tm="100000">
                                          <p:val>
                                            <p:strVal val="#ppt_h"/>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104329"/>
                                        </p:tgtEl>
                                        <p:attrNameLst>
                                          <p:attrName>style.visibility</p:attrName>
                                        </p:attrNameLst>
                                      </p:cBhvr>
                                      <p:to>
                                        <p:strVal val="visible"/>
                                      </p:to>
                                    </p:set>
                                    <p:anim calcmode="lin" valueType="num">
                                      <p:cBhvr additive="base">
                                        <p:cTn id="23" dur="500" fill="hold"/>
                                        <p:tgtEl>
                                          <p:spTgt spid="2104329"/>
                                        </p:tgtEl>
                                        <p:attrNameLst>
                                          <p:attrName>ppt_x</p:attrName>
                                        </p:attrNameLst>
                                      </p:cBhvr>
                                      <p:tavLst>
                                        <p:tav tm="0">
                                          <p:val>
                                            <p:strVal val="#ppt_x"/>
                                          </p:val>
                                        </p:tav>
                                        <p:tav tm="100000">
                                          <p:val>
                                            <p:strVal val="#ppt_x"/>
                                          </p:val>
                                        </p:tav>
                                      </p:tavLst>
                                    </p:anim>
                                    <p:anim calcmode="lin" valueType="num">
                                      <p:cBhvr additive="base">
                                        <p:cTn id="24" dur="500" fill="hold"/>
                                        <p:tgtEl>
                                          <p:spTgt spid="21043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4324" grpId="0"/>
      <p:bldP spid="2104326" grpId="0" bldLvl="0" animBg="1"/>
      <p:bldP spid="2104328" grpId="0"/>
      <p:bldP spid="2104329" grpId="0"/>
    </p:bld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32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2323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17635" name="Rectangle 3"/>
          <p:cNvSpPr>
            <a:spLocks noGrp="1"/>
          </p:cNvSpPr>
          <p:nvPr>
            <p:ph idx="1"/>
          </p:nvPr>
        </p:nvSpPr>
        <p:spPr/>
        <p:txBody>
          <a:bodyPr vert="horz" wrap="square" lIns="91440" tIns="45720" rIns="91440" bIns="45720" anchor="t" anchorCtr="0"/>
          <a:p>
            <a:pPr algn="just" eaLnBrk="1" hangingPunct="1">
              <a:lnSpc>
                <a:spcPct val="110000"/>
              </a:lnSpc>
              <a:spcBef>
                <a:spcPct val="0"/>
              </a:spcBef>
              <a:buClr>
                <a:srgbClr val="FF5050"/>
              </a:buClr>
              <a:buSzPct val="80000"/>
            </a:pPr>
            <a:r>
              <a:rPr lang="en-US" altLang="zh-CN" sz="2200" dirty="0">
                <a:latin typeface="Times New Roman" panose="02020603050405020304" pitchFamily="18" charset="0"/>
                <a:ea typeface="黑体" panose="02010609060101010101" pitchFamily="49" charset="-122"/>
                <a:cs typeface="+mn-cs"/>
              </a:rPr>
              <a:t>  </a:t>
            </a: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黑体" panose="02010609060101010101" pitchFamily="49" charset="-122"/>
                <a:cs typeface="+mn-cs"/>
              </a:rPr>
              <a:t>1</a:t>
            </a:r>
            <a:r>
              <a:rPr lang="zh-CN" altLang="en-US" sz="2200" dirty="0">
                <a:latin typeface="Times New Roman" panose="02020603050405020304" pitchFamily="18" charset="0"/>
                <a:ea typeface="华文楷体" panose="02010600040101010101" pitchFamily="2" charset="-122"/>
                <a:cs typeface="+mn-cs"/>
              </a:rPr>
              <a:t>）当</a:t>
            </a:r>
            <a:r>
              <a:rPr lang="en-US" altLang="zh-CN" sz="2200" dirty="0">
                <a:latin typeface="Times New Roman" panose="02020603050405020304" pitchFamily="18" charset="0"/>
                <a:ea typeface="黑体" panose="02010609060101010101" pitchFamily="49" charset="-122"/>
                <a:cs typeface="+mn-cs"/>
              </a:rPr>
              <a:t>always</a:t>
            </a:r>
            <a:r>
              <a:rPr lang="zh-CN" altLang="en-US" sz="2200" dirty="0">
                <a:latin typeface="Times New Roman" panose="02020603050405020304" pitchFamily="18" charset="0"/>
                <a:ea typeface="华文楷体" panose="02010600040101010101" pitchFamily="2" charset="-122"/>
                <a:cs typeface="+mn-cs"/>
              </a:rPr>
              <a:t>块有多个敏感信号时，一定要采用</a:t>
            </a:r>
            <a:r>
              <a:rPr lang="en-US" altLang="zh-CN" sz="2200" dirty="0">
                <a:solidFill>
                  <a:srgbClr val="FF33CC"/>
                </a:solidFill>
                <a:latin typeface="Times New Roman" panose="02020603050405020304" pitchFamily="18" charset="0"/>
                <a:ea typeface="黑体" panose="02010609060101010101" pitchFamily="49" charset="-122"/>
                <a:cs typeface="+mn-cs"/>
              </a:rPr>
              <a:t>if - else if</a:t>
            </a:r>
            <a:r>
              <a:rPr lang="zh-CN" altLang="en-US" sz="2200" dirty="0">
                <a:latin typeface="Times New Roman" panose="02020603050405020304" pitchFamily="18" charset="0"/>
                <a:ea typeface="华文楷体" panose="02010600040101010101" pitchFamily="2" charset="-122"/>
                <a:cs typeface="+mn-cs"/>
              </a:rPr>
              <a:t>语句，而不能采用并列的</a:t>
            </a:r>
            <a:r>
              <a:rPr lang="en-US" altLang="zh-CN" sz="2200" dirty="0">
                <a:latin typeface="Times New Roman" panose="02020603050405020304" pitchFamily="18" charset="0"/>
                <a:ea typeface="黑体" panose="02010609060101010101" pitchFamily="49" charset="-122"/>
                <a:cs typeface="+mn-cs"/>
              </a:rPr>
              <a:t>if</a:t>
            </a:r>
            <a:r>
              <a:rPr lang="zh-CN" altLang="en-US" sz="2200" dirty="0">
                <a:latin typeface="Times New Roman" panose="02020603050405020304" pitchFamily="18" charset="0"/>
                <a:ea typeface="华文楷体" panose="02010600040101010101" pitchFamily="2" charset="-122"/>
                <a:cs typeface="+mn-cs"/>
              </a:rPr>
              <a:t>语句！否则易造成一个寄存器有多个时钟驱动，将出现编译错误。</a:t>
            </a:r>
            <a:endParaRPr lang="zh-CN" altLang="en-US" sz="2200" dirty="0">
              <a:latin typeface="Times New Roman" panose="02020603050405020304" pitchFamily="18" charset="0"/>
              <a:ea typeface="华文楷体" panose="02010600040101010101" pitchFamily="2" charset="-122"/>
              <a:cs typeface="+mn-cs"/>
            </a:endParaRPr>
          </a:p>
        </p:txBody>
      </p:sp>
      <p:sp>
        <p:nvSpPr>
          <p:cNvPr id="2117637" name="AutoShape 5"/>
          <p:cNvSpPr/>
          <p:nvPr/>
        </p:nvSpPr>
        <p:spPr>
          <a:xfrm rot="-765681">
            <a:off x="-111125" y="552450"/>
            <a:ext cx="1771650" cy="800100"/>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2600" b="1" dirty="0">
                <a:solidFill>
                  <a:srgbClr val="800000"/>
                </a:solidFill>
                <a:latin typeface="Times New Roman" panose="02020603050405020304" pitchFamily="18" charset="0"/>
                <a:ea typeface="华文楷体" panose="02010600040101010101" pitchFamily="2" charset="-122"/>
              </a:rPr>
              <a:t>注意</a:t>
            </a:r>
            <a:endParaRPr lang="zh-CN" altLang="en-US" sz="2600" b="1" dirty="0">
              <a:solidFill>
                <a:srgbClr val="800000"/>
              </a:solidFill>
              <a:latin typeface="Times New Roman" panose="02020603050405020304" pitchFamily="18" charset="0"/>
              <a:ea typeface="华文楷体" panose="02010600040101010101" pitchFamily="2" charset="-122"/>
            </a:endParaRPr>
          </a:p>
        </p:txBody>
      </p:sp>
      <p:sp>
        <p:nvSpPr>
          <p:cNvPr id="2117638" name="Text Box 6"/>
          <p:cNvSpPr txBox="1"/>
          <p:nvPr/>
        </p:nvSpPr>
        <p:spPr>
          <a:xfrm>
            <a:off x="2309813" y="2649538"/>
            <a:ext cx="6151562" cy="25844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always @ posedge min_clk or negedge reset)</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begin</a:t>
            </a:r>
            <a:endParaRPr lang="en-US" altLang="zh-CN" b="1" dirty="0">
              <a:solidFill>
                <a:srgbClr val="E43600"/>
              </a:solidFill>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if (reset)</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min&lt;=0;</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FF3399"/>
                </a:solidFill>
                <a:latin typeface="Times New Roman" panose="02020603050405020304" pitchFamily="18" charset="0"/>
                <a:ea typeface="宋体" panose="02010600030101010101" pitchFamily="2" charset="-122"/>
              </a:rPr>
              <a:t>else if</a:t>
            </a:r>
            <a:r>
              <a:rPr lang="en-US" altLang="zh-CN" b="1" dirty="0">
                <a:latin typeface="Times New Roman" panose="02020603050405020304" pitchFamily="18" charset="0"/>
                <a:ea typeface="宋体" panose="02010600030101010101" pitchFamily="2" charset="-122"/>
              </a:rPr>
              <a:t> (min=8’h59) //</a:t>
            </a:r>
            <a:r>
              <a:rPr lang="zh-CN" altLang="en-US" b="1" dirty="0">
                <a:latin typeface="Times New Roman" panose="02020603050405020304" pitchFamily="18" charset="0"/>
                <a:ea typeface="宋体" panose="02010600030101010101" pitchFamily="2" charset="-122"/>
              </a:rPr>
              <a:t>当</a:t>
            </a:r>
            <a:r>
              <a:rPr lang="en-US" altLang="zh-CN" b="1" dirty="0">
                <a:latin typeface="Times New Roman" panose="02020603050405020304" pitchFamily="18" charset="0"/>
                <a:ea typeface="宋体" panose="02010600030101010101" pitchFamily="2" charset="-122"/>
              </a:rPr>
              <a:t>reset</a:t>
            </a:r>
            <a:r>
              <a:rPr lang="zh-CN" altLang="en-US" b="1" dirty="0">
                <a:latin typeface="Times New Roman" panose="02020603050405020304" pitchFamily="18" charset="0"/>
                <a:ea typeface="宋体" panose="02010600030101010101" pitchFamily="2" charset="-122"/>
              </a:rPr>
              <a:t>无效且</a:t>
            </a:r>
            <a:r>
              <a:rPr lang="en-US" altLang="zh-CN" b="1" dirty="0">
                <a:latin typeface="Times New Roman" panose="02020603050405020304" pitchFamily="18" charset="0"/>
                <a:ea typeface="宋体" panose="02010600030101010101" pitchFamily="2" charset="-122"/>
              </a:rPr>
              <a:t>min=8’h59</a:t>
            </a:r>
            <a:r>
              <a:rPr lang="zh-CN" altLang="en-US" b="1" dirty="0">
                <a:latin typeface="Times New Roman" panose="02020603050405020304" pitchFamily="18" charset="0"/>
                <a:ea typeface="宋体" panose="02010600030101010101" pitchFamily="2" charset="-122"/>
              </a:rPr>
              <a:t>时</a:t>
            </a:r>
            <a:endParaRPr lang="zh-CN" altLang="en-US"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begin</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min&lt;=0;h_clk&lt;=1;</a:t>
            </a:r>
            <a:endParaRPr lang="en-US" altLang="zh-CN" b="1" dirty="0">
              <a:latin typeface="Times New Roman" panose="02020603050405020304" pitchFamily="18" charset="0"/>
              <a:ea typeface="宋体" panose="02010600030101010101" pitchFamily="2" charset="-122"/>
            </a:endParaRPr>
          </a:p>
          <a:p>
            <a:pPr marL="0" lvl="0" indent="0" algn="just" eaLnBrk="1" hangingPunct="1">
              <a:lnSpc>
                <a:spcPct val="90000"/>
              </a:lnSpc>
              <a:spcBef>
                <a:spcPct val="0"/>
              </a:spcBef>
              <a:buClr>
                <a:srgbClr val="3333FF"/>
              </a:buClr>
              <a:buFont typeface="Wingdings" panose="05000000000000000000" pitchFamily="2" charset="2"/>
              <a:buNone/>
            </a:pPr>
            <a:r>
              <a:rPr lang="en-US" altLang="zh-CN" b="1" dirty="0">
                <a:latin typeface="Times New Roman" panose="02020603050405020304" pitchFamily="18" charset="0"/>
                <a:ea typeface="宋体" panose="02010600030101010101" pitchFamily="2" charset="-122"/>
              </a:rPr>
              <a:t>         end</a:t>
            </a:r>
            <a:endParaRPr lang="en-US" altLang="zh-CN" b="1" dirty="0">
              <a:latin typeface="Times New Roman" panose="02020603050405020304" pitchFamily="18" charset="0"/>
              <a:ea typeface="宋体" panose="02010600030101010101" pitchFamily="2" charset="-122"/>
            </a:endParaRPr>
          </a:p>
          <a:p>
            <a:pPr marL="0" lvl="0" indent="0" algn="just">
              <a:lnSpc>
                <a:spcPct val="90000"/>
              </a:lnSpc>
              <a:spcBef>
                <a:spcPct val="0"/>
              </a:spcBef>
              <a:buNone/>
            </a:pPr>
            <a:r>
              <a:rPr lang="en-US" altLang="zh-CN" b="1" dirty="0">
                <a:latin typeface="Times New Roman" panose="02020603050405020304" pitchFamily="18" charset="0"/>
                <a:ea typeface="宋体" panose="02010600030101010101" pitchFamily="2" charset="-122"/>
              </a:rPr>
              <a:t>    </a:t>
            </a:r>
            <a:r>
              <a:rPr lang="en-US" altLang="zh-CN" b="1" dirty="0">
                <a:solidFill>
                  <a:srgbClr val="E43600"/>
                </a:solidFill>
                <a:latin typeface="Times New Roman" panose="02020603050405020304" pitchFamily="18" charset="0"/>
                <a:ea typeface="宋体" panose="02010600030101010101" pitchFamily="2" charset="-122"/>
              </a:rPr>
              <a:t>end</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sp>
        <p:nvSpPr>
          <p:cNvPr id="2117641" name="Rectangle 9"/>
          <p:cNvSpPr/>
          <p:nvPr/>
        </p:nvSpPr>
        <p:spPr>
          <a:xfrm>
            <a:off x="522288" y="5557838"/>
            <a:ext cx="7724775" cy="830262"/>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FF505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a:t>
            </a:r>
            <a:r>
              <a:rPr lang="en-US" altLang="zh-CN" sz="2200" b="1" dirty="0">
                <a:latin typeface="Times New Roman" panose="02020603050405020304" pitchFamily="18" charset="0"/>
                <a:ea typeface="宋体" panose="02010600030101010101" pitchFamily="2" charset="-122"/>
              </a:rPr>
              <a:t>2</a:t>
            </a:r>
            <a:r>
              <a:rPr lang="zh-CN" altLang="en-US" sz="2200" b="1" dirty="0">
                <a:latin typeface="Times New Roman" panose="02020603050405020304" pitchFamily="18" charset="0"/>
                <a:ea typeface="宋体" panose="02010600030101010101" pitchFamily="2" charset="-122"/>
              </a:rPr>
              <a:t>）通常采用</a:t>
            </a:r>
            <a:r>
              <a:rPr lang="zh-CN" altLang="en-US" sz="2200" b="1" dirty="0">
                <a:solidFill>
                  <a:srgbClr val="FF33CC"/>
                </a:solidFill>
                <a:latin typeface="Times New Roman" panose="02020603050405020304" pitchFamily="18" charset="0"/>
                <a:ea typeface="宋体" panose="02010600030101010101" pitchFamily="2" charset="-122"/>
              </a:rPr>
              <a:t>异步</a:t>
            </a:r>
            <a:r>
              <a:rPr lang="zh-CN" altLang="en-US" sz="2200" b="1" dirty="0">
                <a:latin typeface="Times New Roman" panose="02020603050405020304" pitchFamily="18" charset="0"/>
                <a:ea typeface="宋体" panose="02010600030101010101" pitchFamily="2" charset="-122"/>
              </a:rPr>
              <a:t>清零！只有在时钟周期很小或清零信号为电平信号时（容易捕捉到清零信号）采用同步清零。</a:t>
            </a:r>
            <a:endParaRPr lang="zh-CN" altLang="en-US" sz="2200" b="1" dirty="0">
              <a:latin typeface="Times New Roman" panose="02020603050405020304" pitchFamily="18" charset="0"/>
              <a:ea typeface="宋体" panose="02010600030101010101" pitchFamily="2" charset="-122"/>
            </a:endParaRPr>
          </a:p>
        </p:txBody>
      </p:sp>
      <p:sp>
        <p:nvSpPr>
          <p:cNvPr id="2117642" name="AutoShape 10"/>
          <p:cNvSpPr/>
          <p:nvPr/>
        </p:nvSpPr>
        <p:spPr>
          <a:xfrm>
            <a:off x="850900" y="4143375"/>
            <a:ext cx="1319213" cy="685800"/>
          </a:xfrm>
          <a:prstGeom prst="wedgeRoundRectCallout">
            <a:avLst>
              <a:gd name="adj1" fmla="val 116162"/>
              <a:gd name="adj2" fmla="val -88843"/>
              <a:gd name="adj3" fmla="val 16667"/>
            </a:avLst>
          </a:prstGeom>
          <a:noFill/>
          <a:ln w="9525" cap="flat" cmpd="sng">
            <a:solidFill>
              <a:schemeClr val="tx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千万别写成</a:t>
            </a:r>
            <a:r>
              <a:rPr lang="en-US" altLang="zh-CN" b="1" dirty="0">
                <a:solidFill>
                  <a:srgbClr val="CC3300"/>
                </a:solidFill>
                <a:latin typeface="华文楷体" panose="02010600040101010101" pitchFamily="2" charset="-122"/>
                <a:ea typeface="华文楷体" panose="02010600040101010101" pitchFamily="2" charset="-122"/>
              </a:rPr>
              <a:t>if</a:t>
            </a:r>
            <a:r>
              <a:rPr lang="zh-CN" altLang="en-US" b="1" dirty="0">
                <a:latin typeface="华文楷体" panose="02010600040101010101" pitchFamily="2" charset="-122"/>
                <a:ea typeface="华文楷体" panose="02010600040101010101" pitchFamily="2" charset="-122"/>
              </a:rPr>
              <a:t>哦！</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117637"/>
                                        </p:tgtEl>
                                        <p:attrNameLst>
                                          <p:attrName>style.visibility</p:attrName>
                                        </p:attrNameLst>
                                      </p:cBhvr>
                                      <p:to>
                                        <p:strVal val="visible"/>
                                      </p:to>
                                    </p:set>
                                    <p:anim calcmode="lin" valueType="num">
                                      <p:cBhvr>
                                        <p:cTn id="7" dur="500" fill="hold"/>
                                        <p:tgtEl>
                                          <p:spTgt spid="2117637"/>
                                        </p:tgtEl>
                                        <p:attrNameLst>
                                          <p:attrName>ppt_w</p:attrName>
                                        </p:attrNameLst>
                                      </p:cBhvr>
                                      <p:tavLst>
                                        <p:tav tm="0">
                                          <p:val>
                                            <p:strVal val="4/3*#ppt_w"/>
                                          </p:val>
                                        </p:tav>
                                        <p:tav tm="100000">
                                          <p:val>
                                            <p:strVal val="#ppt_w"/>
                                          </p:val>
                                        </p:tav>
                                      </p:tavLst>
                                    </p:anim>
                                    <p:anim calcmode="lin" valueType="num">
                                      <p:cBhvr>
                                        <p:cTn id="8" dur="500" fill="hold"/>
                                        <p:tgtEl>
                                          <p:spTgt spid="2117637"/>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117635"/>
                                        </p:tgtEl>
                                        <p:attrNameLst>
                                          <p:attrName>style.visibility</p:attrName>
                                        </p:attrNameLst>
                                      </p:cBhvr>
                                      <p:to>
                                        <p:strVal val="visible"/>
                                      </p:to>
                                    </p:set>
                                    <p:anim calcmode="lin" valueType="num">
                                      <p:cBhvr additive="base">
                                        <p:cTn id="12" dur="500" fill="hold"/>
                                        <p:tgtEl>
                                          <p:spTgt spid="2117635"/>
                                        </p:tgtEl>
                                        <p:attrNameLst>
                                          <p:attrName>ppt_x</p:attrName>
                                        </p:attrNameLst>
                                      </p:cBhvr>
                                      <p:tavLst>
                                        <p:tav tm="0">
                                          <p:val>
                                            <p:strVal val="1+#ppt_w/2"/>
                                          </p:val>
                                        </p:tav>
                                        <p:tav tm="100000">
                                          <p:val>
                                            <p:strVal val="#ppt_x"/>
                                          </p:val>
                                        </p:tav>
                                      </p:tavLst>
                                    </p:anim>
                                    <p:anim calcmode="lin" valueType="num">
                                      <p:cBhvr additive="base">
                                        <p:cTn id="13" dur="500" fill="hold"/>
                                        <p:tgtEl>
                                          <p:spTgt spid="211763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17638"/>
                                        </p:tgtEl>
                                        <p:attrNameLst>
                                          <p:attrName>style.visibility</p:attrName>
                                        </p:attrNameLst>
                                      </p:cBhvr>
                                      <p:to>
                                        <p:strVal val="visible"/>
                                      </p:to>
                                    </p:set>
                                    <p:anim calcmode="lin" valueType="num">
                                      <p:cBhvr additive="base">
                                        <p:cTn id="18" dur="500" fill="hold"/>
                                        <p:tgtEl>
                                          <p:spTgt spid="2117638"/>
                                        </p:tgtEl>
                                        <p:attrNameLst>
                                          <p:attrName>ppt_x</p:attrName>
                                        </p:attrNameLst>
                                      </p:cBhvr>
                                      <p:tavLst>
                                        <p:tav tm="0">
                                          <p:val>
                                            <p:strVal val="#ppt_x"/>
                                          </p:val>
                                        </p:tav>
                                        <p:tav tm="100000">
                                          <p:val>
                                            <p:strVal val="#ppt_x"/>
                                          </p:val>
                                        </p:tav>
                                      </p:tavLst>
                                    </p:anim>
                                    <p:anim calcmode="lin" valueType="num">
                                      <p:cBhvr additive="base">
                                        <p:cTn id="19" dur="500" fill="hold"/>
                                        <p:tgtEl>
                                          <p:spTgt spid="211763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117642"/>
                                        </p:tgtEl>
                                        <p:attrNameLst>
                                          <p:attrName>style.visibility</p:attrName>
                                        </p:attrNameLst>
                                      </p:cBhvr>
                                      <p:to>
                                        <p:strVal val="visible"/>
                                      </p:to>
                                    </p:set>
                                    <p:animEffect transition="in" filter="dissolve">
                                      <p:cBhvr>
                                        <p:cTn id="24" dur="500"/>
                                        <p:tgtEl>
                                          <p:spTgt spid="211764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117641"/>
                                        </p:tgtEl>
                                        <p:attrNameLst>
                                          <p:attrName>style.visibility</p:attrName>
                                        </p:attrNameLst>
                                      </p:cBhvr>
                                      <p:to>
                                        <p:strVal val="visible"/>
                                      </p:to>
                                    </p:set>
                                    <p:anim calcmode="lin" valueType="num">
                                      <p:cBhvr additive="base">
                                        <p:cTn id="29" dur="500" fill="hold"/>
                                        <p:tgtEl>
                                          <p:spTgt spid="2117641"/>
                                        </p:tgtEl>
                                        <p:attrNameLst>
                                          <p:attrName>ppt_x</p:attrName>
                                        </p:attrNameLst>
                                      </p:cBhvr>
                                      <p:tavLst>
                                        <p:tav tm="0">
                                          <p:val>
                                            <p:strVal val="1+#ppt_w/2"/>
                                          </p:val>
                                        </p:tav>
                                        <p:tav tm="100000">
                                          <p:val>
                                            <p:strVal val="#ppt_x"/>
                                          </p:val>
                                        </p:tav>
                                      </p:tavLst>
                                    </p:anim>
                                    <p:anim calcmode="lin" valueType="num">
                                      <p:cBhvr additive="base">
                                        <p:cTn id="30" dur="500" fill="hold"/>
                                        <p:tgtEl>
                                          <p:spTgt spid="21176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7635" grpId="0"/>
      <p:bldP spid="2117637" grpId="0" bldLvl="0"/>
      <p:bldP spid="2117638" grpId="0" bldLvl="0" animBg="1"/>
      <p:bldP spid="2117641" grpId="0"/>
      <p:bldP spid="2117642"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528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2528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063363"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sz="2800" dirty="0">
                <a:latin typeface="宋体" panose="02010600030101010101" pitchFamily="2" charset="-122"/>
                <a:ea typeface="华文楷体" panose="02010600040101010101" pitchFamily="2" charset="-122"/>
                <a:cs typeface="+mn-cs"/>
              </a:rPr>
              <a:t>二、</a:t>
            </a:r>
            <a:r>
              <a:rPr lang="en-US" altLang="zh-CN" sz="2800" dirty="0">
                <a:latin typeface="宋体" panose="02010600030101010101" pitchFamily="2" charset="-122"/>
                <a:ea typeface="黑体" panose="02010609060101010101" pitchFamily="49" charset="-122"/>
                <a:cs typeface="+mn-cs"/>
              </a:rPr>
              <a:t>initial</a:t>
            </a:r>
            <a:r>
              <a:rPr lang="zh-CN" altLang="en-US" sz="2800" dirty="0">
                <a:latin typeface="宋体" panose="02010600030101010101" pitchFamily="2" charset="-122"/>
                <a:ea typeface="华文楷体" panose="02010600040101010101" pitchFamily="2" charset="-122"/>
                <a:cs typeface="+mn-cs"/>
              </a:rPr>
              <a:t>语句</a:t>
            </a:r>
            <a:endParaRPr lang="zh-CN" altLang="en-US" sz="2800" dirty="0">
              <a:latin typeface="宋体" panose="02010600030101010101" pitchFamily="2" charset="-122"/>
              <a:ea typeface="华文楷体" panose="02010600040101010101" pitchFamily="2" charset="-122"/>
              <a:cs typeface="+mn-cs"/>
            </a:endParaRPr>
          </a:p>
        </p:txBody>
      </p:sp>
      <p:sp>
        <p:nvSpPr>
          <p:cNvPr id="2063364" name="Text Box 4"/>
          <p:cNvSpPr txBox="1"/>
          <p:nvPr/>
        </p:nvSpPr>
        <p:spPr>
          <a:xfrm>
            <a:off x="1554163" y="2459038"/>
            <a:ext cx="1825625" cy="2286000"/>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initial</a:t>
            </a:r>
            <a:endParaRPr lang="en-US" altLang="zh-CN" b="1" dirty="0">
              <a:solidFill>
                <a:srgbClr val="FF0066"/>
              </a:solidFill>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begin</a:t>
            </a:r>
            <a:endParaRPr lang="en-US" altLang="zh-CN" b="1" dirty="0">
              <a:solidFill>
                <a:srgbClr val="FF6600"/>
              </a:solidFill>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语句</a:t>
            </a:r>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spcBef>
                <a:spcPct val="0"/>
              </a:spcBef>
              <a:buNone/>
            </a:pPr>
            <a:r>
              <a:rPr lang="en-US" altLang="zh-CN" b="1" dirty="0">
                <a:latin typeface="宋体" panose="02010600030101010101" pitchFamily="2" charset="-122"/>
                <a:ea typeface="宋体" panose="02010600030101010101" pitchFamily="2" charset="-122"/>
              </a:rPr>
              <a:t>   </a:t>
            </a:r>
            <a:r>
              <a:rPr lang="zh-CN" altLang="en-US" b="1" dirty="0">
                <a:latin typeface="宋体" panose="02010600030101010101" pitchFamily="2" charset="-122"/>
                <a:ea typeface="宋体" panose="02010600030101010101" pitchFamily="2" charset="-122"/>
              </a:rPr>
              <a:t>语句</a:t>
            </a:r>
            <a:r>
              <a:rPr lang="en-US" altLang="zh-CN" b="1" dirty="0">
                <a:latin typeface="宋体" panose="02010600030101010101" pitchFamily="2" charset="-122"/>
                <a:ea typeface="宋体" panose="02010600030101010101" pitchFamily="2" charset="-122"/>
              </a:rPr>
              <a:t>n</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a:t>
            </a:r>
            <a:r>
              <a:rPr lang="en-US" altLang="zh-CN" b="1" dirty="0">
                <a:solidFill>
                  <a:srgbClr val="FF6600"/>
                </a:solidFill>
                <a:latin typeface="宋体" panose="02010600030101010101" pitchFamily="2" charset="-122"/>
                <a:ea typeface="宋体" panose="02010600030101010101" pitchFamily="2" charset="-122"/>
              </a:rPr>
              <a:t>end</a:t>
            </a:r>
            <a:endParaRPr lang="en-US" altLang="zh-CN" b="1" dirty="0">
              <a:latin typeface="宋体" panose="02010600030101010101" pitchFamily="2" charset="-122"/>
              <a:ea typeface="宋体" panose="02010600030101010101" pitchFamily="2" charset="-122"/>
            </a:endParaRPr>
          </a:p>
        </p:txBody>
      </p:sp>
      <p:sp>
        <p:nvSpPr>
          <p:cNvPr id="2063367" name="Rectangle 7"/>
          <p:cNvSpPr>
            <a:spLocks noChangeArrowheads="1"/>
          </p:cNvSpPr>
          <p:nvPr/>
        </p:nvSpPr>
        <p:spPr bwMode="auto">
          <a:xfrm>
            <a:off x="468313" y="2473325"/>
            <a:ext cx="800100" cy="427038"/>
          </a:xfrm>
          <a:prstGeom prst="rect">
            <a:avLst/>
          </a:prstGeom>
          <a:noFill/>
          <a:ln w="25400">
            <a:noFill/>
            <a:miter lim="800000"/>
          </a:ln>
          <a:effectLst/>
        </p:spPr>
        <p:txBody>
          <a:bodyPr wrap="none">
            <a:spAutoFit/>
          </a:bodyPr>
          <a:lstStyle/>
          <a:p>
            <a:pPr marL="0" marR="0" lvl="0" indent="0" algn="l" defTabSz="914400" rtl="0" eaLnBrk="1" fontAlgn="base" latinLnBrk="0" hangingPunct="1">
              <a:lnSpc>
                <a:spcPct val="90000"/>
              </a:lnSpc>
              <a:spcBef>
                <a:spcPct val="30000"/>
              </a:spcBef>
              <a:spcAft>
                <a:spcPct val="0"/>
              </a:spcAft>
              <a:buClr>
                <a:schemeClr val="tx2"/>
              </a:buClr>
              <a:buSzPct val="85000"/>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rPr>
              <a:t>格式</a:t>
            </a:r>
            <a:endParaRPr kumimoji="1"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sym typeface="+mn-ea"/>
            </a:endParaRPr>
          </a:p>
        </p:txBody>
      </p:sp>
      <p:sp>
        <p:nvSpPr>
          <p:cNvPr id="2063369" name="Rectangle 9"/>
          <p:cNvSpPr/>
          <p:nvPr/>
        </p:nvSpPr>
        <p:spPr>
          <a:xfrm>
            <a:off x="3627438" y="2025650"/>
            <a:ext cx="5238750" cy="411163"/>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90000"/>
              </a:lnSpc>
              <a:spcBef>
                <a:spcPct val="0"/>
              </a:spcBef>
              <a:buNone/>
            </a:pPr>
            <a:r>
              <a:rPr lang="en-US" altLang="zh-CN" sz="2400" b="1" dirty="0">
                <a:latin typeface="华文楷体" panose="02010600040101010101" pitchFamily="2" charset="-122"/>
                <a:ea typeface="华文楷体" panose="02010600040101010101" pitchFamily="2" charset="-122"/>
              </a:rPr>
              <a:t>  </a:t>
            </a:r>
            <a:r>
              <a:rPr lang="en-US" altLang="zh-CN" sz="2200" b="1" dirty="0">
                <a:latin typeface="华文楷体" panose="02010600040101010101" pitchFamily="2" charset="-122"/>
                <a:ea typeface="华文楷体" panose="02010600040101010101" pitchFamily="2" charset="-122"/>
              </a:rPr>
              <a:t>[</a:t>
            </a:r>
            <a:r>
              <a:rPr lang="zh-CN" altLang="en-US" sz="2200" b="1" dirty="0">
                <a:solidFill>
                  <a:srgbClr val="FF0066"/>
                </a:solidFill>
                <a:latin typeface="华文楷体" panose="02010600040101010101" pitchFamily="2" charset="-122"/>
                <a:ea typeface="华文楷体" panose="02010600040101010101" pitchFamily="2" charset="-122"/>
              </a:rPr>
              <a:t>例</a:t>
            </a:r>
            <a:r>
              <a:rPr lang="en-US" altLang="zh-CN" sz="2200" b="1" dirty="0">
                <a:solidFill>
                  <a:srgbClr val="FF0066"/>
                </a:solidFill>
                <a:latin typeface="华文楷体" panose="02010600040101010101" pitchFamily="2" charset="-122"/>
                <a:ea typeface="华文楷体" panose="02010600040101010101" pitchFamily="2" charset="-122"/>
              </a:rPr>
              <a:t>9.4</a:t>
            </a:r>
            <a:r>
              <a:rPr lang="en-US" altLang="zh-CN" sz="2200" b="1" dirty="0">
                <a:latin typeface="华文楷体" panose="02010600040101010101" pitchFamily="2" charset="-122"/>
                <a:ea typeface="华文楷体" panose="02010600040101010101" pitchFamily="2" charset="-122"/>
              </a:rPr>
              <a:t>] </a:t>
            </a:r>
            <a:r>
              <a:rPr lang="zh-CN" altLang="en-US" sz="2200" b="1" dirty="0">
                <a:latin typeface="华文楷体" panose="02010600040101010101" pitchFamily="2" charset="-122"/>
                <a:ea typeface="华文楷体" panose="02010600040101010101" pitchFamily="2" charset="-122"/>
              </a:rPr>
              <a:t>利用</a:t>
            </a:r>
            <a:r>
              <a:rPr lang="en-US" altLang="zh-CN" sz="2200" b="1" dirty="0">
                <a:latin typeface="华文楷体" panose="02010600040101010101" pitchFamily="2" charset="-122"/>
                <a:ea typeface="华文楷体" panose="02010600040101010101" pitchFamily="2" charset="-122"/>
              </a:rPr>
              <a:t>initial</a:t>
            </a:r>
            <a:r>
              <a:rPr lang="zh-CN" altLang="en-US" sz="2200" b="1" dirty="0">
                <a:latin typeface="华文楷体" panose="02010600040101010101" pitchFamily="2" charset="-122"/>
                <a:ea typeface="华文楷体" panose="02010600040101010101" pitchFamily="2" charset="-122"/>
              </a:rPr>
              <a:t>语句生成激励波形。</a:t>
            </a:r>
            <a:r>
              <a:rPr lang="zh-CN" altLang="en-US" b="1" dirty="0">
                <a:latin typeface="华文楷体" panose="02010600040101010101" pitchFamily="2" charset="-122"/>
                <a:ea typeface="华文楷体" panose="02010600040101010101" pitchFamily="2" charset="-122"/>
              </a:rPr>
              <a:t>              </a:t>
            </a:r>
            <a:endParaRPr lang="zh-CN" altLang="en-US" b="1" dirty="0">
              <a:latin typeface="华文楷体" panose="02010600040101010101" pitchFamily="2" charset="-122"/>
              <a:ea typeface="华文楷体" panose="02010600040101010101" pitchFamily="2" charset="-122"/>
            </a:endParaRPr>
          </a:p>
        </p:txBody>
      </p:sp>
      <p:sp>
        <p:nvSpPr>
          <p:cNvPr id="2063370" name="Text Box 10"/>
          <p:cNvSpPr txBox="1"/>
          <p:nvPr/>
        </p:nvSpPr>
        <p:spPr>
          <a:xfrm>
            <a:off x="4148138" y="2473325"/>
            <a:ext cx="4267200" cy="30257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sz="2400" b="1" dirty="0">
                <a:solidFill>
                  <a:srgbClr val="FF0066"/>
                </a:solidFill>
                <a:latin typeface="Times New Roman" panose="02020603050405020304" pitchFamily="18" charset="0"/>
                <a:ea typeface="宋体" panose="02010600030101010101" pitchFamily="2" charset="-122"/>
              </a:rPr>
              <a:t>initial</a:t>
            </a:r>
            <a:endParaRPr lang="en-US" altLang="zh-CN" sz="2400" b="1" dirty="0">
              <a:solidFill>
                <a:srgbClr val="FF0066"/>
              </a:solidFill>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begin</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inputs = ’b000000;          </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#10 inputs = ’b011001; </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#10 inputs = ’b011011;</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#10 inputs = ’b011000; </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#10 inputs = ’b001000;</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end</a:t>
            </a:r>
            <a:endParaRPr lang="en-US" altLang="zh-CN" sz="2400" b="1" dirty="0">
              <a:latin typeface="Times New Roman" panose="02020603050405020304" pitchFamily="18" charset="0"/>
              <a:ea typeface="宋体" panose="02010600030101010101" pitchFamily="2" charset="-122"/>
            </a:endParaRPr>
          </a:p>
        </p:txBody>
      </p:sp>
      <p:sp>
        <p:nvSpPr>
          <p:cNvPr id="2063372" name="AutoShape 12"/>
          <p:cNvSpPr/>
          <p:nvPr/>
        </p:nvSpPr>
        <p:spPr>
          <a:xfrm rot="-765681">
            <a:off x="242888" y="5119688"/>
            <a:ext cx="1257300" cy="631825"/>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2400" b="1" dirty="0">
                <a:latin typeface="Times New Roman" panose="02020603050405020304" pitchFamily="18" charset="0"/>
                <a:ea typeface="华文楷体" panose="02010600040101010101" pitchFamily="2" charset="-122"/>
              </a:rPr>
              <a:t>用途</a:t>
            </a:r>
            <a:endParaRPr lang="zh-CN" altLang="en-US" sz="2400" b="1" dirty="0">
              <a:latin typeface="Times New Roman" panose="02020603050405020304" pitchFamily="18" charset="0"/>
              <a:ea typeface="华文楷体" panose="02010600040101010101" pitchFamily="2" charset="-122"/>
            </a:endParaRPr>
          </a:p>
        </p:txBody>
      </p:sp>
      <p:sp>
        <p:nvSpPr>
          <p:cNvPr id="2063373" name="Rectangle 13"/>
          <p:cNvSpPr/>
          <p:nvPr/>
        </p:nvSpPr>
        <p:spPr>
          <a:xfrm>
            <a:off x="1119188" y="5641975"/>
            <a:ext cx="6894512" cy="904875"/>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42900" lvl="0" indent="-342900" algn="just" eaLnBrk="1" hangingPunct="1">
              <a:lnSpc>
                <a:spcPct val="110000"/>
              </a:lnSpc>
              <a:spcBef>
                <a:spcPct val="0"/>
              </a:spcBef>
              <a:buClr>
                <a:srgbClr val="FF5050"/>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在仿真的初始状态对各变量进行</a:t>
            </a:r>
            <a:r>
              <a:rPr lang="zh-CN" altLang="en-US" sz="2200" b="1" dirty="0">
                <a:solidFill>
                  <a:srgbClr val="FF3399"/>
                </a:solidFill>
                <a:latin typeface="华文楷体" panose="02010600040101010101" pitchFamily="2" charset="-122"/>
                <a:ea typeface="华文楷体" panose="02010600040101010101" pitchFamily="2" charset="-122"/>
              </a:rPr>
              <a:t>初始化</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a:p>
            <a:pPr marL="342900" lvl="0" indent="-342900" algn="just" eaLnBrk="1" hangingPunct="1">
              <a:lnSpc>
                <a:spcPct val="110000"/>
              </a:lnSpc>
              <a:spcBef>
                <a:spcPct val="0"/>
              </a:spcBef>
              <a:buClr>
                <a:srgbClr val="FF5050"/>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在测试文件中</a:t>
            </a:r>
            <a:r>
              <a:rPr lang="zh-CN" altLang="en-US" sz="2200" b="1" dirty="0">
                <a:solidFill>
                  <a:srgbClr val="FF3399"/>
                </a:solidFill>
                <a:latin typeface="华文楷体" panose="02010600040101010101" pitchFamily="2" charset="-122"/>
                <a:ea typeface="华文楷体" panose="02010600040101010101" pitchFamily="2" charset="-122"/>
              </a:rPr>
              <a:t>生成激励波形</a:t>
            </a:r>
            <a:r>
              <a:rPr lang="zh-CN" altLang="en-US" sz="2200" b="1" dirty="0">
                <a:latin typeface="华文楷体" panose="02010600040101010101" pitchFamily="2" charset="-122"/>
                <a:ea typeface="华文楷体" panose="02010600040101010101" pitchFamily="2" charset="-122"/>
              </a:rPr>
              <a:t>作为电路的仿真信号。</a:t>
            </a:r>
            <a:endParaRPr lang="zh-CN" altLang="en-US" sz="22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63363">
                                            <p:txEl>
                                              <p:charRg st="0" end="12"/>
                                            </p:txEl>
                                          </p:spTgt>
                                        </p:tgtEl>
                                        <p:attrNameLst>
                                          <p:attrName>style.visibility</p:attrName>
                                        </p:attrNameLst>
                                      </p:cBhvr>
                                      <p:to>
                                        <p:strVal val="visible"/>
                                      </p:to>
                                    </p:set>
                                    <p:anim calcmode="lin" valueType="num">
                                      <p:cBhvr additive="base">
                                        <p:cTn id="7" dur="500" fill="hold"/>
                                        <p:tgtEl>
                                          <p:spTgt spid="2063363">
                                            <p:txEl>
                                              <p:charRg st="0" end="1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63363">
                                            <p:txEl>
                                              <p:charRg st="0" end="1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063367"/>
                                        </p:tgtEl>
                                        <p:attrNameLst>
                                          <p:attrName>style.visibility</p:attrName>
                                        </p:attrNameLst>
                                      </p:cBhvr>
                                      <p:to>
                                        <p:strVal val="visible"/>
                                      </p:to>
                                    </p:set>
                                    <p:anim calcmode="lin" valueType="num">
                                      <p:cBhvr>
                                        <p:cTn id="13" dur="500" fill="hold"/>
                                        <p:tgtEl>
                                          <p:spTgt spid="2063367"/>
                                        </p:tgtEl>
                                        <p:attrNameLst>
                                          <p:attrName>ppt_w</p:attrName>
                                        </p:attrNameLst>
                                      </p:cBhvr>
                                      <p:tavLst>
                                        <p:tav tm="0">
                                          <p:val>
                                            <p:fltVal val="0.000000"/>
                                          </p:val>
                                        </p:tav>
                                        <p:tav tm="100000">
                                          <p:val>
                                            <p:strVal val="#ppt_w"/>
                                          </p:val>
                                        </p:tav>
                                      </p:tavLst>
                                    </p:anim>
                                    <p:anim calcmode="lin" valueType="num">
                                      <p:cBhvr>
                                        <p:cTn id="14" dur="500" fill="hold"/>
                                        <p:tgtEl>
                                          <p:spTgt spid="2063367"/>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 presetClass="entr" presetSubtype="2" fill="hold" grpId="0" nodeType="afterEffect">
                                  <p:stCondLst>
                                    <p:cond delay="0"/>
                                  </p:stCondLst>
                                  <p:childTnLst>
                                    <p:set>
                                      <p:cBhvr>
                                        <p:cTn id="17" dur="1" fill="hold">
                                          <p:stCondLst>
                                            <p:cond delay="0"/>
                                          </p:stCondLst>
                                        </p:cTn>
                                        <p:tgtEl>
                                          <p:spTgt spid="2063364"/>
                                        </p:tgtEl>
                                        <p:attrNameLst>
                                          <p:attrName>style.visibility</p:attrName>
                                        </p:attrNameLst>
                                      </p:cBhvr>
                                      <p:to>
                                        <p:strVal val="visible"/>
                                      </p:to>
                                    </p:set>
                                    <p:anim calcmode="lin" valueType="num">
                                      <p:cBhvr additive="base">
                                        <p:cTn id="18" dur="500" fill="hold"/>
                                        <p:tgtEl>
                                          <p:spTgt spid="2063364"/>
                                        </p:tgtEl>
                                        <p:attrNameLst>
                                          <p:attrName>ppt_x</p:attrName>
                                        </p:attrNameLst>
                                      </p:cBhvr>
                                      <p:tavLst>
                                        <p:tav tm="0">
                                          <p:val>
                                            <p:strVal val="1+#ppt_w/2"/>
                                          </p:val>
                                        </p:tav>
                                        <p:tav tm="100000">
                                          <p:val>
                                            <p:strVal val="#ppt_x"/>
                                          </p:val>
                                        </p:tav>
                                      </p:tavLst>
                                    </p:anim>
                                    <p:anim calcmode="lin" valueType="num">
                                      <p:cBhvr additive="base">
                                        <p:cTn id="19" dur="500" fill="hold"/>
                                        <p:tgtEl>
                                          <p:spTgt spid="206336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288" fill="hold" grpId="0" nodeType="clickEffect">
                                  <p:stCondLst>
                                    <p:cond delay="0"/>
                                  </p:stCondLst>
                                  <p:childTnLst>
                                    <p:set>
                                      <p:cBhvr>
                                        <p:cTn id="23" dur="1" fill="hold">
                                          <p:stCondLst>
                                            <p:cond delay="0"/>
                                          </p:stCondLst>
                                        </p:cTn>
                                        <p:tgtEl>
                                          <p:spTgt spid="2063372"/>
                                        </p:tgtEl>
                                        <p:attrNameLst>
                                          <p:attrName>style.visibility</p:attrName>
                                        </p:attrNameLst>
                                      </p:cBhvr>
                                      <p:to>
                                        <p:strVal val="visible"/>
                                      </p:to>
                                    </p:set>
                                    <p:anim calcmode="lin" valueType="num">
                                      <p:cBhvr>
                                        <p:cTn id="24" dur="500" fill="hold"/>
                                        <p:tgtEl>
                                          <p:spTgt spid="2063372"/>
                                        </p:tgtEl>
                                        <p:attrNameLst>
                                          <p:attrName>ppt_w</p:attrName>
                                        </p:attrNameLst>
                                      </p:cBhvr>
                                      <p:tavLst>
                                        <p:tav tm="0">
                                          <p:val>
                                            <p:strVal val="4/3*#ppt_w"/>
                                          </p:val>
                                        </p:tav>
                                        <p:tav tm="100000">
                                          <p:val>
                                            <p:strVal val="#ppt_w"/>
                                          </p:val>
                                        </p:tav>
                                      </p:tavLst>
                                    </p:anim>
                                    <p:anim calcmode="lin" valueType="num">
                                      <p:cBhvr>
                                        <p:cTn id="25" dur="500" fill="hold"/>
                                        <p:tgtEl>
                                          <p:spTgt spid="2063372"/>
                                        </p:tgtEl>
                                        <p:attrNameLst>
                                          <p:attrName>ppt_h</p:attrName>
                                        </p:attrNameLst>
                                      </p:cBhvr>
                                      <p:tavLst>
                                        <p:tav tm="0">
                                          <p:val>
                                            <p:strVal val="4/3*#ppt_h"/>
                                          </p:val>
                                        </p:tav>
                                        <p:tav tm="100000">
                                          <p:val>
                                            <p:strVal val="#ppt_h"/>
                                          </p:val>
                                        </p:tav>
                                      </p:tavLst>
                                    </p:anim>
                                  </p:childTnLst>
                                </p:cTn>
                              </p:par>
                            </p:childTnLst>
                          </p:cTn>
                        </p:par>
                        <p:par>
                          <p:cTn id="26" fill="hold">
                            <p:stCondLst>
                              <p:cond delay="500"/>
                            </p:stCondLst>
                            <p:childTnLst>
                              <p:par>
                                <p:cTn id="27" presetID="2" presetClass="entr" presetSubtype="2" fill="hold" grpId="0" nodeType="afterEffect">
                                  <p:stCondLst>
                                    <p:cond delay="0"/>
                                  </p:stCondLst>
                                  <p:childTnLst>
                                    <p:set>
                                      <p:cBhvr>
                                        <p:cTn id="28" dur="1" fill="hold">
                                          <p:stCondLst>
                                            <p:cond delay="0"/>
                                          </p:stCondLst>
                                        </p:cTn>
                                        <p:tgtEl>
                                          <p:spTgt spid="2063373"/>
                                        </p:tgtEl>
                                        <p:attrNameLst>
                                          <p:attrName>style.visibility</p:attrName>
                                        </p:attrNameLst>
                                      </p:cBhvr>
                                      <p:to>
                                        <p:strVal val="visible"/>
                                      </p:to>
                                    </p:set>
                                    <p:anim calcmode="lin" valueType="num">
                                      <p:cBhvr additive="base">
                                        <p:cTn id="29" dur="500" fill="hold"/>
                                        <p:tgtEl>
                                          <p:spTgt spid="2063373"/>
                                        </p:tgtEl>
                                        <p:attrNameLst>
                                          <p:attrName>ppt_x</p:attrName>
                                        </p:attrNameLst>
                                      </p:cBhvr>
                                      <p:tavLst>
                                        <p:tav tm="0">
                                          <p:val>
                                            <p:strVal val="1+#ppt_w/2"/>
                                          </p:val>
                                        </p:tav>
                                        <p:tav tm="100000">
                                          <p:val>
                                            <p:strVal val="#ppt_x"/>
                                          </p:val>
                                        </p:tav>
                                      </p:tavLst>
                                    </p:anim>
                                    <p:anim calcmode="lin" valueType="num">
                                      <p:cBhvr additive="base">
                                        <p:cTn id="30" dur="500" fill="hold"/>
                                        <p:tgtEl>
                                          <p:spTgt spid="206337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063369">
                                            <p:txEl>
                                              <p:charRg st="0" end="42"/>
                                            </p:txEl>
                                          </p:spTgt>
                                        </p:tgtEl>
                                        <p:attrNameLst>
                                          <p:attrName>style.visibility</p:attrName>
                                        </p:attrNameLst>
                                      </p:cBhvr>
                                      <p:to>
                                        <p:strVal val="visible"/>
                                      </p:to>
                                    </p:set>
                                    <p:animEffect transition="in" filter="wipe(left)">
                                      <p:cBhvr>
                                        <p:cTn id="35" dur="500"/>
                                        <p:tgtEl>
                                          <p:spTgt spid="2063369">
                                            <p:txEl>
                                              <p:charRg st="0" end="42"/>
                                            </p:txEl>
                                          </p:spTgt>
                                        </p:tgtEl>
                                      </p:cBhvr>
                                    </p:animEffect>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2063370"/>
                                        </p:tgtEl>
                                        <p:attrNameLst>
                                          <p:attrName>style.visibility</p:attrName>
                                        </p:attrNameLst>
                                      </p:cBhvr>
                                      <p:to>
                                        <p:strVal val="visible"/>
                                      </p:to>
                                    </p:set>
                                    <p:anim calcmode="lin" valueType="num">
                                      <p:cBhvr additive="base">
                                        <p:cTn id="39" dur="500" fill="hold"/>
                                        <p:tgtEl>
                                          <p:spTgt spid="2063370"/>
                                        </p:tgtEl>
                                        <p:attrNameLst>
                                          <p:attrName>ppt_x</p:attrName>
                                        </p:attrNameLst>
                                      </p:cBhvr>
                                      <p:tavLst>
                                        <p:tav tm="0">
                                          <p:val>
                                            <p:strVal val="#ppt_x"/>
                                          </p:val>
                                        </p:tav>
                                        <p:tav tm="100000">
                                          <p:val>
                                            <p:strVal val="#ppt_x"/>
                                          </p:val>
                                        </p:tav>
                                      </p:tavLst>
                                    </p:anim>
                                    <p:anim calcmode="lin" valueType="num">
                                      <p:cBhvr additive="base">
                                        <p:cTn id="40" dur="500" fill="hold"/>
                                        <p:tgtEl>
                                          <p:spTgt spid="20633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3363" grpId="0" advAuto="1000" build="p"/>
      <p:bldP spid="2063364" grpId="0" animBg="1"/>
      <p:bldP spid="2063367" grpId="0"/>
      <p:bldP spid="2063369" grpId="0" build="p"/>
      <p:bldP spid="2063370" grpId="0" animBg="1"/>
      <p:bldP spid="2063372" grpId="0" bldLvl="0"/>
      <p:bldP spid="2063373"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73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2733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64362" name="Text Box 10"/>
          <p:cNvSpPr txBox="1"/>
          <p:nvPr/>
        </p:nvSpPr>
        <p:spPr>
          <a:xfrm>
            <a:off x="1273175" y="1771650"/>
            <a:ext cx="5705475" cy="44862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parameter size=16;</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reg[3:0] addr;</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reg reg1;</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reg[7:0] memory[0:15];</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solidFill>
                  <a:srgbClr val="FF0066"/>
                </a:solidFill>
                <a:latin typeface="Times New Roman" panose="02020603050405020304" pitchFamily="18" charset="0"/>
                <a:ea typeface="宋体" panose="02010600030101010101" pitchFamily="2" charset="-122"/>
              </a:rPr>
              <a:t>initial</a:t>
            </a:r>
            <a:endParaRPr lang="en-US" altLang="zh-CN" sz="2400" b="1" dirty="0">
              <a:solidFill>
                <a:srgbClr val="FF0066"/>
              </a:solidFill>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begin</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reg1 = 0; </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for(addr=0;addr&lt;size;addr=addr+1); </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memory[addr]=0;</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    end</a:t>
            </a:r>
            <a:endParaRPr lang="en-US" altLang="zh-CN" sz="2400"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1764365" name="Rectangle 13"/>
          <p:cNvSpPr>
            <a:spLocks noGrp="1"/>
          </p:cNvSpPr>
          <p:nvPr>
            <p:ph idx="1"/>
          </p:nvPr>
        </p:nvSpPr>
        <p:spPr/>
        <p:txBody>
          <a:bodyPr vert="horz" wrap="square" lIns="91440" tIns="45720" rIns="91440" bIns="45720" anchor="t" anchorCtr="0"/>
          <a:p>
            <a:pPr eaLnBrk="1" hangingPunct="1"/>
            <a:r>
              <a:rPr lang="en-US" altLang="zh-CN" dirty="0">
                <a:latin typeface="Times New Roman" panose="02020603050405020304" pitchFamily="18" charset="0"/>
                <a:ea typeface="黑体" panose="02010609060101010101" pitchFamily="49" charset="-122"/>
                <a:cs typeface="+mn-cs"/>
              </a:rPr>
              <a:t>[</a:t>
            </a:r>
            <a:r>
              <a:rPr lang="zh-CN" altLang="en-US" dirty="0">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黑体" panose="02010609060101010101" pitchFamily="49" charset="-122"/>
                <a:cs typeface="+mn-cs"/>
              </a:rPr>
              <a:t>9.5]  </a:t>
            </a:r>
            <a:r>
              <a:rPr lang="zh-CN" altLang="en-US" dirty="0">
                <a:latin typeface="宋体" panose="02010600030101010101" pitchFamily="2" charset="-122"/>
                <a:ea typeface="华文楷体" panose="02010600040101010101" pitchFamily="2" charset="-122"/>
                <a:cs typeface="+mn-cs"/>
              </a:rPr>
              <a:t>对各变量进行初始化。</a:t>
            </a:r>
            <a:endParaRPr lang="zh-CN" altLang="en-US" dirty="0">
              <a:latin typeface="宋体" panose="0201060003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64365"/>
                                        </p:tgtEl>
                                        <p:attrNameLst>
                                          <p:attrName>style.visibility</p:attrName>
                                        </p:attrNameLst>
                                      </p:cBhvr>
                                      <p:to>
                                        <p:strVal val="visible"/>
                                      </p:to>
                                    </p:set>
                                    <p:anim calcmode="lin" valueType="num">
                                      <p:cBhvr additive="base">
                                        <p:cTn id="7" dur="500" fill="hold"/>
                                        <p:tgtEl>
                                          <p:spTgt spid="1764365"/>
                                        </p:tgtEl>
                                        <p:attrNameLst>
                                          <p:attrName>ppt_x</p:attrName>
                                        </p:attrNameLst>
                                      </p:cBhvr>
                                      <p:tavLst>
                                        <p:tav tm="0">
                                          <p:val>
                                            <p:strVal val="0-#ppt_w/2"/>
                                          </p:val>
                                        </p:tav>
                                        <p:tav tm="100000">
                                          <p:val>
                                            <p:strVal val="#ppt_x"/>
                                          </p:val>
                                        </p:tav>
                                      </p:tavLst>
                                    </p:anim>
                                    <p:anim calcmode="lin" valueType="num">
                                      <p:cBhvr additive="base">
                                        <p:cTn id="8" dur="500" fill="hold"/>
                                        <p:tgtEl>
                                          <p:spTgt spid="176436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764362"/>
                                        </p:tgtEl>
                                        <p:attrNameLst>
                                          <p:attrName>style.visibility</p:attrName>
                                        </p:attrNameLst>
                                      </p:cBhvr>
                                      <p:to>
                                        <p:strVal val="visible"/>
                                      </p:to>
                                    </p:set>
                                    <p:anim calcmode="lin" valueType="num">
                                      <p:cBhvr additive="base">
                                        <p:cTn id="12" dur="500" fill="hold"/>
                                        <p:tgtEl>
                                          <p:spTgt spid="1764362"/>
                                        </p:tgtEl>
                                        <p:attrNameLst>
                                          <p:attrName>ppt_x</p:attrName>
                                        </p:attrNameLst>
                                      </p:cBhvr>
                                      <p:tavLst>
                                        <p:tav tm="0">
                                          <p:val>
                                            <p:strVal val="#ppt_x"/>
                                          </p:val>
                                        </p:tav>
                                        <p:tav tm="100000">
                                          <p:val>
                                            <p:strVal val="#ppt_x"/>
                                          </p:val>
                                        </p:tav>
                                      </p:tavLst>
                                    </p:anim>
                                    <p:anim calcmode="lin" valueType="num">
                                      <p:cBhvr additive="base">
                                        <p:cTn id="13" dur="500" fill="hold"/>
                                        <p:tgtEl>
                                          <p:spTgt spid="17643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4362" grpId="0" animBg="1"/>
      <p:bldP spid="1764365"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93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2937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68451" name="Rectangle 3"/>
          <p:cNvSpPr>
            <a:spLocks noGrp="1"/>
          </p:cNvSpPr>
          <p:nvPr>
            <p:ph idx="1"/>
          </p:nvPr>
        </p:nvSpPr>
        <p:spPr/>
        <p:txBody>
          <a:bodyPr vert="horz" wrap="square" lIns="91440" tIns="45720" rIns="91440" bIns="45720" anchor="t" anchorCtr="0"/>
          <a:p>
            <a:pPr algn="just" eaLnBrk="1" hangingPunct="1">
              <a:lnSpc>
                <a:spcPct val="120000"/>
              </a:lnSpc>
            </a:pPr>
            <a:r>
              <a:rPr lang="zh-CN" altLang="en-US" sz="2800" dirty="0">
                <a:latin typeface="Times New Roman" panose="02020603050405020304" pitchFamily="18" charset="0"/>
                <a:ea typeface="华文楷体" panose="02010600040101010101" pitchFamily="2" charset="-122"/>
                <a:cs typeface="+mn-cs"/>
              </a:rPr>
              <a:t>三、</a:t>
            </a:r>
            <a:r>
              <a:rPr lang="en-US" altLang="zh-CN" sz="2800" dirty="0">
                <a:latin typeface="Times New Roman" panose="02020603050405020304" pitchFamily="18" charset="0"/>
                <a:ea typeface="华文楷体" panose="02010600040101010101" pitchFamily="2" charset="-122"/>
                <a:cs typeface="+mn-cs"/>
              </a:rPr>
              <a:t>task</a:t>
            </a:r>
            <a:r>
              <a:rPr lang="zh-CN" altLang="en-US" sz="2800" dirty="0">
                <a:latin typeface="Times New Roman" panose="02020603050405020304" pitchFamily="18" charset="0"/>
                <a:ea typeface="华文楷体" panose="02010600040101010101" pitchFamily="2" charset="-122"/>
                <a:cs typeface="+mn-cs"/>
              </a:rPr>
              <a:t>和</a:t>
            </a:r>
            <a:r>
              <a:rPr lang="en-US" altLang="zh-CN" sz="2800" dirty="0">
                <a:latin typeface="Times New Roman" panose="02020603050405020304" pitchFamily="18" charset="0"/>
                <a:ea typeface="华文楷体" panose="02010600040101010101" pitchFamily="2" charset="-122"/>
                <a:cs typeface="+mn-cs"/>
              </a:rPr>
              <a:t>function</a:t>
            </a:r>
            <a:r>
              <a:rPr lang="zh-CN" altLang="en-US" sz="2800" dirty="0">
                <a:latin typeface="Times New Roman" panose="02020603050405020304" pitchFamily="18" charset="0"/>
                <a:ea typeface="华文楷体" panose="02010600040101010101" pitchFamily="2" charset="-122"/>
                <a:cs typeface="+mn-cs"/>
              </a:rPr>
              <a:t>语句</a:t>
            </a:r>
            <a:endParaRPr lang="zh-CN" altLang="en-US" sz="2800" dirty="0">
              <a:latin typeface="Times New Roman" panose="02020603050405020304" pitchFamily="18" charset="0"/>
              <a:ea typeface="华文楷体" panose="02010600040101010101" pitchFamily="2" charset="-122"/>
              <a:cs typeface="+mn-cs"/>
            </a:endParaRPr>
          </a:p>
          <a:p>
            <a:pPr algn="just" eaLnBrk="1" hangingPunct="1">
              <a:lnSpc>
                <a:spcPct val="120000"/>
              </a:lnSpc>
            </a:pPr>
            <a:r>
              <a:rPr lang="en-US" altLang="zh-CN" dirty="0">
                <a:latin typeface="Times New Roman" panose="02020603050405020304" pitchFamily="18" charset="0"/>
                <a:ea typeface="华文楷体" panose="02010600040101010101" pitchFamily="2" charset="-122"/>
                <a:cs typeface="+mn-cs"/>
              </a:rPr>
              <a:t>	task</a:t>
            </a:r>
            <a:r>
              <a:rPr lang="zh-CN" altLang="en-US" dirty="0">
                <a:latin typeface="Times New Roman" panose="02020603050405020304" pitchFamily="18" charset="0"/>
                <a:ea typeface="华文楷体" panose="02010600040101010101" pitchFamily="2" charset="-122"/>
                <a:cs typeface="+mn-cs"/>
              </a:rPr>
              <a:t>和</a:t>
            </a:r>
            <a:r>
              <a:rPr lang="en-US" altLang="zh-CN" dirty="0">
                <a:latin typeface="Times New Roman" panose="02020603050405020304" pitchFamily="18" charset="0"/>
                <a:ea typeface="华文楷体" panose="02010600040101010101" pitchFamily="2" charset="-122"/>
                <a:cs typeface="+mn-cs"/>
              </a:rPr>
              <a:t>function</a:t>
            </a:r>
            <a:r>
              <a:rPr lang="zh-CN" altLang="en-US" dirty="0">
                <a:latin typeface="Times New Roman" panose="02020603050405020304" pitchFamily="18" charset="0"/>
                <a:ea typeface="华文楷体" panose="02010600040101010101" pitchFamily="2" charset="-122"/>
                <a:cs typeface="+mn-cs"/>
              </a:rPr>
              <a:t>语句分别用来由用户定义任务和函数。</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20000"/>
              </a:lnSpc>
            </a:pPr>
            <a:r>
              <a:rPr lang="en-US"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任务和函数往往是大的程序模块中在不同地点多次用到的相同的程序段。</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20000"/>
              </a:lnSpc>
            </a:pPr>
            <a:r>
              <a:rPr lang="en-US"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利用任务和函数可将一个很大的程序模块分解为许多较小的任务和函数，便于理解和调试。</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20000"/>
              </a:lnSpc>
            </a:pPr>
            <a:r>
              <a:rPr lang="en-US"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输入、输出和总线信号的值可以传入、传出任务和函数。</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pPr>
            <a:endParaRPr lang="en-US" altLang="zh-CN" dirty="0">
              <a:latin typeface="宋体" panose="0201060003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68451"/>
                                        </p:tgtEl>
                                        <p:attrNameLst>
                                          <p:attrName>style.visibility</p:attrName>
                                        </p:attrNameLst>
                                      </p:cBhvr>
                                      <p:to>
                                        <p:strVal val="visible"/>
                                      </p:to>
                                    </p:set>
                                    <p:anim calcmode="lin" valueType="num">
                                      <p:cBhvr additive="base">
                                        <p:cTn id="7" dur="500" fill="hold"/>
                                        <p:tgtEl>
                                          <p:spTgt spid="1768451"/>
                                        </p:tgtEl>
                                        <p:attrNameLst>
                                          <p:attrName>ppt_x</p:attrName>
                                        </p:attrNameLst>
                                      </p:cBhvr>
                                      <p:tavLst>
                                        <p:tav tm="0">
                                          <p:val>
                                            <p:strVal val="0-#ppt_w/2"/>
                                          </p:val>
                                        </p:tav>
                                        <p:tav tm="100000">
                                          <p:val>
                                            <p:strVal val="#ppt_x"/>
                                          </p:val>
                                        </p:tav>
                                      </p:tavLst>
                                    </p:anim>
                                    <p:anim calcmode="lin" valueType="num">
                                      <p:cBhvr additive="base">
                                        <p:cTn id="8" dur="500" fill="hold"/>
                                        <p:tgtEl>
                                          <p:spTgt spid="17684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8451" grpId="0"/>
    </p:bld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14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142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19683" name="Rectangle 3"/>
          <p:cNvSpPr>
            <a:spLocks noGrp="1"/>
          </p:cNvSpPr>
          <p:nvPr>
            <p:ph idx="1"/>
          </p:nvPr>
        </p:nvSpPr>
        <p:spPr/>
        <p:txBody>
          <a:bodyPr vert="horz" wrap="square" lIns="91440" tIns="45720" rIns="91440" bIns="45720" anchor="t" anchorCtr="0"/>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r>
              <a:rPr lang="zh-CN" altLang="en-US" dirty="0">
                <a:latin typeface="宋体" panose="02010600030101010101" pitchFamily="2" charset="-122"/>
                <a:ea typeface="华文楷体" panose="02010600040101010101" pitchFamily="2" charset="-122"/>
                <a:cs typeface="+mn-cs"/>
              </a:rPr>
              <a:t>当希望能够对一些信号进行一些运算并输出</a:t>
            </a:r>
            <a:r>
              <a:rPr lang="zh-CN" altLang="en-US" dirty="0">
                <a:solidFill>
                  <a:srgbClr val="FF66CC"/>
                </a:solidFill>
                <a:latin typeface="宋体" panose="02010600030101010101" pitchFamily="2" charset="-122"/>
                <a:ea typeface="华文楷体" panose="02010600040101010101" pitchFamily="2" charset="-122"/>
                <a:cs typeface="+mn-cs"/>
              </a:rPr>
              <a:t>多个</a:t>
            </a:r>
            <a:r>
              <a:rPr lang="zh-CN" altLang="en-US" dirty="0">
                <a:latin typeface="宋体" panose="02010600030101010101" pitchFamily="2" charset="-122"/>
                <a:ea typeface="华文楷体" panose="02010600040101010101" pitchFamily="2" charset="-122"/>
                <a:cs typeface="+mn-cs"/>
              </a:rPr>
              <a:t>结果（即有多个输出变量）时，宜采用任务结构。</a:t>
            </a: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r>
              <a:rPr lang="zh-CN" altLang="en-US" dirty="0">
                <a:latin typeface="宋体" panose="02010600030101010101" pitchFamily="2" charset="-122"/>
                <a:ea typeface="华文楷体" panose="02010600040101010101" pitchFamily="2" charset="-122"/>
                <a:cs typeface="+mn-cs"/>
              </a:rPr>
              <a:t>常常利用任务来帮助实现结构化的模块设计，将批量的操作以任务的形式独立出来，使设计简单明了。</a:t>
            </a:r>
            <a:endParaRPr lang="zh-CN" altLang="en-US" dirty="0">
              <a:latin typeface="宋体" panose="02010600030101010101" pitchFamily="2" charset="-122"/>
              <a:ea typeface="华文楷体" panose="02010600040101010101" pitchFamily="2" charset="-122"/>
              <a:cs typeface="+mn-cs"/>
            </a:endParaRPr>
          </a:p>
        </p:txBody>
      </p:sp>
      <p:sp>
        <p:nvSpPr>
          <p:cNvPr id="2119684" name="Rectangle 4"/>
          <p:cNvSpPr/>
          <p:nvPr/>
        </p:nvSpPr>
        <p:spPr>
          <a:xfrm>
            <a:off x="279400" y="1185863"/>
            <a:ext cx="2527300" cy="633412"/>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800" b="1" dirty="0">
                <a:solidFill>
                  <a:schemeClr val="tx2"/>
                </a:solidFill>
                <a:latin typeface="华文楷体" panose="02010600040101010101" pitchFamily="2" charset="-122"/>
                <a:ea typeface="华文楷体" panose="02010600040101010101" pitchFamily="2" charset="-122"/>
              </a:rPr>
              <a:t>1.</a:t>
            </a:r>
            <a:r>
              <a:rPr lang="zh-CN" altLang="en-US" sz="2800" b="1" dirty="0">
                <a:solidFill>
                  <a:schemeClr val="tx2"/>
                </a:solidFill>
                <a:latin typeface="华文楷体" panose="02010600040101010101" pitchFamily="2" charset="-122"/>
                <a:ea typeface="华文楷体" panose="02010600040101010101" pitchFamily="2" charset="-122"/>
              </a:rPr>
              <a:t>任务（</a:t>
            </a:r>
            <a:r>
              <a:rPr lang="en-US" altLang="zh-CN" sz="2800" b="1" dirty="0">
                <a:solidFill>
                  <a:schemeClr val="tx2"/>
                </a:solidFill>
                <a:latin typeface="华文楷体" panose="02010600040101010101" pitchFamily="2" charset="-122"/>
                <a:ea typeface="华文楷体" panose="02010600040101010101" pitchFamily="2" charset="-122"/>
              </a:rPr>
              <a:t>task</a:t>
            </a:r>
            <a:r>
              <a:rPr lang="zh-CN" altLang="en-US" sz="2800" b="1" dirty="0">
                <a:solidFill>
                  <a:schemeClr val="tx2"/>
                </a:solidFill>
                <a:latin typeface="华文楷体" panose="02010600040101010101" pitchFamily="2" charset="-122"/>
                <a:ea typeface="华文楷体" panose="02010600040101010101" pitchFamily="2" charset="-122"/>
              </a:rPr>
              <a:t>）</a:t>
            </a:r>
            <a:endParaRPr lang="zh-CN" altLang="en-US" sz="2800" b="1" dirty="0">
              <a:solidFill>
                <a:schemeClr val="tx2"/>
              </a:solidFill>
              <a:latin typeface="华文楷体" panose="02010600040101010101" pitchFamily="2" charset="-122"/>
              <a:ea typeface="华文楷体" panose="02010600040101010101" pitchFamily="2" charset="-122"/>
            </a:endParaRPr>
          </a:p>
        </p:txBody>
      </p:sp>
      <p:sp>
        <p:nvSpPr>
          <p:cNvPr id="2119685" name="Text Box 5"/>
          <p:cNvSpPr txBox="1"/>
          <p:nvPr/>
        </p:nvSpPr>
        <p:spPr>
          <a:xfrm>
            <a:off x="2806700" y="3851275"/>
            <a:ext cx="3581400" cy="1371600"/>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task </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任务名</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端口及数据类型声明语句；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其他语句；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en-US" altLang="zh-CN" b="1" dirty="0">
                <a:solidFill>
                  <a:srgbClr val="FF0066"/>
                </a:solidFill>
                <a:latin typeface="宋体" panose="02010600030101010101" pitchFamily="2" charset="-122"/>
                <a:ea typeface="宋体" panose="02010600030101010101" pitchFamily="2" charset="-122"/>
              </a:rPr>
              <a:t>endtask</a:t>
            </a:r>
            <a:endParaRPr lang="en-US" altLang="zh-CN" b="1" dirty="0">
              <a:solidFill>
                <a:srgbClr val="FF0066"/>
              </a:solidFill>
              <a:latin typeface="宋体" panose="02010600030101010101" pitchFamily="2" charset="-122"/>
              <a:ea typeface="宋体" panose="02010600030101010101" pitchFamily="2" charset="-122"/>
            </a:endParaRPr>
          </a:p>
        </p:txBody>
      </p:sp>
      <p:sp>
        <p:nvSpPr>
          <p:cNvPr id="2119686" name="Text Box 6"/>
          <p:cNvSpPr txBox="1"/>
          <p:nvPr/>
        </p:nvSpPr>
        <p:spPr>
          <a:xfrm>
            <a:off x="2806700" y="5697538"/>
            <a:ext cx="4038600" cy="425450"/>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任务名</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（端口</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端口</a:t>
            </a:r>
            <a:r>
              <a:rPr lang="en-US" altLang="zh-CN" b="1" dirty="0">
                <a:latin typeface="宋体" panose="02010600030101010101" pitchFamily="2" charset="-122"/>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  </a:t>
            </a:r>
            <a:endParaRPr lang="zh-CN" altLang="en-US" b="1" dirty="0">
              <a:solidFill>
                <a:srgbClr val="FF0066"/>
              </a:solidFill>
              <a:latin typeface="宋体" panose="02010600030101010101" pitchFamily="2" charset="-122"/>
              <a:ea typeface="宋体" panose="02010600030101010101" pitchFamily="2" charset="-122"/>
            </a:endParaRPr>
          </a:p>
        </p:txBody>
      </p:sp>
      <p:sp>
        <p:nvSpPr>
          <p:cNvPr id="2119688" name="Rectangle 8"/>
          <p:cNvSpPr/>
          <p:nvPr/>
        </p:nvSpPr>
        <p:spPr>
          <a:xfrm>
            <a:off x="890588" y="3851275"/>
            <a:ext cx="1404937" cy="423863"/>
          </a:xfrm>
          <a:prstGeom prst="rect">
            <a:avLst/>
          </a:prstGeom>
          <a:noFill/>
          <a:ln w="25400">
            <a:noFill/>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en-US" altLang="en-US" sz="2400" b="1" dirty="0">
                <a:latin typeface="华文楷体" panose="02010600040101010101" pitchFamily="2" charset="-122"/>
                <a:ea typeface="华文楷体" panose="02010600040101010101" pitchFamily="2" charset="-122"/>
              </a:rPr>
              <a:t>任务定义</a:t>
            </a:r>
            <a:endParaRPr lang="en-US" altLang="en-US" sz="2400" b="1" dirty="0">
              <a:latin typeface="华文楷体" panose="02010600040101010101" pitchFamily="2" charset="-122"/>
              <a:ea typeface="华文楷体" panose="02010600040101010101" pitchFamily="2" charset="-122"/>
            </a:endParaRPr>
          </a:p>
        </p:txBody>
      </p:sp>
      <p:sp>
        <p:nvSpPr>
          <p:cNvPr id="2119689" name="Rectangle 9"/>
          <p:cNvSpPr/>
          <p:nvPr/>
        </p:nvSpPr>
        <p:spPr>
          <a:xfrm>
            <a:off x="890588" y="5678488"/>
            <a:ext cx="1404937" cy="423862"/>
          </a:xfrm>
          <a:prstGeom prst="rect">
            <a:avLst/>
          </a:prstGeom>
          <a:noFill/>
          <a:ln w="25400">
            <a:noFill/>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en-US" altLang="en-US" sz="2400" b="1" dirty="0">
                <a:latin typeface="华文楷体" panose="02010600040101010101" pitchFamily="2" charset="-122"/>
                <a:ea typeface="华文楷体" panose="02010600040101010101" pitchFamily="2" charset="-122"/>
              </a:rPr>
              <a:t>任务调用</a:t>
            </a:r>
            <a:endParaRPr lang="en-US"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19684"/>
                                        </p:tgtEl>
                                        <p:attrNameLst>
                                          <p:attrName>style.visibility</p:attrName>
                                        </p:attrNameLst>
                                      </p:cBhvr>
                                      <p:to>
                                        <p:strVal val="visible"/>
                                      </p:to>
                                    </p:set>
                                    <p:anim calcmode="lin" valueType="num">
                                      <p:cBhvr additive="base">
                                        <p:cTn id="7" dur="500" fill="hold"/>
                                        <p:tgtEl>
                                          <p:spTgt spid="2119684"/>
                                        </p:tgtEl>
                                        <p:attrNameLst>
                                          <p:attrName>ppt_x</p:attrName>
                                        </p:attrNameLst>
                                      </p:cBhvr>
                                      <p:tavLst>
                                        <p:tav tm="0">
                                          <p:val>
                                            <p:strVal val="0-#ppt_w/2"/>
                                          </p:val>
                                        </p:tav>
                                        <p:tav tm="100000">
                                          <p:val>
                                            <p:strVal val="#ppt_x"/>
                                          </p:val>
                                        </p:tav>
                                      </p:tavLst>
                                    </p:anim>
                                    <p:anim calcmode="lin" valueType="num">
                                      <p:cBhvr additive="base">
                                        <p:cTn id="8" dur="500" fill="hold"/>
                                        <p:tgtEl>
                                          <p:spTgt spid="211968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119683"/>
                                        </p:tgtEl>
                                        <p:attrNameLst>
                                          <p:attrName>style.visibility</p:attrName>
                                        </p:attrNameLst>
                                      </p:cBhvr>
                                      <p:to>
                                        <p:strVal val="visible"/>
                                      </p:to>
                                    </p:set>
                                    <p:anim calcmode="lin" valueType="num">
                                      <p:cBhvr additive="base">
                                        <p:cTn id="12" dur="500" fill="hold"/>
                                        <p:tgtEl>
                                          <p:spTgt spid="2119683"/>
                                        </p:tgtEl>
                                        <p:attrNameLst>
                                          <p:attrName>ppt_x</p:attrName>
                                        </p:attrNameLst>
                                      </p:cBhvr>
                                      <p:tavLst>
                                        <p:tav tm="0">
                                          <p:val>
                                            <p:strVal val="0-#ppt_w/2"/>
                                          </p:val>
                                        </p:tav>
                                        <p:tav tm="100000">
                                          <p:val>
                                            <p:strVal val="#ppt_x"/>
                                          </p:val>
                                        </p:tav>
                                      </p:tavLst>
                                    </p:anim>
                                    <p:anim calcmode="lin" valueType="num">
                                      <p:cBhvr additive="base">
                                        <p:cTn id="13" dur="500" fill="hold"/>
                                        <p:tgtEl>
                                          <p:spTgt spid="211968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119688"/>
                                        </p:tgtEl>
                                        <p:attrNameLst>
                                          <p:attrName>style.visibility</p:attrName>
                                        </p:attrNameLst>
                                      </p:cBhvr>
                                      <p:to>
                                        <p:strVal val="visible"/>
                                      </p:to>
                                    </p:set>
                                    <p:anim calcmode="lin" valueType="num">
                                      <p:cBhvr>
                                        <p:cTn id="18" dur="500" fill="hold"/>
                                        <p:tgtEl>
                                          <p:spTgt spid="2119688"/>
                                        </p:tgtEl>
                                        <p:attrNameLst>
                                          <p:attrName>ppt_w</p:attrName>
                                        </p:attrNameLst>
                                      </p:cBhvr>
                                      <p:tavLst>
                                        <p:tav tm="0">
                                          <p:val>
                                            <p:fltVal val="0.000000"/>
                                          </p:val>
                                        </p:tav>
                                        <p:tav tm="100000">
                                          <p:val>
                                            <p:strVal val="#ppt_w"/>
                                          </p:val>
                                        </p:tav>
                                      </p:tavLst>
                                    </p:anim>
                                    <p:anim calcmode="lin" valueType="num">
                                      <p:cBhvr>
                                        <p:cTn id="19" dur="500" fill="hold"/>
                                        <p:tgtEl>
                                          <p:spTgt spid="2119688"/>
                                        </p:tgtEl>
                                        <p:attrNameLst>
                                          <p:attrName>ppt_h</p:attrName>
                                        </p:attrNameLst>
                                      </p:cBhvr>
                                      <p:tavLst>
                                        <p:tav tm="0">
                                          <p:val>
                                            <p:fltVal val="0.000000"/>
                                          </p:val>
                                        </p:tav>
                                        <p:tav tm="100000">
                                          <p:val>
                                            <p:strVal val="#ppt_h"/>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119685"/>
                                        </p:tgtEl>
                                        <p:attrNameLst>
                                          <p:attrName>style.visibility</p:attrName>
                                        </p:attrNameLst>
                                      </p:cBhvr>
                                      <p:to>
                                        <p:strVal val="visible"/>
                                      </p:to>
                                    </p:set>
                                    <p:animEffect transition="in" filter="wipe(left)">
                                      <p:cBhvr>
                                        <p:cTn id="23" dur="500"/>
                                        <p:tgtEl>
                                          <p:spTgt spid="2119685"/>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2119689"/>
                                        </p:tgtEl>
                                        <p:attrNameLst>
                                          <p:attrName>style.visibility</p:attrName>
                                        </p:attrNameLst>
                                      </p:cBhvr>
                                      <p:to>
                                        <p:strVal val="visible"/>
                                      </p:to>
                                    </p:set>
                                    <p:anim calcmode="lin" valueType="num">
                                      <p:cBhvr>
                                        <p:cTn id="28" dur="500" fill="hold"/>
                                        <p:tgtEl>
                                          <p:spTgt spid="2119689"/>
                                        </p:tgtEl>
                                        <p:attrNameLst>
                                          <p:attrName>ppt_w</p:attrName>
                                        </p:attrNameLst>
                                      </p:cBhvr>
                                      <p:tavLst>
                                        <p:tav tm="0">
                                          <p:val>
                                            <p:fltVal val="0.000000"/>
                                          </p:val>
                                        </p:tav>
                                        <p:tav tm="100000">
                                          <p:val>
                                            <p:strVal val="#ppt_w"/>
                                          </p:val>
                                        </p:tav>
                                      </p:tavLst>
                                    </p:anim>
                                    <p:anim calcmode="lin" valueType="num">
                                      <p:cBhvr>
                                        <p:cTn id="29" dur="500" fill="hold"/>
                                        <p:tgtEl>
                                          <p:spTgt spid="2119689"/>
                                        </p:tgtEl>
                                        <p:attrNameLst>
                                          <p:attrName>ppt_h</p:attrName>
                                        </p:attrNameLst>
                                      </p:cBhvr>
                                      <p:tavLst>
                                        <p:tav tm="0">
                                          <p:val>
                                            <p:fltVal val="0.000000"/>
                                          </p:val>
                                        </p:tav>
                                        <p:tav tm="100000">
                                          <p:val>
                                            <p:strVal val="#ppt_h"/>
                                          </p:val>
                                        </p:tav>
                                      </p:tavLst>
                                    </p:anim>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119686"/>
                                        </p:tgtEl>
                                        <p:attrNameLst>
                                          <p:attrName>style.visibility</p:attrName>
                                        </p:attrNameLst>
                                      </p:cBhvr>
                                      <p:to>
                                        <p:strVal val="visible"/>
                                      </p:to>
                                    </p:set>
                                    <p:animEffect transition="in" filter="wipe(left)">
                                      <p:cBhvr>
                                        <p:cTn id="33" dur="500"/>
                                        <p:tgtEl>
                                          <p:spTgt spid="2119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683" grpId="0"/>
      <p:bldP spid="2119684" grpId="0"/>
      <p:bldP spid="2119685" grpId="0" animBg="1"/>
      <p:bldP spid="2119686" grpId="0" animBg="1"/>
      <p:bldP spid="2119688" grpId="0"/>
      <p:bldP spid="2119689" grpId="0"/>
    </p:bld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347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347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72547" name="Rectangle 3"/>
          <p:cNvSpPr>
            <a:spLocks noGrp="1"/>
          </p:cNvSpPr>
          <p:nvPr>
            <p:ph idx="1"/>
          </p:nvPr>
        </p:nvSpPr>
        <p:spPr>
          <a:xfrm>
            <a:off x="539750" y="773113"/>
            <a:ext cx="7921625" cy="5032375"/>
          </a:xfrm>
        </p:spPr>
        <p:txBody>
          <a:bodyPr vert="horz" wrap="square" lIns="91440" tIns="45720" rIns="91440" bIns="45720" anchor="t" anchorCtr="0"/>
          <a:p>
            <a:pPr marL="0" indent="0" algn="just">
              <a:lnSpc>
                <a:spcPct val="90000"/>
              </a:lnSpc>
              <a:spcBef>
                <a:spcPct val="0"/>
              </a:spcBef>
            </a:pPr>
            <a:r>
              <a:rPr lang="en-US" altLang="zh-CN" sz="2200" dirty="0">
                <a:latin typeface="Times New Roman" panose="02020603050405020304" pitchFamily="18" charset="0"/>
                <a:ea typeface="黑体" panose="02010609060101010101" pitchFamily="49" charset="-122"/>
                <a:cs typeface="+mn-cs"/>
              </a:rPr>
              <a:t>[</a:t>
            </a:r>
            <a:r>
              <a:rPr lang="zh-CN" altLang="en-US" sz="2200" dirty="0">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黑体" panose="02010609060101010101" pitchFamily="49" charset="-122"/>
                <a:cs typeface="+mn-cs"/>
              </a:rPr>
              <a:t>9.6] </a:t>
            </a:r>
            <a:r>
              <a:rPr lang="zh-CN" altLang="en-US" sz="2200" dirty="0">
                <a:latin typeface="Times New Roman" panose="02020603050405020304" pitchFamily="18" charset="0"/>
                <a:ea typeface="华文楷体" panose="02010600040101010101" pitchFamily="2" charset="-122"/>
                <a:cs typeface="+mn-cs"/>
              </a:rPr>
              <a:t>任务的定义与调用。</a:t>
            </a:r>
            <a:r>
              <a:rPr lang="zh-CN" altLang="en-US" dirty="0">
                <a:latin typeface="Times New Roman" panose="02020603050405020304" pitchFamily="18" charset="0"/>
                <a:ea typeface="华文楷体" panose="02010600040101010101" pitchFamily="2" charset="-122"/>
                <a:cs typeface="+mn-cs"/>
              </a:rPr>
              <a:t>                    </a:t>
            </a:r>
            <a:endParaRPr lang="zh-CN" altLang="en-US" dirty="0">
              <a:latin typeface="Times New Roman" panose="02020603050405020304" pitchFamily="18" charset="0"/>
              <a:ea typeface="华文楷体" panose="02010600040101010101" pitchFamily="2" charset="-122"/>
              <a:cs typeface="+mn-cs"/>
            </a:endParaRPr>
          </a:p>
        </p:txBody>
      </p:sp>
      <p:sp>
        <p:nvSpPr>
          <p:cNvPr id="1772548" name="Text Box 4"/>
          <p:cNvSpPr txBox="1"/>
          <p:nvPr/>
        </p:nvSpPr>
        <p:spPr>
          <a:xfrm>
            <a:off x="306388" y="3375025"/>
            <a:ext cx="4800600" cy="34575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latin typeface="Times New Roman" panose="02020603050405020304" pitchFamily="18" charset="0"/>
                <a:ea typeface="宋体" panose="02010600030101010101" pitchFamily="2" charset="-122"/>
              </a:rPr>
              <a:t>task my_task;</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input a,b;</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inout c;</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output d,e;</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&lt;</a:t>
            </a:r>
            <a:r>
              <a:rPr lang="zh-CN" altLang="en-US" b="1" dirty="0">
                <a:latin typeface="Times New Roman" panose="02020603050405020304" pitchFamily="18" charset="0"/>
                <a:ea typeface="宋体" panose="02010600030101010101" pitchFamily="2" charset="-122"/>
              </a:rPr>
              <a:t>语句</a:t>
            </a:r>
            <a:r>
              <a:rPr lang="en-US" altLang="zh-CN" b="1" dirty="0">
                <a:latin typeface="Times New Roman" panose="02020603050405020304" pitchFamily="18" charset="0"/>
                <a:ea typeface="宋体" panose="02010600030101010101" pitchFamily="2" charset="-122"/>
              </a:rPr>
              <a:t>&gt;       //</a:t>
            </a:r>
            <a:r>
              <a:rPr lang="zh-CN" altLang="en-US" b="1" dirty="0">
                <a:latin typeface="Times New Roman" panose="02020603050405020304" pitchFamily="18" charset="0"/>
                <a:ea typeface="宋体" panose="02010600030101010101" pitchFamily="2" charset="-122"/>
              </a:rPr>
              <a:t>执行任务工作相应的语句</a:t>
            </a:r>
            <a:endParaRPr lang="zh-CN" altLang="en-US" b="1" dirty="0">
              <a:latin typeface="Times New Roman" panose="02020603050405020304" pitchFamily="18" charset="0"/>
              <a:ea typeface="宋体" panose="02010600030101010101" pitchFamily="2" charset="-122"/>
            </a:endParaRPr>
          </a:p>
          <a:p>
            <a:pPr marL="0" lvl="0" indent="0" algn="just">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c = foo1;</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d = foo2;      //</a:t>
            </a:r>
            <a:r>
              <a:rPr lang="zh-CN" altLang="en-US" b="1" dirty="0">
                <a:latin typeface="Times New Roman" panose="02020603050405020304" pitchFamily="18" charset="0"/>
                <a:ea typeface="宋体" panose="02010600030101010101" pitchFamily="2" charset="-122"/>
              </a:rPr>
              <a:t>对任务的输出变量赋值</a:t>
            </a:r>
            <a:endParaRPr lang="zh-CN" altLang="en-US" b="1" dirty="0">
              <a:latin typeface="Times New Roman" panose="02020603050405020304" pitchFamily="18" charset="0"/>
              <a:ea typeface="宋体" panose="02010600030101010101" pitchFamily="2" charset="-122"/>
            </a:endParaRPr>
          </a:p>
          <a:p>
            <a:pPr marL="0" lvl="0" indent="0" algn="just">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e = foo3; </a:t>
            </a:r>
            <a:endParaRPr lang="en-US" altLang="zh-CN" b="1" dirty="0">
              <a:latin typeface="Times New Roman" panose="02020603050405020304" pitchFamily="18" charset="0"/>
              <a:ea typeface="宋体" panose="02010600030101010101" pitchFamily="2" charset="-122"/>
            </a:endParaRPr>
          </a:p>
          <a:p>
            <a:pPr marL="0" lvl="0" indent="0" algn="just">
              <a:spcBef>
                <a:spcPct val="0"/>
              </a:spcBef>
              <a:buNone/>
            </a:pPr>
            <a:r>
              <a:rPr lang="en-US" altLang="zh-CN" b="1" dirty="0">
                <a:latin typeface="Times New Roman" panose="02020603050405020304" pitchFamily="18" charset="0"/>
                <a:ea typeface="宋体" panose="02010600030101010101" pitchFamily="2" charset="-122"/>
              </a:rPr>
              <a:t> endtask</a:t>
            </a:r>
            <a:endParaRPr lang="en-US" altLang="zh-CN" b="1" dirty="0">
              <a:latin typeface="Times New Roman" panose="02020603050405020304" pitchFamily="18" charset="0"/>
              <a:ea typeface="宋体" panose="02010600030101010101" pitchFamily="2" charset="-122"/>
            </a:endParaRPr>
          </a:p>
        </p:txBody>
      </p:sp>
      <p:sp>
        <p:nvSpPr>
          <p:cNvPr id="1772549" name="Text Box 5"/>
          <p:cNvSpPr txBox="1"/>
          <p:nvPr/>
        </p:nvSpPr>
        <p:spPr>
          <a:xfrm>
            <a:off x="5830888" y="3476625"/>
            <a:ext cx="2667000" cy="4095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spcBef>
                <a:spcPct val="0"/>
              </a:spcBef>
              <a:buNone/>
            </a:pPr>
            <a:r>
              <a:rPr lang="en-US" altLang="zh-CN" b="1" dirty="0">
                <a:solidFill>
                  <a:srgbClr val="FF0066"/>
                </a:solidFill>
                <a:latin typeface="Times New Roman" panose="02020603050405020304" pitchFamily="18" charset="0"/>
                <a:ea typeface="宋体" panose="02010600030101010101" pitchFamily="2" charset="-122"/>
              </a:rPr>
              <a:t>my_task</a:t>
            </a:r>
            <a:r>
              <a:rPr lang="zh-CN" altLang="en-US" b="1" dirty="0">
                <a:solidFill>
                  <a:srgbClr val="FF0066"/>
                </a:solidFill>
                <a:latin typeface="Times New Roman" panose="02020603050405020304" pitchFamily="18" charset="0"/>
                <a:ea typeface="宋体" panose="02010600030101010101" pitchFamily="2" charset="-122"/>
              </a:rPr>
              <a:t>（</a:t>
            </a:r>
            <a:r>
              <a:rPr lang="en-US" altLang="zh-CN" b="1" dirty="0">
                <a:solidFill>
                  <a:srgbClr val="FF0066"/>
                </a:solidFill>
                <a:latin typeface="Times New Roman" panose="02020603050405020304" pitchFamily="18" charset="0"/>
                <a:ea typeface="宋体" panose="02010600030101010101" pitchFamily="2" charset="-122"/>
              </a:rPr>
              <a:t>v,w,x,y,z);</a:t>
            </a: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p:txBody>
      </p:sp>
      <p:sp>
        <p:nvSpPr>
          <p:cNvPr id="1772550" name="Text Box 6"/>
          <p:cNvSpPr txBox="1"/>
          <p:nvPr/>
        </p:nvSpPr>
        <p:spPr>
          <a:xfrm>
            <a:off x="1792288" y="2933700"/>
            <a:ext cx="1828800" cy="39687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spcBef>
                <a:spcPct val="0"/>
              </a:spcBef>
              <a:buNone/>
            </a:pPr>
            <a:r>
              <a:rPr lang="zh-CN" altLang="en-US" b="1" dirty="0">
                <a:latin typeface="华文楷体" panose="02010600040101010101" pitchFamily="2" charset="-122"/>
                <a:ea typeface="华文楷体" panose="02010600040101010101" pitchFamily="2" charset="-122"/>
              </a:rPr>
              <a:t>任务定义</a:t>
            </a:r>
            <a:endParaRPr lang="zh-CN" altLang="en-US" b="1" dirty="0">
              <a:latin typeface="华文楷体" panose="02010600040101010101" pitchFamily="2" charset="-122"/>
              <a:ea typeface="华文楷体" panose="02010600040101010101" pitchFamily="2" charset="-122"/>
            </a:endParaRPr>
          </a:p>
        </p:txBody>
      </p:sp>
      <p:sp>
        <p:nvSpPr>
          <p:cNvPr id="1772551" name="Text Box 7"/>
          <p:cNvSpPr txBox="1"/>
          <p:nvPr/>
        </p:nvSpPr>
        <p:spPr>
          <a:xfrm>
            <a:off x="6381750" y="3016250"/>
            <a:ext cx="1524000" cy="396875"/>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a:spcBef>
                <a:spcPct val="0"/>
              </a:spcBef>
              <a:buNone/>
            </a:pPr>
            <a:r>
              <a:rPr lang="zh-CN" altLang="en-US" b="1" dirty="0">
                <a:latin typeface="华文楷体" panose="02010600040101010101" pitchFamily="2" charset="-122"/>
                <a:ea typeface="华文楷体" panose="02010600040101010101" pitchFamily="2" charset="-122"/>
              </a:rPr>
              <a:t>任务调用</a:t>
            </a:r>
            <a:endParaRPr lang="zh-CN" altLang="en-US" b="1" dirty="0">
              <a:latin typeface="华文楷体" panose="02010600040101010101" pitchFamily="2" charset="-122"/>
              <a:ea typeface="华文楷体" panose="02010600040101010101" pitchFamily="2" charset="-122"/>
            </a:endParaRPr>
          </a:p>
        </p:txBody>
      </p:sp>
      <p:sp>
        <p:nvSpPr>
          <p:cNvPr id="1772552" name="Rectangle 8"/>
          <p:cNvSpPr/>
          <p:nvPr/>
        </p:nvSpPr>
        <p:spPr>
          <a:xfrm>
            <a:off x="5334000" y="4343400"/>
            <a:ext cx="3505200" cy="1441450"/>
          </a:xfrm>
          <a:prstGeom prst="rect">
            <a:avLst/>
          </a:prstGeom>
          <a:noFill/>
          <a:ln w="9525" cap="flat" cmpd="sng">
            <a:solidFill>
              <a:schemeClr val="tx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SzPct val="85000"/>
              <a:buFont typeface="Wingdings" panose="05000000000000000000" pitchFamily="2" charset="2"/>
              <a:buChar char="Ø"/>
            </a:pPr>
            <a:r>
              <a:rPr lang="en-US" altLang="zh-CN" b="1" dirty="0">
                <a:latin typeface="华文楷体" panose="02010600040101010101" pitchFamily="2" charset="-122"/>
                <a:ea typeface="华文楷体" panose="02010600040101010101" pitchFamily="2" charset="-122"/>
              </a:rPr>
              <a:t> </a:t>
            </a:r>
            <a:r>
              <a:rPr lang="zh-CN" altLang="zh-CN" b="1" dirty="0">
                <a:latin typeface="华文楷体" panose="02010600040101010101" pitchFamily="2" charset="-122"/>
                <a:ea typeface="华文楷体" panose="02010600040101010101" pitchFamily="2" charset="-122"/>
              </a:rPr>
              <a:t>当</a:t>
            </a:r>
            <a:r>
              <a:rPr lang="zh-CN" altLang="en-US" b="1" dirty="0">
                <a:latin typeface="华文楷体" panose="02010600040101010101" pitchFamily="2" charset="-122"/>
                <a:ea typeface="华文楷体" panose="02010600040101010101" pitchFamily="2" charset="-122"/>
              </a:rPr>
              <a:t>任务启动时，由</a:t>
            </a:r>
            <a:r>
              <a:rPr lang="en-US" altLang="zh-CN" b="1" dirty="0">
                <a:latin typeface="华文楷体" panose="02010600040101010101" pitchFamily="2" charset="-122"/>
                <a:ea typeface="华文楷体" panose="02010600040101010101" pitchFamily="2" charset="-122"/>
              </a:rPr>
              <a:t>v</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w</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x</a:t>
            </a:r>
            <a:r>
              <a:rPr lang="zh-CN" altLang="en-US" b="1" dirty="0">
                <a:latin typeface="华文楷体" panose="02010600040101010101" pitchFamily="2" charset="-122"/>
                <a:ea typeface="华文楷体" panose="02010600040101010101" pitchFamily="2" charset="-122"/>
              </a:rPr>
              <a:t>传入的变量赋给了</a:t>
            </a:r>
            <a:r>
              <a:rPr lang="en-US" altLang="zh-CN" b="1" dirty="0">
                <a:latin typeface="华文楷体" panose="02010600040101010101" pitchFamily="2" charset="-122"/>
                <a:ea typeface="华文楷体" panose="02010600040101010101" pitchFamily="2" charset="-122"/>
              </a:rPr>
              <a:t>a</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b</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c</a:t>
            </a:r>
            <a:r>
              <a:rPr lang="zh-CN" altLang="en-US" b="1" dirty="0">
                <a:latin typeface="华文楷体" panose="02010600040101010101" pitchFamily="2" charset="-122"/>
                <a:ea typeface="华文楷体" panose="02010600040101010101" pitchFamily="2" charset="-122"/>
              </a:rPr>
              <a:t>；</a:t>
            </a:r>
            <a:endParaRPr lang="zh-CN" altLang="en-US" b="1" dirty="0">
              <a:latin typeface="华文楷体" panose="02010600040101010101" pitchFamily="2" charset="-122"/>
              <a:ea typeface="华文楷体" panose="02010600040101010101" pitchFamily="2" charset="-122"/>
            </a:endParaRPr>
          </a:p>
          <a:p>
            <a:pPr marL="0" lvl="0" indent="0" algn="just">
              <a:lnSpc>
                <a:spcPct val="110000"/>
              </a:lnSpc>
              <a:spcBef>
                <a:spcPct val="0"/>
              </a:spcBef>
              <a:buClr>
                <a:schemeClr val="hlink"/>
              </a:buClr>
              <a:buSzPct val="85000"/>
              <a:buFont typeface="Wingdings" panose="05000000000000000000" pitchFamily="2" charset="2"/>
              <a:buChar char="Ø"/>
            </a:pPr>
            <a:r>
              <a:rPr lang="zh-CN" altLang="en-US" b="1" dirty="0">
                <a:latin typeface="华文楷体" panose="02010600040101010101" pitchFamily="2" charset="-122"/>
                <a:ea typeface="华文楷体" panose="02010600040101010101" pitchFamily="2" charset="-122"/>
              </a:rPr>
              <a:t> 当任务完成后，输出通过</a:t>
            </a:r>
            <a:r>
              <a:rPr lang="en-US" altLang="zh-CN" b="1" dirty="0">
                <a:latin typeface="华文楷体" panose="02010600040101010101" pitchFamily="2" charset="-122"/>
                <a:ea typeface="华文楷体" panose="02010600040101010101" pitchFamily="2" charset="-122"/>
              </a:rPr>
              <a:t>c</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d</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e</a:t>
            </a:r>
            <a:r>
              <a:rPr lang="zh-CN" altLang="en-US" b="1" dirty="0">
                <a:latin typeface="华文楷体" panose="02010600040101010101" pitchFamily="2" charset="-122"/>
                <a:ea typeface="华文楷体" panose="02010600040101010101" pitchFamily="2" charset="-122"/>
              </a:rPr>
              <a:t>赋给了</a:t>
            </a:r>
            <a:r>
              <a:rPr lang="en-US" altLang="zh-CN" b="1" dirty="0">
                <a:latin typeface="华文楷体" panose="02010600040101010101" pitchFamily="2" charset="-122"/>
                <a:ea typeface="华文楷体" panose="02010600040101010101" pitchFamily="2" charset="-122"/>
              </a:rPr>
              <a:t>x</a:t>
            </a:r>
            <a:r>
              <a:rPr lang="zh-CN" altLang="en-US" b="1" dirty="0">
                <a:latin typeface="华文楷体" panose="02010600040101010101" pitchFamily="2" charset="-122"/>
                <a:ea typeface="华文楷体" panose="02010600040101010101" pitchFamily="2" charset="-122"/>
              </a:rPr>
              <a:t>、</a:t>
            </a:r>
            <a:r>
              <a:rPr lang="en-US" altLang="zh-CN" b="1" dirty="0">
                <a:latin typeface="华文楷体" panose="02010600040101010101" pitchFamily="2" charset="-122"/>
                <a:ea typeface="华文楷体" panose="02010600040101010101" pitchFamily="2" charset="-122"/>
              </a:rPr>
              <a:t>y</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z</a:t>
            </a:r>
            <a:r>
              <a:rPr lang="zh-CN" altLang="en-US" b="1" dirty="0">
                <a:latin typeface="华文楷体" panose="02010600040101010101" pitchFamily="2" charset="-122"/>
                <a:ea typeface="华文楷体" panose="02010600040101010101" pitchFamily="2" charset="-122"/>
              </a:rPr>
              <a:t>。</a:t>
            </a:r>
            <a:endParaRPr lang="zh-CN" altLang="en-US" b="1" dirty="0">
              <a:latin typeface="华文楷体" panose="02010600040101010101" pitchFamily="2" charset="-122"/>
              <a:ea typeface="华文楷体" panose="02010600040101010101" pitchFamily="2" charset="-122"/>
            </a:endParaRPr>
          </a:p>
        </p:txBody>
      </p:sp>
      <p:sp>
        <p:nvSpPr>
          <p:cNvPr id="1772553" name="Rectangle 9"/>
          <p:cNvSpPr/>
          <p:nvPr/>
        </p:nvSpPr>
        <p:spPr>
          <a:xfrm>
            <a:off x="1671638" y="1270000"/>
            <a:ext cx="6826250" cy="1501775"/>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b="1" dirty="0">
                <a:latin typeface="华文楷体" panose="02010600040101010101" pitchFamily="2" charset="-122"/>
                <a:ea typeface="华文楷体" panose="02010600040101010101" pitchFamily="2" charset="-122"/>
              </a:rPr>
              <a:t>注</a:t>
            </a:r>
            <a:r>
              <a:rPr lang="en-US" altLang="zh-CN" b="1" dirty="0">
                <a:latin typeface="华文楷体" panose="02010600040101010101" pitchFamily="2" charset="-122"/>
                <a:ea typeface="华文楷体" panose="02010600040101010101" pitchFamily="2" charset="-122"/>
              </a:rPr>
              <a:t>1</a:t>
            </a:r>
            <a:r>
              <a:rPr lang="zh-CN" altLang="zh-CN" b="1" dirty="0">
                <a:latin typeface="华文楷体" panose="02010600040101010101" pitchFamily="2" charset="-122"/>
                <a:ea typeface="华文楷体" panose="02010600040101010101" pitchFamily="2" charset="-122"/>
              </a:rPr>
              <a:t>：</a:t>
            </a:r>
            <a:r>
              <a:rPr lang="zh-CN" altLang="en-US" b="1" dirty="0">
                <a:solidFill>
                  <a:srgbClr val="FF3399"/>
                </a:solidFill>
                <a:latin typeface="华文楷体" panose="02010600040101010101" pitchFamily="2" charset="-122"/>
                <a:ea typeface="华文楷体" panose="02010600040101010101" pitchFamily="2" charset="-122"/>
              </a:rPr>
              <a:t>任务的定义与调用必须在一个</a:t>
            </a:r>
            <a:r>
              <a:rPr lang="en-US" altLang="zh-CN" b="1" dirty="0">
                <a:solidFill>
                  <a:srgbClr val="FF3399"/>
                </a:solidFill>
                <a:latin typeface="华文楷体" panose="02010600040101010101" pitchFamily="2" charset="-122"/>
                <a:ea typeface="华文楷体" panose="02010600040101010101" pitchFamily="2" charset="-122"/>
              </a:rPr>
              <a:t>module</a:t>
            </a:r>
            <a:r>
              <a:rPr lang="zh-CN" altLang="en-US" b="1" dirty="0">
                <a:solidFill>
                  <a:srgbClr val="FF3399"/>
                </a:solidFill>
                <a:latin typeface="华文楷体" panose="02010600040101010101" pitchFamily="2" charset="-122"/>
                <a:ea typeface="华文楷体" panose="02010600040101010101" pitchFamily="2" charset="-122"/>
              </a:rPr>
              <a:t>模块内</a:t>
            </a:r>
            <a:r>
              <a:rPr lang="zh-CN" altLang="en-US" b="1" dirty="0">
                <a:latin typeface="华文楷体" panose="02010600040101010101" pitchFamily="2" charset="-122"/>
                <a:ea typeface="华文楷体" panose="02010600040101010101" pitchFamily="2" charset="-122"/>
              </a:rPr>
              <a:t>！</a:t>
            </a:r>
            <a:endParaRPr lang="zh-CN" altLang="en-US" b="1" dirty="0">
              <a:latin typeface="华文楷体" panose="02010600040101010101" pitchFamily="2" charset="-122"/>
              <a:ea typeface="华文楷体" panose="02010600040101010101" pitchFamily="2" charset="-122"/>
            </a:endParaRPr>
          </a:p>
          <a:p>
            <a:pPr marL="0" lvl="0" indent="0" algn="just">
              <a:lnSpc>
                <a:spcPct val="110000"/>
              </a:lnSpc>
              <a:spcBef>
                <a:spcPct val="0"/>
              </a:spcBef>
              <a:buClr>
                <a:schemeClr val="hlink"/>
              </a:buClr>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注</a:t>
            </a:r>
            <a:r>
              <a:rPr lang="en-US" altLang="zh-CN" b="1" dirty="0">
                <a:latin typeface="华文楷体" panose="02010600040101010101" pitchFamily="2" charset="-122"/>
                <a:ea typeface="华文楷体" panose="02010600040101010101" pitchFamily="2" charset="-122"/>
              </a:rPr>
              <a:t>2</a:t>
            </a:r>
            <a:r>
              <a:rPr lang="zh-CN" altLang="en-US" b="1" dirty="0">
                <a:latin typeface="华文楷体" panose="02010600040101010101" pitchFamily="2" charset="-122"/>
                <a:ea typeface="华文楷体" panose="02010600040101010101" pitchFamily="2" charset="-122"/>
              </a:rPr>
              <a:t>：任务被调用时，需列出端口名列表，且必须与任务定义中的</a:t>
            </a:r>
            <a:r>
              <a:rPr lang="en-US" altLang="zh-CN" b="1" dirty="0">
                <a:latin typeface="华文楷体" panose="02010600040101010101" pitchFamily="2" charset="-122"/>
                <a:ea typeface="华文楷体" panose="02010600040101010101" pitchFamily="2" charset="-122"/>
              </a:rPr>
              <a:t>I/O</a:t>
            </a:r>
            <a:r>
              <a:rPr lang="zh-CN" altLang="en-US" b="1" dirty="0">
                <a:latin typeface="华文楷体" panose="02010600040101010101" pitchFamily="2" charset="-122"/>
                <a:ea typeface="华文楷体" panose="02010600040101010101" pitchFamily="2" charset="-122"/>
              </a:rPr>
              <a:t>变量</a:t>
            </a:r>
            <a:r>
              <a:rPr lang="zh-CN" altLang="en-US" b="1" dirty="0">
                <a:solidFill>
                  <a:srgbClr val="FF66CC"/>
                </a:solidFill>
                <a:latin typeface="华文楷体" panose="02010600040101010101" pitchFamily="2" charset="-122"/>
                <a:ea typeface="华文楷体" panose="02010600040101010101" pitchFamily="2" charset="-122"/>
              </a:rPr>
              <a:t>一一对应</a:t>
            </a:r>
            <a:r>
              <a:rPr lang="zh-CN" altLang="en-US" dirty="0">
                <a:latin typeface="华文楷体" panose="02010600040101010101" pitchFamily="2" charset="-122"/>
                <a:ea typeface="华文楷体" panose="02010600040101010101" pitchFamily="2" charset="-122"/>
              </a:rPr>
              <a:t>！</a:t>
            </a:r>
            <a:endParaRPr lang="zh-CN" altLang="en-US" b="1" dirty="0">
              <a:latin typeface="华文楷体" panose="02010600040101010101" pitchFamily="2" charset="-122"/>
              <a:ea typeface="华文楷体" panose="02010600040101010101" pitchFamily="2" charset="-122"/>
            </a:endParaRPr>
          </a:p>
          <a:p>
            <a:pPr marL="0" lvl="0" indent="0" algn="just">
              <a:lnSpc>
                <a:spcPct val="110000"/>
              </a:lnSpc>
              <a:spcBef>
                <a:spcPct val="0"/>
              </a:spcBef>
              <a:buClr>
                <a:schemeClr val="hlink"/>
              </a:buClr>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注</a:t>
            </a:r>
            <a:r>
              <a:rPr lang="en-US" altLang="zh-CN" b="1" dirty="0">
                <a:latin typeface="华文楷体" panose="02010600040101010101" pitchFamily="2" charset="-122"/>
                <a:ea typeface="华文楷体" panose="02010600040101010101" pitchFamily="2" charset="-122"/>
              </a:rPr>
              <a:t>3</a:t>
            </a:r>
            <a:r>
              <a:rPr lang="zh-CN" altLang="en-US" b="1" dirty="0">
                <a:latin typeface="华文楷体" panose="02010600040101010101" pitchFamily="2" charset="-122"/>
                <a:ea typeface="华文楷体" panose="02010600040101010101" pitchFamily="2" charset="-122"/>
              </a:rPr>
              <a:t>：一个任务可以调用其他任务和函数。</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72553"/>
                                        </p:tgtEl>
                                        <p:attrNameLst>
                                          <p:attrName>style.visibility</p:attrName>
                                        </p:attrNameLst>
                                      </p:cBhvr>
                                      <p:to>
                                        <p:strVal val="visible"/>
                                      </p:to>
                                    </p:set>
                                    <p:anim calcmode="lin" valueType="num">
                                      <p:cBhvr additive="base">
                                        <p:cTn id="7" dur="500" fill="hold"/>
                                        <p:tgtEl>
                                          <p:spTgt spid="1772553"/>
                                        </p:tgtEl>
                                        <p:attrNameLst>
                                          <p:attrName>ppt_x</p:attrName>
                                        </p:attrNameLst>
                                      </p:cBhvr>
                                      <p:tavLst>
                                        <p:tav tm="0">
                                          <p:val>
                                            <p:strVal val="#ppt_x"/>
                                          </p:val>
                                        </p:tav>
                                        <p:tav tm="100000">
                                          <p:val>
                                            <p:strVal val="#ppt_x"/>
                                          </p:val>
                                        </p:tav>
                                      </p:tavLst>
                                    </p:anim>
                                    <p:anim calcmode="lin" valueType="num">
                                      <p:cBhvr additive="base">
                                        <p:cTn id="8" dur="500" fill="hold"/>
                                        <p:tgtEl>
                                          <p:spTgt spid="17725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72547">
                                            <p:txEl>
                                              <p:charRg st="0" end="37"/>
                                            </p:txEl>
                                          </p:spTgt>
                                        </p:tgtEl>
                                        <p:attrNameLst>
                                          <p:attrName>style.visibility</p:attrName>
                                        </p:attrNameLst>
                                      </p:cBhvr>
                                      <p:to>
                                        <p:strVal val="visible"/>
                                      </p:to>
                                    </p:set>
                                    <p:animEffect transition="in" filter="wipe(left)">
                                      <p:cBhvr>
                                        <p:cTn id="13" dur="500"/>
                                        <p:tgtEl>
                                          <p:spTgt spid="1772547">
                                            <p:txEl>
                                              <p:charRg st="0" end="3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72550"/>
                                        </p:tgtEl>
                                        <p:attrNameLst>
                                          <p:attrName>style.visibility</p:attrName>
                                        </p:attrNameLst>
                                      </p:cBhvr>
                                      <p:to>
                                        <p:strVal val="visible"/>
                                      </p:to>
                                    </p:set>
                                    <p:animEffect transition="in" filter="dissolve">
                                      <p:cBhvr>
                                        <p:cTn id="18" dur="500"/>
                                        <p:tgtEl>
                                          <p:spTgt spid="1772550"/>
                                        </p:tgtEl>
                                      </p:cBhvr>
                                    </p:animEffect>
                                  </p:childTnLst>
                                </p:cTn>
                              </p:par>
                            </p:childTnLst>
                          </p:cTn>
                        </p:par>
                        <p:par>
                          <p:cTn id="19" fill="hold">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1772548"/>
                                        </p:tgtEl>
                                        <p:attrNameLst>
                                          <p:attrName>style.visibility</p:attrName>
                                        </p:attrNameLst>
                                      </p:cBhvr>
                                      <p:to>
                                        <p:strVal val="visible"/>
                                      </p:to>
                                    </p:set>
                                    <p:anim calcmode="lin" valueType="num">
                                      <p:cBhvr additive="base">
                                        <p:cTn id="22" dur="500" fill="hold"/>
                                        <p:tgtEl>
                                          <p:spTgt spid="1772548"/>
                                        </p:tgtEl>
                                        <p:attrNameLst>
                                          <p:attrName>ppt_x</p:attrName>
                                        </p:attrNameLst>
                                      </p:cBhvr>
                                      <p:tavLst>
                                        <p:tav tm="0">
                                          <p:val>
                                            <p:strVal val="#ppt_x"/>
                                          </p:val>
                                        </p:tav>
                                        <p:tav tm="100000">
                                          <p:val>
                                            <p:strVal val="#ppt_x"/>
                                          </p:val>
                                        </p:tav>
                                      </p:tavLst>
                                    </p:anim>
                                    <p:anim calcmode="lin" valueType="num">
                                      <p:cBhvr additive="base">
                                        <p:cTn id="23" dur="500" fill="hold"/>
                                        <p:tgtEl>
                                          <p:spTgt spid="177254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772551"/>
                                        </p:tgtEl>
                                        <p:attrNameLst>
                                          <p:attrName>style.visibility</p:attrName>
                                        </p:attrNameLst>
                                      </p:cBhvr>
                                      <p:to>
                                        <p:strVal val="visible"/>
                                      </p:to>
                                    </p:set>
                                    <p:animEffect transition="in" filter="dissolve">
                                      <p:cBhvr>
                                        <p:cTn id="28" dur="500"/>
                                        <p:tgtEl>
                                          <p:spTgt spid="1772551"/>
                                        </p:tgtEl>
                                      </p:cBhvr>
                                    </p:animEffect>
                                  </p:childTnLst>
                                </p:cTn>
                              </p:par>
                            </p:childTnLst>
                          </p:cTn>
                        </p:par>
                        <p:par>
                          <p:cTn id="29" fill="hold">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1772549"/>
                                        </p:tgtEl>
                                        <p:attrNameLst>
                                          <p:attrName>style.visibility</p:attrName>
                                        </p:attrNameLst>
                                      </p:cBhvr>
                                      <p:to>
                                        <p:strVal val="visible"/>
                                      </p:to>
                                    </p:set>
                                    <p:anim calcmode="lin" valueType="num">
                                      <p:cBhvr additive="base">
                                        <p:cTn id="32" dur="500" fill="hold"/>
                                        <p:tgtEl>
                                          <p:spTgt spid="1772549"/>
                                        </p:tgtEl>
                                        <p:attrNameLst>
                                          <p:attrName>ppt_x</p:attrName>
                                        </p:attrNameLst>
                                      </p:cBhvr>
                                      <p:tavLst>
                                        <p:tav tm="0">
                                          <p:val>
                                            <p:strVal val="#ppt_x"/>
                                          </p:val>
                                        </p:tav>
                                        <p:tav tm="100000">
                                          <p:val>
                                            <p:strVal val="#ppt_x"/>
                                          </p:val>
                                        </p:tav>
                                      </p:tavLst>
                                    </p:anim>
                                    <p:anim calcmode="lin" valueType="num">
                                      <p:cBhvr additive="base">
                                        <p:cTn id="33" dur="500" fill="hold"/>
                                        <p:tgtEl>
                                          <p:spTgt spid="177254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1772552"/>
                                        </p:tgtEl>
                                        <p:attrNameLst>
                                          <p:attrName>style.visibility</p:attrName>
                                        </p:attrNameLst>
                                      </p:cBhvr>
                                      <p:to>
                                        <p:strVal val="visible"/>
                                      </p:to>
                                    </p:set>
                                    <p:anim calcmode="lin" valueType="num">
                                      <p:cBhvr>
                                        <p:cTn id="38" dur="500" fill="hold"/>
                                        <p:tgtEl>
                                          <p:spTgt spid="1772552"/>
                                        </p:tgtEl>
                                        <p:attrNameLst>
                                          <p:attrName>ppt_w</p:attrName>
                                        </p:attrNameLst>
                                      </p:cBhvr>
                                      <p:tavLst>
                                        <p:tav tm="0">
                                          <p:val>
                                            <p:fltVal val="0.000000"/>
                                          </p:val>
                                        </p:tav>
                                        <p:tav tm="100000">
                                          <p:val>
                                            <p:strVal val="#ppt_w"/>
                                          </p:val>
                                        </p:tav>
                                      </p:tavLst>
                                    </p:anim>
                                    <p:anim calcmode="lin" valueType="num">
                                      <p:cBhvr>
                                        <p:cTn id="39" dur="500" fill="hold"/>
                                        <p:tgtEl>
                                          <p:spTgt spid="177255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2547" grpId="0" build="p"/>
      <p:bldP spid="1772548" grpId="0" animBg="1"/>
      <p:bldP spid="1772549" grpId="0" animBg="1"/>
      <p:bldP spid="1772550" grpId="0"/>
      <p:bldP spid="1772551" grpId="0"/>
      <p:bldP spid="1772552" grpId="0" animBg="1"/>
      <p:bldP spid="1772553"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35522" name="图片 1"/>
          <p:cNvPicPr>
            <a:picLocks noChangeAspect="1"/>
          </p:cNvPicPr>
          <p:nvPr/>
        </p:nvPicPr>
        <p:blipFill>
          <a:blip r:embed="rId1"/>
          <a:stretch>
            <a:fillRect/>
          </a:stretch>
        </p:blipFill>
        <p:spPr>
          <a:xfrm>
            <a:off x="1463675" y="1554163"/>
            <a:ext cx="5429250" cy="5092700"/>
          </a:xfrm>
          <a:prstGeom prst="rect">
            <a:avLst/>
          </a:prstGeom>
          <a:noFill/>
          <a:ln w="9525">
            <a:noFill/>
          </a:ln>
        </p:spPr>
      </p:pic>
      <p:sp>
        <p:nvSpPr>
          <p:cNvPr id="235523"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552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21731" name="Rectangle 3"/>
          <p:cNvSpPr>
            <a:spLocks noGrp="1"/>
          </p:cNvSpPr>
          <p:nvPr>
            <p:ph idx="1"/>
          </p:nvPr>
        </p:nvSpPr>
        <p:spPr/>
        <p:txBody>
          <a:bodyPr vert="horz" wrap="square" lIns="91440" tIns="45720" rIns="91440" bIns="45720" anchor="t" anchorCtr="0"/>
          <a:p>
            <a:pPr marL="0" indent="0" algn="just">
              <a:lnSpc>
                <a:spcPct val="90000"/>
              </a:lnSpc>
              <a:spcBef>
                <a:spcPct val="0"/>
              </a:spcBef>
            </a:pPr>
            <a:r>
              <a:rPr lang="en-US" altLang="zh-CN" sz="2200" dirty="0">
                <a:latin typeface="Times New Roman" panose="02020603050405020304" pitchFamily="18" charset="0"/>
                <a:ea typeface="华文楷体" panose="02010600040101010101" pitchFamily="2" charset="-122"/>
                <a:cs typeface="+mn-cs"/>
              </a:rPr>
              <a:t>[</a:t>
            </a:r>
            <a:r>
              <a:rPr lang="zh-CN" altLang="en-US" sz="2200" dirty="0">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华文楷体" panose="02010600040101010101" pitchFamily="2" charset="-122"/>
                <a:cs typeface="+mn-cs"/>
              </a:rPr>
              <a:t>9.7] </a:t>
            </a:r>
            <a:r>
              <a:rPr lang="zh-CN" altLang="en-US" sz="2200" dirty="0">
                <a:latin typeface="Times New Roman" panose="02020603050405020304" pitchFamily="18" charset="0"/>
                <a:ea typeface="华文楷体" panose="02010600040101010101" pitchFamily="2" charset="-122"/>
                <a:cs typeface="+mn-cs"/>
              </a:rPr>
              <a:t>通过任务调用完成</a:t>
            </a:r>
            <a:r>
              <a:rPr lang="en-US" altLang="zh-CN" sz="2200" dirty="0">
                <a:latin typeface="Times New Roman" panose="02020603050405020304" pitchFamily="18" charset="0"/>
                <a:ea typeface="华文楷体" panose="02010600040101010101" pitchFamily="2" charset="-122"/>
                <a:cs typeface="+mn-cs"/>
              </a:rPr>
              <a:t>4</a:t>
            </a:r>
            <a:r>
              <a:rPr lang="zh-CN" altLang="en-US" sz="2200" dirty="0">
                <a:latin typeface="Times New Roman" panose="02020603050405020304" pitchFamily="18" charset="0"/>
                <a:ea typeface="华文楷体" panose="02010600040101010101" pitchFamily="2" charset="-122"/>
                <a:cs typeface="+mn-cs"/>
              </a:rPr>
              <a:t>个</a:t>
            </a:r>
            <a:r>
              <a:rPr lang="en-US" altLang="zh-CN" sz="2200" dirty="0">
                <a:latin typeface="Times New Roman" panose="02020603050405020304" pitchFamily="18" charset="0"/>
                <a:ea typeface="华文楷体" panose="02010600040101010101" pitchFamily="2" charset="-122"/>
                <a:cs typeface="+mn-cs"/>
              </a:rPr>
              <a:t>4</a:t>
            </a:r>
            <a:r>
              <a:rPr lang="zh-CN" altLang="en-US" sz="2200" dirty="0">
                <a:latin typeface="Times New Roman" panose="02020603050405020304" pitchFamily="18" charset="0"/>
                <a:ea typeface="华文楷体" panose="02010600040101010101" pitchFamily="2" charset="-122"/>
                <a:cs typeface="+mn-cs"/>
              </a:rPr>
              <a:t>位二进制输入数据的冒泡排序。</a:t>
            </a:r>
            <a:r>
              <a:rPr lang="zh-CN" altLang="en-US" dirty="0">
                <a:latin typeface="Times New Roman" panose="02020603050405020304" pitchFamily="18" charset="0"/>
                <a:ea typeface="华文楷体" panose="02010600040101010101" pitchFamily="2" charset="-122"/>
                <a:cs typeface="+mn-cs"/>
              </a:rPr>
              <a:t>       </a:t>
            </a:r>
            <a:endParaRPr lang="zh-CN" altLang="en-US" dirty="0">
              <a:latin typeface="Times New Roman" panose="02020603050405020304" pitchFamily="18" charset="0"/>
              <a:ea typeface="华文楷体" panose="02010600040101010101" pitchFamily="2" charset="-122"/>
              <a:cs typeface="+mn-cs"/>
            </a:endParaRPr>
          </a:p>
        </p:txBody>
      </p:sp>
      <p:sp>
        <p:nvSpPr>
          <p:cNvPr id="2121740" name="AutoShape 12"/>
          <p:cNvSpPr/>
          <p:nvPr/>
        </p:nvSpPr>
        <p:spPr>
          <a:xfrm>
            <a:off x="3875088" y="5824538"/>
            <a:ext cx="977900" cy="604837"/>
          </a:xfrm>
          <a:prstGeom prst="wedgeRoundRectCallout">
            <a:avLst>
              <a:gd name="adj1" fmla="val -99676"/>
              <a:gd name="adj2" fmla="val -22704"/>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宋体" panose="02010600030101010101" pitchFamily="2" charset="-122"/>
                <a:ea typeface="华文楷体" panose="02010600040101010101" pitchFamily="2" charset="-122"/>
              </a:rPr>
              <a:t>任务的定义</a:t>
            </a:r>
            <a:endParaRPr lang="zh-CN" altLang="en-US" b="1" dirty="0">
              <a:latin typeface="Tahoma" panose="020B0604030504040204" pitchFamily="34" charset="0"/>
              <a:ea typeface="华文楷体" panose="02010600040101010101" pitchFamily="2" charset="-122"/>
            </a:endParaRPr>
          </a:p>
        </p:txBody>
      </p:sp>
      <p:sp>
        <p:nvSpPr>
          <p:cNvPr id="2121741" name="Rectangle 13"/>
          <p:cNvSpPr/>
          <p:nvPr/>
        </p:nvSpPr>
        <p:spPr>
          <a:xfrm>
            <a:off x="1766888" y="4538663"/>
            <a:ext cx="1658937" cy="1871662"/>
          </a:xfrm>
          <a:prstGeom prst="rect">
            <a:avLst/>
          </a:prstGeom>
          <a:noFill/>
          <a:ln w="19050" cap="flat" cmpd="sng">
            <a:solidFill>
              <a:srgbClr val="FF0066"/>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2121742" name="AutoShape 14"/>
          <p:cNvSpPr/>
          <p:nvPr/>
        </p:nvSpPr>
        <p:spPr>
          <a:xfrm>
            <a:off x="508000" y="3297238"/>
            <a:ext cx="1454150" cy="401637"/>
          </a:xfrm>
          <a:prstGeom prst="wedgeRoundRectCallout">
            <a:avLst>
              <a:gd name="adj1" fmla="val 51745"/>
              <a:gd name="adj2" fmla="val 105338"/>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99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宋体" panose="02010600030101010101" pitchFamily="2" charset="-122"/>
                <a:ea typeface="华文楷体" panose="02010600040101010101" pitchFamily="2" charset="-122"/>
              </a:rPr>
              <a:t>任务的调用</a:t>
            </a:r>
            <a:endParaRPr lang="zh-CN" altLang="en-US" sz="1800" b="1" dirty="0">
              <a:latin typeface="宋体" panose="02010600030101010101" pitchFamily="2" charset="-122"/>
              <a:ea typeface="华文楷体" panose="02010600040101010101" pitchFamily="2" charset="-122"/>
            </a:endParaRPr>
          </a:p>
        </p:txBody>
      </p:sp>
      <p:sp>
        <p:nvSpPr>
          <p:cNvPr id="2121743" name="Rectangle 15"/>
          <p:cNvSpPr/>
          <p:nvPr/>
        </p:nvSpPr>
        <p:spPr>
          <a:xfrm>
            <a:off x="2005013" y="3248025"/>
            <a:ext cx="1420812" cy="944563"/>
          </a:xfrm>
          <a:prstGeom prst="rect">
            <a:avLst/>
          </a:prstGeom>
          <a:noFill/>
          <a:ln w="19050" cap="flat" cmpd="sng">
            <a:solidFill>
              <a:srgbClr val="FF0066"/>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21731">
                                            <p:txEl>
                                              <p:charRg st="0" end="40"/>
                                            </p:txEl>
                                          </p:spTgt>
                                        </p:tgtEl>
                                        <p:attrNameLst>
                                          <p:attrName>style.visibility</p:attrName>
                                        </p:attrNameLst>
                                      </p:cBhvr>
                                      <p:to>
                                        <p:strVal val="visible"/>
                                      </p:to>
                                    </p:set>
                                    <p:animEffect transition="in" filter="wipe(left)">
                                      <p:cBhvr>
                                        <p:cTn id="7" dur="500"/>
                                        <p:tgtEl>
                                          <p:spTgt spid="2121731">
                                            <p:txEl>
                                              <p:charRg st="0"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121743"/>
                                        </p:tgtEl>
                                        <p:attrNameLst>
                                          <p:attrName>style.visibility</p:attrName>
                                        </p:attrNameLst>
                                      </p:cBhvr>
                                      <p:to>
                                        <p:strVal val="visible"/>
                                      </p:to>
                                    </p:set>
                                    <p:anim calcmode="lin" valueType="num">
                                      <p:cBhvr>
                                        <p:cTn id="12" dur="500" fill="hold"/>
                                        <p:tgtEl>
                                          <p:spTgt spid="2121743"/>
                                        </p:tgtEl>
                                        <p:attrNameLst>
                                          <p:attrName>ppt_w</p:attrName>
                                        </p:attrNameLst>
                                      </p:cBhvr>
                                      <p:tavLst>
                                        <p:tav tm="0">
                                          <p:val>
                                            <p:fltVal val="0.000000"/>
                                          </p:val>
                                        </p:tav>
                                        <p:tav tm="100000">
                                          <p:val>
                                            <p:strVal val="#ppt_w"/>
                                          </p:val>
                                        </p:tav>
                                      </p:tavLst>
                                    </p:anim>
                                    <p:anim calcmode="lin" valueType="num">
                                      <p:cBhvr>
                                        <p:cTn id="13" dur="500" fill="hold"/>
                                        <p:tgtEl>
                                          <p:spTgt spid="2121743"/>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2121742"/>
                                        </p:tgtEl>
                                        <p:attrNameLst>
                                          <p:attrName>style.visibility</p:attrName>
                                        </p:attrNameLst>
                                      </p:cBhvr>
                                      <p:to>
                                        <p:strVal val="visible"/>
                                      </p:to>
                                    </p:set>
                                    <p:animEffect transition="in" filter="dissolve">
                                      <p:cBhvr>
                                        <p:cTn id="17" dur="500"/>
                                        <p:tgtEl>
                                          <p:spTgt spid="212174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2121741"/>
                                        </p:tgtEl>
                                        <p:attrNameLst>
                                          <p:attrName>style.visibility</p:attrName>
                                        </p:attrNameLst>
                                      </p:cBhvr>
                                      <p:to>
                                        <p:strVal val="visible"/>
                                      </p:to>
                                    </p:set>
                                    <p:anim calcmode="lin" valueType="num">
                                      <p:cBhvr>
                                        <p:cTn id="22" dur="500" fill="hold"/>
                                        <p:tgtEl>
                                          <p:spTgt spid="2121741"/>
                                        </p:tgtEl>
                                        <p:attrNameLst>
                                          <p:attrName>ppt_w</p:attrName>
                                        </p:attrNameLst>
                                      </p:cBhvr>
                                      <p:tavLst>
                                        <p:tav tm="0">
                                          <p:val>
                                            <p:fltVal val="0.000000"/>
                                          </p:val>
                                        </p:tav>
                                        <p:tav tm="100000">
                                          <p:val>
                                            <p:strVal val="#ppt_w"/>
                                          </p:val>
                                        </p:tav>
                                      </p:tavLst>
                                    </p:anim>
                                    <p:anim calcmode="lin" valueType="num">
                                      <p:cBhvr>
                                        <p:cTn id="23" dur="500" fill="hold"/>
                                        <p:tgtEl>
                                          <p:spTgt spid="2121741"/>
                                        </p:tgtEl>
                                        <p:attrNameLst>
                                          <p:attrName>ppt_h</p:attrName>
                                        </p:attrNameLst>
                                      </p:cBhvr>
                                      <p:tavLst>
                                        <p:tav tm="0">
                                          <p:val>
                                            <p:fltVal val="0.000000"/>
                                          </p:val>
                                        </p:tav>
                                        <p:tav tm="100000">
                                          <p:val>
                                            <p:strVal val="#ppt_h"/>
                                          </p:val>
                                        </p:tav>
                                      </p:tavLst>
                                    </p:anim>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2121740"/>
                                        </p:tgtEl>
                                        <p:attrNameLst>
                                          <p:attrName>style.visibility</p:attrName>
                                        </p:attrNameLst>
                                      </p:cBhvr>
                                      <p:to>
                                        <p:strVal val="visible"/>
                                      </p:to>
                                    </p:set>
                                    <p:animEffect transition="in" filter="dissolve">
                                      <p:cBhvr>
                                        <p:cTn id="27" dur="500"/>
                                        <p:tgtEl>
                                          <p:spTgt spid="2121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1731" grpId="0" advAuto="1000" build="p"/>
      <p:bldP spid="2121740" grpId="0" bldLvl="0" animBg="1"/>
      <p:bldP spid="2121741" grpId="0" bldLvl="0" animBg="1"/>
      <p:bldP spid="2121742" grpId="0" bldLvl="0" animBg="1"/>
      <p:bldP spid="2121743"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 name="内容占位符 1"/>
          <p:cNvPicPr>
            <a:picLocks noGrp="1" noChangeAspect="1"/>
          </p:cNvPicPr>
          <p:nvPr>
            <p:ph idx="1"/>
          </p:nvPr>
        </p:nvPicPr>
        <p:blipFill>
          <a:blip r:embed="rId1"/>
          <a:srcRect/>
          <a:stretch>
            <a:fillRect/>
          </a:stretch>
        </p:blipFill>
        <p:spPr>
          <a:xfrm>
            <a:off x="427038" y="904875"/>
            <a:ext cx="8108950" cy="5832475"/>
          </a:xfrm>
        </p:spPr>
      </p:pic>
      <p:sp>
        <p:nvSpPr>
          <p:cNvPr id="237571"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757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23783" name="Rectangle 7"/>
          <p:cNvSpPr/>
          <p:nvPr/>
        </p:nvSpPr>
        <p:spPr>
          <a:xfrm>
            <a:off x="720725" y="722313"/>
            <a:ext cx="2601913" cy="45720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sort4.v</a:t>
            </a:r>
            <a:r>
              <a:rPr lang="zh-CN" altLang="en-US" sz="2200" b="1" dirty="0">
                <a:latin typeface="Times New Roman" panose="02020603050405020304" pitchFamily="18" charset="0"/>
                <a:ea typeface="华文楷体" panose="02010600040101010101" pitchFamily="2" charset="-122"/>
              </a:rPr>
              <a:t>的测试文件</a:t>
            </a:r>
            <a:endParaRPr lang="zh-CN" altLang="en-US" sz="2200" b="1" dirty="0">
              <a:latin typeface="Times New Roman" panose="02020603050405020304" pitchFamily="18" charset="0"/>
              <a:ea typeface="华文楷体" panose="02010600040101010101" pitchFamily="2" charset="-122"/>
            </a:endParaRPr>
          </a:p>
        </p:txBody>
      </p:sp>
      <p:sp>
        <p:nvSpPr>
          <p:cNvPr id="2123784" name="Rectangle 8"/>
          <p:cNvSpPr/>
          <p:nvPr/>
        </p:nvSpPr>
        <p:spPr>
          <a:xfrm>
            <a:off x="4967288" y="2463800"/>
            <a:ext cx="3770312" cy="2524125"/>
          </a:xfrm>
          <a:prstGeom prst="rect">
            <a:avLst/>
          </a:prstGeom>
          <a:noFill/>
          <a:ln w="9525" cap="flat" cmpd="sng">
            <a:solidFill>
              <a:schemeClr val="tx1"/>
            </a:solidFill>
            <a:prstDash val="solid"/>
            <a:miter/>
            <a:headEnd type="none" w="med" len="med"/>
            <a:tailEnd type="none" w="med" len="med"/>
          </a:ln>
          <a:effectLst>
            <a:prstShdw prst="shdw13" dist="53882" dir="13499999">
              <a:schemeClr val="bg2"/>
            </a:prstShdw>
          </a:effectLst>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SzPct val="80000"/>
              <a:buFont typeface="Wingdings" panose="05000000000000000000" pitchFamily="2" charset="2"/>
              <a:buChar char="Ø"/>
            </a:pPr>
            <a:r>
              <a:rPr lang="en-US" altLang="zh-CN" b="1" dirty="0">
                <a:latin typeface="仿宋_GB2312" pitchFamily="49" charset="-122"/>
                <a:ea typeface="仿宋_GB2312" pitchFamily="49" charset="-122"/>
              </a:rPr>
              <a:t> </a:t>
            </a:r>
            <a:r>
              <a:rPr lang="en-US" altLang="zh-CN" b="1" dirty="0">
                <a:latin typeface="华文楷体" panose="02010600040101010101" pitchFamily="2" charset="-122"/>
                <a:ea typeface="华文楷体" panose="02010600040101010101" pitchFamily="2" charset="-122"/>
              </a:rPr>
              <a:t>$random</a:t>
            </a:r>
            <a:r>
              <a:rPr lang="zh-CN" altLang="en-US" b="1" dirty="0">
                <a:latin typeface="华文楷体" panose="02010600040101010101" pitchFamily="2" charset="-122"/>
                <a:ea typeface="华文楷体" panose="02010600040101010101" pitchFamily="2" charset="-122"/>
              </a:rPr>
              <a:t>为系统任务，返回一个</a:t>
            </a:r>
            <a:r>
              <a:rPr lang="en-US" altLang="zh-CN" b="1" dirty="0">
                <a:latin typeface="华文楷体" panose="02010600040101010101" pitchFamily="2" charset="-122"/>
                <a:ea typeface="华文楷体" panose="02010600040101010101" pitchFamily="2" charset="-122"/>
              </a:rPr>
              <a:t>32</a:t>
            </a:r>
            <a:r>
              <a:rPr lang="zh-CN" altLang="en-US" b="1" dirty="0">
                <a:latin typeface="华文楷体" panose="02010600040101010101" pitchFamily="2" charset="-122"/>
                <a:ea typeface="华文楷体" panose="02010600040101010101" pitchFamily="2" charset="-122"/>
              </a:rPr>
              <a:t>位的带符号的随机数；</a:t>
            </a:r>
            <a:endParaRPr lang="zh-CN" altLang="en-US" b="1" dirty="0">
              <a:latin typeface="华文楷体" panose="02010600040101010101" pitchFamily="2" charset="-122"/>
              <a:ea typeface="华文楷体" panose="02010600040101010101" pitchFamily="2" charset="-122"/>
            </a:endParaRPr>
          </a:p>
          <a:p>
            <a:pPr marL="0" lvl="0" indent="0" algn="just">
              <a:lnSpc>
                <a:spcPct val="110000"/>
              </a:lnSpc>
              <a:spcBef>
                <a:spcPct val="0"/>
              </a:spcBef>
              <a:buClr>
                <a:schemeClr val="hlink"/>
              </a:buClr>
              <a:buSzPct val="80000"/>
              <a:buFont typeface="Wingdings" panose="05000000000000000000" pitchFamily="2" charset="2"/>
              <a:buChar char="Ø"/>
            </a:pPr>
            <a:r>
              <a:rPr lang="zh-CN" altLang="en-US" b="1" dirty="0">
                <a:latin typeface="华文楷体" panose="02010600040101010101" pitchFamily="2" charset="-122"/>
                <a:ea typeface="华文楷体" panose="02010600040101010101" pitchFamily="2" charset="-122"/>
              </a:rPr>
              <a:t>一般用法为： </a:t>
            </a:r>
            <a:r>
              <a:rPr lang="en-US" altLang="zh-CN" b="1" dirty="0">
                <a:solidFill>
                  <a:srgbClr val="CC3300"/>
                </a:solidFill>
                <a:ea typeface="华文楷体" panose="02010600040101010101" pitchFamily="2" charset="-122"/>
              </a:rPr>
              <a:t>$</a:t>
            </a:r>
            <a:r>
              <a:rPr lang="en-US" altLang="zh-CN" b="1" dirty="0">
                <a:solidFill>
                  <a:srgbClr val="CC3300"/>
                </a:solidFill>
                <a:latin typeface="华文楷体" panose="02010600040101010101" pitchFamily="2" charset="-122"/>
                <a:ea typeface="华文楷体" panose="02010600040101010101" pitchFamily="2" charset="-122"/>
              </a:rPr>
              <a:t>random % b</a:t>
            </a:r>
            <a:endParaRPr lang="en-US" altLang="zh-CN" b="1" dirty="0">
              <a:solidFill>
                <a:srgbClr val="CC3300"/>
              </a:solidFill>
              <a:latin typeface="华文楷体" panose="02010600040101010101" pitchFamily="2" charset="-122"/>
              <a:ea typeface="华文楷体" panose="02010600040101010101" pitchFamily="2" charset="-122"/>
            </a:endParaRPr>
          </a:p>
          <a:p>
            <a:pPr marL="0" lvl="0" indent="0" eaLnBrk="1" hangingPunct="1">
              <a:spcBef>
                <a:spcPct val="30000"/>
              </a:spcBef>
              <a:buFont typeface="Arial" panose="020B0604020202020204" pitchFamily="34" charset="0"/>
              <a:buChar char="•"/>
            </a:pPr>
            <a:r>
              <a:rPr lang="zh-CN" altLang="en-US" b="1" dirty="0">
                <a:latin typeface="华文楷体" panose="02010600040101010101" pitchFamily="2" charset="-122"/>
                <a:ea typeface="华文楷体" panose="02010600040101010101" pitchFamily="2" charset="-122"/>
              </a:rPr>
              <a:t>其中</a:t>
            </a:r>
            <a:r>
              <a:rPr lang="en-US" altLang="zh-CN" b="1" dirty="0">
                <a:latin typeface="华文楷体" panose="02010600040101010101" pitchFamily="2" charset="-122"/>
                <a:ea typeface="华文楷体" panose="02010600040101010101" pitchFamily="2" charset="-122"/>
              </a:rPr>
              <a:t>b&gt;0</a:t>
            </a:r>
            <a:r>
              <a:rPr lang="zh-CN" altLang="en-US" b="1" dirty="0">
                <a:latin typeface="华文楷体" panose="02010600040101010101" pitchFamily="2" charset="-122"/>
                <a:ea typeface="华文楷体" panose="02010600040101010101" pitchFamily="2" charset="-122"/>
              </a:rPr>
              <a:t>，它给出了一个范围在</a:t>
            </a:r>
            <a:r>
              <a:rPr lang="en-US" altLang="zh-CN" b="1" dirty="0">
                <a:latin typeface="华文楷体" panose="02010600040101010101" pitchFamily="2" charset="-122"/>
                <a:ea typeface="华文楷体" panose="02010600040101010101" pitchFamily="2" charset="-122"/>
              </a:rPr>
              <a:t>-b+1~b-1</a:t>
            </a:r>
            <a:r>
              <a:rPr lang="zh-CN" altLang="en-US" b="1" dirty="0">
                <a:latin typeface="华文楷体" panose="02010600040101010101" pitchFamily="2" charset="-122"/>
                <a:ea typeface="华文楷体" panose="02010600040101010101" pitchFamily="2" charset="-122"/>
              </a:rPr>
              <a:t>之间的随机数。</a:t>
            </a:r>
            <a:endParaRPr lang="zh-CN" altLang="en-US" b="1" dirty="0">
              <a:latin typeface="华文楷体" panose="02010600040101010101" pitchFamily="2" charset="-122"/>
              <a:ea typeface="华文楷体" panose="02010600040101010101" pitchFamily="2" charset="-122"/>
            </a:endParaRPr>
          </a:p>
          <a:p>
            <a:pPr marL="0" lvl="0" indent="0" eaLnBrk="1" hangingPunct="1">
              <a:spcBef>
                <a:spcPct val="30000"/>
              </a:spcBef>
              <a:buClr>
                <a:srgbClr val="FF0000"/>
              </a:buClr>
              <a:buSzPct val="80000"/>
              <a:buFont typeface="Wingdings" panose="05000000000000000000" pitchFamily="2" charset="2"/>
              <a:buChar char="Ø"/>
            </a:pPr>
            <a:r>
              <a:rPr lang="en-US" altLang="zh-CN" b="1" dirty="0">
                <a:solidFill>
                  <a:srgbClr val="CC3300"/>
                </a:solidFill>
                <a:latin typeface="华文楷体" panose="02010600040101010101" pitchFamily="2" charset="-122"/>
                <a:ea typeface="华文楷体" panose="02010600040101010101" pitchFamily="2" charset="-122"/>
              </a:rPr>
              <a:t>{</a:t>
            </a:r>
            <a:r>
              <a:rPr lang="en-US" altLang="zh-CN" b="1" dirty="0">
                <a:solidFill>
                  <a:srgbClr val="CC3300"/>
                </a:solidFill>
                <a:ea typeface="华文楷体" panose="02010600040101010101" pitchFamily="2" charset="-122"/>
              </a:rPr>
              <a:t>$</a:t>
            </a:r>
            <a:r>
              <a:rPr lang="en-US" altLang="zh-CN" b="1" dirty="0">
                <a:solidFill>
                  <a:srgbClr val="CC3300"/>
                </a:solidFill>
                <a:latin typeface="华文楷体" panose="02010600040101010101" pitchFamily="2" charset="-122"/>
                <a:ea typeface="华文楷体" panose="02010600040101010101" pitchFamily="2" charset="-122"/>
              </a:rPr>
              <a:t>random}%15</a:t>
            </a:r>
            <a:r>
              <a:rPr lang="zh-CN" altLang="en-US" b="1" dirty="0">
                <a:latin typeface="华文楷体" panose="02010600040101010101" pitchFamily="2" charset="-122"/>
                <a:ea typeface="华文楷体" panose="02010600040101010101" pitchFamily="2" charset="-122"/>
              </a:rPr>
              <a:t>通过位拼接操作，产生一个</a:t>
            </a:r>
            <a:r>
              <a:rPr lang="en-US" altLang="zh-CN" b="1" dirty="0">
                <a:latin typeface="华文楷体" panose="02010600040101010101" pitchFamily="2" charset="-122"/>
                <a:ea typeface="华文楷体" panose="02010600040101010101" pitchFamily="2" charset="-122"/>
              </a:rPr>
              <a:t>0~14</a:t>
            </a:r>
            <a:r>
              <a:rPr lang="zh-CN" altLang="en-US" b="1" dirty="0">
                <a:latin typeface="华文楷体" panose="02010600040101010101" pitchFamily="2" charset="-122"/>
                <a:ea typeface="华文楷体" panose="02010600040101010101" pitchFamily="2" charset="-122"/>
              </a:rPr>
              <a:t>之间的随机数</a:t>
            </a:r>
            <a:r>
              <a:rPr lang="zh-CN" altLang="en-US" b="1" dirty="0">
                <a:latin typeface="仿宋_GB2312" pitchFamily="49" charset="-122"/>
                <a:ea typeface="仿宋_GB2312" pitchFamily="49" charset="-122"/>
              </a:rPr>
              <a:t>。</a:t>
            </a:r>
            <a:endParaRPr lang="zh-CN" altLang="en-US" b="1" dirty="0">
              <a:latin typeface="仿宋_GB2312" pitchFamily="49" charset="-122"/>
              <a:ea typeface="仿宋_GB2312" pitchFamily="49"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123783"/>
                                        </p:tgtEl>
                                        <p:attrNameLst>
                                          <p:attrName>style.visibility</p:attrName>
                                        </p:attrNameLst>
                                      </p:cBhvr>
                                      <p:to>
                                        <p:strVal val="visible"/>
                                      </p:to>
                                    </p:set>
                                    <p:anim calcmode="lin" valueType="num">
                                      <p:cBhvr>
                                        <p:cTn id="7" dur="500" fill="hold"/>
                                        <p:tgtEl>
                                          <p:spTgt spid="2123783"/>
                                        </p:tgtEl>
                                        <p:attrNameLst>
                                          <p:attrName>ppt_w</p:attrName>
                                        </p:attrNameLst>
                                      </p:cBhvr>
                                      <p:tavLst>
                                        <p:tav tm="0">
                                          <p:val>
                                            <p:fltVal val="0.000000"/>
                                          </p:val>
                                        </p:tav>
                                        <p:tav tm="100000">
                                          <p:val>
                                            <p:strVal val="#ppt_w"/>
                                          </p:val>
                                        </p:tav>
                                      </p:tavLst>
                                    </p:anim>
                                    <p:anim calcmode="lin" valueType="num">
                                      <p:cBhvr>
                                        <p:cTn id="8" dur="500" fill="hold"/>
                                        <p:tgtEl>
                                          <p:spTgt spid="2123783"/>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123784"/>
                                        </p:tgtEl>
                                        <p:attrNameLst>
                                          <p:attrName>style.visibility</p:attrName>
                                        </p:attrNameLst>
                                      </p:cBhvr>
                                      <p:to>
                                        <p:strVal val="visible"/>
                                      </p:to>
                                    </p:set>
                                    <p:anim calcmode="lin" valueType="num">
                                      <p:cBhvr>
                                        <p:cTn id="13" dur="500" fill="hold"/>
                                        <p:tgtEl>
                                          <p:spTgt spid="2123784"/>
                                        </p:tgtEl>
                                        <p:attrNameLst>
                                          <p:attrName>ppt_w</p:attrName>
                                        </p:attrNameLst>
                                      </p:cBhvr>
                                      <p:tavLst>
                                        <p:tav tm="0">
                                          <p:val>
                                            <p:fltVal val="0.000000"/>
                                          </p:val>
                                        </p:tav>
                                        <p:tav tm="100000">
                                          <p:val>
                                            <p:strVal val="#ppt_w"/>
                                          </p:val>
                                        </p:tav>
                                      </p:tavLst>
                                    </p:anim>
                                    <p:anim calcmode="lin" valueType="num">
                                      <p:cBhvr>
                                        <p:cTn id="14" dur="500" fill="hold"/>
                                        <p:tgtEl>
                                          <p:spTgt spid="2123784"/>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3783" grpId="0" bldLvl="0" animBg="1"/>
      <p:bldP spid="2123784" grpId="0" animBg="1"/>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39618" name="内容占位符 1"/>
          <p:cNvPicPr>
            <a:picLocks noGrp="1" noChangeAspect="1"/>
          </p:cNvPicPr>
          <p:nvPr>
            <p:ph idx="1"/>
          </p:nvPr>
        </p:nvPicPr>
        <p:blipFill>
          <a:blip r:embed="rId1"/>
          <a:srcRect/>
          <a:stretch>
            <a:fillRect/>
          </a:stretch>
        </p:blipFill>
        <p:spPr>
          <a:xfrm>
            <a:off x="125413" y="2325688"/>
            <a:ext cx="8894762" cy="2528887"/>
          </a:xfrm>
        </p:spPr>
      </p:pic>
      <p:sp>
        <p:nvSpPr>
          <p:cNvPr id="239619"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3962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125828" name="Rectangle 4"/>
          <p:cNvSpPr/>
          <p:nvPr/>
        </p:nvSpPr>
        <p:spPr>
          <a:xfrm>
            <a:off x="1573213" y="1011238"/>
            <a:ext cx="4186237" cy="412750"/>
          </a:xfrm>
          <a:prstGeom prst="rect">
            <a:avLst/>
          </a:prstGeom>
          <a:noFill/>
          <a:ln w="9525" cap="flat" cmpd="sng">
            <a:solidFill>
              <a:schemeClr val="tx1"/>
            </a:solidFill>
            <a:prstDash val="solid"/>
            <a:miter/>
            <a:headEnd type="none" w="med" len="med"/>
            <a:tailEnd type="none" w="med" len="med"/>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200" b="1" dirty="0">
                <a:latin typeface="华文楷体" panose="02010600040101010101" pitchFamily="2" charset="-122"/>
                <a:ea typeface="华文楷体" panose="02010600040101010101" pitchFamily="2" charset="-122"/>
              </a:rPr>
              <a:t>sort4.v</a:t>
            </a:r>
            <a:r>
              <a:rPr lang="zh-CN" altLang="en-US" sz="2200" b="1" dirty="0">
                <a:latin typeface="华文楷体" panose="02010600040101010101" pitchFamily="2" charset="-122"/>
                <a:ea typeface="华文楷体" panose="02010600040101010101" pitchFamily="2" charset="-122"/>
              </a:rPr>
              <a:t>的仿真波形</a:t>
            </a:r>
            <a:r>
              <a:rPr lang="en-US" altLang="zh-CN" sz="2200" b="1" dirty="0">
                <a:latin typeface="华文楷体" panose="02010600040101010101" pitchFamily="2" charset="-122"/>
                <a:ea typeface="华文楷体" panose="02010600040101010101" pitchFamily="2" charset="-122"/>
              </a:rPr>
              <a:t>task_Top.wlf</a:t>
            </a:r>
            <a:endParaRPr lang="en-US" altLang="zh-CN" sz="2200" b="1" dirty="0">
              <a:latin typeface="华文楷体" panose="02010600040101010101" pitchFamily="2" charset="-122"/>
              <a:ea typeface="华文楷体" panose="02010600040101010101" pitchFamily="2" charset="-122"/>
            </a:endParaRPr>
          </a:p>
        </p:txBody>
      </p:sp>
      <p:sp>
        <p:nvSpPr>
          <p:cNvPr id="2125831" name="Oval 7"/>
          <p:cNvSpPr/>
          <p:nvPr/>
        </p:nvSpPr>
        <p:spPr>
          <a:xfrm>
            <a:off x="3868738" y="3587750"/>
            <a:ext cx="331787" cy="1116013"/>
          </a:xfrm>
          <a:prstGeom prst="ellipse">
            <a:avLst/>
          </a:prstGeom>
          <a:noFill/>
          <a:ln w="22225" cap="flat" cmpd="sng">
            <a:solidFill>
              <a:srgbClr val="FF33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2125832" name="AutoShape 8"/>
          <p:cNvSpPr/>
          <p:nvPr/>
        </p:nvSpPr>
        <p:spPr>
          <a:xfrm>
            <a:off x="1870075" y="4854575"/>
            <a:ext cx="1676400" cy="685800"/>
          </a:xfrm>
          <a:prstGeom prst="wedgeRoundRectCallout">
            <a:avLst>
              <a:gd name="adj1" fmla="val 78218"/>
              <a:gd name="adj2" fmla="val -74537"/>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宋体" panose="02010600030101010101" pitchFamily="2" charset="-122"/>
                <a:ea typeface="宋体" panose="02010600030101010101" pitchFamily="2" charset="-122"/>
              </a:rPr>
              <a:t>按从小到大的顺序排序</a:t>
            </a:r>
            <a:endParaRPr lang="zh-CN" altLang="en-US" b="1" dirty="0">
              <a:latin typeface="宋体" panose="02010600030101010101" pitchFamily="2" charset="-122"/>
              <a:ea typeface="宋体" panose="02010600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2125828"/>
                                        </p:tgtEl>
                                        <p:attrNameLst>
                                          <p:attrName>style.visibility</p:attrName>
                                        </p:attrNameLst>
                                      </p:cBhvr>
                                      <p:to>
                                        <p:strVal val="visible"/>
                                      </p:to>
                                    </p:set>
                                    <p:anim calcmode="lin" valueType="num">
                                      <p:cBhvr>
                                        <p:cTn id="7" dur="500" fill="hold"/>
                                        <p:tgtEl>
                                          <p:spTgt spid="2125828"/>
                                        </p:tgtEl>
                                        <p:attrNameLst>
                                          <p:attrName>ppt_w</p:attrName>
                                        </p:attrNameLst>
                                      </p:cBhvr>
                                      <p:tavLst>
                                        <p:tav tm="0">
                                          <p:val>
                                            <p:fltVal val="0.000000"/>
                                          </p:val>
                                        </p:tav>
                                        <p:tav tm="100000">
                                          <p:val>
                                            <p:strVal val="#ppt_w"/>
                                          </p:val>
                                        </p:tav>
                                      </p:tavLst>
                                    </p:anim>
                                    <p:anim calcmode="lin" valueType="num">
                                      <p:cBhvr>
                                        <p:cTn id="8" dur="500" fill="hold"/>
                                        <p:tgtEl>
                                          <p:spTgt spid="2125828"/>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125831"/>
                                        </p:tgtEl>
                                        <p:attrNameLst>
                                          <p:attrName>style.visibility</p:attrName>
                                        </p:attrNameLst>
                                      </p:cBhvr>
                                      <p:to>
                                        <p:strVal val="visible"/>
                                      </p:to>
                                    </p:set>
                                    <p:anim calcmode="lin" valueType="num">
                                      <p:cBhvr>
                                        <p:cTn id="13" dur="500" fill="hold"/>
                                        <p:tgtEl>
                                          <p:spTgt spid="2125831"/>
                                        </p:tgtEl>
                                        <p:attrNameLst>
                                          <p:attrName>ppt_w</p:attrName>
                                        </p:attrNameLst>
                                      </p:cBhvr>
                                      <p:tavLst>
                                        <p:tav tm="0">
                                          <p:val>
                                            <p:fltVal val="0.000000"/>
                                          </p:val>
                                        </p:tav>
                                        <p:tav tm="100000">
                                          <p:val>
                                            <p:strVal val="#ppt_w"/>
                                          </p:val>
                                        </p:tav>
                                      </p:tavLst>
                                    </p:anim>
                                    <p:anim calcmode="lin" valueType="num">
                                      <p:cBhvr>
                                        <p:cTn id="14" dur="500" fill="hold"/>
                                        <p:tgtEl>
                                          <p:spTgt spid="2125831"/>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2125832"/>
                                        </p:tgtEl>
                                        <p:attrNameLst>
                                          <p:attrName>style.visibility</p:attrName>
                                        </p:attrNameLst>
                                      </p:cBhvr>
                                      <p:to>
                                        <p:strVal val="visible"/>
                                      </p:to>
                                    </p:set>
                                    <p:animEffect transition="in" filter="dissolve">
                                      <p:cBhvr>
                                        <p:cTn id="18" dur="500"/>
                                        <p:tgtEl>
                                          <p:spTgt spid="2125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5828" grpId="0" animBg="1"/>
      <p:bldP spid="2125831" grpId="0" bldLvl="0" animBg="1"/>
      <p:bldP spid="2125832" grpId="0" bldLvl="0" animBg="1"/>
    </p:bld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166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4166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74595"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rgbClr val="008000"/>
                </a:solidFill>
                <a:latin typeface="Times New Roman" panose="02020603050405020304" pitchFamily="18" charset="0"/>
                <a:ea typeface="华文楷体" panose="02010600040101010101" pitchFamily="2" charset="-122"/>
                <a:cs typeface="+mn-cs"/>
              </a:rPr>
              <a:t>2.</a:t>
            </a:r>
            <a:r>
              <a:rPr lang="zh-CN" altLang="en-US" dirty="0">
                <a:solidFill>
                  <a:srgbClr val="008000"/>
                </a:solidFill>
                <a:latin typeface="Times New Roman" panose="02020603050405020304" pitchFamily="18" charset="0"/>
                <a:ea typeface="华文楷体" panose="02010600040101010101" pitchFamily="2" charset="-122"/>
                <a:cs typeface="+mn-cs"/>
              </a:rPr>
              <a:t>函数（</a:t>
            </a:r>
            <a:r>
              <a:rPr lang="en-US" altLang="zh-CN" dirty="0">
                <a:solidFill>
                  <a:srgbClr val="008000"/>
                </a:solidFill>
                <a:latin typeface="Times New Roman" panose="02020603050405020304" pitchFamily="18" charset="0"/>
                <a:ea typeface="华文楷体" panose="02010600040101010101" pitchFamily="2" charset="-122"/>
                <a:cs typeface="+mn-cs"/>
              </a:rPr>
              <a:t>function</a:t>
            </a:r>
            <a:r>
              <a:rPr lang="zh-CN" altLang="en-US" dirty="0">
                <a:solidFill>
                  <a:srgbClr val="008000"/>
                </a:solidFill>
                <a:latin typeface="Times New Roman" panose="02020603050405020304" pitchFamily="18" charset="0"/>
                <a:ea typeface="华文楷体" panose="02010600040101010101" pitchFamily="2" charset="-122"/>
                <a:cs typeface="+mn-cs"/>
              </a:rPr>
              <a:t>）</a:t>
            </a:r>
            <a:endParaRPr lang="zh-CN" altLang="en-US" dirty="0">
              <a:solidFill>
                <a:srgbClr val="008000"/>
              </a:solidFill>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latin typeface="Times New Roman" panose="02020603050405020304" pitchFamily="18" charset="0"/>
                <a:ea typeface="华文楷体" panose="02010600040101010101" pitchFamily="2" charset="-122"/>
                <a:cs typeface="+mn-cs"/>
              </a:rPr>
              <a:t>函数的目的是通过返回一个用于某表达式的值，来响应输入信号。</a:t>
            </a:r>
            <a:r>
              <a:rPr lang="zh-CN" altLang="en-US" sz="2200" dirty="0">
                <a:solidFill>
                  <a:srgbClr val="990000"/>
                </a:solidFill>
                <a:latin typeface="Times New Roman" panose="02020603050405020304" pitchFamily="18" charset="0"/>
                <a:ea typeface="华文楷体" panose="02010600040101010101" pitchFamily="2" charset="-122"/>
                <a:cs typeface="+mn-cs"/>
              </a:rPr>
              <a:t>适于对不同变量采取同一运算的操作</a:t>
            </a:r>
            <a:r>
              <a:rPr lang="zh-CN" altLang="en-US" sz="2200" dirty="0">
                <a:latin typeface="Times New Roman" panose="02020603050405020304" pitchFamily="18" charset="0"/>
                <a:ea typeface="华文楷体" panose="02010600040101010101" pitchFamily="2" charset="-122"/>
                <a:cs typeface="+mn-cs"/>
              </a:rPr>
              <a:t>。</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latin typeface="Times New Roman" panose="02020603050405020304" pitchFamily="18" charset="0"/>
                <a:ea typeface="华文楷体" panose="02010600040101010101" pitchFamily="2" charset="-122"/>
                <a:cs typeface="+mn-cs"/>
              </a:rPr>
              <a:t>函数在模块内部定义，通常在</a:t>
            </a:r>
            <a:r>
              <a:rPr lang="zh-CN" altLang="en-US" sz="2200" dirty="0">
                <a:solidFill>
                  <a:srgbClr val="FF66CC"/>
                </a:solidFill>
                <a:latin typeface="Times New Roman" panose="02020603050405020304" pitchFamily="18" charset="0"/>
                <a:ea typeface="华文楷体" panose="02010600040101010101" pitchFamily="2" charset="-122"/>
                <a:cs typeface="+mn-cs"/>
              </a:rPr>
              <a:t>本模块</a:t>
            </a:r>
            <a:r>
              <a:rPr lang="zh-CN" altLang="en-US" sz="2200" dirty="0">
                <a:latin typeface="Times New Roman" panose="02020603050405020304" pitchFamily="18" charset="0"/>
                <a:ea typeface="华文楷体" panose="02010600040101010101" pitchFamily="2" charset="-122"/>
                <a:cs typeface="+mn-cs"/>
              </a:rPr>
              <a:t>中调用，也能根据按模块层次分级命名的函数名从</a:t>
            </a:r>
            <a:r>
              <a:rPr lang="zh-CN" altLang="en-US" sz="2200" dirty="0">
                <a:solidFill>
                  <a:srgbClr val="FF66CC"/>
                </a:solidFill>
                <a:latin typeface="Times New Roman" panose="02020603050405020304" pitchFamily="18" charset="0"/>
                <a:ea typeface="华文楷体" panose="02010600040101010101" pitchFamily="2" charset="-122"/>
                <a:cs typeface="+mn-cs"/>
              </a:rPr>
              <a:t>其他模块</a:t>
            </a:r>
            <a:r>
              <a:rPr lang="zh-CN" altLang="en-US" sz="2200" dirty="0">
                <a:latin typeface="Times New Roman" panose="02020603050405020304" pitchFamily="18" charset="0"/>
                <a:ea typeface="华文楷体" panose="02010600040101010101" pitchFamily="2" charset="-122"/>
                <a:cs typeface="+mn-cs"/>
              </a:rPr>
              <a:t>调用。</a:t>
            </a:r>
            <a:r>
              <a:rPr lang="zh-CN" altLang="en-US" sz="2200" dirty="0">
                <a:solidFill>
                  <a:srgbClr val="990000"/>
                </a:solidFill>
                <a:latin typeface="Times New Roman" panose="02020603050405020304" pitchFamily="18" charset="0"/>
                <a:ea typeface="华文楷体" panose="02010600040101010101" pitchFamily="2" charset="-122"/>
                <a:cs typeface="+mn-cs"/>
              </a:rPr>
              <a:t>而任务只能在同一模块内定义与调用！ </a:t>
            </a:r>
            <a:endParaRPr lang="zh-CN" altLang="en-US" sz="2200" dirty="0">
              <a:solidFill>
                <a:srgbClr val="990000"/>
              </a:solidFill>
              <a:latin typeface="Times New Roman" panose="02020603050405020304" pitchFamily="18" charset="0"/>
              <a:ea typeface="华文楷体" panose="02010600040101010101" pitchFamily="2" charset="-122"/>
              <a:cs typeface="+mn-cs"/>
            </a:endParaRPr>
          </a:p>
        </p:txBody>
      </p:sp>
      <p:sp>
        <p:nvSpPr>
          <p:cNvPr id="1774596" name="Text Box 4"/>
          <p:cNvSpPr txBox="1"/>
          <p:nvPr/>
        </p:nvSpPr>
        <p:spPr>
          <a:xfrm>
            <a:off x="2286000" y="4237038"/>
            <a:ext cx="5334000" cy="1706562"/>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function </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返回值位宽或类型说明</a:t>
            </a:r>
            <a:r>
              <a:rPr lang="en-US" altLang="zh-CN" b="1" dirty="0">
                <a:latin typeface="宋体" panose="02010600030101010101" pitchFamily="2" charset="-122"/>
                <a:ea typeface="宋体" panose="02010600030101010101" pitchFamily="2" charset="-122"/>
              </a:rPr>
              <a:t>&gt; </a:t>
            </a:r>
            <a:r>
              <a:rPr lang="zh-CN" altLang="en-US" b="1" dirty="0">
                <a:latin typeface="宋体" panose="02010600030101010101" pitchFamily="2" charset="-122"/>
                <a:ea typeface="宋体" panose="02010600030101010101" pitchFamily="2" charset="-122"/>
              </a:rPr>
              <a:t>函数名；</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端口声明；</a:t>
            </a:r>
            <a:endParaRPr lang="zh-CN" altLang="en-US"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zh-CN" altLang="en-US" b="1" dirty="0">
                <a:latin typeface="宋体" panose="02010600030101010101" pitchFamily="2" charset="-122"/>
                <a:ea typeface="宋体" panose="02010600030101010101" pitchFamily="2" charset="-122"/>
              </a:rPr>
              <a:t>  局部变量定义；</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zh-CN" altLang="en-US" b="1" dirty="0">
                <a:latin typeface="宋体" panose="02010600030101010101" pitchFamily="2" charset="-122"/>
                <a:ea typeface="宋体" panose="02010600030101010101" pitchFamily="2" charset="-122"/>
              </a:rPr>
              <a:t>  其他语句；</a:t>
            </a:r>
            <a:endParaRPr lang="zh-CN" altLang="en-US" b="1" dirty="0">
              <a:latin typeface="宋体" panose="02010600030101010101" pitchFamily="2" charset="-122"/>
              <a:ea typeface="宋体" panose="02010600030101010101" pitchFamily="2" charset="-122"/>
            </a:endParaRPr>
          </a:p>
          <a:p>
            <a:pPr marL="0" lvl="0" indent="0">
              <a:spcBef>
                <a:spcPct val="0"/>
              </a:spcBef>
              <a:buNone/>
            </a:pPr>
            <a:r>
              <a:rPr lang="en-US" altLang="zh-CN" b="1" dirty="0">
                <a:solidFill>
                  <a:srgbClr val="FF0066"/>
                </a:solidFill>
                <a:latin typeface="宋体" panose="02010600030101010101" pitchFamily="2" charset="-122"/>
                <a:ea typeface="宋体" panose="02010600030101010101" pitchFamily="2" charset="-122"/>
              </a:rPr>
              <a:t>endfunction</a:t>
            </a:r>
            <a:endParaRPr lang="en-US" altLang="zh-CN" b="1" dirty="0">
              <a:solidFill>
                <a:srgbClr val="FF0066"/>
              </a:solidFill>
              <a:latin typeface="宋体" panose="02010600030101010101" pitchFamily="2" charset="-122"/>
              <a:ea typeface="宋体" panose="02010600030101010101" pitchFamily="2" charset="-122"/>
            </a:endParaRPr>
          </a:p>
        </p:txBody>
      </p:sp>
      <p:sp>
        <p:nvSpPr>
          <p:cNvPr id="1774597" name="AutoShape 5"/>
          <p:cNvSpPr/>
          <p:nvPr/>
        </p:nvSpPr>
        <p:spPr>
          <a:xfrm>
            <a:off x="5486400" y="4724400"/>
            <a:ext cx="1905000" cy="685800"/>
          </a:xfrm>
          <a:prstGeom prst="wedgeRectCallout">
            <a:avLst>
              <a:gd name="adj1" fmla="val -78500"/>
              <a:gd name="adj2" fmla="val -68056"/>
            </a:avLst>
          </a:prstGeom>
          <a:noFill/>
          <a:ln w="9525" cap="flat" cmpd="sng">
            <a:solidFill>
              <a:srgbClr val="FF9900"/>
            </a:solidFill>
            <a:prstDash val="solid"/>
            <a:miter/>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宋体" panose="02010600030101010101" pitchFamily="2" charset="-122"/>
                <a:ea typeface="宋体" panose="02010600030101010101" pitchFamily="2" charset="-122"/>
              </a:rPr>
              <a:t>缺省则返回</a:t>
            </a:r>
            <a:r>
              <a:rPr lang="en-US" altLang="zh-CN" b="1" dirty="0">
                <a:solidFill>
                  <a:srgbClr val="990000"/>
                </a:solidFill>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位</a:t>
            </a:r>
            <a:r>
              <a:rPr lang="en-US" altLang="zh-CN" b="1" dirty="0">
                <a:solidFill>
                  <a:srgbClr val="990000"/>
                </a:solidFill>
                <a:latin typeface="宋体" panose="02010600030101010101" pitchFamily="2" charset="-122"/>
                <a:ea typeface="宋体" panose="02010600030101010101" pitchFamily="2" charset="-122"/>
              </a:rPr>
              <a:t>reg</a:t>
            </a:r>
            <a:r>
              <a:rPr lang="zh-CN" altLang="en-US" dirty="0">
                <a:latin typeface="宋体" panose="02010600030101010101" pitchFamily="2" charset="-122"/>
                <a:ea typeface="宋体" panose="02010600030101010101" pitchFamily="2" charset="-122"/>
              </a:rPr>
              <a:t>型数据</a:t>
            </a:r>
            <a:endParaRPr lang="zh-CN" altLang="en-US" dirty="0">
              <a:latin typeface="宋体" panose="02010600030101010101" pitchFamily="2" charset="-122"/>
              <a:ea typeface="宋体" panose="02010600030101010101" pitchFamily="2" charset="-122"/>
            </a:endParaRPr>
          </a:p>
        </p:txBody>
      </p:sp>
      <p:sp>
        <p:nvSpPr>
          <p:cNvPr id="1774598" name="Rectangle 6"/>
          <p:cNvSpPr/>
          <p:nvPr/>
        </p:nvSpPr>
        <p:spPr>
          <a:xfrm>
            <a:off x="493713" y="4289425"/>
            <a:ext cx="1406525" cy="423863"/>
          </a:xfrm>
          <a:prstGeom prst="rect">
            <a:avLst/>
          </a:prstGeom>
          <a:noFill/>
          <a:ln w="25400">
            <a:noFill/>
          </a:ln>
        </p:spPr>
        <p:txBody>
          <a:bodyPr wrap="none">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lnSpc>
                <a:spcPct val="90000"/>
              </a:lnSpc>
              <a:spcBef>
                <a:spcPct val="30000"/>
              </a:spcBef>
              <a:buClr>
                <a:schemeClr val="tx2"/>
              </a:buClr>
              <a:buSzPct val="85000"/>
              <a:buFont typeface="Wingdings" panose="05000000000000000000" pitchFamily="2" charset="2"/>
              <a:buNone/>
            </a:pPr>
            <a:r>
              <a:rPr lang="en-US" altLang="en-US" sz="2400" b="1" dirty="0">
                <a:latin typeface="楷体" panose="02010609060101010101" pitchFamily="49" charset="-122"/>
                <a:ea typeface="楷体" panose="02010609060101010101" pitchFamily="49" charset="-122"/>
              </a:rPr>
              <a:t>函数定义</a:t>
            </a:r>
            <a:endParaRPr lang="en-US" altLang="en-US" sz="2400" b="1" dirty="0">
              <a:latin typeface="楷体" panose="02010609060101010101" pitchFamily="49" charset="-122"/>
              <a:ea typeface="楷体" panose="02010609060101010101" pitchFamily="49"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74595"/>
                                        </p:tgtEl>
                                        <p:attrNameLst>
                                          <p:attrName>style.visibility</p:attrName>
                                        </p:attrNameLst>
                                      </p:cBhvr>
                                      <p:to>
                                        <p:strVal val="visible"/>
                                      </p:to>
                                    </p:set>
                                    <p:anim calcmode="lin" valueType="num">
                                      <p:cBhvr additive="base">
                                        <p:cTn id="7" dur="500" fill="hold"/>
                                        <p:tgtEl>
                                          <p:spTgt spid="1774595"/>
                                        </p:tgtEl>
                                        <p:attrNameLst>
                                          <p:attrName>ppt_x</p:attrName>
                                        </p:attrNameLst>
                                      </p:cBhvr>
                                      <p:tavLst>
                                        <p:tav tm="0">
                                          <p:val>
                                            <p:strVal val="0-#ppt_w/2"/>
                                          </p:val>
                                        </p:tav>
                                        <p:tav tm="100000">
                                          <p:val>
                                            <p:strVal val="#ppt_x"/>
                                          </p:val>
                                        </p:tav>
                                      </p:tavLst>
                                    </p:anim>
                                    <p:anim calcmode="lin" valueType="num">
                                      <p:cBhvr additive="base">
                                        <p:cTn id="8" dur="500" fill="hold"/>
                                        <p:tgtEl>
                                          <p:spTgt spid="17745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774598"/>
                                        </p:tgtEl>
                                        <p:attrNameLst>
                                          <p:attrName>style.visibility</p:attrName>
                                        </p:attrNameLst>
                                      </p:cBhvr>
                                      <p:to>
                                        <p:strVal val="visible"/>
                                      </p:to>
                                    </p:set>
                                    <p:anim calcmode="lin" valueType="num">
                                      <p:cBhvr>
                                        <p:cTn id="13" dur="500" fill="hold"/>
                                        <p:tgtEl>
                                          <p:spTgt spid="1774598"/>
                                        </p:tgtEl>
                                        <p:attrNameLst>
                                          <p:attrName>ppt_w</p:attrName>
                                        </p:attrNameLst>
                                      </p:cBhvr>
                                      <p:tavLst>
                                        <p:tav tm="0">
                                          <p:val>
                                            <p:fltVal val="0.000000"/>
                                          </p:val>
                                        </p:tav>
                                        <p:tav tm="100000">
                                          <p:val>
                                            <p:strVal val="#ppt_w"/>
                                          </p:val>
                                        </p:tav>
                                      </p:tavLst>
                                    </p:anim>
                                    <p:anim calcmode="lin" valueType="num">
                                      <p:cBhvr>
                                        <p:cTn id="14" dur="500" fill="hold"/>
                                        <p:tgtEl>
                                          <p:spTgt spid="1774598"/>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1774596"/>
                                        </p:tgtEl>
                                        <p:attrNameLst>
                                          <p:attrName>style.visibility</p:attrName>
                                        </p:attrNameLst>
                                      </p:cBhvr>
                                      <p:to>
                                        <p:strVal val="visible"/>
                                      </p:to>
                                    </p:set>
                                    <p:animEffect transition="in" filter="wipe(left)">
                                      <p:cBhvr>
                                        <p:cTn id="18" dur="500"/>
                                        <p:tgtEl>
                                          <p:spTgt spid="177459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74597"/>
                                        </p:tgtEl>
                                        <p:attrNameLst>
                                          <p:attrName>style.visibility</p:attrName>
                                        </p:attrNameLst>
                                      </p:cBhvr>
                                      <p:to>
                                        <p:strVal val="visible"/>
                                      </p:to>
                                    </p:set>
                                    <p:animEffect transition="in" filter="dissolve">
                                      <p:cBhvr>
                                        <p:cTn id="23" dur="500"/>
                                        <p:tgtEl>
                                          <p:spTgt spid="1774597"/>
                                        </p:tgtEl>
                                      </p:cBhvr>
                                    </p:animEffect>
                                  </p:childTnLst>
                                  <p:subTnLst>
                                    <p:set>
                                      <p:cBhvr override="childStyle">
                                        <p:cTn dur="1" fill="hold" display="0" masterRel="nextClick" afterEffect="1"/>
                                        <p:tgtEl>
                                          <p:spTgt spid="177459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4595" grpId="0"/>
      <p:bldP spid="1774596" grpId="0" animBg="1"/>
      <p:bldP spid="1774597" grpId="0" animBg="1"/>
      <p:bldP spid="1774598" grpId="0"/>
    </p:bld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371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4371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76644" name="Text Box 4"/>
          <p:cNvSpPr txBox="1"/>
          <p:nvPr/>
        </p:nvSpPr>
        <p:spPr>
          <a:xfrm>
            <a:off x="2436813" y="1636713"/>
            <a:ext cx="3989387" cy="427037"/>
          </a:xfrm>
          <a:prstGeom prst="rect">
            <a:avLst/>
          </a:prstGeom>
          <a:noFill/>
          <a:ln w="9525"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函数名</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&gt; &lt;</a:t>
            </a:r>
            <a:r>
              <a:rPr lang="zh-CN" altLang="en-US" b="1" dirty="0">
                <a:latin typeface="宋体" panose="02010600030101010101" pitchFamily="2" charset="-122"/>
                <a:ea typeface="宋体" panose="02010600030101010101" pitchFamily="2" charset="-122"/>
              </a:rPr>
              <a:t>表达式</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1776645" name="Rectangle 5"/>
          <p:cNvSpPr/>
          <p:nvPr/>
        </p:nvSpPr>
        <p:spPr>
          <a:xfrm>
            <a:off x="1077913" y="2157413"/>
            <a:ext cx="6705600" cy="76835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b="1" dirty="0">
                <a:latin typeface="仿宋_GB2312" pitchFamily="49" charset="-122"/>
                <a:ea typeface="仿宋_GB2312" pitchFamily="49" charset="-122"/>
              </a:rPr>
              <a:t>注</a:t>
            </a:r>
            <a:r>
              <a:rPr lang="en-US" altLang="zh-CN" b="1" dirty="0">
                <a:latin typeface="仿宋_GB2312" pitchFamily="49" charset="-122"/>
                <a:ea typeface="仿宋_GB2312" pitchFamily="49" charset="-122"/>
              </a:rPr>
              <a:t>1</a:t>
            </a:r>
            <a:r>
              <a:rPr lang="zh-CN" altLang="zh-CN" b="1" dirty="0">
                <a:latin typeface="仿宋_GB2312" pitchFamily="49" charset="-122"/>
                <a:ea typeface="仿宋_GB2312" pitchFamily="49" charset="-122"/>
              </a:rPr>
              <a:t>：</a:t>
            </a:r>
            <a:r>
              <a:rPr lang="zh-CN" altLang="en-US" b="1" dirty="0">
                <a:latin typeface="仿宋_GB2312" pitchFamily="49" charset="-122"/>
                <a:ea typeface="仿宋_GB2312" pitchFamily="49" charset="-122"/>
              </a:rPr>
              <a:t>函数的调用是通过将函数作为调用函数的表达式中的</a:t>
            </a:r>
            <a:r>
              <a:rPr lang="zh-CN" altLang="en-US" b="1" dirty="0">
                <a:solidFill>
                  <a:srgbClr val="FF0066"/>
                </a:solidFill>
                <a:latin typeface="宋体" panose="02010600030101010101" pitchFamily="2" charset="-122"/>
                <a:ea typeface="仿宋_GB2312" pitchFamily="49" charset="-122"/>
              </a:rPr>
              <a:t>操作数</a:t>
            </a:r>
            <a:r>
              <a:rPr lang="zh-CN" altLang="en-US" b="1" dirty="0">
                <a:latin typeface="仿宋_GB2312" pitchFamily="49" charset="-122"/>
                <a:ea typeface="仿宋_GB2312" pitchFamily="49" charset="-122"/>
              </a:rPr>
              <a:t>来实现的！</a:t>
            </a:r>
            <a:endParaRPr lang="zh-CN" altLang="en-US" b="1" dirty="0">
              <a:latin typeface="仿宋_GB2312" pitchFamily="49" charset="-122"/>
              <a:ea typeface="仿宋_GB2312" pitchFamily="49" charset="-122"/>
            </a:endParaRPr>
          </a:p>
        </p:txBody>
      </p:sp>
      <p:sp>
        <p:nvSpPr>
          <p:cNvPr id="1776646" name="AutoShape 6"/>
          <p:cNvSpPr/>
          <p:nvPr/>
        </p:nvSpPr>
        <p:spPr>
          <a:xfrm>
            <a:off x="5094288" y="811213"/>
            <a:ext cx="2133600" cy="685800"/>
          </a:xfrm>
          <a:prstGeom prst="wedgeRectCallout">
            <a:avLst>
              <a:gd name="adj1" fmla="val -82662"/>
              <a:gd name="adj2" fmla="val 69907"/>
            </a:avLst>
          </a:prstGeom>
          <a:noFill/>
          <a:ln w="9525" cap="flat" cmpd="sng">
            <a:solidFill>
              <a:schemeClr val="tx1"/>
            </a:solidFill>
            <a:prstDash val="solid"/>
            <a:miter/>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宋体" panose="02010600030101010101" pitchFamily="2" charset="-122"/>
                <a:ea typeface="宋体" panose="02010600030101010101" pitchFamily="2" charset="-122"/>
              </a:rPr>
              <a:t>与函数定义中的输入变量对应！</a:t>
            </a:r>
            <a:endParaRPr lang="zh-CN" altLang="en-US" dirty="0">
              <a:latin typeface="宋体" panose="02010600030101010101" pitchFamily="2" charset="-122"/>
              <a:ea typeface="宋体" panose="02010600030101010101" pitchFamily="2" charset="-122"/>
            </a:endParaRPr>
          </a:p>
        </p:txBody>
      </p:sp>
      <p:sp>
        <p:nvSpPr>
          <p:cNvPr id="1776647" name="Rectangle 7"/>
          <p:cNvSpPr/>
          <p:nvPr/>
        </p:nvSpPr>
        <p:spPr>
          <a:xfrm>
            <a:off x="1987550" y="5619750"/>
            <a:ext cx="5527675" cy="110648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b="1" dirty="0">
                <a:latin typeface="仿宋_GB2312" pitchFamily="49" charset="-122"/>
                <a:ea typeface="仿宋_GB2312" pitchFamily="49" charset="-122"/>
              </a:rPr>
              <a:t>注</a:t>
            </a:r>
            <a:r>
              <a:rPr lang="en-US" altLang="zh-CN" b="1" dirty="0">
                <a:latin typeface="仿宋_GB2312" pitchFamily="49" charset="-122"/>
                <a:ea typeface="仿宋_GB2312" pitchFamily="49" charset="-122"/>
              </a:rPr>
              <a:t>2</a:t>
            </a:r>
            <a:r>
              <a:rPr lang="zh-CN" altLang="zh-CN" b="1" dirty="0">
                <a:latin typeface="仿宋_GB2312" pitchFamily="49" charset="-122"/>
                <a:ea typeface="仿宋_GB2312" pitchFamily="49" charset="-122"/>
              </a:rPr>
              <a:t>：</a:t>
            </a:r>
            <a:r>
              <a:rPr lang="zh-CN" altLang="en-US" b="1" dirty="0">
                <a:latin typeface="仿宋_GB2312" pitchFamily="49" charset="-122"/>
                <a:ea typeface="仿宋_GB2312" pitchFamily="49" charset="-122"/>
              </a:rPr>
              <a:t>函数在</a:t>
            </a:r>
            <a:r>
              <a:rPr lang="zh-CN" altLang="en-US" b="1" dirty="0">
                <a:solidFill>
                  <a:srgbClr val="FF3399"/>
                </a:solidFill>
                <a:latin typeface="仿宋_GB2312" pitchFamily="49" charset="-122"/>
                <a:ea typeface="仿宋_GB2312" pitchFamily="49" charset="-122"/>
              </a:rPr>
              <a:t>综合</a:t>
            </a:r>
            <a:r>
              <a:rPr lang="zh-CN" altLang="en-US" b="1" dirty="0">
                <a:latin typeface="仿宋_GB2312" pitchFamily="49" charset="-122"/>
                <a:ea typeface="仿宋_GB2312" pitchFamily="49" charset="-122"/>
              </a:rPr>
              <a:t>时被理解成具有独立运算功能的电路，每调用一次函数，相当于改变此电路的输入，以得到相应的计算结果。</a:t>
            </a:r>
            <a:endParaRPr lang="zh-CN" altLang="en-US" b="1" dirty="0">
              <a:latin typeface="仿宋_GB2312" pitchFamily="49" charset="-122"/>
              <a:ea typeface="仿宋_GB2312" pitchFamily="49" charset="-122"/>
            </a:endParaRPr>
          </a:p>
        </p:txBody>
      </p:sp>
      <p:sp>
        <p:nvSpPr>
          <p:cNvPr id="1776648" name="Text Box 8"/>
          <p:cNvSpPr txBox="1"/>
          <p:nvPr/>
        </p:nvSpPr>
        <p:spPr>
          <a:xfrm>
            <a:off x="2124075" y="3068638"/>
            <a:ext cx="5391150" cy="24161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95000"/>
              </a:lnSpc>
              <a:spcBef>
                <a:spcPct val="0"/>
              </a:spcBef>
              <a:buNone/>
            </a:pPr>
            <a:r>
              <a:rPr lang="en-US" altLang="zh-CN" b="1" dirty="0">
                <a:solidFill>
                  <a:srgbClr val="FF0066"/>
                </a:solidFill>
                <a:latin typeface="Times New Roman" panose="02020603050405020304" pitchFamily="18" charset="0"/>
                <a:ea typeface="宋体" panose="02010600030101010101" pitchFamily="2" charset="-122"/>
              </a:rPr>
              <a:t>function[7:0] gefun;                 </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函数的定义</a:t>
            </a:r>
            <a:endParaRPr lang="zh-CN" altLang="en-US" b="1" dirty="0">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input [7:0] x;    </a:t>
            </a:r>
            <a:endParaRPr lang="en-US" altLang="zh-CN" b="1" dirty="0">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en-US" altLang="zh-CN" b="1" dirty="0">
                <a:latin typeface="Times New Roman" panose="02020603050405020304" pitchFamily="18" charset="0"/>
                <a:ea typeface="宋体" panose="02010600030101010101" pitchFamily="2" charset="-122"/>
              </a:rPr>
              <a:t>          ……</a:t>
            </a:r>
            <a:endParaRPr lang="en-US" altLang="zh-CN" b="1" dirty="0">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en-US" altLang="zh-CN" b="1" dirty="0">
                <a:latin typeface="Times New Roman" panose="02020603050405020304" pitchFamily="18" charset="0"/>
                <a:ea typeface="宋体" panose="02010600030101010101" pitchFamily="2" charset="-122"/>
              </a:rPr>
              <a:t>      &lt;</a:t>
            </a:r>
            <a:r>
              <a:rPr lang="zh-CN" altLang="en-US" b="1" dirty="0">
                <a:latin typeface="Times New Roman" panose="02020603050405020304" pitchFamily="18" charset="0"/>
                <a:ea typeface="宋体" panose="02010600030101010101" pitchFamily="2" charset="-122"/>
              </a:rPr>
              <a:t>语句</a:t>
            </a:r>
            <a:r>
              <a:rPr lang="en-US" altLang="zh-CN" b="1" dirty="0">
                <a:latin typeface="Times New Roman" panose="02020603050405020304" pitchFamily="18" charset="0"/>
                <a:ea typeface="宋体" panose="02010600030101010101" pitchFamily="2" charset="-122"/>
              </a:rPr>
              <a:t>&gt;                                 //</a:t>
            </a:r>
            <a:r>
              <a:rPr lang="zh-CN" altLang="en-US" b="1" dirty="0">
                <a:latin typeface="Times New Roman" panose="02020603050405020304" pitchFamily="18" charset="0"/>
                <a:ea typeface="宋体" panose="02010600030101010101" pitchFamily="2" charset="-122"/>
              </a:rPr>
              <a:t>进行运算</a:t>
            </a:r>
            <a:endParaRPr lang="zh-CN" altLang="en-US" b="1" dirty="0">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gefun = count;                   //</a:t>
            </a:r>
            <a:r>
              <a:rPr lang="zh-CN" altLang="en-US" b="1" dirty="0">
                <a:latin typeface="Times New Roman" panose="02020603050405020304" pitchFamily="18" charset="0"/>
                <a:ea typeface="宋体" panose="02010600030101010101" pitchFamily="2" charset="-122"/>
              </a:rPr>
              <a:t>赋值语句</a:t>
            </a:r>
            <a:endParaRPr lang="zh-CN" altLang="en-US" b="1" dirty="0">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zh-CN" altLang="en-US" b="1" dirty="0">
                <a:latin typeface="Times New Roman" panose="02020603050405020304" pitchFamily="18" charset="0"/>
                <a:ea typeface="宋体" panose="02010600030101010101" pitchFamily="2" charset="-122"/>
              </a:rPr>
              <a:t> </a:t>
            </a:r>
            <a:r>
              <a:rPr lang="en-US" altLang="zh-CN" b="1" dirty="0">
                <a:solidFill>
                  <a:srgbClr val="FF0066"/>
                </a:solidFill>
                <a:latin typeface="Times New Roman" panose="02020603050405020304" pitchFamily="18" charset="0"/>
                <a:ea typeface="宋体" panose="02010600030101010101" pitchFamily="2" charset="-122"/>
              </a:rPr>
              <a:t>endfunction</a:t>
            </a:r>
            <a:endParaRPr lang="en-US" altLang="zh-CN" b="1" dirty="0">
              <a:solidFill>
                <a:srgbClr val="FF0066"/>
              </a:solidFill>
              <a:latin typeface="Times New Roman" panose="02020603050405020304" pitchFamily="18" charset="0"/>
              <a:ea typeface="宋体" panose="02010600030101010101" pitchFamily="2" charset="-122"/>
            </a:endParaRPr>
          </a:p>
          <a:p>
            <a:pPr marL="0" lvl="0" indent="0" algn="just">
              <a:lnSpc>
                <a:spcPct val="95000"/>
              </a:lnSpc>
              <a:spcBef>
                <a:spcPct val="0"/>
              </a:spcBef>
              <a:buNone/>
            </a:pPr>
            <a:endParaRPr lang="en-US" altLang="zh-CN" b="1" dirty="0">
              <a:solidFill>
                <a:srgbClr val="FF0066"/>
              </a:solidFill>
              <a:latin typeface="Times New Roman" panose="02020603050405020304" pitchFamily="18" charset="0"/>
              <a:ea typeface="宋体" panose="02010600030101010101" pitchFamily="2" charset="-122"/>
            </a:endParaRPr>
          </a:p>
          <a:p>
            <a:pPr marL="0" lvl="0" indent="0" algn="just">
              <a:lnSpc>
                <a:spcPct val="95000"/>
              </a:lnSpc>
              <a:spcBef>
                <a:spcPct val="0"/>
              </a:spcBef>
              <a:buNone/>
            </a:pPr>
            <a:r>
              <a:rPr lang="en-US" altLang="zh-CN" b="1" dirty="0">
                <a:latin typeface="Times New Roman" panose="02020603050405020304" pitchFamily="18" charset="0"/>
                <a:ea typeface="宋体" panose="02010600030101010101" pitchFamily="2" charset="-122"/>
              </a:rPr>
              <a:t>assign number = gefun(rega); //</a:t>
            </a:r>
            <a:r>
              <a:rPr lang="zh-CN" altLang="en-US" b="1" dirty="0">
                <a:latin typeface="Times New Roman" panose="02020603050405020304" pitchFamily="18" charset="0"/>
                <a:ea typeface="宋体" panose="02010600030101010101" pitchFamily="2" charset="-122"/>
              </a:rPr>
              <a:t>对函数的调用</a:t>
            </a:r>
            <a:endParaRPr lang="zh-CN" altLang="en-US" b="1" dirty="0">
              <a:latin typeface="Times New Roman" panose="02020603050405020304" pitchFamily="18" charset="0"/>
              <a:ea typeface="宋体" panose="02010600030101010101" pitchFamily="2" charset="-122"/>
            </a:endParaRPr>
          </a:p>
        </p:txBody>
      </p:sp>
      <p:sp>
        <p:nvSpPr>
          <p:cNvPr id="1776651" name="Rectangle 11"/>
          <p:cNvSpPr>
            <a:spLocks noGrp="1"/>
          </p:cNvSpPr>
          <p:nvPr>
            <p:ph idx="1"/>
          </p:nvPr>
        </p:nvSpPr>
        <p:spPr>
          <a:xfrm>
            <a:off x="539750" y="1085850"/>
            <a:ext cx="7921625" cy="382588"/>
          </a:xfrm>
          <a:ln w="25400"/>
        </p:spPr>
        <p:txBody>
          <a:bodyPr vert="horz" wrap="square" lIns="91440" tIns="45720" rIns="91440" bIns="45720" anchor="t" anchorCtr="0"/>
          <a:p>
            <a:pPr eaLnBrk="1" hangingPunct="1">
              <a:lnSpc>
                <a:spcPct val="90000"/>
              </a:lnSpc>
              <a:spcBef>
                <a:spcPct val="30000"/>
              </a:spcBef>
              <a:buClr>
                <a:schemeClr val="tx2"/>
              </a:buClr>
              <a:buSzPct val="85000"/>
            </a:pPr>
            <a:r>
              <a:rPr lang="en-US" altLang="en-US" dirty="0">
                <a:latin typeface="华文楷体" panose="02010600040101010101" pitchFamily="2" charset="-122"/>
                <a:ea typeface="华文楷体" panose="02010600040101010101" pitchFamily="2" charset="-122"/>
                <a:cs typeface="+mn-cs"/>
              </a:rPr>
              <a:t>函数调用</a:t>
            </a:r>
            <a:endParaRPr lang="en-US" altLang="en-US" dirty="0">
              <a:latin typeface="华文楷体" panose="02010600040101010101" pitchFamily="2" charset="-122"/>
              <a:ea typeface="华文楷体" panose="02010600040101010101" pitchFamily="2" charset="-122"/>
              <a:cs typeface="+mn-cs"/>
            </a:endParaRPr>
          </a:p>
        </p:txBody>
      </p:sp>
      <p:sp>
        <p:nvSpPr>
          <p:cNvPr id="1776652" name="AutoShape 12"/>
          <p:cNvSpPr>
            <a:spLocks noChangeArrowheads="1"/>
          </p:cNvSpPr>
          <p:nvPr/>
        </p:nvSpPr>
        <p:spPr bwMode="auto">
          <a:xfrm>
            <a:off x="439738" y="4578350"/>
            <a:ext cx="1600200" cy="419100"/>
          </a:xfrm>
          <a:prstGeom prst="wedgeRoundRectCallout">
            <a:avLst>
              <a:gd name="adj1" fmla="val 85713"/>
              <a:gd name="adj2" fmla="val -85606"/>
              <a:gd name="adj3" fmla="val 16667"/>
            </a:avLst>
          </a:prstGeom>
          <a:noFill/>
          <a:ln w="9525">
            <a:solidFill>
              <a:schemeClr val="tx1"/>
            </a:solidFill>
            <a:miter lim="800000"/>
          </a:ln>
          <a:effectLst>
            <a:prstShdw prst="shdw17" dist="17961" dir="2700000">
              <a:schemeClr val="accent1">
                <a:gamma/>
                <a:shade val="60000"/>
                <a:invGamma/>
              </a:schemeClr>
            </a:prstShdw>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rPr>
              <a:t>内部寄存器</a:t>
            </a:r>
            <a:endParaRPr kumimoji="0" lang="zh-CN" altLang="en-US" sz="20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76651"/>
                                        </p:tgtEl>
                                        <p:attrNameLst>
                                          <p:attrName>style.visibility</p:attrName>
                                        </p:attrNameLst>
                                      </p:cBhvr>
                                      <p:to>
                                        <p:strVal val="visible"/>
                                      </p:to>
                                    </p:set>
                                    <p:anim calcmode="lin" valueType="num">
                                      <p:cBhvr>
                                        <p:cTn id="7" dur="500" fill="hold"/>
                                        <p:tgtEl>
                                          <p:spTgt spid="1776651"/>
                                        </p:tgtEl>
                                        <p:attrNameLst>
                                          <p:attrName>ppt_w</p:attrName>
                                        </p:attrNameLst>
                                      </p:cBhvr>
                                      <p:tavLst>
                                        <p:tav tm="0">
                                          <p:val>
                                            <p:fltVal val="0.000000"/>
                                          </p:val>
                                        </p:tav>
                                        <p:tav tm="100000">
                                          <p:val>
                                            <p:strVal val="#ppt_w"/>
                                          </p:val>
                                        </p:tav>
                                      </p:tavLst>
                                    </p:anim>
                                    <p:anim calcmode="lin" valueType="num">
                                      <p:cBhvr>
                                        <p:cTn id="8" dur="500" fill="hold"/>
                                        <p:tgtEl>
                                          <p:spTgt spid="1776651"/>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776644"/>
                                        </p:tgtEl>
                                        <p:attrNameLst>
                                          <p:attrName>style.visibility</p:attrName>
                                        </p:attrNameLst>
                                      </p:cBhvr>
                                      <p:to>
                                        <p:strVal val="visible"/>
                                      </p:to>
                                    </p:set>
                                    <p:animEffect transition="in" filter="wipe(left)">
                                      <p:cBhvr>
                                        <p:cTn id="12" dur="500"/>
                                        <p:tgtEl>
                                          <p:spTgt spid="17766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76646"/>
                                        </p:tgtEl>
                                        <p:attrNameLst>
                                          <p:attrName>style.visibility</p:attrName>
                                        </p:attrNameLst>
                                      </p:cBhvr>
                                      <p:to>
                                        <p:strVal val="visible"/>
                                      </p:to>
                                    </p:set>
                                    <p:animEffect transition="in" filter="dissolve">
                                      <p:cBhvr>
                                        <p:cTn id="17" dur="500"/>
                                        <p:tgtEl>
                                          <p:spTgt spid="1776646"/>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1776645"/>
                                        </p:tgtEl>
                                        <p:attrNameLst>
                                          <p:attrName>style.visibility</p:attrName>
                                        </p:attrNameLst>
                                      </p:cBhvr>
                                      <p:to>
                                        <p:strVal val="visible"/>
                                      </p:to>
                                    </p:set>
                                    <p:anim calcmode="lin" valueType="num">
                                      <p:cBhvr>
                                        <p:cTn id="22" dur="500" fill="hold"/>
                                        <p:tgtEl>
                                          <p:spTgt spid="1776645"/>
                                        </p:tgtEl>
                                        <p:attrNameLst>
                                          <p:attrName>ppt_w</p:attrName>
                                        </p:attrNameLst>
                                      </p:cBhvr>
                                      <p:tavLst>
                                        <p:tav tm="0">
                                          <p:val>
                                            <p:fltVal val="0.000000"/>
                                          </p:val>
                                        </p:tav>
                                        <p:tav tm="100000">
                                          <p:val>
                                            <p:strVal val="#ppt_w"/>
                                          </p:val>
                                        </p:tav>
                                      </p:tavLst>
                                    </p:anim>
                                    <p:anim calcmode="lin" valueType="num">
                                      <p:cBhvr>
                                        <p:cTn id="23" dur="500" fill="hold"/>
                                        <p:tgtEl>
                                          <p:spTgt spid="1776645"/>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776648"/>
                                        </p:tgtEl>
                                        <p:attrNameLst>
                                          <p:attrName>style.visibility</p:attrName>
                                        </p:attrNameLst>
                                      </p:cBhvr>
                                      <p:to>
                                        <p:strVal val="visible"/>
                                      </p:to>
                                    </p:set>
                                    <p:anim calcmode="lin" valueType="num">
                                      <p:cBhvr additive="base">
                                        <p:cTn id="28" dur="500" fill="hold"/>
                                        <p:tgtEl>
                                          <p:spTgt spid="1776648"/>
                                        </p:tgtEl>
                                        <p:attrNameLst>
                                          <p:attrName>ppt_x</p:attrName>
                                        </p:attrNameLst>
                                      </p:cBhvr>
                                      <p:tavLst>
                                        <p:tav tm="0">
                                          <p:val>
                                            <p:strVal val="#ppt_x"/>
                                          </p:val>
                                        </p:tav>
                                        <p:tav tm="100000">
                                          <p:val>
                                            <p:strVal val="#ppt_x"/>
                                          </p:val>
                                        </p:tav>
                                      </p:tavLst>
                                    </p:anim>
                                    <p:anim calcmode="lin" valueType="num">
                                      <p:cBhvr additive="base">
                                        <p:cTn id="29" dur="500" fill="hold"/>
                                        <p:tgtEl>
                                          <p:spTgt spid="17766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776652"/>
                                        </p:tgtEl>
                                        <p:attrNameLst>
                                          <p:attrName>style.visibility</p:attrName>
                                        </p:attrNameLst>
                                      </p:cBhvr>
                                      <p:to>
                                        <p:strVal val="visible"/>
                                      </p:to>
                                    </p:set>
                                    <p:animEffect transition="in" filter="dissolve">
                                      <p:cBhvr>
                                        <p:cTn id="34" dur="500"/>
                                        <p:tgtEl>
                                          <p:spTgt spid="1776652"/>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776647"/>
                                        </p:tgtEl>
                                        <p:attrNameLst>
                                          <p:attrName>style.visibility</p:attrName>
                                        </p:attrNameLst>
                                      </p:cBhvr>
                                      <p:to>
                                        <p:strVal val="visible"/>
                                      </p:to>
                                    </p:set>
                                    <p:anim calcmode="lin" valueType="num">
                                      <p:cBhvr additive="base">
                                        <p:cTn id="39" dur="500" fill="hold"/>
                                        <p:tgtEl>
                                          <p:spTgt spid="1776647"/>
                                        </p:tgtEl>
                                        <p:attrNameLst>
                                          <p:attrName>ppt_x</p:attrName>
                                        </p:attrNameLst>
                                      </p:cBhvr>
                                      <p:tavLst>
                                        <p:tav tm="0">
                                          <p:val>
                                            <p:strVal val="#ppt_x"/>
                                          </p:val>
                                        </p:tav>
                                        <p:tav tm="100000">
                                          <p:val>
                                            <p:strVal val="#ppt_x"/>
                                          </p:val>
                                        </p:tav>
                                      </p:tavLst>
                                    </p:anim>
                                    <p:anim calcmode="lin" valueType="num">
                                      <p:cBhvr additive="base">
                                        <p:cTn id="40" dur="500" fill="hold"/>
                                        <p:tgtEl>
                                          <p:spTgt spid="17766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6644" grpId="0" animBg="1"/>
      <p:bldP spid="1776645" grpId="0" bldLvl="0" animBg="1"/>
      <p:bldP spid="1776646" grpId="0" animBg="1"/>
      <p:bldP spid="1776647" grpId="0" bldLvl="0" animBg="1"/>
      <p:bldP spid="1776648" grpId="0" animBg="1"/>
      <p:bldP spid="1776651" grpId="0" bldLvl="0"/>
      <p:bldP spid="1776652" grpId="0" animBg="1"/>
    </p:bld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576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4576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78691" name="Rectangle 3"/>
          <p:cNvSpPr>
            <a:spLocks noGrp="1"/>
          </p:cNvSpPr>
          <p:nvPr>
            <p:ph idx="1"/>
          </p:nvPr>
        </p:nvSpPr>
        <p:spPr/>
        <p:txBody>
          <a:bodyPr vert="horz" wrap="square" lIns="91440" tIns="45720" rIns="91440" bIns="45720" anchor="t" anchorCtr="0"/>
          <a:p>
            <a:pPr algn="just" eaLnBrk="1" hangingPunct="1">
              <a:lnSpc>
                <a:spcPct val="110000"/>
              </a:lnSpc>
              <a:buClr>
                <a:schemeClr val="hlink"/>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函数的定义</a:t>
            </a:r>
            <a:r>
              <a:rPr lang="zh-CN" altLang="en-US" dirty="0">
                <a:solidFill>
                  <a:srgbClr val="CC3300"/>
                </a:solidFill>
                <a:latin typeface="Times New Roman" panose="02020603050405020304" pitchFamily="18" charset="0"/>
                <a:ea typeface="华文楷体" panose="02010600040101010101" pitchFamily="2" charset="-122"/>
                <a:cs typeface="+mn-cs"/>
              </a:rPr>
              <a:t>不能包含任何时间控制语句</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用延迟</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、事件控制</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或等待</a:t>
            </a:r>
            <a:r>
              <a:rPr lang="en-US" altLang="zh-CN" dirty="0">
                <a:latin typeface="Times New Roman" panose="02020603050405020304" pitchFamily="18" charset="0"/>
                <a:ea typeface="华文楷体" panose="02010600040101010101" pitchFamily="2" charset="-122"/>
                <a:cs typeface="+mn-cs"/>
              </a:rPr>
              <a:t>wait</a:t>
            </a:r>
            <a:r>
              <a:rPr lang="zh-CN" altLang="en-US" dirty="0">
                <a:latin typeface="Times New Roman" panose="02020603050405020304" pitchFamily="18" charset="0"/>
                <a:ea typeface="华文楷体" panose="02010600040101010101" pitchFamily="2" charset="-122"/>
                <a:cs typeface="+mn-cs"/>
              </a:rPr>
              <a:t>标识的语句。</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函数不能启动（即调用）任务！</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定义函数时至少要有一个输入参量！且</a:t>
            </a:r>
            <a:r>
              <a:rPr lang="zh-CN" altLang="en-US" dirty="0">
                <a:solidFill>
                  <a:srgbClr val="CC3300"/>
                </a:solidFill>
                <a:latin typeface="Times New Roman" panose="02020603050405020304" pitchFamily="18" charset="0"/>
                <a:ea typeface="华文楷体" panose="02010600040101010101" pitchFamily="2" charset="-122"/>
                <a:cs typeface="+mn-cs"/>
              </a:rPr>
              <a:t>不能有任何输出或输入</a:t>
            </a:r>
            <a:r>
              <a:rPr lang="en-US" altLang="zh-CN" dirty="0">
                <a:solidFill>
                  <a:srgbClr val="CC3300"/>
                </a:solidFill>
                <a:latin typeface="Times New Roman" panose="02020603050405020304" pitchFamily="18" charset="0"/>
                <a:ea typeface="华文楷体" panose="02010600040101010101" pitchFamily="2" charset="-122"/>
                <a:cs typeface="+mn-cs"/>
              </a:rPr>
              <a:t>/</a:t>
            </a:r>
            <a:r>
              <a:rPr lang="zh-CN" altLang="en-US" dirty="0">
                <a:solidFill>
                  <a:srgbClr val="CC3300"/>
                </a:solidFill>
                <a:latin typeface="Times New Roman" panose="02020603050405020304" pitchFamily="18" charset="0"/>
                <a:ea typeface="华文楷体" panose="02010600040101010101" pitchFamily="2" charset="-122"/>
                <a:cs typeface="+mn-cs"/>
              </a:rPr>
              <a:t>输出双向变量</a:t>
            </a:r>
            <a:r>
              <a:rPr lang="zh-CN" altLang="en-US" dirty="0">
                <a:latin typeface="Times New Roman" panose="02020603050405020304" pitchFamily="18" charset="0"/>
                <a:ea typeface="华文楷体" panose="02010600040101010101" pitchFamily="2" charset="-122"/>
                <a:cs typeface="+mn-cs"/>
              </a:rPr>
              <a:t>。</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chemeClr val="hlink"/>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在函数的定义中必须有一条</a:t>
            </a:r>
            <a:r>
              <a:rPr lang="zh-CN" altLang="en-US" dirty="0">
                <a:solidFill>
                  <a:srgbClr val="FF33CC"/>
                </a:solidFill>
                <a:latin typeface="Times New Roman" panose="02020603050405020304" pitchFamily="18" charset="0"/>
                <a:ea typeface="华文楷体" panose="02010600040101010101" pitchFamily="2" charset="-122"/>
                <a:cs typeface="+mn-cs"/>
              </a:rPr>
              <a:t>赋值语句</a:t>
            </a:r>
            <a:r>
              <a:rPr lang="zh-CN" altLang="en-US" dirty="0">
                <a:latin typeface="Times New Roman" panose="02020603050405020304" pitchFamily="18" charset="0"/>
                <a:ea typeface="华文楷体" panose="02010600040101010101" pitchFamily="2" charset="-122"/>
                <a:cs typeface="+mn-cs"/>
              </a:rPr>
              <a:t>，给函数中的一个</a:t>
            </a:r>
            <a:r>
              <a:rPr lang="zh-CN" altLang="en-US" dirty="0">
                <a:solidFill>
                  <a:srgbClr val="FF33CC"/>
                </a:solidFill>
                <a:latin typeface="Times New Roman" panose="02020603050405020304" pitchFamily="18" charset="0"/>
                <a:ea typeface="华文楷体" panose="02010600040101010101" pitchFamily="2" charset="-122"/>
                <a:cs typeface="+mn-cs"/>
              </a:rPr>
              <a:t>内部寄存器</a:t>
            </a:r>
            <a:r>
              <a:rPr lang="zh-CN" altLang="en-US" dirty="0">
                <a:latin typeface="Times New Roman" panose="02020603050405020304" pitchFamily="18" charset="0"/>
                <a:ea typeface="华文楷体" panose="02010600040101010101" pitchFamily="2" charset="-122"/>
                <a:cs typeface="+mn-cs"/>
              </a:rPr>
              <a:t>赋以函数的结果值，该内部寄存器与函数同名。</a:t>
            </a:r>
            <a:endParaRPr lang="zh-CN" altLang="en-US" dirty="0">
              <a:latin typeface="Times New Roman" panose="02020603050405020304" pitchFamily="18" charset="0"/>
              <a:ea typeface="华文楷体" panose="02010600040101010101" pitchFamily="2" charset="-122"/>
              <a:cs typeface="+mn-cs"/>
            </a:endParaRPr>
          </a:p>
        </p:txBody>
      </p:sp>
      <p:sp>
        <p:nvSpPr>
          <p:cNvPr id="1778692" name="AutoShape 4"/>
          <p:cNvSpPr/>
          <p:nvPr/>
        </p:nvSpPr>
        <p:spPr>
          <a:xfrm rot="-765681">
            <a:off x="0" y="1360488"/>
            <a:ext cx="3005138" cy="687387"/>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Times New Roman" panose="02020603050405020304" pitchFamily="18" charset="0"/>
                <a:ea typeface="华文新魏" panose="02010800040101010101" pitchFamily="2" charset="-122"/>
              </a:rPr>
              <a:t>函数的使用规则</a:t>
            </a:r>
            <a:endParaRPr lang="en-US" altLang="en-US" sz="2400" b="1" dirty="0">
              <a:latin typeface="Times New Roman" panose="02020603050405020304" pitchFamily="18" charset="0"/>
              <a:ea typeface="华文新魏" panose="020108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1778692"/>
                                        </p:tgtEl>
                                        <p:attrNameLst>
                                          <p:attrName>style.visibility</p:attrName>
                                        </p:attrNameLst>
                                      </p:cBhvr>
                                      <p:to>
                                        <p:strVal val="visible"/>
                                      </p:to>
                                    </p:set>
                                    <p:anim calcmode="lin" valueType="num">
                                      <p:cBhvr>
                                        <p:cTn id="7" dur="500" fill="hold"/>
                                        <p:tgtEl>
                                          <p:spTgt spid="1778692"/>
                                        </p:tgtEl>
                                        <p:attrNameLst>
                                          <p:attrName>ppt_w</p:attrName>
                                        </p:attrNameLst>
                                      </p:cBhvr>
                                      <p:tavLst>
                                        <p:tav tm="0">
                                          <p:val>
                                            <p:strVal val="4/3*#ppt_w"/>
                                          </p:val>
                                        </p:tav>
                                        <p:tav tm="100000">
                                          <p:val>
                                            <p:strVal val="#ppt_w"/>
                                          </p:val>
                                        </p:tav>
                                      </p:tavLst>
                                    </p:anim>
                                    <p:anim calcmode="lin" valueType="num">
                                      <p:cBhvr>
                                        <p:cTn id="8" dur="500" fill="hold"/>
                                        <p:tgtEl>
                                          <p:spTgt spid="1778692"/>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778691"/>
                                        </p:tgtEl>
                                        <p:attrNameLst>
                                          <p:attrName>style.visibility</p:attrName>
                                        </p:attrNameLst>
                                      </p:cBhvr>
                                      <p:to>
                                        <p:strVal val="visible"/>
                                      </p:to>
                                    </p:set>
                                    <p:anim calcmode="lin" valueType="num">
                                      <p:cBhvr additive="base">
                                        <p:cTn id="12" dur="500" fill="hold"/>
                                        <p:tgtEl>
                                          <p:spTgt spid="1778691"/>
                                        </p:tgtEl>
                                        <p:attrNameLst>
                                          <p:attrName>ppt_x</p:attrName>
                                        </p:attrNameLst>
                                      </p:cBhvr>
                                      <p:tavLst>
                                        <p:tav tm="0">
                                          <p:val>
                                            <p:strVal val="#ppt_x"/>
                                          </p:val>
                                        </p:tav>
                                        <p:tav tm="100000">
                                          <p:val>
                                            <p:strVal val="#ppt_x"/>
                                          </p:val>
                                        </p:tav>
                                      </p:tavLst>
                                    </p:anim>
                                    <p:anim calcmode="lin" valueType="num">
                                      <p:cBhvr additive="base">
                                        <p:cTn id="13" dur="500" fill="hold"/>
                                        <p:tgtEl>
                                          <p:spTgt spid="17786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8691" grpId="0"/>
      <p:bldP spid="1778692" grpId="0"/>
    </p:bld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47810" name="图片 5"/>
          <p:cNvPicPr>
            <a:picLocks noChangeAspect="1"/>
          </p:cNvPicPr>
          <p:nvPr/>
        </p:nvPicPr>
        <p:blipFill>
          <a:blip r:embed="rId1"/>
          <a:stretch>
            <a:fillRect/>
          </a:stretch>
        </p:blipFill>
        <p:spPr>
          <a:xfrm>
            <a:off x="1374775" y="1389063"/>
            <a:ext cx="6251575" cy="5307012"/>
          </a:xfrm>
          <a:prstGeom prst="rect">
            <a:avLst/>
          </a:prstGeom>
          <a:noFill/>
          <a:ln w="9525">
            <a:noFill/>
          </a:ln>
        </p:spPr>
      </p:pic>
      <p:sp>
        <p:nvSpPr>
          <p:cNvPr id="247811"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4781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80739"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latin typeface="Times New Roman" panose="02020603050405020304" pitchFamily="18" charset="0"/>
                <a:ea typeface="华文楷体" panose="02010600040101010101" pitchFamily="2" charset="-122"/>
                <a:cs typeface="+mn-cs"/>
              </a:rPr>
              <a:t>[</a:t>
            </a:r>
            <a:r>
              <a:rPr lang="zh-CN" altLang="en-US" dirty="0">
                <a:solidFill>
                  <a:srgbClr val="FF0066"/>
                </a:solidFill>
                <a:latin typeface="Times New Roman" panose="02020603050405020304" pitchFamily="18" charset="0"/>
                <a:ea typeface="华文楷体" panose="02010600040101010101" pitchFamily="2" charset="-122"/>
                <a:cs typeface="+mn-cs"/>
              </a:rPr>
              <a:t>例</a:t>
            </a:r>
            <a:r>
              <a:rPr lang="en-US" altLang="zh-CN" dirty="0">
                <a:solidFill>
                  <a:srgbClr val="FF0066"/>
                </a:solidFill>
                <a:latin typeface="Times New Roman" panose="02020603050405020304" pitchFamily="18" charset="0"/>
                <a:ea typeface="华文楷体" panose="02010600040101010101" pitchFamily="2" charset="-122"/>
                <a:cs typeface="+mn-cs"/>
              </a:rPr>
              <a:t>9.8</a:t>
            </a:r>
            <a:r>
              <a:rPr lang="en-US" altLang="zh-CN" dirty="0">
                <a:latin typeface="Times New Roman" panose="02020603050405020304" pitchFamily="18" charset="0"/>
                <a:ea typeface="华文楷体" panose="02010600040101010101" pitchFamily="2" charset="-122"/>
                <a:cs typeface="+mn-cs"/>
              </a:rPr>
              <a:t>] </a:t>
            </a:r>
            <a:r>
              <a:rPr lang="zh-CN" altLang="en-US" dirty="0">
                <a:latin typeface="Times New Roman" panose="02020603050405020304" pitchFamily="18" charset="0"/>
                <a:ea typeface="华文楷体" panose="02010600040101010101" pitchFamily="2" charset="-122"/>
                <a:cs typeface="+mn-cs"/>
              </a:rPr>
              <a:t>利用函数对一个</a:t>
            </a:r>
            <a:r>
              <a:rPr lang="en-US" altLang="zh-CN" dirty="0">
                <a:latin typeface="Times New Roman" panose="02020603050405020304" pitchFamily="18" charset="0"/>
                <a:ea typeface="华文楷体" panose="02010600040101010101" pitchFamily="2" charset="-122"/>
                <a:cs typeface="+mn-cs"/>
              </a:rPr>
              <a:t>8</a:t>
            </a:r>
            <a:r>
              <a:rPr lang="zh-CN" altLang="en-US" dirty="0">
                <a:latin typeface="Times New Roman" panose="02020603050405020304" pitchFamily="18" charset="0"/>
                <a:ea typeface="华文楷体" panose="02010600040101010101" pitchFamily="2" charset="-122"/>
                <a:cs typeface="+mn-cs"/>
              </a:rPr>
              <a:t>位二进制数中为</a:t>
            </a:r>
            <a:r>
              <a:rPr lang="en-US" altLang="zh-CN" dirty="0">
                <a:latin typeface="Times New Roman" panose="02020603050405020304" pitchFamily="18" charset="0"/>
                <a:ea typeface="华文楷体" panose="02010600040101010101" pitchFamily="2" charset="-122"/>
                <a:cs typeface="+mn-cs"/>
              </a:rPr>
              <a:t>0</a:t>
            </a:r>
            <a:r>
              <a:rPr lang="zh-CN" altLang="en-US" dirty="0">
                <a:latin typeface="Times New Roman" panose="02020603050405020304" pitchFamily="18" charset="0"/>
                <a:ea typeface="华文楷体" panose="02010600040101010101" pitchFamily="2" charset="-122"/>
                <a:cs typeface="+mn-cs"/>
              </a:rPr>
              <a:t>的位进行计数。</a:t>
            </a:r>
            <a:endParaRPr lang="zh-CN" altLang="en-US" dirty="0">
              <a:latin typeface="Times New Roman" panose="02020603050405020304" pitchFamily="18" charset="0"/>
              <a:ea typeface="华文楷体" panose="02010600040101010101" pitchFamily="2" charset="-122"/>
              <a:cs typeface="+mn-cs"/>
            </a:endParaRPr>
          </a:p>
        </p:txBody>
      </p:sp>
      <p:grpSp>
        <p:nvGrpSpPr>
          <p:cNvPr id="2" name="Group 5"/>
          <p:cNvGrpSpPr/>
          <p:nvPr/>
        </p:nvGrpSpPr>
        <p:grpSpPr>
          <a:xfrm>
            <a:off x="4271963" y="3100388"/>
            <a:ext cx="2438400" cy="336550"/>
            <a:chOff x="1824" y="2112"/>
            <a:chExt cx="1536" cy="212"/>
          </a:xfrm>
        </p:grpSpPr>
        <p:sp>
          <p:nvSpPr>
            <p:cNvPr id="247823" name="Line 6"/>
            <p:cNvSpPr/>
            <p:nvPr/>
          </p:nvSpPr>
          <p:spPr>
            <a:xfrm>
              <a:off x="1824" y="2208"/>
              <a:ext cx="336" cy="0"/>
            </a:xfrm>
            <a:prstGeom prst="line">
              <a:avLst/>
            </a:prstGeom>
            <a:ln w="28575" cap="flat" cmpd="sng">
              <a:solidFill>
                <a:srgbClr val="FF0066"/>
              </a:solidFill>
              <a:prstDash val="solid"/>
              <a:headEnd type="none" w="med" len="med"/>
              <a:tailEnd type="triangle" w="med" len="med"/>
            </a:ln>
          </p:spPr>
        </p:sp>
        <p:sp>
          <p:nvSpPr>
            <p:cNvPr id="247824" name="Text Box 7"/>
            <p:cNvSpPr txBox="1"/>
            <p:nvPr/>
          </p:nvSpPr>
          <p:spPr>
            <a:xfrm>
              <a:off x="2208" y="2112"/>
              <a:ext cx="1152" cy="212"/>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zh-CN" altLang="en-US" dirty="0">
                  <a:solidFill>
                    <a:srgbClr val="000000"/>
                  </a:solidFill>
                  <a:latin typeface="Times New Roman" panose="02020603050405020304" pitchFamily="18" charset="0"/>
                  <a:ea typeface="宋体" panose="02010600030101010101" pitchFamily="2" charset="-122"/>
                </a:rPr>
                <a:t>只有输入变量</a:t>
              </a:r>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3" name="Group 8"/>
          <p:cNvGrpSpPr/>
          <p:nvPr/>
        </p:nvGrpSpPr>
        <p:grpSpPr>
          <a:xfrm>
            <a:off x="3538538" y="5588000"/>
            <a:ext cx="1981200" cy="369888"/>
            <a:chOff x="1200" y="3291"/>
            <a:chExt cx="1248" cy="233"/>
          </a:xfrm>
        </p:grpSpPr>
        <p:sp>
          <p:nvSpPr>
            <p:cNvPr id="247821" name="Line 9"/>
            <p:cNvSpPr/>
            <p:nvPr/>
          </p:nvSpPr>
          <p:spPr>
            <a:xfrm>
              <a:off x="1200" y="3291"/>
              <a:ext cx="288" cy="144"/>
            </a:xfrm>
            <a:prstGeom prst="line">
              <a:avLst/>
            </a:prstGeom>
            <a:ln w="28575" cap="flat" cmpd="sng">
              <a:solidFill>
                <a:srgbClr val="FF0066"/>
              </a:solidFill>
              <a:prstDash val="solid"/>
              <a:headEnd type="none" w="med" len="med"/>
              <a:tailEnd type="triangle" w="med" len="med"/>
            </a:ln>
          </p:spPr>
        </p:sp>
        <p:sp>
          <p:nvSpPr>
            <p:cNvPr id="247822" name="Text Box 10"/>
            <p:cNvSpPr txBox="1"/>
            <p:nvPr/>
          </p:nvSpPr>
          <p:spPr>
            <a:xfrm>
              <a:off x="1488" y="3312"/>
              <a:ext cx="960" cy="212"/>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zh-CN" altLang="en-US" dirty="0">
                  <a:solidFill>
                    <a:srgbClr val="000000"/>
                  </a:solidFill>
                  <a:latin typeface="Times New Roman" panose="02020603050405020304" pitchFamily="18" charset="0"/>
                  <a:ea typeface="宋体" panose="02010600030101010101" pitchFamily="2" charset="-122"/>
                </a:rPr>
                <a:t>内部寄存器</a:t>
              </a:r>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4" name="Group 11"/>
          <p:cNvGrpSpPr/>
          <p:nvPr/>
        </p:nvGrpSpPr>
        <p:grpSpPr>
          <a:xfrm>
            <a:off x="4402138" y="6389688"/>
            <a:ext cx="3124200" cy="444500"/>
            <a:chOff x="2112" y="3868"/>
            <a:chExt cx="1968" cy="280"/>
          </a:xfrm>
        </p:grpSpPr>
        <p:sp>
          <p:nvSpPr>
            <p:cNvPr id="247819" name="Line 12"/>
            <p:cNvSpPr/>
            <p:nvPr/>
          </p:nvSpPr>
          <p:spPr>
            <a:xfrm>
              <a:off x="2112" y="3868"/>
              <a:ext cx="288" cy="144"/>
            </a:xfrm>
            <a:prstGeom prst="line">
              <a:avLst/>
            </a:prstGeom>
            <a:ln w="28575" cap="flat" cmpd="sng">
              <a:solidFill>
                <a:srgbClr val="FF0066"/>
              </a:solidFill>
              <a:prstDash val="solid"/>
              <a:headEnd type="none" w="med" len="med"/>
              <a:tailEnd type="triangle" w="med" len="med"/>
            </a:ln>
          </p:spPr>
        </p:sp>
        <p:sp>
          <p:nvSpPr>
            <p:cNvPr id="247820" name="Text Box 13"/>
            <p:cNvSpPr txBox="1"/>
            <p:nvPr/>
          </p:nvSpPr>
          <p:spPr>
            <a:xfrm>
              <a:off x="2400" y="3936"/>
              <a:ext cx="1680" cy="212"/>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zh-CN" altLang="en-US" dirty="0">
                  <a:solidFill>
                    <a:srgbClr val="000000"/>
                  </a:solidFill>
                  <a:latin typeface="Times New Roman" panose="02020603050405020304" pitchFamily="18" charset="0"/>
                  <a:ea typeface="宋体" panose="02010600030101010101" pitchFamily="2" charset="-122"/>
                </a:rPr>
                <a:t>对应函数的输入变量</a:t>
              </a:r>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1780750" name="Oval 14"/>
          <p:cNvSpPr/>
          <p:nvPr/>
        </p:nvSpPr>
        <p:spPr>
          <a:xfrm>
            <a:off x="3201988" y="5283200"/>
            <a:ext cx="628650" cy="304800"/>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0751" name="Oval 15"/>
          <p:cNvSpPr/>
          <p:nvPr/>
        </p:nvSpPr>
        <p:spPr>
          <a:xfrm>
            <a:off x="3995738" y="6084888"/>
            <a:ext cx="628650" cy="304800"/>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80739"/>
                                        </p:tgtEl>
                                        <p:attrNameLst>
                                          <p:attrName>style.visibility</p:attrName>
                                        </p:attrNameLst>
                                      </p:cBhvr>
                                      <p:to>
                                        <p:strVal val="visible"/>
                                      </p:to>
                                    </p:set>
                                    <p:anim calcmode="lin" valueType="num">
                                      <p:cBhvr additive="base">
                                        <p:cTn id="7" dur="500" fill="hold"/>
                                        <p:tgtEl>
                                          <p:spTgt spid="1780739"/>
                                        </p:tgtEl>
                                        <p:attrNameLst>
                                          <p:attrName>ppt_x</p:attrName>
                                        </p:attrNameLst>
                                      </p:cBhvr>
                                      <p:tavLst>
                                        <p:tav tm="0">
                                          <p:val>
                                            <p:strVal val="0-#ppt_w/2"/>
                                          </p:val>
                                        </p:tav>
                                        <p:tav tm="100000">
                                          <p:val>
                                            <p:strVal val="#ppt_x"/>
                                          </p:val>
                                        </p:tav>
                                      </p:tavLst>
                                    </p:anim>
                                    <p:anim calcmode="lin" valueType="num">
                                      <p:cBhvr additive="base">
                                        <p:cTn id="8" dur="500" fill="hold"/>
                                        <p:tgtEl>
                                          <p:spTgt spid="17807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80750"/>
                                        </p:tgtEl>
                                        <p:attrNameLst>
                                          <p:attrName>style.visibility</p:attrName>
                                        </p:attrNameLst>
                                      </p:cBhvr>
                                      <p:to>
                                        <p:strVal val="visible"/>
                                      </p:to>
                                    </p:set>
                                    <p:animEffect transition="in" filter="dissolve">
                                      <p:cBhvr>
                                        <p:cTn id="18" dur="500"/>
                                        <p:tgtEl>
                                          <p:spTgt spid="1780750"/>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80751"/>
                                        </p:tgtEl>
                                        <p:attrNameLst>
                                          <p:attrName>style.visibility</p:attrName>
                                        </p:attrNameLst>
                                      </p:cBhvr>
                                      <p:to>
                                        <p:strVal val="visible"/>
                                      </p:to>
                                    </p:set>
                                    <p:animEffect transition="in" filter="dissolve">
                                      <p:cBhvr>
                                        <p:cTn id="27" dur="500"/>
                                        <p:tgtEl>
                                          <p:spTgt spid="1780751"/>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0739" grpId="0"/>
      <p:bldP spid="1780750" grpId="0" bldLvl="0" animBg="1"/>
      <p:bldP spid="1780751"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985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4985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49860" name="Rectangle 3"/>
          <p:cNvSpPr>
            <a:spLocks noGrp="1"/>
          </p:cNvSpPr>
          <p:nvPr>
            <p:ph idx="1"/>
          </p:nvPr>
        </p:nvSpPr>
        <p:spPr>
          <a:xfrm>
            <a:off x="539750" y="1085850"/>
            <a:ext cx="7921625" cy="460375"/>
          </a:xfrm>
          <a:effectLst>
            <a:prstShdw prst="shdw13" dist="53882" dir="13499999">
              <a:schemeClr val="bg2">
                <a:alpha val="100000"/>
              </a:schemeClr>
            </a:prstShdw>
          </a:effectLst>
        </p:spPr>
        <p:txBody>
          <a:bodyPr vert="horz" wrap="square" lIns="91440" tIns="45720" rIns="91440" bIns="45720" anchor="t" anchorCtr="0"/>
          <a:p>
            <a:pPr marL="484505" lvl="1" indent="-294005" eaLnBrk="1" hangingPunct="1"/>
            <a:r>
              <a:rPr lang="en-US" altLang="zh-CN" dirty="0">
                <a:latin typeface="Times New Roman" panose="02020603050405020304" pitchFamily="18" charset="0"/>
                <a:ea typeface="黑体" panose="02010609060101010101" pitchFamily="49" charset="-122"/>
              </a:rPr>
              <a:t>count0s_function.vwf</a:t>
            </a:r>
            <a:endParaRPr lang="en-US" altLang="zh-CN" dirty="0">
              <a:latin typeface="Times New Roman" panose="02020603050405020304" pitchFamily="18" charset="0"/>
              <a:ea typeface="黑体" panose="02010609060101010101" pitchFamily="49" charset="-122"/>
            </a:endParaRPr>
          </a:p>
        </p:txBody>
      </p:sp>
      <p:pic>
        <p:nvPicPr>
          <p:cNvPr id="249861" name="图片 1"/>
          <p:cNvPicPr>
            <a:picLocks noChangeAspect="1"/>
          </p:cNvPicPr>
          <p:nvPr/>
        </p:nvPicPr>
        <p:blipFill>
          <a:blip r:embed="rId1"/>
          <a:stretch>
            <a:fillRect/>
          </a:stretch>
        </p:blipFill>
        <p:spPr>
          <a:xfrm>
            <a:off x="79375" y="2814638"/>
            <a:ext cx="8985250" cy="1065212"/>
          </a:xfrm>
          <a:prstGeom prst="rect">
            <a:avLst/>
          </a:prstGeom>
          <a:noFill/>
          <a:ln w="9525">
            <a:noFill/>
          </a:ln>
        </p:spPr>
      </p:pic>
    </p:spTree>
  </p:cSld>
  <p:clrMapOvr>
    <a:masterClrMapping/>
  </p:clrMapOvr>
  <p:transition spd="med">
    <p:blinds dir="vert"/>
    <p:sndAc>
      <p:stSnd>
        <p:snd r:embed="rId2" name="projctor.wav"/>
      </p:stSnd>
    </p:sndAc>
  </p:transition>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51906" name="图片 5"/>
          <p:cNvPicPr>
            <a:picLocks noChangeAspect="1"/>
          </p:cNvPicPr>
          <p:nvPr/>
        </p:nvPicPr>
        <p:blipFill>
          <a:blip r:embed="rId1"/>
          <a:stretch>
            <a:fillRect/>
          </a:stretch>
        </p:blipFill>
        <p:spPr>
          <a:xfrm>
            <a:off x="1903413" y="1566863"/>
            <a:ext cx="3509962" cy="5216525"/>
          </a:xfrm>
          <a:prstGeom prst="rect">
            <a:avLst/>
          </a:prstGeom>
          <a:noFill/>
          <a:ln w="9525">
            <a:noFill/>
          </a:ln>
        </p:spPr>
      </p:pic>
      <p:sp>
        <p:nvSpPr>
          <p:cNvPr id="251907"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5190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84835"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例</a:t>
            </a:r>
            <a:r>
              <a:rPr lang="en-US" altLang="zh-CN" dirty="0">
                <a:latin typeface="Times New Roman" panose="02020603050405020304" pitchFamily="18" charset="0"/>
                <a:ea typeface="华文楷体" panose="02010600040101010101" pitchFamily="2" charset="-122"/>
                <a:cs typeface="+mn-cs"/>
              </a:rPr>
              <a:t>9.9]</a:t>
            </a:r>
            <a:r>
              <a:rPr lang="zh-CN" altLang="en-US" dirty="0">
                <a:latin typeface="Times New Roman" panose="02020603050405020304" pitchFamily="18" charset="0"/>
                <a:ea typeface="华文楷体" panose="02010600040101010101" pitchFamily="2" charset="-122"/>
                <a:cs typeface="+mn-cs"/>
              </a:rPr>
              <a:t>阶乘运算函数</a:t>
            </a:r>
            <a:endParaRPr lang="zh-CN" altLang="en-US" dirty="0">
              <a:latin typeface="Times New Roman" panose="02020603050405020304" pitchFamily="18" charset="0"/>
              <a:ea typeface="华文楷体" panose="02010600040101010101" pitchFamily="2" charset="-122"/>
              <a:cs typeface="+mn-cs"/>
            </a:endParaRPr>
          </a:p>
        </p:txBody>
      </p:sp>
      <p:grpSp>
        <p:nvGrpSpPr>
          <p:cNvPr id="2" name="Group 5"/>
          <p:cNvGrpSpPr/>
          <p:nvPr/>
        </p:nvGrpSpPr>
        <p:grpSpPr>
          <a:xfrm>
            <a:off x="3203575" y="3517900"/>
            <a:ext cx="1981200" cy="412750"/>
            <a:chOff x="1200" y="3264"/>
            <a:chExt cx="1248" cy="260"/>
          </a:xfrm>
        </p:grpSpPr>
        <p:sp>
          <p:nvSpPr>
            <p:cNvPr id="251922" name="Line 6"/>
            <p:cNvSpPr/>
            <p:nvPr/>
          </p:nvSpPr>
          <p:spPr>
            <a:xfrm>
              <a:off x="1200" y="3264"/>
              <a:ext cx="288" cy="144"/>
            </a:xfrm>
            <a:prstGeom prst="line">
              <a:avLst/>
            </a:prstGeom>
            <a:ln w="12700" cap="flat" cmpd="sng">
              <a:solidFill>
                <a:srgbClr val="FF0066"/>
              </a:solidFill>
              <a:prstDash val="solid"/>
              <a:headEnd type="none" w="med" len="med"/>
              <a:tailEnd type="triangle" w="med" len="med"/>
            </a:ln>
          </p:spPr>
        </p:sp>
        <p:sp>
          <p:nvSpPr>
            <p:cNvPr id="251923" name="Text Box 7"/>
            <p:cNvSpPr txBox="1"/>
            <p:nvPr/>
          </p:nvSpPr>
          <p:spPr>
            <a:xfrm>
              <a:off x="1488" y="3312"/>
              <a:ext cx="960" cy="212"/>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zh-CN" altLang="en-US" dirty="0">
                  <a:solidFill>
                    <a:srgbClr val="000000"/>
                  </a:solidFill>
                  <a:latin typeface="Times New Roman" panose="02020603050405020304" pitchFamily="18" charset="0"/>
                  <a:ea typeface="宋体" panose="02010600030101010101" pitchFamily="2" charset="-122"/>
                </a:rPr>
                <a:t>内部寄存器</a:t>
              </a:r>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3" name="Group 8"/>
          <p:cNvGrpSpPr/>
          <p:nvPr/>
        </p:nvGrpSpPr>
        <p:grpSpPr>
          <a:xfrm>
            <a:off x="4384675" y="4864100"/>
            <a:ext cx="2438400" cy="641350"/>
            <a:chOff x="3552" y="3120"/>
            <a:chExt cx="1536" cy="404"/>
          </a:xfrm>
        </p:grpSpPr>
        <p:sp>
          <p:nvSpPr>
            <p:cNvPr id="251920" name="Line 9"/>
            <p:cNvSpPr/>
            <p:nvPr/>
          </p:nvSpPr>
          <p:spPr>
            <a:xfrm>
              <a:off x="3552" y="3360"/>
              <a:ext cx="336" cy="0"/>
            </a:xfrm>
            <a:prstGeom prst="line">
              <a:avLst/>
            </a:prstGeom>
            <a:ln w="28575" cap="flat" cmpd="sng">
              <a:solidFill>
                <a:srgbClr val="FF0066"/>
              </a:solidFill>
              <a:prstDash val="solid"/>
              <a:headEnd type="none" w="med" len="med"/>
              <a:tailEnd type="triangle" w="med" len="med"/>
            </a:ln>
          </p:spPr>
        </p:sp>
        <p:sp>
          <p:nvSpPr>
            <p:cNvPr id="251921" name="Text Box 10"/>
            <p:cNvSpPr txBox="1"/>
            <p:nvPr/>
          </p:nvSpPr>
          <p:spPr>
            <a:xfrm>
              <a:off x="3936" y="3120"/>
              <a:ext cx="1152" cy="404"/>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en-US" altLang="zh-CN" dirty="0">
                  <a:solidFill>
                    <a:srgbClr val="000000"/>
                  </a:solidFill>
                  <a:latin typeface="Times New Roman" panose="02020603050405020304" pitchFamily="18" charset="0"/>
                  <a:ea typeface="宋体" panose="02010600030101010101" pitchFamily="2" charset="-122"/>
                </a:rPr>
                <a:t>clk</a:t>
              </a:r>
              <a:r>
                <a:rPr lang="zh-CN" altLang="en-US" dirty="0">
                  <a:solidFill>
                    <a:srgbClr val="000000"/>
                  </a:solidFill>
                  <a:latin typeface="Times New Roman" panose="02020603050405020304" pitchFamily="18" charset="0"/>
                  <a:ea typeface="宋体" panose="02010600030101010101" pitchFamily="2" charset="-122"/>
                </a:rPr>
                <a:t>的上升沿触发同步运算</a:t>
              </a:r>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4" name="Group 11"/>
          <p:cNvGrpSpPr/>
          <p:nvPr/>
        </p:nvGrpSpPr>
        <p:grpSpPr>
          <a:xfrm>
            <a:off x="4159250" y="6402388"/>
            <a:ext cx="1981200" cy="412750"/>
            <a:chOff x="1200" y="3264"/>
            <a:chExt cx="1248" cy="260"/>
          </a:xfrm>
        </p:grpSpPr>
        <p:sp>
          <p:nvSpPr>
            <p:cNvPr id="251918" name="Line 12"/>
            <p:cNvSpPr/>
            <p:nvPr/>
          </p:nvSpPr>
          <p:spPr>
            <a:xfrm>
              <a:off x="1200" y="3264"/>
              <a:ext cx="288" cy="144"/>
            </a:xfrm>
            <a:prstGeom prst="line">
              <a:avLst/>
            </a:prstGeom>
            <a:ln w="12700" cap="flat" cmpd="sng">
              <a:solidFill>
                <a:srgbClr val="000000"/>
              </a:solidFill>
              <a:prstDash val="solid"/>
              <a:headEnd type="none" w="med" len="med"/>
              <a:tailEnd type="triangle" w="med" len="med"/>
            </a:ln>
          </p:spPr>
        </p:sp>
        <p:sp>
          <p:nvSpPr>
            <p:cNvPr id="251919" name="Text Box 13"/>
            <p:cNvSpPr txBox="1"/>
            <p:nvPr/>
          </p:nvSpPr>
          <p:spPr>
            <a:xfrm>
              <a:off x="1488" y="3312"/>
              <a:ext cx="960" cy="212"/>
            </a:xfrm>
            <a:prstGeom prst="rect">
              <a:avLst/>
            </a:prstGeom>
            <a:noFill/>
            <a:ln w="12700" cap="flat" cmpd="sng">
              <a:solidFill>
                <a:srgbClr val="000000"/>
              </a:solidFill>
              <a:prstDash val="solid"/>
              <a:miter/>
              <a:headEnd type="none" w="med" len="med"/>
              <a:tailEnd type="none" w="med" len="med"/>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50000"/>
                </a:spcBef>
                <a:buNone/>
              </a:pPr>
              <a:r>
                <a:rPr lang="zh-CN" altLang="en-US" b="1" dirty="0">
                  <a:solidFill>
                    <a:srgbClr val="000000"/>
                  </a:solidFill>
                  <a:latin typeface="Times New Roman" panose="02020603050405020304" pitchFamily="18" charset="0"/>
                  <a:ea typeface="宋体" panose="02010600030101010101" pitchFamily="2" charset="-122"/>
                  <a:sym typeface="+mn-ea"/>
                </a:rPr>
                <a:t>函数的调用</a:t>
              </a:r>
              <a:endParaRPr lang="zh-CN" altLang="en-US" b="1" dirty="0">
                <a:solidFill>
                  <a:srgbClr val="000000"/>
                </a:solidFill>
                <a:latin typeface="Times New Roman" panose="02020603050405020304" pitchFamily="18" charset="0"/>
                <a:ea typeface="宋体" panose="02010600030101010101" pitchFamily="2" charset="-122"/>
                <a:sym typeface="+mn-ea"/>
              </a:endParaRPr>
            </a:p>
          </p:txBody>
        </p:sp>
      </p:grpSp>
      <p:sp>
        <p:nvSpPr>
          <p:cNvPr id="1784846" name="Oval 14"/>
          <p:cNvSpPr/>
          <p:nvPr/>
        </p:nvSpPr>
        <p:spPr>
          <a:xfrm>
            <a:off x="2438400" y="3314700"/>
            <a:ext cx="1143000" cy="247650"/>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4847" name="Oval 15"/>
          <p:cNvSpPr/>
          <p:nvPr/>
        </p:nvSpPr>
        <p:spPr>
          <a:xfrm>
            <a:off x="3584575" y="6065838"/>
            <a:ext cx="1524000" cy="342900"/>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4848" name="AutoShape 16"/>
          <p:cNvSpPr/>
          <p:nvPr/>
        </p:nvSpPr>
        <p:spPr>
          <a:xfrm rot="-479700">
            <a:off x="5634038" y="2552700"/>
            <a:ext cx="3509962" cy="1441450"/>
          </a:xfrm>
          <a:prstGeom prst="star16">
            <a:avLst>
              <a:gd name="adj" fmla="val 37500"/>
            </a:avLst>
          </a:prstGeom>
          <a:noFill/>
          <a:ln w="9525">
            <a:noFill/>
          </a:ln>
        </p:spPr>
        <p:txBody>
          <a:bodyPr wrap="none" anchor="ctr" anchorCtr="1"/>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函数名被赋予的值</a:t>
            </a:r>
            <a:endParaRPr lang="zh-CN" altLang="en-US" b="1" dirty="0">
              <a:latin typeface="华文楷体" panose="02010600040101010101" pitchFamily="2" charset="-122"/>
              <a:ea typeface="华文楷体" panose="02010600040101010101" pitchFamily="2" charset="-122"/>
            </a:endParaRPr>
          </a:p>
          <a:p>
            <a:pPr marL="0" lvl="0" indent="0" algn="ctr" eaLnBrk="1" hangingPunct="1">
              <a:spcBef>
                <a:spcPct val="0"/>
              </a:spcBef>
              <a:buNone/>
            </a:pPr>
            <a:r>
              <a:rPr lang="zh-CN" altLang="en-US" b="1" dirty="0">
                <a:latin typeface="华文楷体" panose="02010600040101010101" pitchFamily="2" charset="-122"/>
                <a:ea typeface="华文楷体" panose="02010600040101010101" pitchFamily="2" charset="-122"/>
              </a:rPr>
              <a:t>就是函数的返回值！</a:t>
            </a:r>
            <a:endParaRPr lang="zh-CN" altLang="en-US" b="1" dirty="0">
              <a:latin typeface="华文楷体" panose="02010600040101010101" pitchFamily="2" charset="-122"/>
              <a:ea typeface="华文楷体" panose="02010600040101010101" pitchFamily="2" charset="-122"/>
            </a:endParaRPr>
          </a:p>
        </p:txBody>
      </p:sp>
      <p:sp>
        <p:nvSpPr>
          <p:cNvPr id="1784849" name="AutoShape 17"/>
          <p:cNvSpPr/>
          <p:nvPr/>
        </p:nvSpPr>
        <p:spPr>
          <a:xfrm>
            <a:off x="1533525" y="2125663"/>
            <a:ext cx="271463" cy="1779587"/>
          </a:xfrm>
          <a:prstGeom prst="leftBrace">
            <a:avLst>
              <a:gd name="adj1" fmla="val 54326"/>
              <a:gd name="adj2" fmla="val 50000"/>
            </a:avLst>
          </a:prstGeom>
          <a:noFill/>
          <a:ln w="22225" cap="flat" cmpd="sng">
            <a:solidFill>
              <a:srgbClr val="0066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4850" name="Rectangle 18"/>
          <p:cNvSpPr/>
          <p:nvPr/>
        </p:nvSpPr>
        <p:spPr>
          <a:xfrm>
            <a:off x="127000" y="2773363"/>
            <a:ext cx="1409700" cy="457200"/>
          </a:xfrm>
          <a:prstGeom prst="rect">
            <a:avLst/>
          </a:prstGeom>
          <a:noFill/>
          <a:ln w="9525">
            <a:noFill/>
          </a:ln>
        </p:spPr>
        <p:txBody>
          <a:bodyPr wrap="none"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en-US" sz="2400" b="1" dirty="0">
                <a:latin typeface="华文楷体" panose="02010600040101010101" pitchFamily="2" charset="-122"/>
                <a:ea typeface="华文楷体" panose="02010600040101010101" pitchFamily="2" charset="-122"/>
              </a:rPr>
              <a:t>函数定义</a:t>
            </a:r>
            <a:endParaRPr lang="en-US"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84835"/>
                                        </p:tgtEl>
                                        <p:attrNameLst>
                                          <p:attrName>style.visibility</p:attrName>
                                        </p:attrNameLst>
                                      </p:cBhvr>
                                      <p:to>
                                        <p:strVal val="visible"/>
                                      </p:to>
                                    </p:set>
                                    <p:anim calcmode="lin" valueType="num">
                                      <p:cBhvr additive="base">
                                        <p:cTn id="7" dur="500" fill="hold"/>
                                        <p:tgtEl>
                                          <p:spTgt spid="1784835"/>
                                        </p:tgtEl>
                                        <p:attrNameLst>
                                          <p:attrName>ppt_x</p:attrName>
                                        </p:attrNameLst>
                                      </p:cBhvr>
                                      <p:tavLst>
                                        <p:tav tm="0">
                                          <p:val>
                                            <p:strVal val="0-#ppt_w/2"/>
                                          </p:val>
                                        </p:tav>
                                        <p:tav tm="100000">
                                          <p:val>
                                            <p:strVal val="#ppt_x"/>
                                          </p:val>
                                        </p:tav>
                                      </p:tavLst>
                                    </p:anim>
                                    <p:anim calcmode="lin" valueType="num">
                                      <p:cBhvr additive="base">
                                        <p:cTn id="8" dur="500" fill="hold"/>
                                        <p:tgtEl>
                                          <p:spTgt spid="17848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1784849"/>
                                        </p:tgtEl>
                                        <p:attrNameLst>
                                          <p:attrName>style.visibility</p:attrName>
                                        </p:attrNameLst>
                                      </p:cBhvr>
                                      <p:to>
                                        <p:strVal val="visible"/>
                                      </p:to>
                                    </p:set>
                                    <p:animEffect transition="in" filter="barn(outHorizontal)">
                                      <p:cBhvr>
                                        <p:cTn id="13" dur="500"/>
                                        <p:tgtEl>
                                          <p:spTgt spid="1784849"/>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1784850"/>
                                        </p:tgtEl>
                                        <p:attrNameLst>
                                          <p:attrName>style.visibility</p:attrName>
                                        </p:attrNameLst>
                                      </p:cBhvr>
                                      <p:to>
                                        <p:strVal val="visible"/>
                                      </p:to>
                                    </p:set>
                                    <p:animEffect transition="in" filter="dissolve">
                                      <p:cBhvr>
                                        <p:cTn id="17" dur="500"/>
                                        <p:tgtEl>
                                          <p:spTgt spid="178485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84846"/>
                                        </p:tgtEl>
                                        <p:attrNameLst>
                                          <p:attrName>style.visibility</p:attrName>
                                        </p:attrNameLst>
                                      </p:cBhvr>
                                      <p:to>
                                        <p:strVal val="visible"/>
                                      </p:to>
                                    </p:set>
                                    <p:animEffect transition="in" filter="dissolve">
                                      <p:cBhvr>
                                        <p:cTn id="22" dur="500"/>
                                        <p:tgtEl>
                                          <p:spTgt spid="1784846"/>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784848"/>
                                        </p:tgtEl>
                                        <p:attrNameLst>
                                          <p:attrName>style.visibility</p:attrName>
                                        </p:attrNameLst>
                                      </p:cBhvr>
                                      <p:to>
                                        <p:strVal val="visible"/>
                                      </p:to>
                                    </p:set>
                                    <p:anim calcmode="lin" valueType="num">
                                      <p:cBhvr>
                                        <p:cTn id="31" dur="500" fill="hold"/>
                                        <p:tgtEl>
                                          <p:spTgt spid="1784848"/>
                                        </p:tgtEl>
                                        <p:attrNameLst>
                                          <p:attrName>ppt_w</p:attrName>
                                        </p:attrNameLst>
                                      </p:cBhvr>
                                      <p:tavLst>
                                        <p:tav tm="0">
                                          <p:val>
                                            <p:fltVal val="0.000000"/>
                                          </p:val>
                                        </p:tav>
                                        <p:tav tm="100000">
                                          <p:val>
                                            <p:strVal val="#ppt_w"/>
                                          </p:val>
                                        </p:tav>
                                      </p:tavLst>
                                    </p:anim>
                                    <p:anim calcmode="lin" valueType="num">
                                      <p:cBhvr>
                                        <p:cTn id="32" dur="500" fill="hold"/>
                                        <p:tgtEl>
                                          <p:spTgt spid="1784848"/>
                                        </p:tgtEl>
                                        <p:attrNameLst>
                                          <p:attrName>ppt_h</p:attrName>
                                        </p:attrNameLst>
                                      </p:cBhvr>
                                      <p:tavLst>
                                        <p:tav tm="0">
                                          <p:val>
                                            <p:fltVal val="0.00000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84847"/>
                                        </p:tgtEl>
                                        <p:attrNameLst>
                                          <p:attrName>style.visibility</p:attrName>
                                        </p:attrNameLst>
                                      </p:cBhvr>
                                      <p:to>
                                        <p:strVal val="visible"/>
                                      </p:to>
                                    </p:set>
                                    <p:animEffect transition="in" filter="dissolve">
                                      <p:cBhvr>
                                        <p:cTn id="42" dur="500"/>
                                        <p:tgtEl>
                                          <p:spTgt spid="1784847"/>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wipe(left)">
                                      <p:cBhvr>
                                        <p:cTn id="4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4835" grpId="0"/>
      <p:bldP spid="1784846" grpId="0" animBg="1"/>
      <p:bldP spid="1784847" grpId="0" bldLvl="0" animBg="1"/>
      <p:bldP spid="1784848" grpId="0"/>
      <p:bldP spid="1784849" grpId="0" animBg="1"/>
      <p:bldP spid="1784850" grpId="0"/>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53954" name="内容占位符 1"/>
          <p:cNvPicPr>
            <a:picLocks noGrp="1" noChangeAspect="1"/>
          </p:cNvPicPr>
          <p:nvPr>
            <p:ph idx="1"/>
          </p:nvPr>
        </p:nvPicPr>
        <p:blipFill>
          <a:blip r:embed="rId1"/>
          <a:srcRect/>
          <a:stretch>
            <a:fillRect/>
          </a:stretch>
        </p:blipFill>
        <p:spPr>
          <a:xfrm>
            <a:off x="660400" y="962025"/>
            <a:ext cx="5446713" cy="5573713"/>
          </a:xfrm>
        </p:spPr>
      </p:pic>
      <p:sp>
        <p:nvSpPr>
          <p:cNvPr id="253955"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53956" name="Rectangle 3"/>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1786884" name="Rectangle 4"/>
          <p:cNvSpPr/>
          <p:nvPr/>
        </p:nvSpPr>
        <p:spPr>
          <a:xfrm>
            <a:off x="4495800" y="1524000"/>
            <a:ext cx="3048000" cy="457200"/>
          </a:xfrm>
          <a:prstGeom prst="rect">
            <a:avLst/>
          </a:prstGeom>
          <a:noFill/>
          <a:ln w="9525">
            <a:noFill/>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000" b="1" dirty="0">
                <a:latin typeface="华文楷体" panose="02010600040101010101" pitchFamily="2" charset="-122"/>
                <a:ea typeface="华文楷体" panose="02010600040101010101" pitchFamily="2" charset="-122"/>
              </a:rPr>
              <a:t>tryfunct.v</a:t>
            </a:r>
            <a:r>
              <a:rPr lang="zh-CN" altLang="en-US" sz="2000" b="1" dirty="0">
                <a:latin typeface="华文楷体" panose="02010600040101010101" pitchFamily="2" charset="-122"/>
                <a:ea typeface="华文楷体" panose="02010600040101010101" pitchFamily="2" charset="-122"/>
              </a:rPr>
              <a:t>的测试模块</a:t>
            </a:r>
            <a:endParaRPr lang="zh-CN" altLang="en-US" sz="2000" b="1" dirty="0">
              <a:latin typeface="华文楷体" panose="02010600040101010101" pitchFamily="2" charset="-122"/>
              <a:ea typeface="华文楷体" panose="02010600040101010101" pitchFamily="2" charset="-122"/>
            </a:endParaRPr>
          </a:p>
        </p:txBody>
      </p:sp>
      <p:sp>
        <p:nvSpPr>
          <p:cNvPr id="1786886" name="AutoShape 6"/>
          <p:cNvSpPr/>
          <p:nvPr/>
        </p:nvSpPr>
        <p:spPr>
          <a:xfrm>
            <a:off x="6497638" y="5530850"/>
            <a:ext cx="2095500" cy="457200"/>
          </a:xfrm>
          <a:prstGeom prst="wedgeRoundRectCallout">
            <a:avLst>
              <a:gd name="adj1" fmla="val -64546"/>
              <a:gd name="adj2" fmla="val 63194"/>
              <a:gd name="adj3" fmla="val 16667"/>
            </a:avLst>
          </a:prstGeom>
          <a:noFill/>
          <a:ln w="9525" cap="flat" cmpd="sng">
            <a:solidFill>
              <a:srgbClr val="000000"/>
            </a:solidFill>
            <a:prstDash val="solid"/>
            <a:miter/>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2200" b="1" dirty="0">
                <a:latin typeface="华文楷体" panose="02010600040101010101" pitchFamily="2" charset="-122"/>
                <a:ea typeface="华文楷体" panose="02010600040101010101" pitchFamily="2" charset="-122"/>
              </a:rPr>
              <a:t>模块元件例化</a:t>
            </a:r>
            <a:endParaRPr lang="zh-CN" altLang="en-US" dirty="0">
              <a:latin typeface="华文楷体" panose="02010600040101010101" pitchFamily="2" charset="-122"/>
              <a:ea typeface="华文楷体" panose="02010600040101010101" pitchFamily="2" charset="-122"/>
            </a:endParaRPr>
          </a:p>
        </p:txBody>
      </p:sp>
      <p:sp>
        <p:nvSpPr>
          <p:cNvPr id="1786887" name="AutoShape 7"/>
          <p:cNvSpPr/>
          <p:nvPr/>
        </p:nvSpPr>
        <p:spPr>
          <a:xfrm>
            <a:off x="4497388" y="3092450"/>
            <a:ext cx="1847850" cy="1047750"/>
          </a:xfrm>
          <a:prstGeom prst="wedgeRoundRectCallout">
            <a:avLst>
              <a:gd name="adj1" fmla="val -66495"/>
              <a:gd name="adj2" fmla="val 55759"/>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对各变量进行初始化，并生成激励波形</a:t>
            </a:r>
            <a:endParaRPr lang="zh-CN" altLang="en-US" b="1" dirty="0">
              <a:latin typeface="华文楷体" panose="02010600040101010101" pitchFamily="2" charset="-122"/>
              <a:ea typeface="华文楷体" panose="02010600040101010101" pitchFamily="2" charset="-122"/>
            </a:endParaRPr>
          </a:p>
        </p:txBody>
      </p:sp>
      <p:sp>
        <p:nvSpPr>
          <p:cNvPr id="1786888" name="AutoShape 8"/>
          <p:cNvSpPr/>
          <p:nvPr/>
        </p:nvSpPr>
        <p:spPr>
          <a:xfrm>
            <a:off x="3829050" y="3067050"/>
            <a:ext cx="266700" cy="2228850"/>
          </a:xfrm>
          <a:prstGeom prst="rightBrace">
            <a:avLst>
              <a:gd name="adj1" fmla="val 69255"/>
              <a:gd name="adj2" fmla="val 50000"/>
            </a:avLst>
          </a:prstGeom>
          <a:noFill/>
          <a:ln w="38100" cap="flat" cmpd="sng">
            <a:solidFill>
              <a:schemeClr val="tx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6889" name="AutoShape 9"/>
          <p:cNvSpPr/>
          <p:nvPr/>
        </p:nvSpPr>
        <p:spPr>
          <a:xfrm>
            <a:off x="4249738" y="5111750"/>
            <a:ext cx="1885950" cy="457200"/>
          </a:xfrm>
          <a:prstGeom prst="wedgeRoundRectCallout">
            <a:avLst>
              <a:gd name="adj1" fmla="val -66162"/>
              <a:gd name="adj2" fmla="val 63194"/>
              <a:gd name="adj3" fmla="val 16667"/>
            </a:avLst>
          </a:prstGeom>
          <a:noFill/>
          <a:ln w="9525" cap="flat" cmpd="sng">
            <a:solidFill>
              <a:srgbClr val="000000"/>
            </a:solidFill>
            <a:prstDash val="solid"/>
            <a:miter/>
            <a:headEnd type="none" w="med" len="med"/>
            <a:tailEnd type="none" w="med" len="med"/>
          </a:ln>
          <a:effectLst>
            <a:prstShdw prst="shdw17" dist="17961" dir="2699999">
              <a:srgbClr val="5C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产生时钟波形</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86884"/>
                                        </p:tgtEl>
                                        <p:attrNameLst>
                                          <p:attrName>style.visibility</p:attrName>
                                        </p:attrNameLst>
                                      </p:cBhvr>
                                      <p:to>
                                        <p:strVal val="visible"/>
                                      </p:to>
                                    </p:set>
                                    <p:anim calcmode="lin" valueType="num">
                                      <p:cBhvr>
                                        <p:cTn id="7" dur="500" fill="hold"/>
                                        <p:tgtEl>
                                          <p:spTgt spid="1786884"/>
                                        </p:tgtEl>
                                        <p:attrNameLst>
                                          <p:attrName>ppt_w</p:attrName>
                                        </p:attrNameLst>
                                      </p:cBhvr>
                                      <p:tavLst>
                                        <p:tav tm="0">
                                          <p:val>
                                            <p:fltVal val="0.000000"/>
                                          </p:val>
                                        </p:tav>
                                        <p:tav tm="100000">
                                          <p:val>
                                            <p:strVal val="#ppt_w"/>
                                          </p:val>
                                        </p:tav>
                                      </p:tavLst>
                                    </p:anim>
                                    <p:anim calcmode="lin" valueType="num">
                                      <p:cBhvr>
                                        <p:cTn id="8" dur="500" fill="hold"/>
                                        <p:tgtEl>
                                          <p:spTgt spid="1786884"/>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1786888"/>
                                        </p:tgtEl>
                                        <p:attrNameLst>
                                          <p:attrName>style.visibility</p:attrName>
                                        </p:attrNameLst>
                                      </p:cBhvr>
                                      <p:to>
                                        <p:strVal val="visible"/>
                                      </p:to>
                                    </p:set>
                                    <p:animEffect transition="in" filter="barn(outHorizontal)">
                                      <p:cBhvr>
                                        <p:cTn id="13" dur="500"/>
                                        <p:tgtEl>
                                          <p:spTgt spid="1786888"/>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1786887"/>
                                        </p:tgtEl>
                                        <p:attrNameLst>
                                          <p:attrName>style.visibility</p:attrName>
                                        </p:attrNameLst>
                                      </p:cBhvr>
                                      <p:to>
                                        <p:strVal val="visible"/>
                                      </p:to>
                                    </p:set>
                                    <p:animEffect transition="in" filter="dissolve">
                                      <p:cBhvr>
                                        <p:cTn id="17" dur="500"/>
                                        <p:tgtEl>
                                          <p:spTgt spid="178688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86889"/>
                                        </p:tgtEl>
                                        <p:attrNameLst>
                                          <p:attrName>style.visibility</p:attrName>
                                        </p:attrNameLst>
                                      </p:cBhvr>
                                      <p:to>
                                        <p:strVal val="visible"/>
                                      </p:to>
                                    </p:set>
                                    <p:animEffect transition="in" filter="dissolve">
                                      <p:cBhvr>
                                        <p:cTn id="22" dur="500"/>
                                        <p:tgtEl>
                                          <p:spTgt spid="178688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86886"/>
                                        </p:tgtEl>
                                        <p:attrNameLst>
                                          <p:attrName>style.visibility</p:attrName>
                                        </p:attrNameLst>
                                      </p:cBhvr>
                                      <p:to>
                                        <p:strVal val="visible"/>
                                      </p:to>
                                    </p:set>
                                    <p:animEffect transition="in" filter="dissolve">
                                      <p:cBhvr>
                                        <p:cTn id="27" dur="500"/>
                                        <p:tgtEl>
                                          <p:spTgt spid="1786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4" grpId="0"/>
      <p:bldP spid="1786886" grpId="0" animBg="1"/>
      <p:bldP spid="1786887" grpId="0" animBg="1"/>
      <p:bldP spid="1786888" grpId="0" animBg="1"/>
      <p:bldP spid="1786889" grpId="0" animBg="1"/>
    </p:bld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56002" name="内容占位符 1"/>
          <p:cNvPicPr>
            <a:picLocks noGrp="1" noChangeAspect="1"/>
          </p:cNvPicPr>
          <p:nvPr>
            <p:ph idx="1"/>
          </p:nvPr>
        </p:nvPicPr>
        <p:blipFill>
          <a:blip r:embed="rId1"/>
          <a:srcRect/>
          <a:stretch>
            <a:fillRect/>
          </a:stretch>
        </p:blipFill>
        <p:spPr>
          <a:xfrm>
            <a:off x="127000" y="2336800"/>
            <a:ext cx="8712200" cy="1831975"/>
          </a:xfrm>
        </p:spPr>
      </p:pic>
      <p:sp>
        <p:nvSpPr>
          <p:cNvPr id="256003"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5600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sp>
        <p:nvSpPr>
          <p:cNvPr id="256005" name="Rectangle 4"/>
          <p:cNvSpPr/>
          <p:nvPr/>
        </p:nvSpPr>
        <p:spPr>
          <a:xfrm>
            <a:off x="1571625" y="1071563"/>
            <a:ext cx="6096000" cy="457200"/>
          </a:xfrm>
          <a:prstGeom prst="rect">
            <a:avLst/>
          </a:prstGeom>
          <a:noFill/>
          <a:ln w="9525">
            <a:noFill/>
          </a:ln>
          <a:effectLst>
            <a:prstShdw prst="shdw13" dist="53882" dir="13499999">
              <a:schemeClr val="bg2"/>
            </a:prstShdw>
          </a:effectLst>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000" b="1" dirty="0">
                <a:latin typeface="华文楷体" panose="02010600040101010101" pitchFamily="2" charset="-122"/>
                <a:ea typeface="华文楷体" panose="02010600040101010101" pitchFamily="2" charset="-122"/>
              </a:rPr>
              <a:t>tryfuncttop.v</a:t>
            </a:r>
            <a:r>
              <a:rPr lang="zh-CN" altLang="en-US" sz="2000" b="1" dirty="0">
                <a:latin typeface="华文楷体" panose="02010600040101010101" pitchFamily="2" charset="-122"/>
                <a:ea typeface="华文楷体" panose="02010600040101010101" pitchFamily="2" charset="-122"/>
              </a:rPr>
              <a:t>的仿真波形</a:t>
            </a:r>
            <a:r>
              <a:rPr lang="en-US" altLang="zh-CN" sz="2000" b="1" dirty="0">
                <a:latin typeface="华文楷体" panose="02010600040101010101" pitchFamily="2" charset="-122"/>
                <a:ea typeface="华文楷体" panose="02010600040101010101" pitchFamily="2" charset="-122"/>
              </a:rPr>
              <a:t>(</a:t>
            </a:r>
            <a:r>
              <a:rPr lang="zh-CN" altLang="en-US" sz="2000" b="1" dirty="0">
                <a:latin typeface="华文楷体" panose="02010600040101010101" pitchFamily="2" charset="-122"/>
                <a:ea typeface="华文楷体" panose="02010600040101010101" pitchFamily="2" charset="-122"/>
              </a:rPr>
              <a:t>用</a:t>
            </a:r>
            <a:r>
              <a:rPr lang="en-US" altLang="zh-CN" sz="2000" b="1" dirty="0">
                <a:latin typeface="华文楷体" panose="02010600040101010101" pitchFamily="2" charset="-122"/>
                <a:ea typeface="华文楷体" panose="02010600040101010101" pitchFamily="2" charset="-122"/>
              </a:rPr>
              <a:t>Modelsim</a:t>
            </a:r>
            <a:r>
              <a:rPr lang="zh-CN" altLang="en-US" sz="2000" b="1" dirty="0">
                <a:latin typeface="华文楷体" panose="02010600040101010101" pitchFamily="2" charset="-122"/>
                <a:ea typeface="华文楷体" panose="02010600040101010101" pitchFamily="2" charset="-122"/>
              </a:rPr>
              <a:t>编译、仿真</a:t>
            </a:r>
            <a:r>
              <a:rPr lang="en-US" altLang="zh-CN" sz="2000" b="1" dirty="0">
                <a:latin typeface="华文楷体" panose="02010600040101010101" pitchFamily="2" charset="-122"/>
                <a:ea typeface="华文楷体" panose="02010600040101010101" pitchFamily="2" charset="-122"/>
              </a:rPr>
              <a:t>)</a:t>
            </a:r>
            <a:endParaRPr lang="en-US" altLang="zh-CN" sz="2000" b="1" dirty="0">
              <a:latin typeface="华文楷体" panose="02010600040101010101" pitchFamily="2" charset="-122"/>
              <a:ea typeface="华文楷体" panose="02010600040101010101" pitchFamily="2" charset="-122"/>
            </a:endParaRPr>
          </a:p>
        </p:txBody>
      </p:sp>
      <p:sp>
        <p:nvSpPr>
          <p:cNvPr id="1788934" name="Rectangle 6"/>
          <p:cNvSpPr/>
          <p:nvPr/>
        </p:nvSpPr>
        <p:spPr>
          <a:xfrm>
            <a:off x="1963738" y="5848350"/>
            <a:ext cx="5330825" cy="49688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en-US" altLang="zh-CN" sz="2400" b="1" dirty="0">
                <a:latin typeface="仿宋_GB2312" pitchFamily="49" charset="-122"/>
                <a:ea typeface="仿宋_GB2312" pitchFamily="49" charset="-122"/>
              </a:rPr>
              <a:t>n</a:t>
            </a:r>
            <a:r>
              <a:rPr lang="zh-CN" altLang="en-US" sz="2400" b="1" dirty="0">
                <a:latin typeface="仿宋_GB2312" pitchFamily="49" charset="-122"/>
                <a:ea typeface="仿宋_GB2312" pitchFamily="49" charset="-122"/>
              </a:rPr>
              <a:t>的</a:t>
            </a:r>
            <a:r>
              <a:rPr lang="zh-CN" altLang="en-US" sz="2400" b="1" dirty="0">
                <a:latin typeface="宋体" panose="02010600030101010101" pitchFamily="2" charset="-122"/>
                <a:ea typeface="宋体" panose="02010600030101010101" pitchFamily="2" charset="-122"/>
              </a:rPr>
              <a:t>阶乘</a:t>
            </a:r>
            <a:r>
              <a:rPr lang="en-US" altLang="zh-CN" sz="2400" b="1" dirty="0">
                <a:latin typeface="仿宋_GB2312" pitchFamily="49" charset="-122"/>
                <a:ea typeface="仿宋_GB2312" pitchFamily="49" charset="-122"/>
              </a:rPr>
              <a:t>n!= n</a:t>
            </a:r>
            <a:r>
              <a:rPr lang="en-US" altLang="zh-CN" sz="2400" b="1" dirty="0">
                <a:latin typeface="Times New Roman" panose="02020603050405020304" pitchFamily="18" charset="0"/>
                <a:ea typeface="宋体" panose="02010600030101010101" pitchFamily="2" charset="-122"/>
              </a:rPr>
              <a:t>·</a:t>
            </a:r>
            <a:r>
              <a:rPr lang="en-US" altLang="zh-CN" sz="2400" b="1" dirty="0">
                <a:latin typeface="仿宋_GB2312" pitchFamily="49" charset="-122"/>
                <a:ea typeface="仿宋_GB2312" pitchFamily="49" charset="-122"/>
              </a:rPr>
              <a:t>(n-1)</a:t>
            </a:r>
            <a:r>
              <a:rPr lang="en-US" altLang="zh-CN" sz="2400" b="1" dirty="0">
                <a:latin typeface="Times New Roman" panose="02020603050405020304" pitchFamily="18" charset="0"/>
                <a:ea typeface="宋体" panose="02010600030101010101" pitchFamily="2" charset="-122"/>
              </a:rPr>
              <a:t>·</a:t>
            </a:r>
            <a:r>
              <a:rPr lang="en-US" altLang="zh-CN" sz="2400" b="1" dirty="0">
                <a:latin typeface="仿宋_GB2312" pitchFamily="49" charset="-122"/>
                <a:ea typeface="仿宋_GB2312" pitchFamily="49" charset="-122"/>
              </a:rPr>
              <a:t>(n-2) </a:t>
            </a:r>
            <a:r>
              <a:rPr lang="en-US" altLang="zh-CN" sz="2400" b="1" dirty="0">
                <a:latin typeface="Times New Roman" panose="02020603050405020304" pitchFamily="18" charset="0"/>
                <a:ea typeface="宋体" panose="02010600030101010101" pitchFamily="2" charset="-122"/>
              </a:rPr>
              <a:t>……2·1</a:t>
            </a:r>
            <a:endParaRPr lang="en-US" altLang="zh-CN" sz="2400" b="1" dirty="0">
              <a:latin typeface="Times New Roman" panose="02020603050405020304" pitchFamily="18" charset="0"/>
              <a:ea typeface="宋体" panose="02010600030101010101" pitchFamily="2" charset="-122"/>
            </a:endParaRPr>
          </a:p>
        </p:txBody>
      </p:sp>
      <p:sp>
        <p:nvSpPr>
          <p:cNvPr id="1788935" name="Oval 7"/>
          <p:cNvSpPr/>
          <p:nvPr/>
        </p:nvSpPr>
        <p:spPr>
          <a:xfrm>
            <a:off x="7116763" y="3219450"/>
            <a:ext cx="550862" cy="768350"/>
          </a:xfrm>
          <a:prstGeom prst="ellipse">
            <a:avLst/>
          </a:prstGeom>
          <a:noFill/>
          <a:ln w="22225" cap="flat" cmpd="sng">
            <a:solidFill>
              <a:srgbClr val="FF3399"/>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788936" name="AutoShape 8"/>
          <p:cNvSpPr/>
          <p:nvPr/>
        </p:nvSpPr>
        <p:spPr>
          <a:xfrm>
            <a:off x="5119688" y="4168775"/>
            <a:ext cx="1676400" cy="1182688"/>
          </a:xfrm>
          <a:prstGeom prst="wedgeRoundRectCallout">
            <a:avLst>
              <a:gd name="adj1" fmla="val 78218"/>
              <a:gd name="adj2" fmla="val -66241"/>
              <a:gd name="adj3" fmla="val 16667"/>
            </a:avLst>
          </a:prstGeom>
          <a:noFill/>
          <a:ln w="9525" cap="flat" cmpd="sng">
            <a:solidFill>
              <a:schemeClr val="accent1"/>
            </a:solidFill>
            <a:prstDash val="solid"/>
            <a:round/>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sz="2400" b="1" dirty="0">
                <a:latin typeface="仿宋_GB2312" pitchFamily="49" charset="-122"/>
                <a:ea typeface="仿宋_GB2312" pitchFamily="49" charset="-122"/>
              </a:rPr>
              <a:t>5</a:t>
            </a:r>
            <a:r>
              <a:rPr lang="zh-CN" altLang="en-US" sz="2400" b="1" dirty="0">
                <a:latin typeface="仿宋_GB2312" pitchFamily="49" charset="-122"/>
                <a:ea typeface="仿宋_GB2312" pitchFamily="49" charset="-122"/>
              </a:rPr>
              <a:t>的</a:t>
            </a:r>
            <a:r>
              <a:rPr lang="zh-CN" altLang="en-US" sz="2400" b="1" dirty="0">
                <a:latin typeface="宋体" panose="02010600030101010101" pitchFamily="2" charset="-122"/>
                <a:ea typeface="宋体" panose="02010600030101010101" pitchFamily="2" charset="-122"/>
              </a:rPr>
              <a:t>阶乘</a:t>
            </a:r>
            <a:r>
              <a:rPr lang="en-US" altLang="zh-CN" sz="2400" b="1" dirty="0">
                <a:latin typeface="仿宋_GB2312" pitchFamily="49" charset="-122"/>
                <a:ea typeface="仿宋_GB2312" pitchFamily="49" charset="-122"/>
              </a:rPr>
              <a:t>5!=5x4x3x2x1=120</a:t>
            </a:r>
            <a:endParaRPr lang="en-US" altLang="zh-CN" sz="2400" b="1" dirty="0">
              <a:latin typeface="仿宋_GB2312" pitchFamily="49" charset="-122"/>
              <a:ea typeface="仿宋_GB2312" pitchFamily="49"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788935"/>
                                        </p:tgtEl>
                                        <p:attrNameLst>
                                          <p:attrName>style.visibility</p:attrName>
                                        </p:attrNameLst>
                                      </p:cBhvr>
                                      <p:to>
                                        <p:strVal val="visible"/>
                                      </p:to>
                                    </p:set>
                                    <p:anim calcmode="lin" valueType="num">
                                      <p:cBhvr>
                                        <p:cTn id="7" dur="500" fill="hold"/>
                                        <p:tgtEl>
                                          <p:spTgt spid="1788935"/>
                                        </p:tgtEl>
                                        <p:attrNameLst>
                                          <p:attrName>ppt_w</p:attrName>
                                        </p:attrNameLst>
                                      </p:cBhvr>
                                      <p:tavLst>
                                        <p:tav tm="0">
                                          <p:val>
                                            <p:fltVal val="0.000000"/>
                                          </p:val>
                                        </p:tav>
                                        <p:tav tm="100000">
                                          <p:val>
                                            <p:strVal val="#ppt_w"/>
                                          </p:val>
                                        </p:tav>
                                      </p:tavLst>
                                    </p:anim>
                                    <p:anim calcmode="lin" valueType="num">
                                      <p:cBhvr>
                                        <p:cTn id="8" dur="500" fill="hold"/>
                                        <p:tgtEl>
                                          <p:spTgt spid="1788935"/>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788936"/>
                                        </p:tgtEl>
                                        <p:attrNameLst>
                                          <p:attrName>style.visibility</p:attrName>
                                        </p:attrNameLst>
                                      </p:cBhvr>
                                      <p:to>
                                        <p:strVal val="visible"/>
                                      </p:to>
                                    </p:set>
                                    <p:animEffect transition="in" filter="dissolve">
                                      <p:cBhvr>
                                        <p:cTn id="12" dur="500"/>
                                        <p:tgtEl>
                                          <p:spTgt spid="1788936"/>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788934"/>
                                        </p:tgtEl>
                                        <p:attrNameLst>
                                          <p:attrName>style.visibility</p:attrName>
                                        </p:attrNameLst>
                                      </p:cBhvr>
                                      <p:to>
                                        <p:strVal val="visible"/>
                                      </p:to>
                                    </p:set>
                                    <p:anim calcmode="lin" valueType="num">
                                      <p:cBhvr>
                                        <p:cTn id="17" dur="500" fill="hold"/>
                                        <p:tgtEl>
                                          <p:spTgt spid="1788934"/>
                                        </p:tgtEl>
                                        <p:attrNameLst>
                                          <p:attrName>ppt_w</p:attrName>
                                        </p:attrNameLst>
                                      </p:cBhvr>
                                      <p:tavLst>
                                        <p:tav tm="0">
                                          <p:val>
                                            <p:fltVal val="0.000000"/>
                                          </p:val>
                                        </p:tav>
                                        <p:tav tm="100000">
                                          <p:val>
                                            <p:strVal val="#ppt_w"/>
                                          </p:val>
                                        </p:tav>
                                      </p:tavLst>
                                    </p:anim>
                                    <p:anim calcmode="lin" valueType="num">
                                      <p:cBhvr>
                                        <p:cTn id="18" dur="500" fill="hold"/>
                                        <p:tgtEl>
                                          <p:spTgt spid="178893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8934" grpId="0" bldLvl="0" animBg="1"/>
      <p:bldP spid="1788935" grpId="0" bldLvl="0" animBg="1"/>
      <p:bldP spid="1788936"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805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58051"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5805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9  </a:t>
            </a:r>
            <a:r>
              <a:rPr lang="zh-CN" altLang="en-US" dirty="0">
                <a:latin typeface="华文楷体" panose="02010600040101010101" pitchFamily="2" charset="-122"/>
                <a:ea typeface="黑体" panose="02010609060101010101" pitchFamily="49" charset="-122"/>
                <a:cs typeface="+mj-cs"/>
              </a:rPr>
              <a:t>结构说明语句</a:t>
            </a:r>
            <a:endParaRPr lang="zh-CN" altLang="en-US" dirty="0">
              <a:latin typeface="华文楷体" panose="02010600040101010101" pitchFamily="2" charset="-122"/>
              <a:ea typeface="黑体" panose="02010609060101010101" pitchFamily="49" charset="-122"/>
              <a:cs typeface="+mj-cs"/>
            </a:endParaRPr>
          </a:p>
        </p:txBody>
      </p:sp>
      <p:graphicFrame>
        <p:nvGraphicFramePr>
          <p:cNvPr id="159748" name="表格 159747"/>
          <p:cNvGraphicFramePr/>
          <p:nvPr/>
        </p:nvGraphicFramePr>
        <p:xfrm>
          <a:off x="795338" y="2154238"/>
          <a:ext cx="7620000" cy="3803650"/>
        </p:xfrm>
        <a:graphic>
          <a:graphicData uri="http://schemas.openxmlformats.org/drawingml/2006/table">
            <a:tbl>
              <a:tblPr/>
              <a:tblGrid>
                <a:gridCol w="1620838"/>
                <a:gridCol w="2593975"/>
                <a:gridCol w="3405187"/>
              </a:tblGrid>
              <a:tr h="374628">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endParaRPr lang="en-US" altLang="zh-CN"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任务（</a:t>
                      </a:r>
                      <a:r>
                        <a:rPr lang="en-US" altLang="zh-CN" sz="2000" dirty="0">
                          <a:solidFill>
                            <a:schemeClr val="tx1"/>
                          </a:solidFill>
                          <a:latin typeface="Tahoma" panose="020B0604030504040204" pitchFamily="34" charset="0"/>
                        </a:rPr>
                        <a:t>task </a:t>
                      </a:r>
                      <a:r>
                        <a:rPr lang="zh-CN" altLang="en-US" sz="2000" dirty="0">
                          <a:solidFill>
                            <a:schemeClr val="tx1"/>
                          </a:solidFill>
                          <a:latin typeface="Tahoma" panose="020B0604030504040204" pitchFamily="34" charset="0"/>
                        </a:rPr>
                        <a:t>）</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函数（</a:t>
                      </a:r>
                      <a:r>
                        <a:rPr lang="en-US" altLang="zh-CN" sz="2000" dirty="0">
                          <a:solidFill>
                            <a:schemeClr val="tx1"/>
                          </a:solidFill>
                          <a:latin typeface="Tahoma" panose="020B0604030504040204" pitchFamily="34" charset="0"/>
                        </a:rPr>
                        <a:t>function)</a:t>
                      </a:r>
                      <a:endParaRPr lang="en-US" altLang="zh-CN"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28575" cap="flat" cmpd="sng">
                      <a:solidFill>
                        <a:schemeClr val="accent2"/>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640322">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目的或用途</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可计算</a:t>
                      </a:r>
                      <a:r>
                        <a:rPr lang="zh-CN" altLang="en-US" sz="2000" dirty="0">
                          <a:solidFill>
                            <a:schemeClr val="hlink"/>
                          </a:solidFill>
                          <a:latin typeface="Tahoma" panose="020B0604030504040204" pitchFamily="34" charset="0"/>
                        </a:rPr>
                        <a:t>多个</a:t>
                      </a:r>
                      <a:r>
                        <a:rPr lang="zh-CN" altLang="en-US" sz="2000" b="0" dirty="0">
                          <a:solidFill>
                            <a:schemeClr val="tx1"/>
                          </a:solidFill>
                          <a:latin typeface="Tahoma" panose="020B0604030504040204" pitchFamily="34" charset="0"/>
                        </a:rPr>
                        <a:t>结果值</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通过返回</a:t>
                      </a:r>
                      <a:r>
                        <a:rPr lang="zh-CN" altLang="en-US" sz="2000" dirty="0">
                          <a:solidFill>
                            <a:schemeClr val="hlink"/>
                          </a:solidFill>
                          <a:latin typeface="Tahoma" panose="020B0604030504040204" pitchFamily="34" charset="0"/>
                        </a:rPr>
                        <a:t>一个</a:t>
                      </a:r>
                      <a:r>
                        <a:rPr lang="zh-CN" altLang="en-US" sz="2000" b="0" dirty="0">
                          <a:solidFill>
                            <a:schemeClr val="tx1"/>
                          </a:solidFill>
                          <a:latin typeface="Tahoma" panose="020B0604030504040204" pitchFamily="34" charset="0"/>
                        </a:rPr>
                        <a:t>值，来响应输入信号</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64131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输入与输出</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可为各种类型（包括</a:t>
                      </a:r>
                      <a:r>
                        <a:rPr lang="en-US" altLang="zh-CN" sz="2000" b="0" dirty="0">
                          <a:solidFill>
                            <a:schemeClr val="tx1"/>
                          </a:solidFill>
                          <a:latin typeface="Tahoma" panose="020B0604030504040204" pitchFamily="34" charset="0"/>
                        </a:rPr>
                        <a:t>inout</a:t>
                      </a:r>
                      <a:r>
                        <a:rPr lang="zh-CN" altLang="en-US" sz="2000" b="0" dirty="0">
                          <a:solidFill>
                            <a:schemeClr val="tx1"/>
                          </a:solidFill>
                          <a:latin typeface="Tahoma" panose="020B0604030504040204" pitchFamily="34" charset="0"/>
                        </a:rPr>
                        <a:t>型）</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至少有一个输入变量，但不能有任何</a:t>
                      </a:r>
                      <a:r>
                        <a:rPr lang="en-US" altLang="zh-CN" sz="2000" b="0" dirty="0">
                          <a:solidFill>
                            <a:schemeClr val="tx1"/>
                          </a:solidFill>
                          <a:latin typeface="Tahoma" panose="020B0604030504040204" pitchFamily="34" charset="0"/>
                        </a:rPr>
                        <a:t>output</a:t>
                      </a:r>
                      <a:r>
                        <a:rPr lang="zh-CN" altLang="en-US" sz="2000" b="0" dirty="0">
                          <a:solidFill>
                            <a:schemeClr val="tx1"/>
                          </a:solidFill>
                          <a:latin typeface="Tahoma" panose="020B0604030504040204" pitchFamily="34" charset="0"/>
                        </a:rPr>
                        <a:t>或</a:t>
                      </a:r>
                      <a:r>
                        <a:rPr lang="en-US" altLang="zh-CN" sz="2000" b="0" dirty="0">
                          <a:solidFill>
                            <a:schemeClr val="tx1"/>
                          </a:solidFill>
                          <a:latin typeface="Tahoma" panose="020B0604030504040204" pitchFamily="34" charset="0"/>
                        </a:rPr>
                        <a:t>inout</a:t>
                      </a:r>
                      <a:r>
                        <a:rPr lang="zh-CN" altLang="en-US" sz="2000" b="0" dirty="0">
                          <a:solidFill>
                            <a:schemeClr val="tx1"/>
                          </a:solidFill>
                          <a:latin typeface="Tahoma" panose="020B0604030504040204" pitchFamily="34" charset="0"/>
                        </a:rPr>
                        <a:t>型变量</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945121">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endParaRPr lang="en-US" altLang="zh-CN" sz="200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被调用</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只可在</a:t>
                      </a:r>
                      <a:r>
                        <a:rPr lang="zh-CN" altLang="en-US" sz="2000" dirty="0">
                          <a:solidFill>
                            <a:schemeClr val="hlink"/>
                          </a:solidFill>
                          <a:latin typeface="Tahoma" panose="020B0604030504040204" pitchFamily="34" charset="0"/>
                        </a:rPr>
                        <a:t>过程</a:t>
                      </a:r>
                      <a:r>
                        <a:rPr lang="zh-CN" altLang="en-US" sz="2000" b="0" dirty="0">
                          <a:solidFill>
                            <a:schemeClr val="tx1"/>
                          </a:solidFill>
                          <a:latin typeface="Tahoma" panose="020B0604030504040204" pitchFamily="34" charset="0"/>
                        </a:rPr>
                        <a:t>赋值语句中调用，不能在连续赋值语句中调用</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可作为表达式中的一个操作数来调用，在</a:t>
                      </a:r>
                      <a:r>
                        <a:rPr lang="zh-CN" altLang="en-US" sz="2000" dirty="0">
                          <a:solidFill>
                            <a:schemeClr val="hlink"/>
                          </a:solidFill>
                          <a:latin typeface="Tahoma" panose="020B0604030504040204" pitchFamily="34" charset="0"/>
                        </a:rPr>
                        <a:t>过程</a:t>
                      </a:r>
                      <a:r>
                        <a:rPr lang="zh-CN" altLang="en-US" sz="2000" b="0" dirty="0">
                          <a:solidFill>
                            <a:schemeClr val="tx1"/>
                          </a:solidFill>
                          <a:latin typeface="Tahoma" panose="020B0604030504040204" pitchFamily="34" charset="0"/>
                        </a:rPr>
                        <a:t>赋值和</a:t>
                      </a:r>
                      <a:r>
                        <a:rPr lang="zh-CN" altLang="en-US" sz="2000" dirty="0">
                          <a:solidFill>
                            <a:schemeClr val="hlink"/>
                          </a:solidFill>
                          <a:latin typeface="Tahoma" panose="020B0604030504040204" pitchFamily="34" charset="0"/>
                        </a:rPr>
                        <a:t>连续</a:t>
                      </a:r>
                      <a:r>
                        <a:rPr lang="zh-CN" altLang="en-US" sz="2000" b="0" dirty="0">
                          <a:solidFill>
                            <a:schemeClr val="tx1"/>
                          </a:solidFill>
                          <a:latin typeface="Tahoma" panose="020B0604030504040204" pitchFamily="34" charset="0"/>
                        </a:rPr>
                        <a:t>赋值语句中均可调用</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640322">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调用其他任务和函数</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任务可调用其他</a:t>
                      </a:r>
                      <a:r>
                        <a:rPr lang="zh-CN" altLang="en-US" sz="2000" dirty="0">
                          <a:solidFill>
                            <a:schemeClr val="hlink"/>
                          </a:solidFill>
                          <a:latin typeface="Tahoma" panose="020B0604030504040204" pitchFamily="34" charset="0"/>
                        </a:rPr>
                        <a:t>任务</a:t>
                      </a:r>
                      <a:r>
                        <a:rPr lang="zh-CN" altLang="en-US" sz="2000" b="0" dirty="0">
                          <a:solidFill>
                            <a:schemeClr val="tx1"/>
                          </a:solidFill>
                          <a:latin typeface="Tahoma" panose="020B0604030504040204" pitchFamily="34" charset="0"/>
                        </a:rPr>
                        <a:t>和</a:t>
                      </a:r>
                      <a:r>
                        <a:rPr lang="zh-CN" altLang="en-US" sz="2000" dirty="0">
                          <a:solidFill>
                            <a:schemeClr val="hlink"/>
                          </a:solidFill>
                          <a:latin typeface="Tahoma" panose="020B0604030504040204" pitchFamily="34" charset="0"/>
                        </a:rPr>
                        <a:t>函数</a:t>
                      </a:r>
                      <a:endParaRPr lang="zh-CN" altLang="en-US" sz="2000" dirty="0">
                        <a:solidFill>
                          <a:schemeClr val="hlink"/>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函数可调用其他函数，但不可调用其他任务</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CCFF"/>
                    </a:solidFill>
                  </a:tcPr>
                </a:tc>
              </a:tr>
              <a:tr h="56194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返回值</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accent2"/>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accent2"/>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不向表达式返回值</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accent2"/>
                      </a:solidFill>
                      <a:prstDash val="solid"/>
                      <a:headEnd type="none" w="med" len="med"/>
                      <a:tailEnd type="none" w="med" len="med"/>
                    </a:lnB>
                    <a:lnTlToBr>
                      <a:noFill/>
                    </a:lnTlToBr>
                    <a:lnBlToTr>
                      <a:noFill/>
                    </a:lnBlToTr>
                    <a:solidFill>
                      <a:srgbClr val="CCCCFF"/>
                    </a:solid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defTabSz="2716530" eaLnBrk="1" hangingPunct="1">
                        <a:spcBef>
                          <a:spcPct val="20000"/>
                        </a:spcBef>
                        <a:buClr>
                          <a:srgbClr val="3333FF"/>
                        </a:buClr>
                        <a:buFont typeface="Wingdings" panose="05000000000000000000" pitchFamily="2" charset="2"/>
                        <a:buNone/>
                      </a:pPr>
                      <a:r>
                        <a:rPr lang="zh-CN" altLang="en-US" sz="2000" b="0" dirty="0">
                          <a:solidFill>
                            <a:schemeClr val="tx1"/>
                          </a:solidFill>
                          <a:latin typeface="Tahoma" panose="020B0604030504040204" pitchFamily="34" charset="0"/>
                        </a:rPr>
                        <a:t>向调用它的表达式返回一个值</a:t>
                      </a:r>
                      <a:endParaRPr lang="zh-CN" altLang="en-US"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accent2"/>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accent2"/>
                      </a:solidFill>
                      <a:prstDash val="solid"/>
                      <a:headEnd type="none" w="med" len="med"/>
                      <a:tailEnd type="none" w="med" len="med"/>
                    </a:lnB>
                    <a:lnTlToBr>
                      <a:noFill/>
                    </a:lnTlToBr>
                    <a:lnBlToTr>
                      <a:noFill/>
                    </a:lnBlToTr>
                    <a:solidFill>
                      <a:srgbClr val="CCCCFF"/>
                    </a:solidFill>
                  </a:tcPr>
                </a:tc>
              </a:tr>
            </a:tbl>
          </a:graphicData>
        </a:graphic>
      </p:graphicFrame>
      <p:sp>
        <p:nvSpPr>
          <p:cNvPr id="1791009" name="Rectangle 33"/>
          <p:cNvSpPr/>
          <p:nvPr/>
        </p:nvSpPr>
        <p:spPr>
          <a:xfrm>
            <a:off x="2720975" y="1495425"/>
            <a:ext cx="3778250" cy="396875"/>
          </a:xfrm>
          <a:prstGeom prst="rect">
            <a:avLst/>
          </a:prstGeom>
          <a:noFill/>
          <a:ln w="9525">
            <a:noFill/>
          </a:ln>
        </p:spPr>
        <p:txBody>
          <a:bodyPr lIns="30724" tIns="15362" rIns="30724" bIns="15362">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defTabSz="307975" eaLnBrk="1" hangingPunct="1">
              <a:spcBef>
                <a:spcPct val="0"/>
              </a:spcBef>
              <a:buNone/>
            </a:pPr>
            <a:r>
              <a:rPr lang="zh-CN" altLang="en-US" sz="2400" b="1" dirty="0">
                <a:latin typeface="华文楷体" panose="02010600040101010101" pitchFamily="2" charset="-122"/>
                <a:ea typeface="华文楷体" panose="02010600040101010101" pitchFamily="2" charset="-122"/>
              </a:rPr>
              <a:t>表</a:t>
            </a:r>
            <a:r>
              <a:rPr lang="en-US" altLang="zh-CN" sz="2400" b="1" dirty="0">
                <a:latin typeface="华文楷体" panose="02010600040101010101" pitchFamily="2" charset="-122"/>
                <a:ea typeface="华文楷体" panose="02010600040101010101" pitchFamily="2" charset="-122"/>
              </a:rPr>
              <a:t>3-5  </a:t>
            </a:r>
            <a:r>
              <a:rPr lang="zh-CN" altLang="en-US" sz="2400" b="1" dirty="0">
                <a:latin typeface="华文楷体" panose="02010600040101010101" pitchFamily="2" charset="-122"/>
                <a:ea typeface="华文楷体" panose="02010600040101010101" pitchFamily="2" charset="-122"/>
              </a:rPr>
              <a:t>任务与函数的区别</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91009"/>
                                        </p:tgtEl>
                                        <p:attrNameLst>
                                          <p:attrName>style.visibility</p:attrName>
                                        </p:attrNameLst>
                                      </p:cBhvr>
                                      <p:to>
                                        <p:strVal val="visible"/>
                                      </p:to>
                                    </p:set>
                                    <p:anim calcmode="lin" valueType="num">
                                      <p:cBhvr>
                                        <p:cTn id="7" dur="500" fill="hold"/>
                                        <p:tgtEl>
                                          <p:spTgt spid="1791009"/>
                                        </p:tgtEl>
                                        <p:attrNameLst>
                                          <p:attrName>ppt_w</p:attrName>
                                        </p:attrNameLst>
                                      </p:cBhvr>
                                      <p:tavLst>
                                        <p:tav tm="0">
                                          <p:val>
                                            <p:fltVal val="0.000000"/>
                                          </p:val>
                                        </p:tav>
                                        <p:tav tm="100000">
                                          <p:val>
                                            <p:strVal val="#ppt_w"/>
                                          </p:val>
                                        </p:tav>
                                      </p:tavLst>
                                    </p:anim>
                                    <p:anim calcmode="lin" valueType="num">
                                      <p:cBhvr>
                                        <p:cTn id="8" dur="500" fill="hold"/>
                                        <p:tgtEl>
                                          <p:spTgt spid="1791009"/>
                                        </p:tgtEl>
                                        <p:attrNameLst>
                                          <p:attrName>ppt_h</p:attrName>
                                        </p:attrNameLst>
                                      </p:cBhvr>
                                      <p:tavLst>
                                        <p:tav tm="0">
                                          <p:val>
                                            <p:fltVal val="0.000000"/>
                                          </p:val>
                                        </p:tav>
                                        <p:tav tm="100000">
                                          <p:val>
                                            <p:strVal val="#ppt_h"/>
                                          </p:val>
                                        </p:tav>
                                      </p:tavLst>
                                    </p:anim>
                                  </p:childTnLst>
                                </p:cTn>
                              </p:par>
                            </p:childTnLst>
                          </p:cTn>
                        </p:par>
                        <p:par>
                          <p:cTn id="9" fill="hold">
                            <p:stCondLst>
                              <p:cond delay="500"/>
                            </p:stCondLst>
                            <p:childTnLst>
                              <p:par>
                                <p:cTn id="10" presetID="2" presetClass="entr" presetSubtype="12" fill="hold" nodeType="afterEffect">
                                  <p:stCondLst>
                                    <p:cond delay="0"/>
                                  </p:stCondLst>
                                  <p:childTnLst>
                                    <p:set>
                                      <p:cBhvr>
                                        <p:cTn id="11" dur="1" fill="hold">
                                          <p:stCondLst>
                                            <p:cond delay="0"/>
                                          </p:stCondLst>
                                        </p:cTn>
                                        <p:tgtEl>
                                          <p:spTgt spid="159748"/>
                                        </p:tgtEl>
                                        <p:attrNameLst>
                                          <p:attrName>style.visibility</p:attrName>
                                        </p:attrNameLst>
                                      </p:cBhvr>
                                      <p:to>
                                        <p:strVal val="visible"/>
                                      </p:to>
                                    </p:set>
                                    <p:anim calcmode="lin" valueType="num">
                                      <p:cBhvr additive="base">
                                        <p:cTn id="12" dur="500" fill="hold"/>
                                        <p:tgtEl>
                                          <p:spTgt spid="159748"/>
                                        </p:tgtEl>
                                        <p:attrNameLst>
                                          <p:attrName>ppt_x</p:attrName>
                                        </p:attrNameLst>
                                      </p:cBhvr>
                                      <p:tavLst>
                                        <p:tav tm="0">
                                          <p:val>
                                            <p:strVal val="0-#ppt_w/2"/>
                                          </p:val>
                                        </p:tav>
                                        <p:tav tm="100000">
                                          <p:val>
                                            <p:strVal val="#ppt_x"/>
                                          </p:val>
                                        </p:tav>
                                      </p:tavLst>
                                    </p:anim>
                                    <p:anim calcmode="lin" valueType="num">
                                      <p:cBhvr additive="base">
                                        <p:cTn id="13" dur="500" fill="hold"/>
                                        <p:tgtEl>
                                          <p:spTgt spid="1597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1009" grpId="0"/>
    </p:bld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009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595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2045955" name="Rectangle 3"/>
          <p:cNvSpPr>
            <a:spLocks noGrp="1"/>
          </p:cNvSpPr>
          <p:nvPr>
            <p:ph idx="1"/>
          </p:nvPr>
        </p:nvSpPr>
        <p:spPr/>
        <p:txBody>
          <a:bodyPr vert="horz" wrap="square" lIns="91440" tIns="45720" rIns="91440" bIns="45720" anchor="t" anchorCtr="0"/>
          <a:p>
            <a:pPr eaLnBrk="1" hangingPunct="1">
              <a:lnSpc>
                <a:spcPct val="120000"/>
              </a:lnSpc>
            </a:pPr>
            <a:r>
              <a:rPr lang="en-US" altLang="zh-CN" sz="2800" dirty="0">
                <a:latin typeface="华文楷体" panose="02010600040101010101" pitchFamily="2" charset="-122"/>
                <a:ea typeface="华文楷体" panose="02010600040101010101" pitchFamily="2" charset="-122"/>
                <a:cs typeface="+mn-cs"/>
              </a:rPr>
              <a:t>10.1 ‵define</a:t>
            </a:r>
            <a:r>
              <a:rPr lang="zh-CN" altLang="en-US" sz="2800" dirty="0">
                <a:latin typeface="华文楷体" panose="02010600040101010101" pitchFamily="2" charset="-122"/>
                <a:ea typeface="华文楷体" panose="02010600040101010101" pitchFamily="2" charset="-122"/>
                <a:cs typeface="+mn-cs"/>
              </a:rPr>
              <a:t>语句</a:t>
            </a:r>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10.2 ‵include</a:t>
            </a:r>
            <a:r>
              <a:rPr lang="zh-CN" altLang="en-US" sz="2800" dirty="0">
                <a:latin typeface="华文楷体" panose="02010600040101010101" pitchFamily="2" charset="-122"/>
                <a:ea typeface="华文楷体" panose="02010600040101010101" pitchFamily="2" charset="-122"/>
                <a:cs typeface="+mn-cs"/>
              </a:rPr>
              <a:t>语句</a:t>
            </a:r>
            <a:endParaRPr lang="zh-CN" altLang="en-US" sz="2800" dirty="0">
              <a:latin typeface="华文楷体" panose="02010600040101010101" pitchFamily="2" charset="-122"/>
              <a:ea typeface="华文楷体" panose="02010600040101010101" pitchFamily="2" charset="-122"/>
              <a:cs typeface="+mn-cs"/>
            </a:endParaRPr>
          </a:p>
          <a:p>
            <a:pPr eaLnBrk="1" hangingPunct="1"/>
            <a:r>
              <a:rPr lang="en-US" altLang="zh-CN" sz="2800" dirty="0">
                <a:latin typeface="华文楷体" panose="02010600040101010101" pitchFamily="2" charset="-122"/>
                <a:ea typeface="华文楷体" panose="02010600040101010101" pitchFamily="2" charset="-122"/>
                <a:cs typeface="+mn-cs"/>
              </a:rPr>
              <a:t>10.3 ‵timescale</a:t>
            </a:r>
            <a:r>
              <a:rPr lang="zh-CN" altLang="en-US" sz="2800" dirty="0">
                <a:latin typeface="华文楷体" panose="02010600040101010101" pitchFamily="2" charset="-122"/>
                <a:ea typeface="华文楷体" panose="02010600040101010101" pitchFamily="2" charset="-122"/>
                <a:cs typeface="+mn-cs"/>
              </a:rPr>
              <a:t>语句</a:t>
            </a:r>
            <a:endParaRPr lang="zh-CN" altLang="en-US" sz="2800"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5954"/>
                                        </p:tgtEl>
                                        <p:attrNameLst>
                                          <p:attrName>style.visibility</p:attrName>
                                        </p:attrNameLst>
                                      </p:cBhvr>
                                      <p:to>
                                        <p:strVal val="visible"/>
                                      </p:to>
                                    </p:set>
                                    <p:anim calcmode="lin" valueType="num">
                                      <p:cBhvr additive="base">
                                        <p:cTn id="7" dur="500" fill="hold"/>
                                        <p:tgtEl>
                                          <p:spTgt spid="2045954"/>
                                        </p:tgtEl>
                                        <p:attrNameLst>
                                          <p:attrName>ppt_x</p:attrName>
                                        </p:attrNameLst>
                                      </p:cBhvr>
                                      <p:tavLst>
                                        <p:tav tm="0">
                                          <p:val>
                                            <p:strVal val="#ppt_x"/>
                                          </p:val>
                                        </p:tav>
                                        <p:tav tm="100000">
                                          <p:val>
                                            <p:strVal val="#ppt_x"/>
                                          </p:val>
                                        </p:tav>
                                      </p:tavLst>
                                    </p:anim>
                                    <p:anim calcmode="lin" valueType="num">
                                      <p:cBhvr additive="base">
                                        <p:cTn id="8" dur="500" fill="hold"/>
                                        <p:tgtEl>
                                          <p:spTgt spid="204595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5955"/>
                                        </p:tgtEl>
                                        <p:attrNameLst>
                                          <p:attrName>style.visibility</p:attrName>
                                        </p:attrNameLst>
                                      </p:cBhvr>
                                      <p:to>
                                        <p:strVal val="visible"/>
                                      </p:to>
                                    </p:set>
                                    <p:anim calcmode="lin" valueType="num">
                                      <p:cBhvr additive="base">
                                        <p:cTn id="12" dur="500" fill="hold"/>
                                        <p:tgtEl>
                                          <p:spTgt spid="2045955"/>
                                        </p:tgtEl>
                                        <p:attrNameLst>
                                          <p:attrName>ppt_x</p:attrName>
                                        </p:attrNameLst>
                                      </p:cBhvr>
                                      <p:tavLst>
                                        <p:tav tm="0">
                                          <p:val>
                                            <p:strVal val="0-#ppt_w/2"/>
                                          </p:val>
                                        </p:tav>
                                        <p:tav tm="100000">
                                          <p:val>
                                            <p:strVal val="#ppt_x"/>
                                          </p:val>
                                        </p:tav>
                                      </p:tavLst>
                                    </p:anim>
                                    <p:anim calcmode="lin" valueType="num">
                                      <p:cBhvr additive="base">
                                        <p:cTn id="13" dur="500" fill="hold"/>
                                        <p:tgtEl>
                                          <p:spTgt spid="204595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5954" grpId="0"/>
      <p:bldP spid="2045955" grpId="0"/>
    </p:bldLst>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21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621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794051"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一、</a:t>
            </a:r>
            <a:r>
              <a:rPr lang="en-US" altLang="zh-CN" dirty="0">
                <a:latin typeface="Times New Roman" panose="02020603050405020304" pitchFamily="18" charset="0"/>
                <a:ea typeface="华文楷体" panose="02010600040101010101" pitchFamily="2" charset="-122"/>
                <a:cs typeface="+mn-cs"/>
              </a:rPr>
              <a:t>‵define</a:t>
            </a:r>
            <a:r>
              <a:rPr lang="zh-CN" altLang="en-US" dirty="0">
                <a:latin typeface="Times New Roman" panose="02020603050405020304" pitchFamily="18" charset="0"/>
                <a:ea typeface="华文楷体" panose="02010600040101010101" pitchFamily="2" charset="-122"/>
                <a:cs typeface="+mn-cs"/>
              </a:rPr>
              <a:t>语句</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solidFill>
                  <a:srgbClr val="FF0000"/>
                </a:solidFill>
                <a:latin typeface="Times New Roman" panose="02020603050405020304" pitchFamily="18" charset="0"/>
                <a:ea typeface="华文楷体" panose="02010600040101010101" pitchFamily="2" charset="-122"/>
                <a:cs typeface="+mn-cs"/>
              </a:rPr>
              <a:t>宏定义</a:t>
            </a:r>
            <a:r>
              <a:rPr lang="zh-CN" altLang="en-US" sz="2200" dirty="0">
                <a:latin typeface="Times New Roman" panose="02020603050405020304" pitchFamily="18" charset="0"/>
                <a:ea typeface="华文楷体" panose="02010600040101010101" pitchFamily="2" charset="-122"/>
                <a:cs typeface="+mn-cs"/>
              </a:rPr>
              <a:t>语句</a:t>
            </a:r>
            <a:r>
              <a:rPr lang="en-US" altLang="zh-CN" sz="2200" dirty="0">
                <a:latin typeface="Times New Roman" panose="02020603050405020304" pitchFamily="18" charset="0"/>
                <a:ea typeface="华文楷体" panose="02010600040101010101" pitchFamily="2" charset="-122"/>
                <a:cs typeface="+mn-cs"/>
              </a:rPr>
              <a:t>——</a:t>
            </a:r>
            <a:r>
              <a:rPr lang="zh-CN" altLang="en-US" sz="2200" dirty="0">
                <a:latin typeface="Times New Roman" panose="02020603050405020304" pitchFamily="18" charset="0"/>
                <a:ea typeface="华文楷体" panose="02010600040101010101" pitchFamily="2" charset="-122"/>
                <a:cs typeface="+mn-cs"/>
              </a:rPr>
              <a:t>用一个指定的标志符（即宏名）来代表一个字符串（即宏内容）。</a:t>
            </a:r>
            <a:endParaRPr lang="zh-CN" altLang="en-US" sz="2200" dirty="0">
              <a:latin typeface="Times New Roman" panose="02020603050405020304" pitchFamily="18" charset="0"/>
              <a:ea typeface="华文楷体" panose="02010600040101010101" pitchFamily="2" charset="-122"/>
              <a:cs typeface="+mn-cs"/>
            </a:endParaRPr>
          </a:p>
        </p:txBody>
      </p:sp>
      <p:sp>
        <p:nvSpPr>
          <p:cNvPr id="1794052" name="Text Box 4"/>
          <p:cNvSpPr txBox="1"/>
          <p:nvPr/>
        </p:nvSpPr>
        <p:spPr>
          <a:xfrm>
            <a:off x="1922463" y="4524375"/>
            <a:ext cx="5715000" cy="427038"/>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华文楷体" panose="02010600040101010101" pitchFamily="2" charset="-122"/>
                <a:ea typeface="华文楷体" panose="02010600040101010101" pitchFamily="2" charset="-122"/>
              </a:rPr>
              <a:t>‵define</a:t>
            </a:r>
            <a:r>
              <a:rPr lang="en-US" altLang="zh-CN" b="1" dirty="0">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标志符（即宏名）字符串（即宏内容）</a:t>
            </a:r>
            <a:endParaRPr lang="zh-CN" altLang="en-US" b="1" dirty="0">
              <a:latin typeface="华文楷体" panose="02010600040101010101" pitchFamily="2" charset="-122"/>
              <a:ea typeface="华文楷体" panose="02010600040101010101" pitchFamily="2" charset="-122"/>
            </a:endParaRPr>
          </a:p>
        </p:txBody>
      </p:sp>
      <p:sp>
        <p:nvSpPr>
          <p:cNvPr id="1794053" name="Text Box 5"/>
          <p:cNvSpPr txBox="1"/>
          <p:nvPr/>
        </p:nvSpPr>
        <p:spPr>
          <a:xfrm>
            <a:off x="500063" y="5334000"/>
            <a:ext cx="7508875" cy="89535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lgn="just" eaLnBrk="1" hangingPunct="1">
              <a:lnSpc>
                <a:spcPct val="110000"/>
              </a:lnSpc>
              <a:buClr>
                <a:srgbClr val="3333FF"/>
              </a:buClr>
              <a:buFont typeface="Wingdings" panose="05000000000000000000" pitchFamily="2" charset="2"/>
              <a:buChar char="§"/>
            </a:pPr>
            <a:r>
              <a:rPr lang="en-US" altLang="zh-CN" sz="2200" b="1" dirty="0">
                <a:latin typeface="Times New Roman" panose="02020603050405020304" pitchFamily="18" charset="0"/>
                <a:ea typeface="华文楷体" panose="02010600040101010101" pitchFamily="2" charset="-122"/>
              </a:rPr>
              <a:t>[</a:t>
            </a:r>
            <a:r>
              <a:rPr lang="zh-CN" altLang="en-US" sz="2200" b="1" dirty="0">
                <a:solidFill>
                  <a:srgbClr val="FF0066"/>
                </a:solidFill>
                <a:latin typeface="Times New Roman" panose="02020603050405020304" pitchFamily="18" charset="0"/>
                <a:ea typeface="华文楷体" panose="02010600040101010101" pitchFamily="2" charset="-122"/>
              </a:rPr>
              <a:t>例</a:t>
            </a:r>
            <a:r>
              <a:rPr lang="en-US" altLang="zh-CN" sz="2200" b="1" dirty="0">
                <a:latin typeface="Times New Roman" panose="02020603050405020304" pitchFamily="18" charset="0"/>
                <a:ea typeface="华文楷体" panose="02010600040101010101" pitchFamily="2" charset="-122"/>
              </a:rPr>
              <a:t>] ‵define IN ina+inb+inc+ind</a:t>
            </a:r>
            <a:endParaRPr lang="en-US" altLang="zh-CN" sz="2200" b="1" dirty="0">
              <a:latin typeface="Times New Roman" panose="02020603050405020304" pitchFamily="18" charset="0"/>
              <a:ea typeface="华文楷体" panose="02010600040101010101" pitchFamily="2" charset="-122"/>
            </a:endParaRPr>
          </a:p>
          <a:p>
            <a:pPr marL="281305" lvl="0" indent="-281305" algn="just" eaLnBrk="1" hangingPunct="1">
              <a:lnSpc>
                <a:spcPct val="110000"/>
              </a:lnSpc>
              <a:buClr>
                <a:srgbClr val="3333FF"/>
              </a:buClr>
              <a:buFont typeface="Wingdings" panose="05000000000000000000" pitchFamily="2" charset="2"/>
              <a:buChar char="§"/>
            </a:pPr>
            <a:r>
              <a:rPr lang="zh-CN" altLang="en-US" sz="2200" b="1" dirty="0">
                <a:solidFill>
                  <a:srgbClr val="FF0066"/>
                </a:solidFill>
                <a:latin typeface="Times New Roman" panose="02020603050405020304" pitchFamily="18" charset="0"/>
                <a:ea typeface="华文楷体" panose="02010600040101010101" pitchFamily="2" charset="-122"/>
              </a:rPr>
              <a:t>宏展开</a:t>
            </a:r>
            <a:r>
              <a:rPr lang="en-US" altLang="zh-CN" sz="2200" b="1" dirty="0">
                <a:latin typeface="Times New Roman" panose="02020603050405020304" pitchFamily="18" charset="0"/>
                <a:ea typeface="华文楷体" panose="02010600040101010101" pitchFamily="2" charset="-122"/>
              </a:rPr>
              <a:t>——</a:t>
            </a:r>
            <a:r>
              <a:rPr lang="zh-CN" altLang="en-US" sz="2200" dirty="0">
                <a:latin typeface="Times New Roman" panose="02020603050405020304" pitchFamily="18" charset="0"/>
                <a:ea typeface="华文楷体" panose="02010600040101010101" pitchFamily="2" charset="-122"/>
              </a:rPr>
              <a:t>在编译预处理时将宏名替换为字符串的过程。</a:t>
            </a:r>
            <a:endParaRPr lang="zh-CN" altLang="en-US" sz="2200" dirty="0">
              <a:solidFill>
                <a:schemeClr val="hlink"/>
              </a:solidFill>
              <a:latin typeface="Times New Roman" panose="02020603050405020304" pitchFamily="18" charset="0"/>
              <a:ea typeface="华文楷体" panose="02010600040101010101" pitchFamily="2" charset="-122"/>
            </a:endParaRPr>
          </a:p>
        </p:txBody>
      </p:sp>
      <p:sp>
        <p:nvSpPr>
          <p:cNvPr id="1794055" name="AutoShape 7"/>
          <p:cNvSpPr/>
          <p:nvPr/>
        </p:nvSpPr>
        <p:spPr>
          <a:xfrm>
            <a:off x="869950" y="2060575"/>
            <a:ext cx="7754938" cy="2578100"/>
          </a:xfrm>
          <a:prstGeom prst="horizontalScroll">
            <a:avLst>
              <a:gd name="adj" fmla="val 12500"/>
            </a:avLst>
          </a:prstGeom>
          <a:no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7655" lvl="0" indent="-287655" algn="just">
              <a:spcBef>
                <a:spcPct val="0"/>
              </a:spcBef>
              <a:buClr>
                <a:srgbClr val="3333FF"/>
              </a:buClr>
              <a:buFont typeface="Wingdings" panose="05000000000000000000" pitchFamily="2" charset="2"/>
              <a:buChar char="§"/>
            </a:pPr>
            <a:r>
              <a:rPr lang="zh-CN" altLang="zh-CN" sz="2400" b="1" dirty="0">
                <a:latin typeface="华文楷体" panose="02010600040101010101" pitchFamily="2" charset="-122"/>
                <a:ea typeface="华文楷体" panose="02010600040101010101" pitchFamily="2" charset="-122"/>
              </a:rPr>
              <a:t>“</a:t>
            </a:r>
            <a:r>
              <a:rPr lang="zh-CN" altLang="zh-CN" sz="2400" b="1" dirty="0">
                <a:solidFill>
                  <a:srgbClr val="FF6699"/>
                </a:solidFill>
                <a:latin typeface="华文楷体" panose="02010600040101010101" pitchFamily="2" charset="-122"/>
                <a:ea typeface="华文楷体" panose="02010600040101010101" pitchFamily="2" charset="-122"/>
              </a:rPr>
              <a:t>编译预处理</a:t>
            </a:r>
            <a:r>
              <a:rPr lang="zh-CN" altLang="zh-CN" sz="2400" b="1" dirty="0">
                <a:latin typeface="华文楷体" panose="02010600040101010101" pitchFamily="2" charset="-122"/>
                <a:ea typeface="华文楷体" panose="02010600040101010101" pitchFamily="2" charset="-122"/>
              </a:rPr>
              <a:t>”是</a:t>
            </a:r>
            <a:r>
              <a:rPr lang="en-US" altLang="zh-CN" sz="2400" b="1" dirty="0">
                <a:latin typeface="华文楷体" panose="02010600040101010101" pitchFamily="2" charset="-122"/>
                <a:ea typeface="华文楷体" panose="02010600040101010101" pitchFamily="2" charset="-122"/>
              </a:rPr>
              <a:t>Verilog HDL</a:t>
            </a:r>
            <a:r>
              <a:rPr lang="zh-CN" altLang="en-US" sz="2400" b="1" dirty="0">
                <a:latin typeface="华文楷体" panose="02010600040101010101" pitchFamily="2" charset="-122"/>
                <a:ea typeface="华文楷体" panose="02010600040101010101" pitchFamily="2" charset="-122"/>
              </a:rPr>
              <a:t>编译系统的一个组成部分。</a:t>
            </a:r>
            <a:r>
              <a:rPr lang="zh-CN" altLang="zh-CN" sz="2400" b="1" dirty="0">
                <a:latin typeface="华文楷体" panose="02010600040101010101" pitchFamily="2" charset="-122"/>
                <a:ea typeface="华文楷体" panose="02010600040101010101" pitchFamily="2" charset="-122"/>
              </a:rPr>
              <a:t>编译预处理语句以西文符号</a:t>
            </a:r>
            <a:r>
              <a:rPr lang="zh-CN" altLang="en-US" sz="2400" b="1" dirty="0">
                <a:latin typeface="华文楷体" panose="02010600040101010101" pitchFamily="2" charset="-122"/>
                <a:ea typeface="华文楷体" panose="02010600040101010101" pitchFamily="2" charset="-122"/>
              </a:rPr>
              <a:t>“</a:t>
            </a:r>
            <a:r>
              <a:rPr lang="en-US" altLang="zh-CN" sz="2400" b="1" dirty="0">
                <a:solidFill>
                  <a:srgbClr val="FF0066"/>
                </a:solidFill>
                <a:latin typeface="华文楷体" panose="02010600040101010101" pitchFamily="2" charset="-122"/>
                <a:ea typeface="华文楷体" panose="02010600040101010101" pitchFamily="2" charset="-122"/>
              </a:rPr>
              <a:t>‵</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开头</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注意，不是单引号“</a:t>
            </a:r>
            <a:r>
              <a:rPr lang="zh-CN" altLang="en-US" sz="2400" b="1" dirty="0">
                <a:solidFill>
                  <a:srgbClr val="FF0066"/>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a:t>
            </a:r>
            <a:r>
              <a:rPr lang="zh-CN" altLang="zh-CN"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marL="287655" lvl="0" indent="-287655" algn="just">
              <a:spcBef>
                <a:spcPct val="0"/>
              </a:spcBef>
              <a:buClr>
                <a:srgbClr val="3333FF"/>
              </a:buClr>
              <a:buFont typeface="Wingdings" panose="05000000000000000000" pitchFamily="2" charset="2"/>
              <a:buChar char="§"/>
            </a:pPr>
            <a:r>
              <a:rPr lang="zh-CN" altLang="en-US" sz="2400" b="1" dirty="0">
                <a:latin typeface="华文楷体" panose="02010600040101010101" pitchFamily="2" charset="-122"/>
                <a:ea typeface="华文楷体" panose="02010600040101010101" pitchFamily="2" charset="-122"/>
              </a:rPr>
              <a:t>在编译时，编译系统先对</a:t>
            </a:r>
            <a:r>
              <a:rPr lang="zh-CN" altLang="zh-CN" sz="2400" b="1" dirty="0">
                <a:latin typeface="华文楷体" panose="02010600040101010101" pitchFamily="2" charset="-122"/>
                <a:ea typeface="华文楷体" panose="02010600040101010101" pitchFamily="2" charset="-122"/>
              </a:rPr>
              <a:t>编译预处理语句进行预处理，然后将处理结果和源程序一起进行编译。</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794055"/>
                                        </p:tgtEl>
                                        <p:attrNameLst>
                                          <p:attrName>style.visibility</p:attrName>
                                        </p:attrNameLst>
                                      </p:cBhvr>
                                      <p:to>
                                        <p:strVal val="visible"/>
                                      </p:to>
                                    </p:set>
                                    <p:anim calcmode="lin" valueType="num">
                                      <p:cBhvr>
                                        <p:cTn id="7" dur="500" fill="hold"/>
                                        <p:tgtEl>
                                          <p:spTgt spid="1794055"/>
                                        </p:tgtEl>
                                        <p:attrNameLst>
                                          <p:attrName>ppt_w</p:attrName>
                                        </p:attrNameLst>
                                      </p:cBhvr>
                                      <p:tavLst>
                                        <p:tav tm="0">
                                          <p:val>
                                            <p:fltVal val="0.000000"/>
                                          </p:val>
                                        </p:tav>
                                        <p:tav tm="100000">
                                          <p:val>
                                            <p:strVal val="#ppt_w"/>
                                          </p:val>
                                        </p:tav>
                                      </p:tavLst>
                                    </p:anim>
                                    <p:anim calcmode="lin" valueType="num">
                                      <p:cBhvr>
                                        <p:cTn id="8" dur="500" fill="hold"/>
                                        <p:tgtEl>
                                          <p:spTgt spid="1794055"/>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94051"/>
                                        </p:tgtEl>
                                        <p:attrNameLst>
                                          <p:attrName>style.visibility</p:attrName>
                                        </p:attrNameLst>
                                      </p:cBhvr>
                                      <p:to>
                                        <p:strVal val="visible"/>
                                      </p:to>
                                    </p:set>
                                    <p:anim calcmode="lin" valueType="num">
                                      <p:cBhvr additive="base">
                                        <p:cTn id="13" dur="500" fill="hold"/>
                                        <p:tgtEl>
                                          <p:spTgt spid="1794051"/>
                                        </p:tgtEl>
                                        <p:attrNameLst>
                                          <p:attrName>ppt_x</p:attrName>
                                        </p:attrNameLst>
                                      </p:cBhvr>
                                      <p:tavLst>
                                        <p:tav tm="0">
                                          <p:val>
                                            <p:strVal val="0-#ppt_w/2"/>
                                          </p:val>
                                        </p:tav>
                                        <p:tav tm="100000">
                                          <p:val>
                                            <p:strVal val="#ppt_x"/>
                                          </p:val>
                                        </p:tav>
                                      </p:tavLst>
                                    </p:anim>
                                    <p:anim calcmode="lin" valueType="num">
                                      <p:cBhvr additive="base">
                                        <p:cTn id="14" dur="500" fill="hold"/>
                                        <p:tgtEl>
                                          <p:spTgt spid="1794051"/>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3" presetClass="entr" presetSubtype="16" fill="hold" grpId="0" nodeType="afterEffect">
                                  <p:stCondLst>
                                    <p:cond delay="0"/>
                                  </p:stCondLst>
                                  <p:childTnLst>
                                    <p:set>
                                      <p:cBhvr>
                                        <p:cTn id="17" dur="1" fill="hold">
                                          <p:stCondLst>
                                            <p:cond delay="0"/>
                                          </p:stCondLst>
                                        </p:cTn>
                                        <p:tgtEl>
                                          <p:spTgt spid="1794052"/>
                                        </p:tgtEl>
                                        <p:attrNameLst>
                                          <p:attrName>style.visibility</p:attrName>
                                        </p:attrNameLst>
                                      </p:cBhvr>
                                      <p:to>
                                        <p:strVal val="visible"/>
                                      </p:to>
                                    </p:set>
                                    <p:anim calcmode="lin" valueType="num">
                                      <p:cBhvr>
                                        <p:cTn id="18" dur="500" fill="hold"/>
                                        <p:tgtEl>
                                          <p:spTgt spid="1794052"/>
                                        </p:tgtEl>
                                        <p:attrNameLst>
                                          <p:attrName>ppt_w</p:attrName>
                                        </p:attrNameLst>
                                      </p:cBhvr>
                                      <p:tavLst>
                                        <p:tav tm="0">
                                          <p:val>
                                            <p:fltVal val="0.000000"/>
                                          </p:val>
                                        </p:tav>
                                        <p:tav tm="100000">
                                          <p:val>
                                            <p:strVal val="#ppt_w"/>
                                          </p:val>
                                        </p:tav>
                                      </p:tavLst>
                                    </p:anim>
                                    <p:anim calcmode="lin" valueType="num">
                                      <p:cBhvr>
                                        <p:cTn id="19" dur="500" fill="hold"/>
                                        <p:tgtEl>
                                          <p:spTgt spid="1794052"/>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794053"/>
                                        </p:tgtEl>
                                        <p:attrNameLst>
                                          <p:attrName>style.visibility</p:attrName>
                                        </p:attrNameLst>
                                      </p:cBhvr>
                                      <p:to>
                                        <p:strVal val="visible"/>
                                      </p:to>
                                    </p:set>
                                    <p:anim calcmode="lin" valueType="num">
                                      <p:cBhvr additive="base">
                                        <p:cTn id="24" dur="500" fill="hold"/>
                                        <p:tgtEl>
                                          <p:spTgt spid="1794053"/>
                                        </p:tgtEl>
                                        <p:attrNameLst>
                                          <p:attrName>ppt_x</p:attrName>
                                        </p:attrNameLst>
                                      </p:cBhvr>
                                      <p:tavLst>
                                        <p:tav tm="0">
                                          <p:val>
                                            <p:strVal val="0-#ppt_w/2"/>
                                          </p:val>
                                        </p:tav>
                                        <p:tav tm="100000">
                                          <p:val>
                                            <p:strVal val="#ppt_x"/>
                                          </p:val>
                                        </p:tav>
                                      </p:tavLst>
                                    </p:anim>
                                    <p:anim calcmode="lin" valueType="num">
                                      <p:cBhvr additive="base">
                                        <p:cTn id="25" dur="500" fill="hold"/>
                                        <p:tgtEl>
                                          <p:spTgt spid="17940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51" grpId="0"/>
      <p:bldP spid="1794052" grpId="0" animBg="1"/>
      <p:bldP spid="1794053" grpId="0"/>
      <p:bldP spid="1794055"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41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6419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796099" name="Rectangle 3"/>
          <p:cNvSpPr>
            <a:spLocks noGrp="1"/>
          </p:cNvSpPr>
          <p:nvPr>
            <p:ph idx="1"/>
          </p:nvPr>
        </p:nvSpPr>
        <p:spPr/>
        <p:txBody>
          <a:bodyPr vert="horz" wrap="square" lIns="91440" tIns="45720" rIns="91440" bIns="45720" anchor="t" anchorCtr="0"/>
          <a:p>
            <a:pPr algn="just" eaLnBrk="1" hangingPunct="1">
              <a:lnSpc>
                <a:spcPct val="110000"/>
              </a:lnSpc>
              <a:buClr>
                <a:srgbClr val="FF5050"/>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endParaRPr lang="zh-CN" altLang="en-US" dirty="0">
              <a:latin typeface="方正姚体" panose="02010601030101010101" pitchFamily="2" charset="-122"/>
              <a:ea typeface="方正姚体" panose="0201060103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宏名可以用</a:t>
            </a:r>
            <a:r>
              <a:rPr lang="zh-CN" altLang="en-US" dirty="0">
                <a:solidFill>
                  <a:srgbClr val="FF66CC"/>
                </a:solidFill>
                <a:latin typeface="Times New Roman" panose="02020603050405020304" pitchFamily="18" charset="0"/>
                <a:ea typeface="华文楷体" panose="02010600040101010101" pitchFamily="2" charset="-122"/>
                <a:cs typeface="+mn-cs"/>
              </a:rPr>
              <a:t>大写</a:t>
            </a:r>
            <a:r>
              <a:rPr lang="zh-CN" altLang="en-US" dirty="0">
                <a:latin typeface="Times New Roman" panose="02020603050405020304" pitchFamily="18" charset="0"/>
                <a:ea typeface="华文楷体" panose="02010600040101010101" pitchFamily="2" charset="-122"/>
                <a:cs typeface="+mn-cs"/>
              </a:rPr>
              <a:t>字母，也可用</a:t>
            </a:r>
            <a:r>
              <a:rPr lang="zh-CN" altLang="en-US" dirty="0">
                <a:solidFill>
                  <a:srgbClr val="FF66CC"/>
                </a:solidFill>
                <a:latin typeface="Times New Roman" panose="02020603050405020304" pitchFamily="18" charset="0"/>
                <a:ea typeface="华文楷体" panose="02010600040101010101" pitchFamily="2" charset="-122"/>
                <a:cs typeface="+mn-cs"/>
              </a:rPr>
              <a:t>小写</a:t>
            </a:r>
            <a:r>
              <a:rPr lang="zh-CN" altLang="en-US" dirty="0">
                <a:latin typeface="Times New Roman" panose="02020603050405020304" pitchFamily="18" charset="0"/>
                <a:ea typeface="华文楷体" panose="02010600040101010101" pitchFamily="2" charset="-122"/>
                <a:cs typeface="+mn-cs"/>
              </a:rPr>
              <a:t>字母表示；但</a:t>
            </a:r>
            <a:r>
              <a:rPr lang="zh-CN" altLang="en-US" dirty="0">
                <a:solidFill>
                  <a:srgbClr val="FF66CC"/>
                </a:solidFill>
                <a:latin typeface="Times New Roman" panose="02020603050405020304" pitchFamily="18" charset="0"/>
                <a:ea typeface="华文楷体" panose="02010600040101010101" pitchFamily="2" charset="-122"/>
                <a:cs typeface="+mn-cs"/>
              </a:rPr>
              <a:t>建议用大写字母</a:t>
            </a:r>
            <a:r>
              <a:rPr lang="zh-CN" altLang="en-US" dirty="0">
                <a:latin typeface="Times New Roman" panose="02020603050405020304" pitchFamily="18" charset="0"/>
                <a:ea typeface="华文楷体" panose="02010600040101010101" pitchFamily="2" charset="-122"/>
                <a:cs typeface="+mn-cs"/>
              </a:rPr>
              <a:t>，以与变量名相区别。</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en-US" altLang="zh-CN" dirty="0">
                <a:latin typeface="Times New Roman" panose="02020603050405020304" pitchFamily="18" charset="0"/>
                <a:ea typeface="华文楷体" panose="02010600040101010101" pitchFamily="2" charset="-122"/>
                <a:cs typeface="+mn-cs"/>
              </a:rPr>
              <a:t>‵define</a:t>
            </a:r>
            <a:r>
              <a:rPr lang="zh-CN" altLang="en-US" dirty="0">
                <a:latin typeface="Times New Roman" panose="02020603050405020304" pitchFamily="18" charset="0"/>
                <a:ea typeface="华文楷体" panose="02010600040101010101" pitchFamily="2" charset="-122"/>
                <a:cs typeface="+mn-cs"/>
              </a:rPr>
              <a:t>语句可以写在模块定义的</a:t>
            </a:r>
            <a:r>
              <a:rPr lang="zh-CN" altLang="en-US" dirty="0">
                <a:solidFill>
                  <a:srgbClr val="FF66CC"/>
                </a:solidFill>
                <a:latin typeface="Times New Roman" panose="02020603050405020304" pitchFamily="18" charset="0"/>
                <a:ea typeface="华文楷体" panose="02010600040101010101" pitchFamily="2" charset="-122"/>
                <a:cs typeface="+mn-cs"/>
              </a:rPr>
              <a:t>外面</a:t>
            </a:r>
            <a:r>
              <a:rPr lang="zh-CN" altLang="en-US" dirty="0">
                <a:latin typeface="Times New Roman" panose="02020603050405020304" pitchFamily="18" charset="0"/>
                <a:ea typeface="华文楷体" panose="02010600040101010101" pitchFamily="2" charset="-122"/>
                <a:cs typeface="+mn-cs"/>
              </a:rPr>
              <a:t>或</a:t>
            </a:r>
            <a:r>
              <a:rPr lang="zh-CN" altLang="en-US" dirty="0">
                <a:solidFill>
                  <a:srgbClr val="FF66CC"/>
                </a:solidFill>
                <a:latin typeface="Times New Roman" panose="02020603050405020304" pitchFamily="18" charset="0"/>
                <a:ea typeface="华文楷体" panose="02010600040101010101" pitchFamily="2" charset="-122"/>
                <a:cs typeface="+mn-cs"/>
              </a:rPr>
              <a:t>里面</a:t>
            </a:r>
            <a:r>
              <a:rPr lang="zh-CN" altLang="en-US" dirty="0">
                <a:latin typeface="Times New Roman" panose="02020603050405020304" pitchFamily="18" charset="0"/>
                <a:ea typeface="华文楷体" panose="02010600040101010101" pitchFamily="2" charset="-122"/>
                <a:cs typeface="+mn-cs"/>
              </a:rPr>
              <a:t>。宏名的有效范围为定义命令之后到源文件结束。</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在引用已定义的宏名时，必须在其前面加上符号“</a:t>
            </a:r>
            <a:r>
              <a:rPr lang="en-US" altLang="zh-CN" dirty="0">
                <a:solidFill>
                  <a:schemeClr val="hlink"/>
                </a:solidFill>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华文楷体" panose="02010600040101010101" pitchFamily="2" charset="-122"/>
                <a:cs typeface="+mn-cs"/>
              </a:rPr>
              <a:t> ” </a:t>
            </a:r>
            <a:r>
              <a:rPr lang="zh-CN" altLang="en-US" dirty="0">
                <a:latin typeface="Times New Roman" panose="02020603050405020304" pitchFamily="18" charset="0"/>
                <a:ea typeface="华文楷体" panose="02010600040101010101" pitchFamily="2" charset="-122"/>
                <a:cs typeface="+mn-cs"/>
              </a:rPr>
              <a:t>！</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使用宏名代替一个字符串，可简化书写，便于记忆，易于修改。</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latin typeface="Times New Roman" panose="02020603050405020304" pitchFamily="18" charset="0"/>
                <a:ea typeface="华文楷体" panose="02010600040101010101" pitchFamily="2" charset="-122"/>
                <a:cs typeface="+mn-cs"/>
              </a:rPr>
              <a:t>预处理时只是将程序中的宏名替换为字符串，不管含义是否正确。只有在编译宏展开后的源程序时才报错。</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buClr>
                <a:srgbClr val="FF5050"/>
              </a:buClr>
              <a:buSzPct val="80000"/>
              <a:buFont typeface="Wingdings" panose="05000000000000000000" pitchFamily="2" charset="2"/>
              <a:buChar char="Ø"/>
            </a:pPr>
            <a:r>
              <a:rPr lang="zh-CN" altLang="en-US" dirty="0">
                <a:solidFill>
                  <a:srgbClr val="CC3300"/>
                </a:solidFill>
                <a:latin typeface="Times New Roman" panose="02020603050405020304" pitchFamily="18" charset="0"/>
                <a:ea typeface="华文楷体" panose="02010600040101010101" pitchFamily="2" charset="-122"/>
                <a:cs typeface="+mn-cs"/>
              </a:rPr>
              <a:t>宏名和宏内容必须在同一行中进行声明</a:t>
            </a:r>
            <a:r>
              <a:rPr lang="zh-CN" altLang="en-US" dirty="0">
                <a:latin typeface="Times New Roman" panose="02020603050405020304" pitchFamily="18" charset="0"/>
                <a:ea typeface="华文楷体" panose="02010600040101010101" pitchFamily="2" charset="-122"/>
                <a:cs typeface="+mn-cs"/>
              </a:rPr>
              <a:t>！</a:t>
            </a:r>
            <a:endParaRPr lang="zh-CN" altLang="en-US" dirty="0">
              <a:latin typeface="Times New Roman" panose="02020603050405020304" pitchFamily="18" charset="0"/>
              <a:ea typeface="华文楷体" panose="02010600040101010101" pitchFamily="2" charset="-122"/>
              <a:cs typeface="+mn-cs"/>
            </a:endParaRPr>
          </a:p>
        </p:txBody>
      </p:sp>
      <p:sp>
        <p:nvSpPr>
          <p:cNvPr id="1796100" name="AutoShape 4"/>
          <p:cNvSpPr/>
          <p:nvPr/>
        </p:nvSpPr>
        <p:spPr>
          <a:xfrm rot="-765681">
            <a:off x="0" y="2225675"/>
            <a:ext cx="3338513" cy="687388"/>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华文楷体" panose="02010600040101010101" pitchFamily="2" charset="-122"/>
                <a:ea typeface="华文楷体" panose="02010600040101010101" pitchFamily="2" charset="-122"/>
              </a:rPr>
              <a:t>关于宏定义的说明</a:t>
            </a:r>
            <a:endParaRPr lang="en-US" altLang="en-US" sz="2400" b="1" dirty="0">
              <a:latin typeface="华文楷体" panose="02010600040101010101" pitchFamily="2" charset="-122"/>
              <a:ea typeface="华文楷体" panose="02010600040101010101" pitchFamily="2" charset="-122"/>
            </a:endParaRPr>
          </a:p>
        </p:txBody>
      </p:sp>
      <p:sp>
        <p:nvSpPr>
          <p:cNvPr id="1796101" name="Rectangle 5"/>
          <p:cNvSpPr/>
          <p:nvPr/>
        </p:nvSpPr>
        <p:spPr>
          <a:xfrm>
            <a:off x="992188" y="908050"/>
            <a:ext cx="7548562" cy="12065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spcBef>
                <a:spcPct val="0"/>
              </a:spcBef>
              <a:buClr>
                <a:srgbClr val="FF0066"/>
              </a:buClr>
              <a:buFont typeface="Wingdings" panose="05000000000000000000" pitchFamily="2" charset="2"/>
              <a:buChar char="v"/>
            </a:pPr>
            <a:r>
              <a:rPr lang="zh-CN" altLang="en-US" sz="2200" b="1" dirty="0">
                <a:latin typeface="华文楷体" panose="02010600040101010101" pitchFamily="2" charset="-122"/>
                <a:ea typeface="华文楷体" panose="02010600040101010101" pitchFamily="2" charset="-122"/>
              </a:rPr>
              <a:t>宏定义的</a:t>
            </a:r>
            <a:r>
              <a:rPr lang="zh-CN" altLang="en-US" sz="2200" b="1" dirty="0">
                <a:solidFill>
                  <a:srgbClr val="CC3300"/>
                </a:solidFill>
                <a:latin typeface="华文楷体" panose="02010600040101010101" pitchFamily="2" charset="-122"/>
                <a:ea typeface="华文楷体" panose="02010600040101010101" pitchFamily="2" charset="-122"/>
              </a:rPr>
              <a:t>作用</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a:p>
            <a:pPr marL="457200" lvl="1" indent="0" algn="just" eaLnBrk="1" hangingPunct="1">
              <a:lnSpc>
                <a:spcPct val="110000"/>
              </a:lnSpc>
              <a:spcBef>
                <a:spcPct val="0"/>
              </a:spcBef>
              <a:buClr>
                <a:srgbClr val="FF0066"/>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以一个简单的名字代替一个长的字符串或复杂表达式；</a:t>
            </a:r>
            <a:endParaRPr lang="zh-CN" altLang="en-US" sz="2200" b="1" dirty="0">
              <a:latin typeface="华文楷体" panose="02010600040101010101" pitchFamily="2" charset="-122"/>
              <a:ea typeface="华文楷体" panose="02010600040101010101" pitchFamily="2" charset="-122"/>
            </a:endParaRPr>
          </a:p>
          <a:p>
            <a:pPr marL="457200" lvl="1" indent="0" algn="just" eaLnBrk="1" hangingPunct="1">
              <a:lnSpc>
                <a:spcPct val="110000"/>
              </a:lnSpc>
              <a:spcBef>
                <a:spcPct val="0"/>
              </a:spcBef>
              <a:buClr>
                <a:srgbClr val="FF0066"/>
              </a:buClr>
              <a:buSzPct val="80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以一个有含义的名字代替没有含义的数字和符号。</a:t>
            </a:r>
            <a:endParaRPr lang="zh-CN" altLang="en-US" sz="22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796101"/>
                                        </p:tgtEl>
                                        <p:attrNameLst>
                                          <p:attrName>style.visibility</p:attrName>
                                        </p:attrNameLst>
                                      </p:cBhvr>
                                      <p:to>
                                        <p:strVal val="visible"/>
                                      </p:to>
                                    </p:set>
                                    <p:animEffect transition="in" filter="barn(outVertical)">
                                      <p:cBhvr>
                                        <p:cTn id="7" dur="500"/>
                                        <p:tgtEl>
                                          <p:spTgt spid="179610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88" fill="hold" grpId="0" nodeType="clickEffect">
                                  <p:stCondLst>
                                    <p:cond delay="0"/>
                                  </p:stCondLst>
                                  <p:childTnLst>
                                    <p:set>
                                      <p:cBhvr>
                                        <p:cTn id="11" dur="1" fill="hold">
                                          <p:stCondLst>
                                            <p:cond delay="0"/>
                                          </p:stCondLst>
                                        </p:cTn>
                                        <p:tgtEl>
                                          <p:spTgt spid="1796100"/>
                                        </p:tgtEl>
                                        <p:attrNameLst>
                                          <p:attrName>style.visibility</p:attrName>
                                        </p:attrNameLst>
                                      </p:cBhvr>
                                      <p:to>
                                        <p:strVal val="visible"/>
                                      </p:to>
                                    </p:set>
                                    <p:anim calcmode="lin" valueType="num">
                                      <p:cBhvr>
                                        <p:cTn id="12" dur="500" fill="hold"/>
                                        <p:tgtEl>
                                          <p:spTgt spid="1796100"/>
                                        </p:tgtEl>
                                        <p:attrNameLst>
                                          <p:attrName>ppt_w</p:attrName>
                                        </p:attrNameLst>
                                      </p:cBhvr>
                                      <p:tavLst>
                                        <p:tav tm="0">
                                          <p:val>
                                            <p:strVal val="4/3*#ppt_w"/>
                                          </p:val>
                                        </p:tav>
                                        <p:tav tm="100000">
                                          <p:val>
                                            <p:strVal val="#ppt_w"/>
                                          </p:val>
                                        </p:tav>
                                      </p:tavLst>
                                    </p:anim>
                                    <p:anim calcmode="lin" valueType="num">
                                      <p:cBhvr>
                                        <p:cTn id="13" dur="500" fill="hold"/>
                                        <p:tgtEl>
                                          <p:spTgt spid="1796100"/>
                                        </p:tgtEl>
                                        <p:attrNameLst>
                                          <p:attrName>ppt_h</p:attrName>
                                        </p:attrNameLst>
                                      </p:cBhvr>
                                      <p:tavLst>
                                        <p:tav tm="0">
                                          <p:val>
                                            <p:strVal val="4/3*#ppt_h"/>
                                          </p:val>
                                        </p:tav>
                                        <p:tav tm="100000">
                                          <p:val>
                                            <p:strVal val="#ppt_h"/>
                                          </p:val>
                                        </p:tav>
                                      </p:tavLst>
                                    </p:anim>
                                  </p:childTnLst>
                                </p:cTn>
                              </p:par>
                            </p:childTnLst>
                          </p:cTn>
                        </p:par>
                        <p:par>
                          <p:cTn id="14" fill="hold">
                            <p:stCondLst>
                              <p:cond delay="500"/>
                            </p:stCondLst>
                            <p:childTnLst>
                              <p:par>
                                <p:cTn id="15" presetID="2" presetClass="entr" presetSubtype="2" fill="hold" grpId="0" nodeType="afterEffect">
                                  <p:stCondLst>
                                    <p:cond delay="0"/>
                                  </p:stCondLst>
                                  <p:childTnLst>
                                    <p:set>
                                      <p:cBhvr>
                                        <p:cTn id="16" dur="1" fill="hold">
                                          <p:stCondLst>
                                            <p:cond delay="0"/>
                                          </p:stCondLst>
                                        </p:cTn>
                                        <p:tgtEl>
                                          <p:spTgt spid="1796099"/>
                                        </p:tgtEl>
                                        <p:attrNameLst>
                                          <p:attrName>style.visibility</p:attrName>
                                        </p:attrNameLst>
                                      </p:cBhvr>
                                      <p:to>
                                        <p:strVal val="visible"/>
                                      </p:to>
                                    </p:set>
                                    <p:anim calcmode="lin" valueType="num">
                                      <p:cBhvr additive="base">
                                        <p:cTn id="17" dur="500" fill="hold"/>
                                        <p:tgtEl>
                                          <p:spTgt spid="1796099"/>
                                        </p:tgtEl>
                                        <p:attrNameLst>
                                          <p:attrName>ppt_x</p:attrName>
                                        </p:attrNameLst>
                                      </p:cBhvr>
                                      <p:tavLst>
                                        <p:tav tm="0">
                                          <p:val>
                                            <p:strVal val="1+#ppt_w/2"/>
                                          </p:val>
                                        </p:tav>
                                        <p:tav tm="100000">
                                          <p:val>
                                            <p:strVal val="#ppt_x"/>
                                          </p:val>
                                        </p:tav>
                                      </p:tavLst>
                                    </p:anim>
                                    <p:anim calcmode="lin" valueType="num">
                                      <p:cBhvr additive="base">
                                        <p:cTn id="18" dur="500" fill="hold"/>
                                        <p:tgtEl>
                                          <p:spTgt spid="17960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6099" grpId="0"/>
      <p:bldP spid="1796100" grpId="0"/>
      <p:bldP spid="1796101" grpId="0" animBg="1"/>
    </p:bld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624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66243"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798148" name="Text Box 4"/>
          <p:cNvSpPr txBox="1"/>
          <p:nvPr/>
        </p:nvSpPr>
        <p:spPr>
          <a:xfrm>
            <a:off x="1295400" y="2732088"/>
            <a:ext cx="6324600" cy="2416175"/>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例</a:t>
            </a:r>
            <a:r>
              <a:rPr lang="en-US" altLang="zh-CN" sz="2400" b="1" dirty="0">
                <a:latin typeface="华文楷体" panose="02010600040101010101" pitchFamily="2" charset="-122"/>
                <a:ea typeface="华文楷体" panose="02010600040101010101" pitchFamily="2" charset="-122"/>
              </a:rPr>
              <a:t>] module test;</a:t>
            </a:r>
            <a:endParaRPr lang="en-US" altLang="zh-CN" sz="2400" b="1" dirty="0">
              <a:latin typeface="华文楷体" panose="02010600040101010101" pitchFamily="2" charset="-122"/>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reg  a,b,c,d,e,out;</a:t>
            </a:r>
            <a:endParaRPr lang="en-US" altLang="zh-CN" sz="2400" b="1" dirty="0">
              <a:latin typeface="华文楷体" panose="02010600040101010101" pitchFamily="2" charset="-122"/>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‵define expression a + b + c + d;</a:t>
            </a:r>
            <a:endParaRPr lang="en-US" altLang="zh-CN" sz="2400" b="1" dirty="0">
              <a:latin typeface="华文楷体" panose="02010600040101010101" pitchFamily="2" charset="-122"/>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assign out = ‵expression + e;</a:t>
            </a:r>
            <a:endParaRPr lang="en-US" altLang="zh-CN" sz="2400" b="1" dirty="0">
              <a:latin typeface="华文楷体" panose="02010600040101010101" pitchFamily="2" charset="-122"/>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 </a:t>
            </a:r>
            <a:endParaRPr lang="en-US" altLang="zh-CN" b="1" dirty="0">
              <a:latin typeface="华文楷体" panose="02010600040101010101" pitchFamily="2" charset="-122"/>
              <a:ea typeface="华文楷体" panose="02010600040101010101" pitchFamily="2" charset="-122"/>
            </a:endParaRPr>
          </a:p>
        </p:txBody>
      </p:sp>
      <p:sp>
        <p:nvSpPr>
          <p:cNvPr id="1798149" name="Text Box 5"/>
          <p:cNvSpPr txBox="1"/>
          <p:nvPr/>
        </p:nvSpPr>
        <p:spPr>
          <a:xfrm>
            <a:off x="1096963" y="5249863"/>
            <a:ext cx="7116762" cy="976312"/>
          </a:xfrm>
          <a:prstGeom prst="rect">
            <a:avLst/>
          </a:prstGeom>
          <a:noFill/>
          <a:ln w="9525" cap="flat" cmpd="sng">
            <a:solidFill>
              <a:srgbClr val="0000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zh-CN" altLang="en-US" sz="2400" b="1" dirty="0">
                <a:latin typeface="Times New Roman" panose="02020603050405020304" pitchFamily="18" charset="0"/>
                <a:ea typeface="华文楷体" panose="02010600040101010101" pitchFamily="2" charset="-122"/>
              </a:rPr>
              <a:t>经过宏展开后，</a:t>
            </a:r>
            <a:r>
              <a:rPr lang="en-US" altLang="zh-CN" sz="2400" b="1" dirty="0">
                <a:latin typeface="Times New Roman" panose="02020603050405020304" pitchFamily="18" charset="0"/>
                <a:ea typeface="华文楷体" panose="02010600040101010101" pitchFamily="2" charset="-122"/>
              </a:rPr>
              <a:t>assign</a:t>
            </a:r>
            <a:r>
              <a:rPr lang="zh-CN" altLang="en-US" sz="2400" b="1" dirty="0">
                <a:latin typeface="Times New Roman" panose="02020603050405020304" pitchFamily="18" charset="0"/>
                <a:ea typeface="华文楷体" panose="02010600040101010101" pitchFamily="2" charset="-122"/>
              </a:rPr>
              <a:t>语句为</a:t>
            </a: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    assign out = a + b + c + d</a:t>
            </a:r>
            <a:r>
              <a:rPr lang="en-US" altLang="zh-CN" sz="2400" b="1" dirty="0">
                <a:solidFill>
                  <a:srgbClr val="FF0066"/>
                </a:solidFill>
                <a:latin typeface="Times New Roman" panose="02020603050405020304" pitchFamily="18" charset="0"/>
                <a:ea typeface="华文楷体" panose="02010600040101010101" pitchFamily="2" charset="-122"/>
              </a:rPr>
              <a:t>;</a:t>
            </a:r>
            <a:r>
              <a:rPr lang="en-US" altLang="zh-CN" sz="2400" b="1" dirty="0">
                <a:latin typeface="Times New Roman" panose="02020603050405020304" pitchFamily="18" charset="0"/>
                <a:ea typeface="华文楷体" panose="02010600040101010101" pitchFamily="2" charset="-122"/>
              </a:rPr>
              <a:t> + e;     //</a:t>
            </a:r>
            <a:r>
              <a:rPr lang="zh-CN" altLang="en-US" sz="2400" b="1" dirty="0">
                <a:latin typeface="Times New Roman" panose="02020603050405020304" pitchFamily="18" charset="0"/>
                <a:ea typeface="华文楷体" panose="02010600040101010101" pitchFamily="2" charset="-122"/>
              </a:rPr>
              <a:t>出现语法错误！</a:t>
            </a:r>
            <a:endParaRPr lang="zh-CN" altLang="en-US" sz="2400" b="1" dirty="0">
              <a:latin typeface="Times New Roman" panose="02020603050405020304" pitchFamily="18" charset="0"/>
              <a:ea typeface="华文楷体" panose="02010600040101010101" pitchFamily="2" charset="-122"/>
            </a:endParaRPr>
          </a:p>
        </p:txBody>
      </p:sp>
      <p:sp>
        <p:nvSpPr>
          <p:cNvPr id="1798152" name="AutoShape 8"/>
          <p:cNvSpPr>
            <a:spLocks noGrp="1"/>
          </p:cNvSpPr>
          <p:nvPr>
            <p:ph idx="1"/>
          </p:nvPr>
        </p:nvSpPr>
        <p:spPr>
          <a:xfrm>
            <a:off x="539750" y="1085850"/>
            <a:ext cx="7921625" cy="939800"/>
          </a:xfrm>
          <a:prstGeom prst="horizontalScroll">
            <a:avLst>
              <a:gd name="adj" fmla="val 12500"/>
            </a:avLst>
          </a:prstGeom>
          <a:ln>
            <a:solidFill>
              <a:schemeClr val="tx1">
                <a:alpha val="100000"/>
              </a:schemeClr>
            </a:solidFill>
          </a:ln>
        </p:spPr>
        <p:txBody>
          <a:bodyPr vert="horz" wrap="square" lIns="91440" tIns="45720" rIns="91440" bIns="45720" anchor="t" anchorCtr="0"/>
          <a:p>
            <a:pPr marL="287655" indent="-287655">
              <a:spcBef>
                <a:spcPct val="0"/>
              </a:spcBef>
              <a:buClr>
                <a:srgbClr val="FF5050"/>
              </a:buClr>
              <a:buSzPct val="80000"/>
              <a:buFont typeface="Wingdings" panose="05000000000000000000" pitchFamily="2" charset="2"/>
              <a:buChar char="Ø"/>
            </a:pPr>
            <a:r>
              <a:rPr lang="en-US" altLang="en-US" dirty="0">
                <a:latin typeface="华文新魏" panose="02010800040101010101" pitchFamily="2" charset="-122"/>
                <a:ea typeface="华文新魏" panose="02010800040101010101" pitchFamily="2" charset="-122"/>
                <a:cs typeface="+mn-cs"/>
              </a:rPr>
              <a:t>宏定义不是</a:t>
            </a:r>
            <a:r>
              <a:rPr lang="en-US" altLang="zh-CN" dirty="0">
                <a:latin typeface="华文新魏" panose="02010800040101010101" pitchFamily="2" charset="-122"/>
                <a:ea typeface="华文新魏" panose="02010800040101010101" pitchFamily="2" charset="-122"/>
                <a:cs typeface="+mn-cs"/>
              </a:rPr>
              <a:t>Verilog HDL</a:t>
            </a:r>
            <a:r>
              <a:rPr lang="en-US" altLang="en-US" dirty="0">
                <a:latin typeface="华文新魏" panose="02010800040101010101" pitchFamily="2" charset="-122"/>
                <a:ea typeface="华文新魏" panose="02010800040101010101" pitchFamily="2" charset="-122"/>
                <a:cs typeface="+mn-cs"/>
              </a:rPr>
              <a:t>语句，不必在行末加分号！</a:t>
            </a:r>
            <a:endParaRPr lang="en-US" altLang="en-US" dirty="0">
              <a:latin typeface="华文新魏" panose="02010800040101010101" pitchFamily="2" charset="-122"/>
              <a:ea typeface="华文新魏" panose="02010800040101010101" pitchFamily="2" charset="-122"/>
              <a:cs typeface="+mn-cs"/>
            </a:endParaRPr>
          </a:p>
          <a:p>
            <a:pPr marL="287655" indent="-287655">
              <a:spcBef>
                <a:spcPct val="0"/>
              </a:spcBef>
              <a:buClr>
                <a:srgbClr val="FF5050"/>
              </a:buClr>
              <a:buSzPct val="80000"/>
              <a:buFont typeface="Wingdings" panose="05000000000000000000" pitchFamily="2" charset="2"/>
              <a:buChar char="Ø"/>
            </a:pPr>
            <a:r>
              <a:rPr lang="en-US" altLang="en-US" dirty="0">
                <a:solidFill>
                  <a:srgbClr val="CC3300"/>
                </a:solidFill>
                <a:latin typeface="华文新魏" panose="02010800040101010101" pitchFamily="2" charset="-122"/>
                <a:ea typeface="华文新魏" panose="02010800040101010101" pitchFamily="2" charset="-122"/>
                <a:cs typeface="+mn-cs"/>
              </a:rPr>
              <a:t>如果加了分号，会连分号一起置换！</a:t>
            </a:r>
            <a:endParaRPr lang="en-US" altLang="en-US" dirty="0">
              <a:solidFill>
                <a:srgbClr val="CC3300"/>
              </a:solidFill>
              <a:latin typeface="华文新魏" panose="02010800040101010101" pitchFamily="2" charset="-122"/>
              <a:ea typeface="华文新魏" panose="02010800040101010101" pitchFamily="2" charset="-122"/>
              <a:cs typeface="+mn-cs"/>
            </a:endParaRPr>
          </a:p>
        </p:txBody>
      </p:sp>
      <p:sp>
        <p:nvSpPr>
          <p:cNvPr id="1798153" name="AutoShape 9"/>
          <p:cNvSpPr/>
          <p:nvPr/>
        </p:nvSpPr>
        <p:spPr>
          <a:xfrm>
            <a:off x="7731125" y="3416300"/>
            <a:ext cx="1108075" cy="614363"/>
          </a:xfrm>
          <a:prstGeom prst="wedgeRoundRectCallout">
            <a:avLst>
              <a:gd name="adj1" fmla="val -96991"/>
              <a:gd name="adj2" fmla="val 39407"/>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2400" b="1" dirty="0">
                <a:latin typeface="华文楷体" panose="02010600040101010101" pitchFamily="2" charset="-122"/>
                <a:ea typeface="华文楷体" panose="02010600040101010101" pitchFamily="2" charset="-122"/>
              </a:rPr>
              <a:t>错误！</a:t>
            </a:r>
            <a:endParaRPr lang="zh-CN"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798152"/>
                                        </p:tgtEl>
                                        <p:attrNameLst>
                                          <p:attrName>style.visibility</p:attrName>
                                        </p:attrNameLst>
                                      </p:cBhvr>
                                      <p:to>
                                        <p:strVal val="visible"/>
                                      </p:to>
                                    </p:set>
                                    <p:anim calcmode="lin" valueType="num">
                                      <p:cBhvr>
                                        <p:cTn id="7" dur="500" fill="hold"/>
                                        <p:tgtEl>
                                          <p:spTgt spid="1798152"/>
                                        </p:tgtEl>
                                        <p:attrNameLst>
                                          <p:attrName>ppt_w</p:attrName>
                                        </p:attrNameLst>
                                      </p:cBhvr>
                                      <p:tavLst>
                                        <p:tav tm="0">
                                          <p:val>
                                            <p:fltVal val="0.000000"/>
                                          </p:val>
                                        </p:tav>
                                        <p:tav tm="100000">
                                          <p:val>
                                            <p:strVal val="#ppt_w"/>
                                          </p:val>
                                        </p:tav>
                                      </p:tavLst>
                                    </p:anim>
                                    <p:anim calcmode="lin" valueType="num">
                                      <p:cBhvr>
                                        <p:cTn id="8" dur="500" fill="hold"/>
                                        <p:tgtEl>
                                          <p:spTgt spid="1798152"/>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1798148"/>
                                        </p:tgtEl>
                                        <p:attrNameLst>
                                          <p:attrName>style.visibility</p:attrName>
                                        </p:attrNameLst>
                                      </p:cBhvr>
                                      <p:to>
                                        <p:strVal val="visible"/>
                                      </p:to>
                                    </p:set>
                                    <p:anim calcmode="lin" valueType="num">
                                      <p:cBhvr additive="base">
                                        <p:cTn id="13" dur="500" fill="hold"/>
                                        <p:tgtEl>
                                          <p:spTgt spid="1798148"/>
                                        </p:tgtEl>
                                        <p:attrNameLst>
                                          <p:attrName>ppt_x</p:attrName>
                                        </p:attrNameLst>
                                      </p:cBhvr>
                                      <p:tavLst>
                                        <p:tav tm="0">
                                          <p:val>
                                            <p:strVal val="0-#ppt_w/2"/>
                                          </p:val>
                                        </p:tav>
                                        <p:tav tm="100000">
                                          <p:val>
                                            <p:strVal val="#ppt_x"/>
                                          </p:val>
                                        </p:tav>
                                      </p:tavLst>
                                    </p:anim>
                                    <p:anim calcmode="lin" valueType="num">
                                      <p:cBhvr additive="base">
                                        <p:cTn id="14" dur="500" fill="hold"/>
                                        <p:tgtEl>
                                          <p:spTgt spid="17981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98153"/>
                                        </p:tgtEl>
                                        <p:attrNameLst>
                                          <p:attrName>style.visibility</p:attrName>
                                        </p:attrNameLst>
                                      </p:cBhvr>
                                      <p:to>
                                        <p:strVal val="visible"/>
                                      </p:to>
                                    </p:set>
                                    <p:anim calcmode="lin" valueType="num">
                                      <p:cBhvr additive="base">
                                        <p:cTn id="19" dur="500" fill="hold"/>
                                        <p:tgtEl>
                                          <p:spTgt spid="1798153"/>
                                        </p:tgtEl>
                                        <p:attrNameLst>
                                          <p:attrName>ppt_x</p:attrName>
                                        </p:attrNameLst>
                                      </p:cBhvr>
                                      <p:tavLst>
                                        <p:tav tm="0">
                                          <p:val>
                                            <p:strVal val="1+#ppt_w/2"/>
                                          </p:val>
                                        </p:tav>
                                        <p:tav tm="100000">
                                          <p:val>
                                            <p:strVal val="#ppt_x"/>
                                          </p:val>
                                        </p:tav>
                                      </p:tavLst>
                                    </p:anim>
                                    <p:anim calcmode="lin" valueType="num">
                                      <p:cBhvr additive="base">
                                        <p:cTn id="20" dur="500" fill="hold"/>
                                        <p:tgtEl>
                                          <p:spTgt spid="179815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98149"/>
                                        </p:tgtEl>
                                        <p:attrNameLst>
                                          <p:attrName>style.visibility</p:attrName>
                                        </p:attrNameLst>
                                      </p:cBhvr>
                                      <p:to>
                                        <p:strVal val="visible"/>
                                      </p:to>
                                    </p:set>
                                    <p:anim calcmode="lin" valueType="num">
                                      <p:cBhvr additive="base">
                                        <p:cTn id="25" dur="500" fill="hold"/>
                                        <p:tgtEl>
                                          <p:spTgt spid="1798149"/>
                                        </p:tgtEl>
                                        <p:attrNameLst>
                                          <p:attrName>ppt_x</p:attrName>
                                        </p:attrNameLst>
                                      </p:cBhvr>
                                      <p:tavLst>
                                        <p:tav tm="0">
                                          <p:val>
                                            <p:strVal val="#ppt_x"/>
                                          </p:val>
                                        </p:tav>
                                        <p:tav tm="100000">
                                          <p:val>
                                            <p:strVal val="#ppt_x"/>
                                          </p:val>
                                        </p:tav>
                                      </p:tavLst>
                                    </p:anim>
                                    <p:anim calcmode="lin" valueType="num">
                                      <p:cBhvr additive="base">
                                        <p:cTn id="26" dur="500" fill="hold"/>
                                        <p:tgtEl>
                                          <p:spTgt spid="17981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8148" grpId="0" bldLvl="0" animBg="1"/>
      <p:bldP spid="1798149" grpId="0" bldLvl="0" animBg="1"/>
      <p:bldP spid="1798152" grpId="0" bldLvl="0" animBg="1"/>
      <p:bldP spid="1798153" grpId="0" bldLvl="0" animBg="1"/>
    </p:bldLst>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829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68291"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00196" name="Text Box 4"/>
          <p:cNvSpPr txBox="1"/>
          <p:nvPr/>
        </p:nvSpPr>
        <p:spPr>
          <a:xfrm>
            <a:off x="514350" y="2319338"/>
            <a:ext cx="8153400" cy="28003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a:t>
            </a:r>
            <a:r>
              <a:rPr lang="zh-CN" altLang="en-US" sz="2000" b="1" dirty="0">
                <a:latin typeface="Times New Roman" panose="02020603050405020304" pitchFamily="18" charset="0"/>
                <a:ea typeface="华文楷体" panose="02010600040101010101" pitchFamily="2" charset="-122"/>
              </a:rPr>
              <a:t>例</a:t>
            </a:r>
            <a:r>
              <a:rPr lang="en-US" altLang="zh-CN" sz="2000" b="1" dirty="0">
                <a:latin typeface="Times New Roman" panose="02020603050405020304" pitchFamily="18" charset="0"/>
                <a:ea typeface="华文楷体" panose="02010600040101010101" pitchFamily="2" charset="-122"/>
              </a:rPr>
              <a:t>] module test;</a:t>
            </a:r>
            <a:endParaRPr lang="en-US" altLang="zh-CN" sz="2000"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reg  a,b,c;</a:t>
            </a:r>
            <a:endParaRPr lang="en-US" altLang="zh-CN"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wire out;</a:t>
            </a:r>
            <a:endParaRPr lang="en-US" altLang="zh-CN"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‵define aa a + b</a:t>
            </a:r>
            <a:endParaRPr lang="en-US" altLang="zh-CN"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a:t>
            </a:r>
            <a:r>
              <a:rPr lang="en-US" altLang="zh-CN" b="1" dirty="0">
                <a:solidFill>
                  <a:srgbClr val="FF0000"/>
                </a:solidFill>
                <a:latin typeface="Times New Roman" panose="02020603050405020304" pitchFamily="18" charset="0"/>
                <a:ea typeface="华文楷体" panose="02010600040101010101" pitchFamily="2" charset="-122"/>
              </a:rPr>
              <a:t>‵define cc c +‵aa       </a:t>
            </a:r>
            <a:r>
              <a:rPr lang="en-US" altLang="zh-CN" b="1" dirty="0">
                <a:latin typeface="Times New Roman" panose="02020603050405020304" pitchFamily="18" charset="0"/>
                <a:ea typeface="华文楷体" panose="02010600040101010101" pitchFamily="2" charset="-122"/>
              </a:rPr>
              <a:t>//</a:t>
            </a:r>
            <a:r>
              <a:rPr lang="zh-CN" altLang="en-US" b="1" dirty="0">
                <a:latin typeface="Times New Roman" panose="02020603050405020304" pitchFamily="18" charset="0"/>
                <a:ea typeface="华文楷体" panose="02010600040101010101" pitchFamily="2" charset="-122"/>
              </a:rPr>
              <a:t>引用已定义的宏名</a:t>
            </a:r>
            <a:r>
              <a:rPr lang="en-US" altLang="zh-CN" b="1" dirty="0">
                <a:latin typeface="Times New Roman" panose="02020603050405020304" pitchFamily="18" charset="0"/>
                <a:ea typeface="华文楷体" panose="02010600040101010101" pitchFamily="2" charset="-122"/>
              </a:rPr>
              <a:t>‵aa </a:t>
            </a:r>
            <a:r>
              <a:rPr lang="zh-CN" altLang="en-US" b="1" dirty="0">
                <a:latin typeface="Times New Roman" panose="02020603050405020304" pitchFamily="18" charset="0"/>
                <a:ea typeface="华文楷体" panose="02010600040101010101" pitchFamily="2" charset="-122"/>
              </a:rPr>
              <a:t>来定义宏</a:t>
            </a:r>
            <a:r>
              <a:rPr lang="en-US" altLang="zh-CN" b="1" dirty="0">
                <a:latin typeface="Times New Roman" panose="02020603050405020304" pitchFamily="18" charset="0"/>
                <a:ea typeface="华文楷体" panose="02010600040101010101" pitchFamily="2" charset="-122"/>
              </a:rPr>
              <a:t>cc</a:t>
            </a:r>
            <a:endParaRPr lang="en-US" altLang="zh-CN"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assign out = ‵cc;</a:t>
            </a:r>
            <a:endParaRPr lang="en-US" altLang="zh-CN" b="1" dirty="0">
              <a:latin typeface="Times New Roman" panose="02020603050405020304" pitchFamily="18" charset="0"/>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b="1" dirty="0">
                <a:latin typeface="Times New Roman" panose="02020603050405020304" pitchFamily="18" charset="0"/>
                <a:ea typeface="华文楷体" panose="02010600040101010101" pitchFamily="2" charset="-122"/>
              </a:rPr>
              <a:t>                     …… </a:t>
            </a:r>
            <a:endParaRPr lang="en-US" altLang="zh-CN" b="1" dirty="0">
              <a:latin typeface="Times New Roman" panose="02020603050405020304" pitchFamily="18" charset="0"/>
              <a:ea typeface="华文楷体" panose="02010600040101010101" pitchFamily="2" charset="-122"/>
            </a:endParaRPr>
          </a:p>
        </p:txBody>
      </p:sp>
      <p:sp>
        <p:nvSpPr>
          <p:cNvPr id="1800197" name="Text Box 5"/>
          <p:cNvSpPr txBox="1"/>
          <p:nvPr/>
        </p:nvSpPr>
        <p:spPr>
          <a:xfrm>
            <a:off x="1138238" y="5286375"/>
            <a:ext cx="7396162" cy="93980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71805" lvl="1" indent="0" eaLnBrk="1" hangingPunct="1">
              <a:buClr>
                <a:srgbClr val="FF0000"/>
              </a:buClr>
              <a:buSzPct val="80000"/>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rPr>
              <a:t>经过宏展开后， </a:t>
            </a:r>
            <a:r>
              <a:rPr lang="en-US" altLang="zh-CN" sz="2400" b="1" dirty="0">
                <a:latin typeface="华文楷体" panose="02010600040101010101" pitchFamily="2" charset="-122"/>
                <a:ea typeface="华文楷体" panose="02010600040101010101" pitchFamily="2" charset="-122"/>
              </a:rPr>
              <a:t>assign</a:t>
            </a:r>
            <a:r>
              <a:rPr lang="zh-CN" altLang="en-US" sz="2400" b="1" dirty="0">
                <a:latin typeface="华文楷体" panose="02010600040101010101" pitchFamily="2" charset="-122"/>
                <a:ea typeface="华文楷体" panose="02010600040101010101" pitchFamily="2" charset="-122"/>
              </a:rPr>
              <a:t>语句为</a:t>
            </a:r>
            <a:r>
              <a:rPr lang="en-US" altLang="zh-CN" sz="2400" b="1" dirty="0">
                <a:latin typeface="华文楷体" panose="02010600040101010101" pitchFamily="2" charset="-122"/>
                <a:ea typeface="华文楷体" panose="02010600040101010101" pitchFamily="2" charset="-122"/>
              </a:rPr>
              <a:t>:</a:t>
            </a:r>
            <a:endParaRPr lang="en-US" altLang="zh-CN" sz="2400" b="1" dirty="0">
              <a:latin typeface="华文楷体" panose="02010600040101010101" pitchFamily="2" charset="-122"/>
              <a:ea typeface="华文楷体" panose="02010600040101010101" pitchFamily="2" charset="-122"/>
            </a:endParaRPr>
          </a:p>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        assign out = c + a + b;</a:t>
            </a:r>
            <a:endParaRPr lang="en-US" altLang="zh-CN" sz="2400" b="1" dirty="0">
              <a:latin typeface="华文楷体" panose="02010600040101010101" pitchFamily="2" charset="-122"/>
              <a:ea typeface="华文楷体" panose="02010600040101010101" pitchFamily="2" charset="-122"/>
            </a:endParaRPr>
          </a:p>
        </p:txBody>
      </p:sp>
      <p:sp>
        <p:nvSpPr>
          <p:cNvPr id="1800200" name="AutoShape 8"/>
          <p:cNvSpPr>
            <a:spLocks noGrp="1"/>
          </p:cNvSpPr>
          <p:nvPr>
            <p:ph idx="1"/>
          </p:nvPr>
        </p:nvSpPr>
        <p:spPr>
          <a:xfrm>
            <a:off x="539750" y="1085850"/>
            <a:ext cx="7921625" cy="625475"/>
          </a:xfrm>
          <a:prstGeom prst="horizontalScroll">
            <a:avLst>
              <a:gd name="adj" fmla="val 12500"/>
            </a:avLst>
          </a:prstGeom>
          <a:ln>
            <a:solidFill>
              <a:srgbClr val="000000">
                <a:alpha val="100000"/>
              </a:srgbClr>
            </a:solidFill>
          </a:ln>
        </p:spPr>
        <p:txBody>
          <a:bodyPr vert="horz" wrap="square" lIns="91440" tIns="45720" rIns="91440" bIns="45720" anchor="t" anchorCtr="0"/>
          <a:p>
            <a:pPr marL="287655" indent="-287655">
              <a:spcBef>
                <a:spcPct val="0"/>
              </a:spcBef>
              <a:buClr>
                <a:srgbClr val="FF5050"/>
              </a:buClr>
              <a:buSzPct val="80000"/>
              <a:buFont typeface="Wingdings" panose="05000000000000000000" pitchFamily="2" charset="2"/>
              <a:buChar char="Ø"/>
            </a:pPr>
            <a:r>
              <a:rPr lang="en-US" altLang="en-US" dirty="0">
                <a:latin typeface="华文楷体" panose="02010600040101010101" pitchFamily="2" charset="-122"/>
                <a:ea typeface="华文楷体" panose="02010600040101010101" pitchFamily="2" charset="-122"/>
                <a:cs typeface="+mn-cs"/>
              </a:rPr>
              <a:t>在进行宏定义时，可引用已定义的宏名，实现层层置换。</a:t>
            </a:r>
            <a:endParaRPr lang="en-US" altLang="en-US"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00200"/>
                                        </p:tgtEl>
                                        <p:attrNameLst>
                                          <p:attrName>style.visibility</p:attrName>
                                        </p:attrNameLst>
                                      </p:cBhvr>
                                      <p:to>
                                        <p:strVal val="visible"/>
                                      </p:to>
                                    </p:set>
                                    <p:anim calcmode="lin" valueType="num">
                                      <p:cBhvr>
                                        <p:cTn id="7" dur="500" fill="hold"/>
                                        <p:tgtEl>
                                          <p:spTgt spid="1800200"/>
                                        </p:tgtEl>
                                        <p:attrNameLst>
                                          <p:attrName>ppt_w</p:attrName>
                                        </p:attrNameLst>
                                      </p:cBhvr>
                                      <p:tavLst>
                                        <p:tav tm="0">
                                          <p:val>
                                            <p:fltVal val="0.000000"/>
                                          </p:val>
                                        </p:tav>
                                        <p:tav tm="100000">
                                          <p:val>
                                            <p:strVal val="#ppt_w"/>
                                          </p:val>
                                        </p:tav>
                                      </p:tavLst>
                                    </p:anim>
                                    <p:anim calcmode="lin" valueType="num">
                                      <p:cBhvr>
                                        <p:cTn id="8" dur="500" fill="hold"/>
                                        <p:tgtEl>
                                          <p:spTgt spid="1800200"/>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00196"/>
                                        </p:tgtEl>
                                        <p:attrNameLst>
                                          <p:attrName>style.visibility</p:attrName>
                                        </p:attrNameLst>
                                      </p:cBhvr>
                                      <p:to>
                                        <p:strVal val="visible"/>
                                      </p:to>
                                    </p:set>
                                    <p:anim calcmode="lin" valueType="num">
                                      <p:cBhvr additive="base">
                                        <p:cTn id="13" dur="500" fill="hold"/>
                                        <p:tgtEl>
                                          <p:spTgt spid="1800196"/>
                                        </p:tgtEl>
                                        <p:attrNameLst>
                                          <p:attrName>ppt_x</p:attrName>
                                        </p:attrNameLst>
                                      </p:cBhvr>
                                      <p:tavLst>
                                        <p:tav tm="0">
                                          <p:val>
                                            <p:strVal val="#ppt_x"/>
                                          </p:val>
                                        </p:tav>
                                        <p:tav tm="100000">
                                          <p:val>
                                            <p:strVal val="#ppt_x"/>
                                          </p:val>
                                        </p:tav>
                                      </p:tavLst>
                                    </p:anim>
                                    <p:anim calcmode="lin" valueType="num">
                                      <p:cBhvr additive="base">
                                        <p:cTn id="14" dur="500" fill="hold"/>
                                        <p:tgtEl>
                                          <p:spTgt spid="18001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00197"/>
                                        </p:tgtEl>
                                        <p:attrNameLst>
                                          <p:attrName>style.visibility</p:attrName>
                                        </p:attrNameLst>
                                      </p:cBhvr>
                                      <p:to>
                                        <p:strVal val="visible"/>
                                      </p:to>
                                    </p:set>
                                    <p:anim calcmode="lin" valueType="num">
                                      <p:cBhvr additive="base">
                                        <p:cTn id="19" dur="500" fill="hold"/>
                                        <p:tgtEl>
                                          <p:spTgt spid="1800197"/>
                                        </p:tgtEl>
                                        <p:attrNameLst>
                                          <p:attrName>ppt_x</p:attrName>
                                        </p:attrNameLst>
                                      </p:cBhvr>
                                      <p:tavLst>
                                        <p:tav tm="0">
                                          <p:val>
                                            <p:strVal val="#ppt_x"/>
                                          </p:val>
                                        </p:tav>
                                        <p:tav tm="100000">
                                          <p:val>
                                            <p:strVal val="#ppt_x"/>
                                          </p:val>
                                        </p:tav>
                                      </p:tavLst>
                                    </p:anim>
                                    <p:anim calcmode="lin" valueType="num">
                                      <p:cBhvr additive="base">
                                        <p:cTn id="20" dur="500" fill="hold"/>
                                        <p:tgtEl>
                                          <p:spTgt spid="18001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0196" grpId="0" bldLvl="0" animBg="1"/>
      <p:bldP spid="1800197" grpId="0"/>
      <p:bldP spid="1800200" grpId="0" bldLvl="0" animBg="1"/>
    </p:bld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033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7033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02243"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sz="2800" dirty="0">
                <a:latin typeface="Times New Roman" panose="02020603050405020304" pitchFamily="18" charset="0"/>
                <a:ea typeface="华文楷体" panose="02010600040101010101" pitchFamily="2" charset="-122"/>
                <a:cs typeface="+mn-cs"/>
              </a:rPr>
              <a:t>二、</a:t>
            </a:r>
            <a:r>
              <a:rPr lang="en-US" altLang="zh-CN" sz="2800" dirty="0">
                <a:latin typeface="Times New Roman" panose="02020603050405020304" pitchFamily="18" charset="0"/>
                <a:ea typeface="华文楷体" panose="02010600040101010101" pitchFamily="2" charset="-122"/>
                <a:cs typeface="+mn-cs"/>
              </a:rPr>
              <a:t>‵include</a:t>
            </a:r>
            <a:r>
              <a:rPr lang="zh-CN" altLang="en-US" sz="2800" dirty="0">
                <a:latin typeface="Times New Roman" panose="02020603050405020304" pitchFamily="18" charset="0"/>
                <a:ea typeface="华文楷体" panose="02010600040101010101" pitchFamily="2" charset="-122"/>
                <a:cs typeface="+mn-cs"/>
              </a:rPr>
              <a:t>语句</a:t>
            </a:r>
            <a:endParaRPr lang="zh-CN" altLang="en-US" sz="28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文件包含语句</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一个源文件可将另一个源文件的全部内容包含进来。</a:t>
            </a:r>
            <a:endParaRPr lang="zh-CN" altLang="en-US" dirty="0">
              <a:latin typeface="Times New Roman" panose="02020603050405020304" pitchFamily="18" charset="0"/>
              <a:ea typeface="华文楷体" panose="02010600040101010101" pitchFamily="2" charset="-122"/>
              <a:cs typeface="+mn-cs"/>
            </a:endParaRPr>
          </a:p>
        </p:txBody>
      </p:sp>
      <p:sp>
        <p:nvSpPr>
          <p:cNvPr id="1802244" name="Text Box 4"/>
          <p:cNvSpPr txBox="1"/>
          <p:nvPr/>
        </p:nvSpPr>
        <p:spPr>
          <a:xfrm>
            <a:off x="1068388" y="2898775"/>
            <a:ext cx="2514600" cy="403225"/>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‵include</a:t>
            </a: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r>
              <a:rPr lang="zh-CN" altLang="en-US" b="1" dirty="0">
                <a:latin typeface="宋体" panose="02010600030101010101" pitchFamily="2" charset="-122"/>
                <a:ea typeface="宋体" panose="02010600030101010101" pitchFamily="2" charset="-122"/>
              </a:rPr>
              <a:t>文件</a:t>
            </a:r>
            <a:r>
              <a:rPr lang="zh-CN" altLang="en-US" b="1" dirty="0">
                <a:latin typeface="Times New Roman" panose="02020603050405020304" pitchFamily="18" charset="0"/>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270342" name="Line 5"/>
          <p:cNvSpPr/>
          <p:nvPr/>
        </p:nvSpPr>
        <p:spPr>
          <a:xfrm>
            <a:off x="5562600" y="2971800"/>
            <a:ext cx="228600" cy="76200"/>
          </a:xfrm>
          <a:prstGeom prst="line">
            <a:avLst/>
          </a:prstGeom>
          <a:ln w="9525" cap="flat" cmpd="sng">
            <a:solidFill>
              <a:srgbClr val="FFFFFF"/>
            </a:solidFill>
            <a:prstDash val="solid"/>
            <a:headEnd type="none" w="med" len="med"/>
            <a:tailEnd type="none" w="med" len="med"/>
          </a:ln>
        </p:spPr>
      </p:sp>
      <p:sp>
        <p:nvSpPr>
          <p:cNvPr id="270343" name="Line 6"/>
          <p:cNvSpPr/>
          <p:nvPr/>
        </p:nvSpPr>
        <p:spPr>
          <a:xfrm flipH="1">
            <a:off x="5562600" y="3048000"/>
            <a:ext cx="228600" cy="76200"/>
          </a:xfrm>
          <a:prstGeom prst="line">
            <a:avLst/>
          </a:prstGeom>
          <a:ln w="9525" cap="flat" cmpd="sng">
            <a:solidFill>
              <a:srgbClr val="FFFFFF"/>
            </a:solidFill>
            <a:prstDash val="solid"/>
            <a:headEnd type="none" w="med" len="med"/>
            <a:tailEnd type="none" w="med" len="med"/>
          </a:ln>
        </p:spPr>
      </p:sp>
      <p:grpSp>
        <p:nvGrpSpPr>
          <p:cNvPr id="2" name="Group 7"/>
          <p:cNvGrpSpPr/>
          <p:nvPr/>
        </p:nvGrpSpPr>
        <p:grpSpPr>
          <a:xfrm>
            <a:off x="5053013" y="4879975"/>
            <a:ext cx="1447800" cy="473075"/>
            <a:chOff x="3168" y="2918"/>
            <a:chExt cx="912" cy="298"/>
          </a:xfrm>
        </p:grpSpPr>
        <p:sp>
          <p:nvSpPr>
            <p:cNvPr id="270361" name="Line 8"/>
            <p:cNvSpPr/>
            <p:nvPr/>
          </p:nvSpPr>
          <p:spPr>
            <a:xfrm>
              <a:off x="3264" y="3216"/>
              <a:ext cx="576" cy="0"/>
            </a:xfrm>
            <a:prstGeom prst="line">
              <a:avLst/>
            </a:prstGeom>
            <a:ln w="25400" cap="flat" cmpd="sng">
              <a:solidFill>
                <a:schemeClr val="tx1"/>
              </a:solidFill>
              <a:prstDash val="solid"/>
              <a:headEnd type="none" w="med" len="med"/>
              <a:tailEnd type="triangle" w="med" len="med"/>
            </a:ln>
          </p:spPr>
        </p:sp>
        <p:sp>
          <p:nvSpPr>
            <p:cNvPr id="270362" name="Text Box 9"/>
            <p:cNvSpPr txBox="1"/>
            <p:nvPr/>
          </p:nvSpPr>
          <p:spPr>
            <a:xfrm>
              <a:off x="3168" y="2918"/>
              <a:ext cx="912" cy="25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50000"/>
                </a:spcBef>
                <a:buNone/>
              </a:pPr>
              <a:r>
                <a:rPr lang="zh-CN" altLang="en-US" b="1" dirty="0">
                  <a:latin typeface="Tahoma" panose="020B0604030504040204" pitchFamily="34" charset="0"/>
                  <a:ea typeface="华文楷体" panose="02010600040101010101" pitchFamily="2" charset="-122"/>
                </a:rPr>
                <a:t>预处理后</a:t>
              </a:r>
              <a:endParaRPr lang="zh-CN" altLang="en-US" b="1" dirty="0">
                <a:latin typeface="Tahoma" panose="020B0604030504040204" pitchFamily="34" charset="0"/>
                <a:ea typeface="华文楷体" panose="02010600040101010101" pitchFamily="2" charset="-122"/>
              </a:endParaRPr>
            </a:p>
          </p:txBody>
        </p:sp>
      </p:grpSp>
      <p:grpSp>
        <p:nvGrpSpPr>
          <p:cNvPr id="3" name="Group 10"/>
          <p:cNvGrpSpPr/>
          <p:nvPr/>
        </p:nvGrpSpPr>
        <p:grpSpPr>
          <a:xfrm>
            <a:off x="404813" y="3905250"/>
            <a:ext cx="2819400" cy="2286000"/>
            <a:chOff x="240" y="2304"/>
            <a:chExt cx="1776" cy="1440"/>
          </a:xfrm>
        </p:grpSpPr>
        <p:grpSp>
          <p:nvGrpSpPr>
            <p:cNvPr id="270356" name="Group 11"/>
            <p:cNvGrpSpPr/>
            <p:nvPr/>
          </p:nvGrpSpPr>
          <p:grpSpPr>
            <a:xfrm>
              <a:off x="240" y="2688"/>
              <a:ext cx="1776" cy="1056"/>
              <a:chOff x="864" y="2736"/>
              <a:chExt cx="1776" cy="1056"/>
            </a:xfrm>
          </p:grpSpPr>
          <p:sp>
            <p:nvSpPr>
              <p:cNvPr id="270358" name="Rectangle 12"/>
              <p:cNvSpPr/>
              <p:nvPr/>
            </p:nvSpPr>
            <p:spPr>
              <a:xfrm>
                <a:off x="864" y="2736"/>
                <a:ext cx="1776"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270359" name="Text Box 13"/>
              <p:cNvSpPr txBox="1"/>
              <p:nvPr/>
            </p:nvSpPr>
            <p:spPr>
              <a:xfrm>
                <a:off x="912" y="2832"/>
                <a:ext cx="1728" cy="269"/>
              </a:xfrm>
              <a:prstGeom prst="rect">
                <a:avLst/>
              </a:prstGeom>
              <a:solidFill>
                <a:srgbClr val="99CCFF"/>
              </a:solid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‵include</a:t>
                </a: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file2.v</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p:txBody>
          </p:sp>
          <p:sp>
            <p:nvSpPr>
              <p:cNvPr id="270360" name="Text Box 14"/>
              <p:cNvSpPr txBox="1"/>
              <p:nvPr/>
            </p:nvSpPr>
            <p:spPr>
              <a:xfrm>
                <a:off x="1200" y="3338"/>
                <a:ext cx="1152" cy="262"/>
              </a:xfrm>
              <a:prstGeom prst="rect">
                <a:avLst/>
              </a:prstGeom>
              <a:noFill/>
              <a:ln w="19050">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50000"/>
                  </a:spcBef>
                  <a:buNone/>
                </a:pPr>
                <a:r>
                  <a:rPr lang="en-US" altLang="zh-CN" b="1" dirty="0">
                    <a:latin typeface="Times New Roman" panose="02020603050405020304" pitchFamily="18" charset="0"/>
                    <a:ea typeface="宋体" panose="02010600030101010101" pitchFamily="2" charset="-122"/>
                  </a:rPr>
                  <a:t>A</a:t>
                </a:r>
                <a:endParaRPr lang="en-US" altLang="zh-CN" b="1" dirty="0">
                  <a:latin typeface="Times New Roman" panose="02020603050405020304" pitchFamily="18" charset="0"/>
                  <a:ea typeface="宋体" panose="02010600030101010101" pitchFamily="2" charset="-122"/>
                </a:endParaRPr>
              </a:p>
            </p:txBody>
          </p:sp>
        </p:grpSp>
        <p:sp>
          <p:nvSpPr>
            <p:cNvPr id="270357" name="Text Box 15"/>
            <p:cNvSpPr txBox="1"/>
            <p:nvPr/>
          </p:nvSpPr>
          <p:spPr>
            <a:xfrm>
              <a:off x="720" y="2304"/>
              <a:ext cx="864" cy="2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file1.v</a:t>
              </a:r>
              <a:endParaRPr lang="en-US" altLang="zh-CN" sz="2400" b="1" dirty="0">
                <a:latin typeface="Times New Roman" panose="02020603050405020304" pitchFamily="18" charset="0"/>
                <a:ea typeface="宋体" panose="02010600030101010101" pitchFamily="2" charset="-122"/>
              </a:endParaRPr>
            </a:p>
          </p:txBody>
        </p:sp>
      </p:grpSp>
      <p:grpSp>
        <p:nvGrpSpPr>
          <p:cNvPr id="5" name="Group 16"/>
          <p:cNvGrpSpPr/>
          <p:nvPr/>
        </p:nvGrpSpPr>
        <p:grpSpPr>
          <a:xfrm>
            <a:off x="3833813" y="3905250"/>
            <a:ext cx="1447800" cy="2286000"/>
            <a:chOff x="2400" y="2304"/>
            <a:chExt cx="912" cy="1440"/>
          </a:xfrm>
        </p:grpSpPr>
        <p:sp>
          <p:nvSpPr>
            <p:cNvPr id="270354" name="Rectangle 17"/>
            <p:cNvSpPr/>
            <p:nvPr/>
          </p:nvSpPr>
          <p:spPr>
            <a:xfrm>
              <a:off x="2400" y="2688"/>
              <a:ext cx="624"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zh-CN" b="1" dirty="0">
                  <a:latin typeface="Times New Roman" panose="02020603050405020304" pitchFamily="18" charset="0"/>
                  <a:ea typeface="宋体" panose="02010600030101010101" pitchFamily="2" charset="-122"/>
                </a:rPr>
                <a:t>B</a:t>
              </a:r>
              <a:endParaRPr lang="en-US" altLang="zh-CN" b="1" dirty="0">
                <a:latin typeface="Times New Roman" panose="02020603050405020304" pitchFamily="18" charset="0"/>
                <a:ea typeface="宋体" panose="02010600030101010101" pitchFamily="2" charset="-122"/>
              </a:endParaRPr>
            </a:p>
          </p:txBody>
        </p:sp>
        <p:sp>
          <p:nvSpPr>
            <p:cNvPr id="270355" name="Text Box 18"/>
            <p:cNvSpPr txBox="1"/>
            <p:nvPr/>
          </p:nvSpPr>
          <p:spPr>
            <a:xfrm>
              <a:off x="2400" y="2304"/>
              <a:ext cx="912" cy="2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file2.v</a:t>
              </a:r>
              <a:endParaRPr lang="en-US" altLang="zh-CN" sz="2400" b="1" dirty="0">
                <a:latin typeface="Times New Roman" panose="02020603050405020304" pitchFamily="18" charset="0"/>
                <a:ea typeface="宋体" panose="02010600030101010101" pitchFamily="2" charset="-122"/>
              </a:endParaRPr>
            </a:p>
          </p:txBody>
        </p:sp>
      </p:grpSp>
      <p:grpSp>
        <p:nvGrpSpPr>
          <p:cNvPr id="6" name="Group 19"/>
          <p:cNvGrpSpPr/>
          <p:nvPr/>
        </p:nvGrpSpPr>
        <p:grpSpPr>
          <a:xfrm>
            <a:off x="6196013" y="3905250"/>
            <a:ext cx="2514600" cy="2286000"/>
            <a:chOff x="3888" y="2304"/>
            <a:chExt cx="1584" cy="1440"/>
          </a:xfrm>
        </p:grpSpPr>
        <p:grpSp>
          <p:nvGrpSpPr>
            <p:cNvPr id="270349" name="Group 20"/>
            <p:cNvGrpSpPr/>
            <p:nvPr/>
          </p:nvGrpSpPr>
          <p:grpSpPr>
            <a:xfrm>
              <a:off x="3888" y="2688"/>
              <a:ext cx="1584" cy="1056"/>
              <a:chOff x="3888" y="2352"/>
              <a:chExt cx="1584" cy="1056"/>
            </a:xfrm>
          </p:grpSpPr>
          <p:sp>
            <p:nvSpPr>
              <p:cNvPr id="270351" name="Rectangle 21"/>
              <p:cNvSpPr/>
              <p:nvPr/>
            </p:nvSpPr>
            <p:spPr>
              <a:xfrm>
                <a:off x="3888" y="2352"/>
                <a:ext cx="1584"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270352" name="Text Box 22"/>
              <p:cNvSpPr txBox="1"/>
              <p:nvPr/>
            </p:nvSpPr>
            <p:spPr>
              <a:xfrm>
                <a:off x="4128" y="2954"/>
                <a:ext cx="1152" cy="262"/>
              </a:xfrm>
              <a:prstGeom prst="rect">
                <a:avLst/>
              </a:prstGeom>
              <a:noFill/>
              <a:ln w="1905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50000"/>
                  </a:spcBef>
                  <a:buNone/>
                </a:pPr>
                <a:r>
                  <a:rPr lang="en-US" altLang="zh-CN" b="1" dirty="0">
                    <a:latin typeface="Times New Roman" panose="02020603050405020304" pitchFamily="18" charset="0"/>
                    <a:ea typeface="宋体" panose="02010600030101010101" pitchFamily="2" charset="-122"/>
                  </a:rPr>
                  <a:t>A</a:t>
                </a:r>
                <a:endParaRPr lang="en-US" altLang="zh-CN" b="1" dirty="0">
                  <a:latin typeface="Times New Roman" panose="02020603050405020304" pitchFamily="18" charset="0"/>
                  <a:ea typeface="宋体" panose="02010600030101010101" pitchFamily="2" charset="-122"/>
                </a:endParaRPr>
              </a:p>
            </p:txBody>
          </p:sp>
          <p:sp>
            <p:nvSpPr>
              <p:cNvPr id="270353" name="Text Box 23"/>
              <p:cNvSpPr txBox="1"/>
              <p:nvPr/>
            </p:nvSpPr>
            <p:spPr>
              <a:xfrm>
                <a:off x="4128" y="2544"/>
                <a:ext cx="1152" cy="262"/>
              </a:xfrm>
              <a:prstGeom prst="rect">
                <a:avLst/>
              </a:prstGeom>
              <a:noFill/>
              <a:ln w="1905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50000"/>
                  </a:spcBef>
                  <a:buNone/>
                </a:pPr>
                <a:r>
                  <a:rPr lang="en-US" altLang="zh-CN" b="1" dirty="0">
                    <a:latin typeface="Times New Roman" panose="02020603050405020304" pitchFamily="18" charset="0"/>
                    <a:ea typeface="宋体" panose="02010600030101010101" pitchFamily="2" charset="-122"/>
                  </a:rPr>
                  <a:t>B</a:t>
                </a:r>
                <a:endParaRPr lang="en-US" altLang="zh-CN" b="1" dirty="0">
                  <a:latin typeface="Times New Roman" panose="02020603050405020304" pitchFamily="18" charset="0"/>
                  <a:ea typeface="宋体" panose="02010600030101010101" pitchFamily="2" charset="-122"/>
                </a:endParaRPr>
              </a:p>
            </p:txBody>
          </p:sp>
        </p:grpSp>
        <p:sp>
          <p:nvSpPr>
            <p:cNvPr id="270350" name="Text Box 24"/>
            <p:cNvSpPr txBox="1"/>
            <p:nvPr/>
          </p:nvSpPr>
          <p:spPr>
            <a:xfrm>
              <a:off x="4272" y="2304"/>
              <a:ext cx="864" cy="2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file1.v</a:t>
              </a:r>
              <a:endParaRPr lang="en-US" altLang="zh-CN" sz="2400" b="1" dirty="0">
                <a:latin typeface="Times New Roman" panose="02020603050405020304" pitchFamily="18" charset="0"/>
                <a:ea typeface="宋体" panose="02010600030101010101" pitchFamily="2" charset="-122"/>
              </a:endParaRPr>
            </a:p>
          </p:txBody>
        </p:sp>
      </p:grpSp>
      <p:sp>
        <p:nvSpPr>
          <p:cNvPr id="1802267" name="AutoShape 27"/>
          <p:cNvSpPr/>
          <p:nvPr/>
        </p:nvSpPr>
        <p:spPr>
          <a:xfrm>
            <a:off x="4627563" y="2513013"/>
            <a:ext cx="2389187" cy="1412875"/>
          </a:xfrm>
          <a:prstGeom prst="wedgeRoundRectCallout">
            <a:avLst>
              <a:gd name="adj1" fmla="val 38347"/>
              <a:gd name="adj2" fmla="val 94144"/>
              <a:gd name="adj3" fmla="val 16667"/>
            </a:avLst>
          </a:prstGeom>
          <a:noFill/>
          <a:ln w="9525" cap="flat" cmpd="sng">
            <a:solidFill>
              <a:srgbClr val="FF9900"/>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dirty="0">
                <a:latin typeface="华文楷体" panose="02010600040101010101" pitchFamily="2" charset="-122"/>
                <a:ea typeface="华文楷体" panose="02010600040101010101" pitchFamily="2" charset="-122"/>
              </a:rPr>
              <a:t>将</a:t>
            </a:r>
            <a:r>
              <a:rPr lang="en-US" altLang="zh-CN" dirty="0">
                <a:latin typeface="华文楷体" panose="02010600040101010101" pitchFamily="2" charset="-122"/>
                <a:ea typeface="华文楷体" panose="02010600040101010101" pitchFamily="2" charset="-122"/>
              </a:rPr>
              <a:t>file2.v</a:t>
            </a:r>
            <a:r>
              <a:rPr lang="zh-CN" altLang="en-US" dirty="0">
                <a:latin typeface="华文楷体" panose="02010600040101010101" pitchFamily="2" charset="-122"/>
                <a:ea typeface="华文楷体" panose="02010600040101010101" pitchFamily="2" charset="-122"/>
              </a:rPr>
              <a:t>中全部内容复制插入到</a:t>
            </a:r>
            <a:r>
              <a:rPr lang="en-US" altLang="zh-CN" dirty="0">
                <a:latin typeface="华文楷体" panose="02010600040101010101" pitchFamily="2" charset="-122"/>
                <a:ea typeface="华文楷体" panose="02010600040101010101" pitchFamily="2" charset="-122"/>
              </a:rPr>
              <a:t>‵include “file2.v”</a:t>
            </a:r>
            <a:r>
              <a:rPr lang="zh-CN" altLang="en-US" dirty="0">
                <a:latin typeface="华文楷体" panose="02010600040101010101" pitchFamily="2" charset="-122"/>
                <a:ea typeface="华文楷体" panose="02010600040101010101" pitchFamily="2" charset="-122"/>
              </a:rPr>
              <a:t>命令出现的地方</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02243"/>
                                        </p:tgtEl>
                                        <p:attrNameLst>
                                          <p:attrName>style.visibility</p:attrName>
                                        </p:attrNameLst>
                                      </p:cBhvr>
                                      <p:to>
                                        <p:strVal val="visible"/>
                                      </p:to>
                                    </p:set>
                                    <p:anim calcmode="lin" valueType="num">
                                      <p:cBhvr additive="base">
                                        <p:cTn id="7" dur="500" fill="hold"/>
                                        <p:tgtEl>
                                          <p:spTgt spid="1802243"/>
                                        </p:tgtEl>
                                        <p:attrNameLst>
                                          <p:attrName>ppt_x</p:attrName>
                                        </p:attrNameLst>
                                      </p:cBhvr>
                                      <p:tavLst>
                                        <p:tav tm="0">
                                          <p:val>
                                            <p:strVal val="0-#ppt_w/2"/>
                                          </p:val>
                                        </p:tav>
                                        <p:tav tm="100000">
                                          <p:val>
                                            <p:strVal val="#ppt_x"/>
                                          </p:val>
                                        </p:tav>
                                      </p:tavLst>
                                    </p:anim>
                                    <p:anim calcmode="lin" valueType="num">
                                      <p:cBhvr additive="base">
                                        <p:cTn id="8" dur="500" fill="hold"/>
                                        <p:tgtEl>
                                          <p:spTgt spid="18022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802244"/>
                                        </p:tgtEl>
                                        <p:attrNameLst>
                                          <p:attrName>style.visibility</p:attrName>
                                        </p:attrNameLst>
                                      </p:cBhvr>
                                      <p:to>
                                        <p:strVal val="visible"/>
                                      </p:to>
                                    </p:set>
                                    <p:animEffect transition="in" filter="wipe(left)">
                                      <p:cBhvr>
                                        <p:cTn id="12" dur="500"/>
                                        <p:tgtEl>
                                          <p:spTgt spid="180224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par>
                          <p:cTn id="30" fill="hold">
                            <p:stCondLst>
                              <p:cond delay="500"/>
                            </p:stCondLst>
                            <p:childTnLst>
                              <p:par>
                                <p:cTn id="31" presetID="2" presetClass="entr" presetSubtype="2"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802267"/>
                                        </p:tgtEl>
                                        <p:attrNameLst>
                                          <p:attrName>style.visibility</p:attrName>
                                        </p:attrNameLst>
                                      </p:cBhvr>
                                      <p:to>
                                        <p:strVal val="visible"/>
                                      </p:to>
                                    </p:set>
                                    <p:animEffect transition="in" filter="dissolve">
                                      <p:cBhvr>
                                        <p:cTn id="39" dur="500"/>
                                        <p:tgtEl>
                                          <p:spTgt spid="1802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43" grpId="0"/>
      <p:bldP spid="1802244" grpId="0" animBg="1"/>
      <p:bldP spid="1802267" grpId="0" bldLvl="0" animBg="1"/>
    </p:bld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23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7238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2128899" name="Rectangle 3"/>
          <p:cNvSpPr>
            <a:spLocks noGrp="1"/>
          </p:cNvSpPr>
          <p:nvPr>
            <p:ph idx="1"/>
          </p:nvPr>
        </p:nvSpPr>
        <p:spPr/>
        <p:txBody>
          <a:bodyPr vert="horz" wrap="square" lIns="91440" tIns="45720" rIns="91440" bIns="45720" anchor="t" anchorCtr="0"/>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endParaRPr lang="zh-CN" altLang="en-US" dirty="0">
              <a:latin typeface="宋体" panose="02010600030101010101" pitchFamily="2" charset="-122"/>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避免程序设计人员的重复劳动！不必将源代码复制到自己的另一源文件中，使源文件显得简洁。</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华文楷体" panose="02010600040101010101" pitchFamily="2" charset="-122"/>
                <a:cs typeface="+mn-cs"/>
              </a:rPr>
              <a:t>1</a:t>
            </a:r>
            <a:r>
              <a:rPr lang="zh-CN" altLang="en-US" dirty="0">
                <a:latin typeface="Times New Roman" panose="02020603050405020304" pitchFamily="18" charset="0"/>
                <a:ea typeface="华文楷体" panose="02010600040101010101" pitchFamily="2" charset="-122"/>
                <a:cs typeface="+mn-cs"/>
              </a:rPr>
              <a:t>）可以将一些常用的宏定义命令或任务（</a:t>
            </a:r>
            <a:r>
              <a:rPr lang="en-US" altLang="zh-CN" dirty="0">
                <a:latin typeface="Times New Roman" panose="02020603050405020304" pitchFamily="18" charset="0"/>
                <a:ea typeface="华文楷体" panose="02010600040101010101" pitchFamily="2" charset="-122"/>
                <a:cs typeface="+mn-cs"/>
              </a:rPr>
              <a:t>task</a:t>
            </a:r>
            <a:r>
              <a:rPr lang="zh-CN" altLang="en-US" dirty="0">
                <a:latin typeface="Times New Roman" panose="02020603050405020304" pitchFamily="18" charset="0"/>
                <a:ea typeface="华文楷体" panose="02010600040101010101" pitchFamily="2" charset="-122"/>
                <a:cs typeface="+mn-cs"/>
              </a:rPr>
              <a:t>）组成一个文件，然后用</a:t>
            </a:r>
            <a:r>
              <a:rPr lang="en-US" altLang="zh-CN" dirty="0">
                <a:latin typeface="Times New Roman" panose="02020603050405020304" pitchFamily="18" charset="0"/>
                <a:ea typeface="华文楷体" panose="02010600040101010101" pitchFamily="2" charset="-122"/>
                <a:cs typeface="+mn-cs"/>
              </a:rPr>
              <a:t>‵include</a:t>
            </a:r>
            <a:r>
              <a:rPr lang="zh-CN" altLang="en-US" dirty="0">
                <a:latin typeface="Times New Roman" panose="02020603050405020304" pitchFamily="18" charset="0"/>
                <a:ea typeface="华文楷体" panose="02010600040101010101" pitchFamily="2" charset="-122"/>
                <a:cs typeface="+mn-cs"/>
              </a:rPr>
              <a:t>语句将该文件包含到自己的另一源文件中，相当于将工业上的标准元件拿来使用。</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a:t>
            </a:r>
            <a:r>
              <a:rPr lang="en-US" altLang="zh-CN" dirty="0">
                <a:latin typeface="Times New Roman" panose="02020603050405020304" pitchFamily="18" charset="0"/>
                <a:ea typeface="华文楷体" panose="02010600040101010101" pitchFamily="2" charset="-122"/>
                <a:cs typeface="+mn-cs"/>
              </a:rPr>
              <a:t>2</a:t>
            </a:r>
            <a:r>
              <a:rPr lang="zh-CN" altLang="en-US" dirty="0">
                <a:latin typeface="Times New Roman" panose="02020603050405020304" pitchFamily="18" charset="0"/>
                <a:ea typeface="华文楷体" panose="02010600040101010101" pitchFamily="2" charset="-122"/>
                <a:cs typeface="+mn-cs"/>
              </a:rPr>
              <a:t>）当某几个源文件经常需要被其他源文件调用时，则在其他源文件中用</a:t>
            </a:r>
            <a:r>
              <a:rPr lang="en-US" altLang="zh-CN" dirty="0">
                <a:latin typeface="Times New Roman" panose="02020603050405020304" pitchFamily="18" charset="0"/>
                <a:ea typeface="华文楷体" panose="02010600040101010101" pitchFamily="2" charset="-122"/>
                <a:cs typeface="+mn-cs"/>
              </a:rPr>
              <a:t>‵include</a:t>
            </a:r>
            <a:r>
              <a:rPr lang="zh-CN" altLang="en-US" dirty="0">
                <a:latin typeface="Times New Roman" panose="02020603050405020304" pitchFamily="18" charset="0"/>
                <a:ea typeface="华文楷体" panose="02010600040101010101" pitchFamily="2" charset="-122"/>
                <a:cs typeface="+mn-cs"/>
              </a:rPr>
              <a:t>语句将所需源文件包含进来。</a:t>
            </a:r>
            <a:endParaRPr lang="zh-CN" altLang="en-US" dirty="0">
              <a:latin typeface="Times New Roman" panose="02020603050405020304" pitchFamily="18" charset="0"/>
              <a:ea typeface="华文楷体" panose="02010600040101010101" pitchFamily="2" charset="-122"/>
              <a:cs typeface="+mn-cs"/>
            </a:endParaRPr>
          </a:p>
        </p:txBody>
      </p:sp>
      <p:sp>
        <p:nvSpPr>
          <p:cNvPr id="2128924" name="AutoShape 28"/>
          <p:cNvSpPr/>
          <p:nvPr/>
        </p:nvSpPr>
        <p:spPr>
          <a:xfrm rot="-765681">
            <a:off x="-3175" y="1233488"/>
            <a:ext cx="4422775" cy="947737"/>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华文楷体" panose="02010600040101010101" pitchFamily="2" charset="-122"/>
                <a:ea typeface="华文楷体" panose="02010600040101010101" pitchFamily="2" charset="-122"/>
              </a:rPr>
              <a:t>使用</a:t>
            </a:r>
            <a:r>
              <a:rPr lang="en-US" altLang="zh-CN" sz="2400" b="1" dirty="0">
                <a:latin typeface="华文楷体" panose="02010600040101010101" pitchFamily="2" charset="-122"/>
                <a:ea typeface="华文楷体" panose="02010600040101010101" pitchFamily="2" charset="-122"/>
              </a:rPr>
              <a:t>‵include</a:t>
            </a:r>
            <a:r>
              <a:rPr lang="en-US" altLang="en-US" sz="2400" b="1" dirty="0">
                <a:latin typeface="华文楷体" panose="02010600040101010101" pitchFamily="2" charset="-122"/>
                <a:ea typeface="华文楷体" panose="02010600040101010101" pitchFamily="2" charset="-122"/>
              </a:rPr>
              <a:t>语句的好处</a:t>
            </a:r>
            <a:endParaRPr lang="en-US" altLang="en-US" sz="24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128924"/>
                                        </p:tgtEl>
                                        <p:attrNameLst>
                                          <p:attrName>style.visibility</p:attrName>
                                        </p:attrNameLst>
                                      </p:cBhvr>
                                      <p:to>
                                        <p:strVal val="visible"/>
                                      </p:to>
                                    </p:set>
                                    <p:anim calcmode="lin" valueType="num">
                                      <p:cBhvr>
                                        <p:cTn id="7" dur="500" fill="hold"/>
                                        <p:tgtEl>
                                          <p:spTgt spid="2128924"/>
                                        </p:tgtEl>
                                        <p:attrNameLst>
                                          <p:attrName>ppt_w</p:attrName>
                                        </p:attrNameLst>
                                      </p:cBhvr>
                                      <p:tavLst>
                                        <p:tav tm="0">
                                          <p:val>
                                            <p:strVal val="4/3*#ppt_w"/>
                                          </p:val>
                                        </p:tav>
                                        <p:tav tm="100000">
                                          <p:val>
                                            <p:strVal val="#ppt_w"/>
                                          </p:val>
                                        </p:tav>
                                      </p:tavLst>
                                    </p:anim>
                                    <p:anim calcmode="lin" valueType="num">
                                      <p:cBhvr>
                                        <p:cTn id="8" dur="500" fill="hold"/>
                                        <p:tgtEl>
                                          <p:spTgt spid="2128924"/>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2128899"/>
                                        </p:tgtEl>
                                        <p:attrNameLst>
                                          <p:attrName>style.visibility</p:attrName>
                                        </p:attrNameLst>
                                      </p:cBhvr>
                                      <p:to>
                                        <p:strVal val="visible"/>
                                      </p:to>
                                    </p:set>
                                    <p:anim calcmode="lin" valueType="num">
                                      <p:cBhvr additive="base">
                                        <p:cTn id="12" dur="500" fill="hold"/>
                                        <p:tgtEl>
                                          <p:spTgt spid="2128899"/>
                                        </p:tgtEl>
                                        <p:attrNameLst>
                                          <p:attrName>ppt_x</p:attrName>
                                        </p:attrNameLst>
                                      </p:cBhvr>
                                      <p:tavLst>
                                        <p:tav tm="0">
                                          <p:val>
                                            <p:strVal val="#ppt_x"/>
                                          </p:val>
                                        </p:tav>
                                        <p:tav tm="100000">
                                          <p:val>
                                            <p:strVal val="#ppt_x"/>
                                          </p:val>
                                        </p:tav>
                                      </p:tavLst>
                                    </p:anim>
                                    <p:anim calcmode="lin" valueType="num">
                                      <p:cBhvr additive="base">
                                        <p:cTn id="13" dur="500" fill="hold"/>
                                        <p:tgtEl>
                                          <p:spTgt spid="21288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8899" grpId="0"/>
      <p:bldP spid="2128924" grpId="0"/>
    </p:bldLst>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74434" name="图片 2"/>
          <p:cNvPicPr>
            <a:picLocks noChangeAspect="1"/>
          </p:cNvPicPr>
          <p:nvPr/>
        </p:nvPicPr>
        <p:blipFill>
          <a:blip r:embed="rId1"/>
          <a:stretch>
            <a:fillRect/>
          </a:stretch>
        </p:blipFill>
        <p:spPr>
          <a:xfrm>
            <a:off x="3679825" y="4289425"/>
            <a:ext cx="3613150" cy="2295525"/>
          </a:xfrm>
          <a:prstGeom prst="rect">
            <a:avLst/>
          </a:prstGeom>
          <a:noFill/>
          <a:ln w="9525">
            <a:noFill/>
          </a:ln>
        </p:spPr>
      </p:pic>
      <p:pic>
        <p:nvPicPr>
          <p:cNvPr id="274435" name="图片 1"/>
          <p:cNvPicPr>
            <a:picLocks noChangeAspect="1"/>
          </p:cNvPicPr>
          <p:nvPr/>
        </p:nvPicPr>
        <p:blipFill>
          <a:blip r:embed="rId2"/>
          <a:stretch>
            <a:fillRect/>
          </a:stretch>
        </p:blipFill>
        <p:spPr>
          <a:xfrm>
            <a:off x="690563" y="1630363"/>
            <a:ext cx="5715000" cy="2541587"/>
          </a:xfrm>
          <a:prstGeom prst="rect">
            <a:avLst/>
          </a:prstGeom>
          <a:noFill/>
          <a:ln w="9525">
            <a:noFill/>
          </a:ln>
        </p:spPr>
      </p:pic>
      <p:sp>
        <p:nvSpPr>
          <p:cNvPr id="27443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7443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0429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latin typeface="华文楷体" panose="02010600040101010101" pitchFamily="2" charset="-122"/>
                <a:ea typeface="华文楷体" panose="02010600040101010101" pitchFamily="2" charset="-122"/>
                <a:cs typeface="+mn-cs"/>
              </a:rPr>
              <a:t>[</a:t>
            </a:r>
            <a:r>
              <a:rPr lang="zh-CN" altLang="en-US" dirty="0">
                <a:latin typeface="华文楷体" panose="02010600040101010101" pitchFamily="2" charset="-122"/>
                <a:ea typeface="华文楷体" panose="02010600040101010101" pitchFamily="2" charset="-122"/>
                <a:cs typeface="+mn-cs"/>
              </a:rPr>
              <a:t>例</a:t>
            </a:r>
            <a:r>
              <a:rPr lang="en-US" altLang="zh-CN" dirty="0">
                <a:latin typeface="华文楷体" panose="02010600040101010101" pitchFamily="2" charset="-122"/>
                <a:ea typeface="华文楷体" panose="02010600040101010101" pitchFamily="2" charset="-122"/>
                <a:cs typeface="+mn-cs"/>
              </a:rPr>
              <a:t>] </a:t>
            </a:r>
            <a:r>
              <a:rPr lang="zh-CN" altLang="en-US" dirty="0">
                <a:latin typeface="华文楷体" panose="02010600040101010101" pitchFamily="2" charset="-122"/>
                <a:ea typeface="华文楷体" panose="02010600040101010101" pitchFamily="2" charset="-122"/>
                <a:cs typeface="+mn-cs"/>
              </a:rPr>
              <a:t>用</a:t>
            </a:r>
            <a:r>
              <a:rPr lang="en-US" altLang="zh-CN" dirty="0">
                <a:latin typeface="华文楷体" panose="02010600040101010101" pitchFamily="2" charset="-122"/>
                <a:ea typeface="华文楷体" panose="02010600040101010101" pitchFamily="2" charset="-122"/>
                <a:cs typeface="+mn-cs"/>
              </a:rPr>
              <a:t>‵include</a:t>
            </a:r>
            <a:r>
              <a:rPr lang="zh-CN" altLang="en-US" dirty="0">
                <a:latin typeface="华文楷体" panose="02010600040101010101" pitchFamily="2" charset="-122"/>
                <a:ea typeface="华文楷体" panose="02010600040101010101" pitchFamily="2" charset="-122"/>
                <a:cs typeface="+mn-cs"/>
              </a:rPr>
              <a:t>语句设计</a:t>
            </a:r>
            <a:r>
              <a:rPr lang="en-US" altLang="zh-CN" dirty="0">
                <a:latin typeface="华文楷体" panose="02010600040101010101" pitchFamily="2" charset="-122"/>
                <a:ea typeface="华文楷体" panose="02010600040101010101" pitchFamily="2" charset="-122"/>
                <a:cs typeface="+mn-cs"/>
              </a:rPr>
              <a:t>16</a:t>
            </a:r>
            <a:r>
              <a:rPr lang="zh-CN" altLang="en-US" dirty="0">
                <a:latin typeface="华文楷体" panose="02010600040101010101" pitchFamily="2" charset="-122"/>
                <a:ea typeface="华文楷体" panose="02010600040101010101" pitchFamily="2" charset="-122"/>
                <a:cs typeface="+mn-cs"/>
              </a:rPr>
              <a:t>位加法器</a:t>
            </a:r>
            <a:endParaRPr lang="zh-CN" altLang="en-US" dirty="0">
              <a:latin typeface="华文楷体" panose="02010600040101010101" pitchFamily="2" charset="-122"/>
              <a:ea typeface="华文楷体" panose="02010600040101010101" pitchFamily="2" charset="-122"/>
              <a:cs typeface="+mn-cs"/>
            </a:endParaRPr>
          </a:p>
        </p:txBody>
      </p:sp>
      <p:sp>
        <p:nvSpPr>
          <p:cNvPr id="1804294" name="Rectangle 6"/>
          <p:cNvSpPr/>
          <p:nvPr/>
        </p:nvSpPr>
        <p:spPr>
          <a:xfrm>
            <a:off x="1812925" y="5741988"/>
            <a:ext cx="1649413" cy="442913"/>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marR="0" lvl="0" indent="0" algn="just" defTabSz="914400" rtl="0" eaLnBrk="1" fontAlgn="base" latinLnBrk="0" hangingPunct="1">
              <a:lnSpc>
                <a:spcPct val="110000"/>
              </a:lnSpc>
              <a:spcBef>
                <a:spcPct val="20000"/>
              </a:spcBef>
              <a:spcAft>
                <a:spcPct val="0"/>
              </a:spcAft>
              <a:buClr>
                <a:srgbClr val="3333FF"/>
              </a:buClr>
              <a:buSzTx/>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adder</a:t>
            </a:r>
            <a:r>
              <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rPr>
              <a:t>模块</a:t>
            </a: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华文楷体" panose="02010600040101010101" pitchFamily="2" charset="-122"/>
              <a:cs typeface="+mn-cs"/>
              <a:sym typeface="+mn-ea"/>
            </a:endParaRPr>
          </a:p>
          <a:p>
            <a:pPr marL="342900" marR="0" lvl="0" indent="-342900" algn="just" defTabSz="914400" rtl="0" eaLnBrk="1" fontAlgn="base" latinLnBrk="0" hangingPunct="1">
              <a:lnSpc>
                <a:spcPct val="110000"/>
              </a:lnSpc>
              <a:spcBef>
                <a:spcPct val="20000"/>
              </a:spcBef>
              <a:spcAft>
                <a:spcPct val="0"/>
              </a:spcAft>
              <a:buClr>
                <a:srgbClr val="3333FF"/>
              </a:buClr>
              <a:buSzTx/>
              <a:buFont typeface="Wingdings" panose="05000000000000000000" pitchFamily="2" charset="2"/>
              <a:buChar char="•"/>
              <a:defRPr/>
            </a:pPr>
            <a:endParaRPr kumimoji="0" lang="en-US" altLang="zh-CN" sz="2400" b="1" i="0" u="none" strike="noStrike" kern="1200" cap="none" spc="0" normalizeH="0" baseline="0" noProof="1">
              <a:ln>
                <a:noFill/>
              </a:ln>
              <a:solidFill>
                <a:schemeClr val="hlink"/>
              </a:solidFill>
              <a:effectLst/>
              <a:uLnTx/>
              <a:uFillTx/>
              <a:latin typeface="宋体" panose="02010600030101010101" pitchFamily="2" charset="-122"/>
              <a:ea typeface="宋体" panose="02010600030101010101" pitchFamily="2" charset="-122"/>
              <a:cs typeface="+mn-cs"/>
              <a:sym typeface="+mn-ea"/>
            </a:endParaRPr>
          </a:p>
        </p:txBody>
      </p:sp>
      <p:sp>
        <p:nvSpPr>
          <p:cNvPr id="1804296" name="AutoShape 8"/>
          <p:cNvSpPr/>
          <p:nvPr/>
        </p:nvSpPr>
        <p:spPr>
          <a:xfrm>
            <a:off x="5503863" y="6413500"/>
            <a:ext cx="1143000" cy="381000"/>
          </a:xfrm>
          <a:prstGeom prst="wedgeRectCallout">
            <a:avLst>
              <a:gd name="adj1" fmla="val -63056"/>
              <a:gd name="adj2" fmla="val -82917"/>
            </a:avLst>
          </a:prstGeom>
          <a:noFill/>
          <a:ln w="9525" cap="flat" cmpd="sng">
            <a:solidFill>
              <a:srgbClr val="00FFFF"/>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位拼接</a:t>
            </a:r>
            <a:endParaRPr lang="zh-CN" altLang="en-US" b="1" dirty="0">
              <a:latin typeface="华文楷体" panose="02010600040101010101" pitchFamily="2" charset="-122"/>
              <a:ea typeface="华文楷体" panose="02010600040101010101" pitchFamily="2" charset="-122"/>
            </a:endParaRPr>
          </a:p>
        </p:txBody>
      </p:sp>
      <p:sp>
        <p:nvSpPr>
          <p:cNvPr id="1804297" name="AutoShape 9"/>
          <p:cNvSpPr/>
          <p:nvPr/>
        </p:nvSpPr>
        <p:spPr>
          <a:xfrm>
            <a:off x="1290638" y="4289425"/>
            <a:ext cx="2092325" cy="909638"/>
          </a:xfrm>
          <a:prstGeom prst="wedgeRoundRectCallout">
            <a:avLst>
              <a:gd name="adj1" fmla="val 306"/>
              <a:gd name="adj2" fmla="val -91361"/>
              <a:gd name="adj3" fmla="val 16667"/>
            </a:avLst>
          </a:prstGeom>
          <a:noFill/>
          <a:ln w="9525" cap="flat" cmpd="sng">
            <a:solidFill>
              <a:srgbClr val="00FFFF"/>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改变被引用模块</a:t>
            </a:r>
            <a:r>
              <a:rPr lang="en-US" altLang="zh-CN" sz="1800" b="1" dirty="0">
                <a:latin typeface="华文楷体" panose="02010600040101010101" pitchFamily="2" charset="-122"/>
                <a:ea typeface="华文楷体" panose="02010600040101010101" pitchFamily="2" charset="-122"/>
              </a:rPr>
              <a:t>adder</a:t>
            </a:r>
            <a:r>
              <a:rPr lang="zh-CN" altLang="en-US" sz="1800" b="1" dirty="0">
                <a:latin typeface="华文楷体" panose="02010600040101010101" pitchFamily="2" charset="-122"/>
                <a:ea typeface="华文楷体" panose="02010600040101010101" pitchFamily="2" charset="-122"/>
              </a:rPr>
              <a:t>中的参数</a:t>
            </a:r>
            <a:r>
              <a:rPr lang="en-US" altLang="zh-CN" sz="1800" b="1" dirty="0">
                <a:latin typeface="华文楷体" panose="02010600040101010101" pitchFamily="2" charset="-122"/>
                <a:ea typeface="华文楷体" panose="02010600040101010101" pitchFamily="2" charset="-122"/>
              </a:rPr>
              <a:t>size</a:t>
            </a:r>
            <a:r>
              <a:rPr lang="zh-CN" altLang="en-US" sz="1800" b="1" dirty="0">
                <a:latin typeface="华文楷体" panose="02010600040101010101" pitchFamily="2" charset="-122"/>
                <a:ea typeface="华文楷体" panose="02010600040101010101" pitchFamily="2" charset="-122"/>
              </a:rPr>
              <a:t>为</a:t>
            </a:r>
            <a:r>
              <a:rPr lang="en-US" altLang="zh-CN" sz="1800" b="1" dirty="0">
                <a:latin typeface="华文楷体" panose="02010600040101010101" pitchFamily="2" charset="-122"/>
                <a:ea typeface="华文楷体" panose="02010600040101010101" pitchFamily="2" charset="-122"/>
              </a:rPr>
              <a:t>my_size</a:t>
            </a:r>
            <a:endParaRPr lang="en-US" altLang="zh-CN" sz="1800" b="1" dirty="0">
              <a:latin typeface="华文楷体" panose="02010600040101010101" pitchFamily="2" charset="-122"/>
              <a:ea typeface="华文楷体" panose="02010600040101010101" pitchFamily="2" charset="-122"/>
            </a:endParaRPr>
          </a:p>
        </p:txBody>
      </p:sp>
      <p:sp>
        <p:nvSpPr>
          <p:cNvPr id="1804301" name="Oval 13"/>
          <p:cNvSpPr/>
          <p:nvPr/>
        </p:nvSpPr>
        <p:spPr>
          <a:xfrm>
            <a:off x="1736725" y="3622675"/>
            <a:ext cx="1266825" cy="266700"/>
          </a:xfrm>
          <a:prstGeom prst="ellipse">
            <a:avLst/>
          </a:prstGeom>
          <a:noFill/>
          <a:ln w="222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04291"/>
                                        </p:tgtEl>
                                        <p:attrNameLst>
                                          <p:attrName>style.visibility</p:attrName>
                                        </p:attrNameLst>
                                      </p:cBhvr>
                                      <p:to>
                                        <p:strVal val="visible"/>
                                      </p:to>
                                    </p:set>
                                    <p:anim calcmode="lin" valueType="num">
                                      <p:cBhvr additive="base">
                                        <p:cTn id="7" dur="500" fill="hold"/>
                                        <p:tgtEl>
                                          <p:spTgt spid="1804291"/>
                                        </p:tgtEl>
                                        <p:attrNameLst>
                                          <p:attrName>ppt_x</p:attrName>
                                        </p:attrNameLst>
                                      </p:cBhvr>
                                      <p:tavLst>
                                        <p:tav tm="0">
                                          <p:val>
                                            <p:strVal val="0-#ppt_w/2"/>
                                          </p:val>
                                        </p:tav>
                                        <p:tav tm="100000">
                                          <p:val>
                                            <p:strVal val="#ppt_x"/>
                                          </p:val>
                                        </p:tav>
                                      </p:tavLst>
                                    </p:anim>
                                    <p:anim calcmode="lin" valueType="num">
                                      <p:cBhvr additive="base">
                                        <p:cTn id="8" dur="500" fill="hold"/>
                                        <p:tgtEl>
                                          <p:spTgt spid="18042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804301"/>
                                        </p:tgtEl>
                                        <p:attrNameLst>
                                          <p:attrName>style.visibility</p:attrName>
                                        </p:attrNameLst>
                                      </p:cBhvr>
                                      <p:to>
                                        <p:strVal val="visible"/>
                                      </p:to>
                                    </p:set>
                                    <p:anim calcmode="lin" valueType="num">
                                      <p:cBhvr>
                                        <p:cTn id="13" dur="500" fill="hold"/>
                                        <p:tgtEl>
                                          <p:spTgt spid="1804301"/>
                                        </p:tgtEl>
                                        <p:attrNameLst>
                                          <p:attrName>ppt_w</p:attrName>
                                        </p:attrNameLst>
                                      </p:cBhvr>
                                      <p:tavLst>
                                        <p:tav tm="0">
                                          <p:val>
                                            <p:fltVal val="0.000000"/>
                                          </p:val>
                                        </p:tav>
                                        <p:tav tm="100000">
                                          <p:val>
                                            <p:strVal val="#ppt_w"/>
                                          </p:val>
                                        </p:tav>
                                      </p:tavLst>
                                    </p:anim>
                                    <p:anim calcmode="lin" valueType="num">
                                      <p:cBhvr>
                                        <p:cTn id="14" dur="500" fill="hold"/>
                                        <p:tgtEl>
                                          <p:spTgt spid="1804301"/>
                                        </p:tgtEl>
                                        <p:attrNameLst>
                                          <p:attrName>ppt_h</p:attrName>
                                        </p:attrNameLst>
                                      </p:cBhvr>
                                      <p:tavLst>
                                        <p:tav tm="0">
                                          <p:val>
                                            <p:fltVal val="0.000000"/>
                                          </p:val>
                                        </p:tav>
                                        <p:tav tm="100000">
                                          <p:val>
                                            <p:strVal val="#ppt_h"/>
                                          </p:val>
                                        </p:tav>
                                      </p:tavLst>
                                    </p:anim>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1804297"/>
                                        </p:tgtEl>
                                        <p:attrNameLst>
                                          <p:attrName>style.visibility</p:attrName>
                                        </p:attrNameLst>
                                      </p:cBhvr>
                                      <p:to>
                                        <p:strVal val="visible"/>
                                      </p:to>
                                    </p:set>
                                    <p:animEffect transition="in" filter="dissolve">
                                      <p:cBhvr>
                                        <p:cTn id="18" dur="500"/>
                                        <p:tgtEl>
                                          <p:spTgt spid="1804297"/>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1804294"/>
                                        </p:tgtEl>
                                        <p:attrNameLst>
                                          <p:attrName>style.visibility</p:attrName>
                                        </p:attrNameLst>
                                      </p:cBhvr>
                                      <p:to>
                                        <p:strVal val="visible"/>
                                      </p:to>
                                    </p:set>
                                    <p:anim calcmode="lin" valueType="num">
                                      <p:cBhvr>
                                        <p:cTn id="23" dur="500" fill="hold"/>
                                        <p:tgtEl>
                                          <p:spTgt spid="1804294"/>
                                        </p:tgtEl>
                                        <p:attrNameLst>
                                          <p:attrName>ppt_w</p:attrName>
                                        </p:attrNameLst>
                                      </p:cBhvr>
                                      <p:tavLst>
                                        <p:tav tm="0">
                                          <p:val>
                                            <p:fltVal val="0.000000"/>
                                          </p:val>
                                        </p:tav>
                                        <p:tav tm="100000">
                                          <p:val>
                                            <p:strVal val="#ppt_w"/>
                                          </p:val>
                                        </p:tav>
                                      </p:tavLst>
                                    </p:anim>
                                    <p:anim calcmode="lin" valueType="num">
                                      <p:cBhvr>
                                        <p:cTn id="24" dur="500" fill="hold"/>
                                        <p:tgtEl>
                                          <p:spTgt spid="1804294"/>
                                        </p:tgtEl>
                                        <p:attrNameLst>
                                          <p:attrName>ppt_h</p:attrName>
                                        </p:attrNameLst>
                                      </p:cBhvr>
                                      <p:tavLst>
                                        <p:tav tm="0">
                                          <p:val>
                                            <p:fltVal val="0.00000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804296"/>
                                        </p:tgtEl>
                                        <p:attrNameLst>
                                          <p:attrName>style.visibility</p:attrName>
                                        </p:attrNameLst>
                                      </p:cBhvr>
                                      <p:to>
                                        <p:strVal val="visible"/>
                                      </p:to>
                                    </p:set>
                                    <p:animEffect transition="in" filter="dissolve">
                                      <p:cBhvr>
                                        <p:cTn id="29" dur="500"/>
                                        <p:tgtEl>
                                          <p:spTgt spid="1804296"/>
                                        </p:tgtEl>
                                      </p:cBhvr>
                                    </p:animEffect>
                                  </p:childTnLst>
                                  <p:subTnLst>
                                    <p:set>
                                      <p:cBhvr override="childStyle">
                                        <p:cTn dur="1" fill="hold" display="0" masterRel="nextClick" afterEffect="1"/>
                                        <p:tgtEl>
                                          <p:spTgt spid="180429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4291" grpId="0"/>
      <p:bldP spid="1804294" grpId="0"/>
      <p:bldP spid="1804296" grpId="0" animBg="1"/>
      <p:bldP spid="1804297" grpId="0" animBg="1"/>
      <p:bldP spid="1804301" grpId="0" animBg="1"/>
    </p:bldLst>
  </p:timing>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648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76483"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76484"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08388" name="Rectangle 4"/>
          <p:cNvSpPr/>
          <p:nvPr/>
        </p:nvSpPr>
        <p:spPr>
          <a:xfrm>
            <a:off x="1419225" y="1965325"/>
            <a:ext cx="6651625" cy="8382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200" b="1" dirty="0">
                <a:latin typeface="Times New Roman" panose="02020603050405020304" pitchFamily="18" charset="0"/>
                <a:ea typeface="华文楷体" panose="02010600040101010101" pitchFamily="2" charset="-122"/>
              </a:rPr>
              <a:t>一个</a:t>
            </a:r>
            <a:r>
              <a:rPr lang="en-US" altLang="zh-CN" sz="2200" b="1" dirty="0">
                <a:latin typeface="Times New Roman" panose="02020603050405020304" pitchFamily="18" charset="0"/>
                <a:ea typeface="华文楷体" panose="02010600040101010101" pitchFamily="2" charset="-122"/>
              </a:rPr>
              <a:t>‵include</a:t>
            </a:r>
            <a:r>
              <a:rPr lang="zh-CN" altLang="en-US" sz="2200" b="1" dirty="0">
                <a:latin typeface="Times New Roman" panose="02020603050405020304" pitchFamily="18" charset="0"/>
                <a:ea typeface="华文楷体" panose="02010600040101010101" pitchFamily="2" charset="-122"/>
              </a:rPr>
              <a:t>语句只能指定</a:t>
            </a:r>
            <a:r>
              <a:rPr lang="zh-CN" altLang="en-US" sz="2200" b="1" dirty="0">
                <a:solidFill>
                  <a:srgbClr val="FF0066"/>
                </a:solidFill>
                <a:latin typeface="Times New Roman" panose="02020603050405020304" pitchFamily="18" charset="0"/>
                <a:ea typeface="华文楷体" panose="02010600040101010101" pitchFamily="2" charset="-122"/>
              </a:rPr>
              <a:t>一个</a:t>
            </a:r>
            <a:r>
              <a:rPr lang="zh-CN" altLang="en-US" sz="2200" b="1" dirty="0">
                <a:latin typeface="Times New Roman" panose="02020603050405020304" pitchFamily="18" charset="0"/>
                <a:ea typeface="华文楷体" panose="02010600040101010101" pitchFamily="2" charset="-122"/>
              </a:rPr>
              <a:t>被包含的文件；若要包含</a:t>
            </a:r>
            <a:r>
              <a:rPr lang="en-US" altLang="zh-CN" sz="2200" b="1" dirty="0">
                <a:latin typeface="Times New Roman" panose="02020603050405020304" pitchFamily="18" charset="0"/>
                <a:ea typeface="华文楷体" panose="02010600040101010101" pitchFamily="2" charset="-122"/>
              </a:rPr>
              <a:t>n</a:t>
            </a:r>
            <a:r>
              <a:rPr lang="zh-CN" altLang="en-US" sz="2200" b="1" dirty="0">
                <a:latin typeface="Times New Roman" panose="02020603050405020304" pitchFamily="18" charset="0"/>
                <a:ea typeface="华文楷体" panose="02010600040101010101" pitchFamily="2" charset="-122"/>
              </a:rPr>
              <a:t>个文件，需用</a:t>
            </a:r>
            <a:r>
              <a:rPr lang="en-US" altLang="zh-CN" sz="2200" b="1" dirty="0">
                <a:latin typeface="Times New Roman" panose="02020603050405020304" pitchFamily="18" charset="0"/>
                <a:ea typeface="华文楷体" panose="02010600040101010101" pitchFamily="2" charset="-122"/>
              </a:rPr>
              <a:t>n</a:t>
            </a:r>
            <a:r>
              <a:rPr lang="zh-CN" altLang="en-US" sz="2200" b="1" dirty="0">
                <a:latin typeface="Times New Roman" panose="02020603050405020304" pitchFamily="18" charset="0"/>
                <a:ea typeface="华文楷体" panose="02010600040101010101" pitchFamily="2" charset="-122"/>
              </a:rPr>
              <a:t>个</a:t>
            </a:r>
            <a:r>
              <a:rPr lang="en-US" altLang="zh-CN" sz="2200" b="1" dirty="0">
                <a:latin typeface="Times New Roman" panose="02020603050405020304" pitchFamily="18" charset="0"/>
                <a:ea typeface="华文楷体" panose="02010600040101010101" pitchFamily="2" charset="-122"/>
              </a:rPr>
              <a:t>‵include</a:t>
            </a:r>
            <a:r>
              <a:rPr lang="zh-CN" altLang="en-US" sz="2200" b="1" dirty="0">
                <a:latin typeface="Times New Roman" panose="02020603050405020304" pitchFamily="18" charset="0"/>
                <a:ea typeface="华文楷体" panose="02010600040101010101" pitchFamily="2" charset="-122"/>
              </a:rPr>
              <a:t>语句。</a:t>
            </a:r>
            <a:endParaRPr lang="zh-CN" altLang="en-US" sz="2200" b="1" dirty="0">
              <a:latin typeface="Times New Roman" panose="02020603050405020304" pitchFamily="18" charset="0"/>
              <a:ea typeface="华文楷体" panose="02010600040101010101" pitchFamily="2" charset="-122"/>
            </a:endParaRPr>
          </a:p>
        </p:txBody>
      </p:sp>
      <p:sp>
        <p:nvSpPr>
          <p:cNvPr id="1808389" name="Rectangle 5"/>
          <p:cNvSpPr/>
          <p:nvPr/>
        </p:nvSpPr>
        <p:spPr>
          <a:xfrm>
            <a:off x="847725" y="4656138"/>
            <a:ext cx="7696200" cy="83820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en-US" altLang="zh-CN" sz="2200" b="1" dirty="0">
                <a:latin typeface="Times New Roman" panose="02020603050405020304" pitchFamily="18" charset="0"/>
                <a:ea typeface="华文楷体" panose="02010600040101010101" pitchFamily="2" charset="-122"/>
              </a:rPr>
              <a:t>‵include</a:t>
            </a:r>
            <a:r>
              <a:rPr lang="zh-CN" altLang="en-US" sz="2200" b="1" dirty="0">
                <a:latin typeface="Times New Roman" panose="02020603050405020304" pitchFamily="18" charset="0"/>
                <a:ea typeface="华文楷体" panose="02010600040101010101" pitchFamily="2" charset="-122"/>
              </a:rPr>
              <a:t>语句可出现在源程序的任何地方。被包含的文件若与包含文件不在同一子目录下，必须指明其路径！</a:t>
            </a:r>
            <a:endParaRPr lang="zh-CN" altLang="en-US" sz="2200" b="1" dirty="0">
              <a:latin typeface="Times New Roman" panose="02020603050405020304" pitchFamily="18" charset="0"/>
              <a:ea typeface="华文楷体" panose="02010600040101010101" pitchFamily="2" charset="-122"/>
            </a:endParaRPr>
          </a:p>
        </p:txBody>
      </p:sp>
      <p:sp>
        <p:nvSpPr>
          <p:cNvPr id="1808390" name="Text Box 6"/>
          <p:cNvSpPr txBox="1"/>
          <p:nvPr/>
        </p:nvSpPr>
        <p:spPr>
          <a:xfrm>
            <a:off x="1636713" y="2968625"/>
            <a:ext cx="6813550" cy="4968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spcBef>
                <a:spcPct val="0"/>
              </a:spcBef>
              <a:buClr>
                <a:srgbClr val="3333FF"/>
              </a:buClr>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aaa.v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bbb.v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非法！</a:t>
            </a:r>
            <a:endParaRPr lang="zh-CN" altLang="en-US" sz="2400" b="1" dirty="0">
              <a:latin typeface="华文楷体" panose="02010600040101010101" pitchFamily="2" charset="-122"/>
              <a:ea typeface="华文楷体" panose="02010600040101010101" pitchFamily="2" charset="-122"/>
            </a:endParaRPr>
          </a:p>
        </p:txBody>
      </p:sp>
      <p:sp>
        <p:nvSpPr>
          <p:cNvPr id="1808391" name="Text Box 7"/>
          <p:cNvSpPr txBox="1"/>
          <p:nvPr/>
        </p:nvSpPr>
        <p:spPr>
          <a:xfrm>
            <a:off x="1728788" y="5614988"/>
            <a:ext cx="5568950" cy="4968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parts/count.v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合法！</a:t>
            </a:r>
            <a:endParaRPr lang="zh-CN" altLang="en-US" sz="2400" b="1" dirty="0">
              <a:latin typeface="华文楷体" panose="02010600040101010101" pitchFamily="2" charset="-122"/>
              <a:ea typeface="华文楷体" panose="02010600040101010101" pitchFamily="2" charset="-122"/>
            </a:endParaRPr>
          </a:p>
        </p:txBody>
      </p:sp>
      <p:sp>
        <p:nvSpPr>
          <p:cNvPr id="1808392" name="AutoShape 8"/>
          <p:cNvSpPr/>
          <p:nvPr/>
        </p:nvSpPr>
        <p:spPr>
          <a:xfrm rot="-765681">
            <a:off x="0" y="1154113"/>
            <a:ext cx="3463925" cy="687387"/>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400" b="1" dirty="0">
                <a:latin typeface="华文楷体" panose="02010600040101010101" pitchFamily="2" charset="-122"/>
                <a:ea typeface="华文楷体" panose="02010600040101010101" pitchFamily="2" charset="-122"/>
              </a:rPr>
              <a:t>关于文件包含的说明</a:t>
            </a:r>
            <a:endParaRPr lang="en-US" altLang="en-US" sz="2400" b="1" dirty="0">
              <a:latin typeface="华文楷体" panose="02010600040101010101" pitchFamily="2" charset="-122"/>
              <a:ea typeface="华文楷体" panose="02010600040101010101" pitchFamily="2" charset="-122"/>
            </a:endParaRPr>
          </a:p>
        </p:txBody>
      </p:sp>
      <p:sp>
        <p:nvSpPr>
          <p:cNvPr id="1808394" name="Text Box 10"/>
          <p:cNvSpPr txBox="1"/>
          <p:nvPr/>
        </p:nvSpPr>
        <p:spPr>
          <a:xfrm>
            <a:off x="2635250" y="3455988"/>
            <a:ext cx="5057775" cy="903287"/>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spcBef>
                <a:spcPct val="0"/>
              </a:spcBef>
              <a:buClr>
                <a:srgbClr val="3333FF"/>
              </a:buClr>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aaa.v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marL="0" lvl="0" indent="0" algn="just" eaLnBrk="1" hangingPunct="1">
              <a:lnSpc>
                <a:spcPct val="110000"/>
              </a:lnSpc>
              <a:spcBef>
                <a:spcPct val="0"/>
              </a:spcBef>
              <a:buClr>
                <a:srgbClr val="3333FF"/>
              </a:buClr>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bbb.v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合法！</a:t>
            </a:r>
            <a:endParaRPr lang="zh-CN" altLang="en-US" sz="2400" b="1" dirty="0">
              <a:latin typeface="华文楷体" panose="02010600040101010101" pitchFamily="2" charset="-122"/>
              <a:ea typeface="华文楷体" panose="02010600040101010101" pitchFamily="2" charset="-122"/>
            </a:endParaRPr>
          </a:p>
        </p:txBody>
      </p:sp>
      <p:sp>
        <p:nvSpPr>
          <p:cNvPr id="1808395" name="AutoShape 11"/>
          <p:cNvSpPr/>
          <p:nvPr/>
        </p:nvSpPr>
        <p:spPr>
          <a:xfrm>
            <a:off x="2003425" y="3759200"/>
            <a:ext cx="739775" cy="246063"/>
          </a:xfrm>
          <a:prstGeom prst="rightArrow">
            <a:avLst>
              <a:gd name="adj1" fmla="val 50000"/>
              <a:gd name="adj2" fmla="val 75021"/>
            </a:avLst>
          </a:prstGeom>
          <a:solidFill>
            <a:srgbClr val="FF0066"/>
          </a:solid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1808392"/>
                                        </p:tgtEl>
                                        <p:attrNameLst>
                                          <p:attrName>style.visibility</p:attrName>
                                        </p:attrNameLst>
                                      </p:cBhvr>
                                      <p:to>
                                        <p:strVal val="visible"/>
                                      </p:to>
                                    </p:set>
                                    <p:anim calcmode="lin" valueType="num">
                                      <p:cBhvr>
                                        <p:cTn id="7" dur="500" fill="hold"/>
                                        <p:tgtEl>
                                          <p:spTgt spid="1808392"/>
                                        </p:tgtEl>
                                        <p:attrNameLst>
                                          <p:attrName>ppt_w</p:attrName>
                                        </p:attrNameLst>
                                      </p:cBhvr>
                                      <p:tavLst>
                                        <p:tav tm="0">
                                          <p:val>
                                            <p:strVal val="4/3*#ppt_w"/>
                                          </p:val>
                                        </p:tav>
                                        <p:tav tm="100000">
                                          <p:val>
                                            <p:strVal val="#ppt_w"/>
                                          </p:val>
                                        </p:tav>
                                      </p:tavLst>
                                    </p:anim>
                                    <p:anim calcmode="lin" valueType="num">
                                      <p:cBhvr>
                                        <p:cTn id="8" dur="500" fill="hold"/>
                                        <p:tgtEl>
                                          <p:spTgt spid="1808392"/>
                                        </p:tgtEl>
                                        <p:attrNameLst>
                                          <p:attrName>ppt_h</p:attrName>
                                        </p:attrNameLst>
                                      </p:cBhvr>
                                      <p:tavLst>
                                        <p:tav tm="0">
                                          <p:val>
                                            <p:strVal val="4/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808388"/>
                                        </p:tgtEl>
                                        <p:attrNameLst>
                                          <p:attrName>style.visibility</p:attrName>
                                        </p:attrNameLst>
                                      </p:cBhvr>
                                      <p:to>
                                        <p:strVal val="visible"/>
                                      </p:to>
                                    </p:set>
                                    <p:anim calcmode="lin" valueType="num">
                                      <p:cBhvr>
                                        <p:cTn id="13" dur="500" fill="hold"/>
                                        <p:tgtEl>
                                          <p:spTgt spid="1808388"/>
                                        </p:tgtEl>
                                        <p:attrNameLst>
                                          <p:attrName>ppt_w</p:attrName>
                                        </p:attrNameLst>
                                      </p:cBhvr>
                                      <p:tavLst>
                                        <p:tav tm="0">
                                          <p:val>
                                            <p:fltVal val="0.000000"/>
                                          </p:val>
                                        </p:tav>
                                        <p:tav tm="100000">
                                          <p:val>
                                            <p:strVal val="#ppt_w"/>
                                          </p:val>
                                        </p:tav>
                                      </p:tavLst>
                                    </p:anim>
                                    <p:anim calcmode="lin" valueType="num">
                                      <p:cBhvr>
                                        <p:cTn id="14" dur="500" fill="hold"/>
                                        <p:tgtEl>
                                          <p:spTgt spid="1808388"/>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808390">
                                            <p:txEl>
                                              <p:charRg st="0" end="31"/>
                                            </p:txEl>
                                          </p:spTgt>
                                        </p:tgtEl>
                                        <p:attrNameLst>
                                          <p:attrName>style.visibility</p:attrName>
                                        </p:attrNameLst>
                                      </p:cBhvr>
                                      <p:to>
                                        <p:strVal val="visible"/>
                                      </p:to>
                                    </p:set>
                                    <p:animEffect transition="in" filter="wipe(left)">
                                      <p:cBhvr>
                                        <p:cTn id="19" dur="500"/>
                                        <p:tgtEl>
                                          <p:spTgt spid="1808390">
                                            <p:txEl>
                                              <p:charRg st="0" end="3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1808395"/>
                                        </p:tgtEl>
                                        <p:attrNameLst>
                                          <p:attrName>style.visibility</p:attrName>
                                        </p:attrNameLst>
                                      </p:cBhvr>
                                      <p:to>
                                        <p:strVal val="visible"/>
                                      </p:to>
                                    </p:set>
                                    <p:anim calcmode="lin" valueType="num">
                                      <p:cBhvr>
                                        <p:cTn id="24" dur="500" fill="hold"/>
                                        <p:tgtEl>
                                          <p:spTgt spid="1808395"/>
                                        </p:tgtEl>
                                        <p:attrNameLst>
                                          <p:attrName>ppt_x</p:attrName>
                                        </p:attrNameLst>
                                      </p:cBhvr>
                                      <p:tavLst>
                                        <p:tav tm="0">
                                          <p:val>
                                            <p:strVal val="#ppt_x-#ppt_w/2"/>
                                          </p:val>
                                        </p:tav>
                                        <p:tav tm="100000">
                                          <p:val>
                                            <p:strVal val="#ppt_x"/>
                                          </p:val>
                                        </p:tav>
                                      </p:tavLst>
                                    </p:anim>
                                    <p:anim calcmode="lin" valueType="num">
                                      <p:cBhvr>
                                        <p:cTn id="25" dur="500" fill="hold"/>
                                        <p:tgtEl>
                                          <p:spTgt spid="1808395"/>
                                        </p:tgtEl>
                                        <p:attrNameLst>
                                          <p:attrName>ppt_y</p:attrName>
                                        </p:attrNameLst>
                                      </p:cBhvr>
                                      <p:tavLst>
                                        <p:tav tm="0">
                                          <p:val>
                                            <p:strVal val="#ppt_y"/>
                                          </p:val>
                                        </p:tav>
                                        <p:tav tm="100000">
                                          <p:val>
                                            <p:strVal val="#ppt_y"/>
                                          </p:val>
                                        </p:tav>
                                      </p:tavLst>
                                    </p:anim>
                                    <p:anim calcmode="lin" valueType="num">
                                      <p:cBhvr>
                                        <p:cTn id="26" dur="500" fill="hold"/>
                                        <p:tgtEl>
                                          <p:spTgt spid="1808395"/>
                                        </p:tgtEl>
                                        <p:attrNameLst>
                                          <p:attrName>ppt_w</p:attrName>
                                        </p:attrNameLst>
                                      </p:cBhvr>
                                      <p:tavLst>
                                        <p:tav tm="0">
                                          <p:val>
                                            <p:fltVal val="0.000000"/>
                                          </p:val>
                                        </p:tav>
                                        <p:tav tm="100000">
                                          <p:val>
                                            <p:strVal val="#ppt_w"/>
                                          </p:val>
                                        </p:tav>
                                      </p:tavLst>
                                    </p:anim>
                                    <p:anim calcmode="lin" valueType="num">
                                      <p:cBhvr>
                                        <p:cTn id="27" dur="500" fill="hold"/>
                                        <p:tgtEl>
                                          <p:spTgt spid="1808395"/>
                                        </p:tgtEl>
                                        <p:attrNameLst>
                                          <p:attrName>ppt_h</p:attrName>
                                        </p:attrNameLst>
                                      </p:cBhvr>
                                      <p:tavLst>
                                        <p:tav tm="0">
                                          <p:val>
                                            <p:strVal val="#ppt_h"/>
                                          </p:val>
                                        </p:tav>
                                        <p:tav tm="100000">
                                          <p:val>
                                            <p:strVal val="#ppt_h"/>
                                          </p:val>
                                        </p:tav>
                                      </p:tavLst>
                                    </p:anim>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808394">
                                            <p:txEl>
                                              <p:charRg st="0" end="18"/>
                                            </p:txEl>
                                          </p:spTgt>
                                        </p:tgtEl>
                                        <p:attrNameLst>
                                          <p:attrName>style.visibility</p:attrName>
                                        </p:attrNameLst>
                                      </p:cBhvr>
                                      <p:to>
                                        <p:strVal val="visible"/>
                                      </p:to>
                                    </p:set>
                                    <p:animEffect transition="in" filter="wipe(left)">
                                      <p:cBhvr>
                                        <p:cTn id="31" dur="500"/>
                                        <p:tgtEl>
                                          <p:spTgt spid="1808394">
                                            <p:txEl>
                                              <p:charRg st="0" end="18"/>
                                            </p:txEl>
                                          </p:spTgt>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1808394">
                                            <p:txEl>
                                              <p:charRg st="18" end="41"/>
                                            </p:txEl>
                                          </p:spTgt>
                                        </p:tgtEl>
                                        <p:attrNameLst>
                                          <p:attrName>style.visibility</p:attrName>
                                        </p:attrNameLst>
                                      </p:cBhvr>
                                      <p:to>
                                        <p:strVal val="visible"/>
                                      </p:to>
                                    </p:set>
                                    <p:animEffect transition="in" filter="wipe(left)">
                                      <p:cBhvr>
                                        <p:cTn id="35" dur="500"/>
                                        <p:tgtEl>
                                          <p:spTgt spid="1808394">
                                            <p:txEl>
                                              <p:charRg st="18" end="4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1808389"/>
                                        </p:tgtEl>
                                        <p:attrNameLst>
                                          <p:attrName>style.visibility</p:attrName>
                                        </p:attrNameLst>
                                      </p:cBhvr>
                                      <p:to>
                                        <p:strVal val="visible"/>
                                      </p:to>
                                    </p:set>
                                    <p:anim calcmode="lin" valueType="num">
                                      <p:cBhvr>
                                        <p:cTn id="40" dur="500" fill="hold"/>
                                        <p:tgtEl>
                                          <p:spTgt spid="1808389"/>
                                        </p:tgtEl>
                                        <p:attrNameLst>
                                          <p:attrName>ppt_w</p:attrName>
                                        </p:attrNameLst>
                                      </p:cBhvr>
                                      <p:tavLst>
                                        <p:tav tm="0">
                                          <p:val>
                                            <p:fltVal val="0.000000"/>
                                          </p:val>
                                        </p:tav>
                                        <p:tav tm="100000">
                                          <p:val>
                                            <p:strVal val="#ppt_w"/>
                                          </p:val>
                                        </p:tav>
                                      </p:tavLst>
                                    </p:anim>
                                    <p:anim calcmode="lin" valueType="num">
                                      <p:cBhvr>
                                        <p:cTn id="41" dur="500" fill="hold"/>
                                        <p:tgtEl>
                                          <p:spTgt spid="1808389"/>
                                        </p:tgtEl>
                                        <p:attrNameLst>
                                          <p:attrName>ppt_h</p:attrName>
                                        </p:attrNameLst>
                                      </p:cBhvr>
                                      <p:tavLst>
                                        <p:tav tm="0">
                                          <p:val>
                                            <p:fltVal val="0.00000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08391">
                                            <p:txEl>
                                              <p:charRg st="0" end="31"/>
                                            </p:txEl>
                                          </p:spTgt>
                                        </p:tgtEl>
                                        <p:attrNameLst>
                                          <p:attrName>style.visibility</p:attrName>
                                        </p:attrNameLst>
                                      </p:cBhvr>
                                      <p:to>
                                        <p:strVal val="visible"/>
                                      </p:to>
                                    </p:set>
                                    <p:animEffect transition="in" filter="wipe(left)">
                                      <p:cBhvr>
                                        <p:cTn id="46" dur="500"/>
                                        <p:tgtEl>
                                          <p:spTgt spid="1808391">
                                            <p:txEl>
                                              <p:charRg st="0" end="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8388" grpId="0" animBg="1"/>
      <p:bldP spid="1808389" grpId="0" animBg="1"/>
      <p:bldP spid="1808390" grpId="0" bldLvl="2" build="p"/>
      <p:bldP spid="1808391" grpId="0" bldLvl="2" build="p"/>
      <p:bldP spid="1808392" grpId="0"/>
      <p:bldP spid="1808394" grpId="0" bldLvl="2" advAuto="1000" build="p"/>
      <p:bldP spid="1808395" grpId="0" animBg="1"/>
    </p:bldLst>
  </p:timing>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785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78531" name="内容占位符 2"/>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7853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10435" name="Rectangle 3"/>
          <p:cNvSpPr/>
          <p:nvPr/>
        </p:nvSpPr>
        <p:spPr>
          <a:xfrm>
            <a:off x="819150" y="1347788"/>
            <a:ext cx="7696200" cy="904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可将多个</a:t>
            </a:r>
            <a:r>
              <a:rPr lang="en-US" altLang="zh-CN" sz="2400" b="1" dirty="0">
                <a:latin typeface="Times New Roman" panose="02020603050405020304" pitchFamily="18" charset="0"/>
                <a:ea typeface="华文楷体" panose="02010600040101010101" pitchFamily="2" charset="-122"/>
              </a:rPr>
              <a:t>‵include</a:t>
            </a:r>
            <a:r>
              <a:rPr lang="zh-CN" altLang="en-US" sz="2400" b="1" dirty="0">
                <a:latin typeface="Times New Roman" panose="02020603050405020304" pitchFamily="18" charset="0"/>
                <a:ea typeface="华文楷体" panose="02010600040101010101" pitchFamily="2" charset="-122"/>
              </a:rPr>
              <a:t>语句写在一行；在该行中，只可出现空格和注释行。</a:t>
            </a:r>
            <a:endParaRPr lang="zh-CN" altLang="en-US" sz="2400" b="1" dirty="0">
              <a:latin typeface="Times New Roman" panose="02020603050405020304" pitchFamily="18" charset="0"/>
              <a:ea typeface="华文楷体" panose="02010600040101010101" pitchFamily="2" charset="-122"/>
            </a:endParaRPr>
          </a:p>
        </p:txBody>
      </p:sp>
      <p:sp>
        <p:nvSpPr>
          <p:cNvPr id="1810436" name="Rectangle 4"/>
          <p:cNvSpPr/>
          <p:nvPr/>
        </p:nvSpPr>
        <p:spPr>
          <a:xfrm>
            <a:off x="771525" y="3454400"/>
            <a:ext cx="3505200" cy="50323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文件包含允许嵌套。</a:t>
            </a:r>
            <a:endParaRPr lang="zh-CN" altLang="en-US" sz="2400" b="1" dirty="0">
              <a:latin typeface="华文楷体" panose="02010600040101010101" pitchFamily="2" charset="-122"/>
              <a:ea typeface="华文楷体" panose="02010600040101010101" pitchFamily="2" charset="-122"/>
            </a:endParaRPr>
          </a:p>
        </p:txBody>
      </p:sp>
      <p:sp>
        <p:nvSpPr>
          <p:cNvPr id="1810437" name="Text Box 5"/>
          <p:cNvSpPr txBox="1"/>
          <p:nvPr/>
        </p:nvSpPr>
        <p:spPr>
          <a:xfrm>
            <a:off x="1096963" y="2451100"/>
            <a:ext cx="7239000" cy="4968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aaa.v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2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include </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bbb.v</a:t>
            </a:r>
            <a:r>
              <a:rPr lang="en-US" altLang="zh-CN" sz="2400" b="1" dirty="0">
                <a:latin typeface="Times New Roman" panose="02020603050405020304" pitchFamily="18" charset="0"/>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 </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合法！</a:t>
            </a:r>
            <a:endParaRPr lang="zh-CN" altLang="en-US" sz="2400" b="1" dirty="0">
              <a:latin typeface="Times New Roman" panose="02020603050405020304" pitchFamily="18" charset="0"/>
              <a:ea typeface="华文楷体" panose="02010600040101010101" pitchFamily="2" charset="-122"/>
            </a:endParaRPr>
          </a:p>
        </p:txBody>
      </p:sp>
      <p:grpSp>
        <p:nvGrpSpPr>
          <p:cNvPr id="2" name="Group 6"/>
          <p:cNvGrpSpPr/>
          <p:nvPr/>
        </p:nvGrpSpPr>
        <p:grpSpPr>
          <a:xfrm>
            <a:off x="85725" y="4064000"/>
            <a:ext cx="2819400" cy="2133600"/>
            <a:chOff x="240" y="2736"/>
            <a:chExt cx="1776" cy="1344"/>
          </a:xfrm>
        </p:grpSpPr>
        <p:grpSp>
          <p:nvGrpSpPr>
            <p:cNvPr id="278547" name="Group 7"/>
            <p:cNvGrpSpPr/>
            <p:nvPr/>
          </p:nvGrpSpPr>
          <p:grpSpPr>
            <a:xfrm>
              <a:off x="240" y="3024"/>
              <a:ext cx="1776" cy="1056"/>
              <a:chOff x="240" y="3024"/>
              <a:chExt cx="1776" cy="1056"/>
            </a:xfrm>
          </p:grpSpPr>
          <p:sp>
            <p:nvSpPr>
              <p:cNvPr id="278549" name="Rectangle 8"/>
              <p:cNvSpPr/>
              <p:nvPr/>
            </p:nvSpPr>
            <p:spPr>
              <a:xfrm>
                <a:off x="240" y="3024"/>
                <a:ext cx="1776"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278550" name="Text Box 9"/>
              <p:cNvSpPr txBox="1"/>
              <p:nvPr/>
            </p:nvSpPr>
            <p:spPr>
              <a:xfrm>
                <a:off x="288" y="3130"/>
                <a:ext cx="1728" cy="902"/>
              </a:xfrm>
              <a:prstGeom prst="rect">
                <a:avLst/>
              </a:prstGeom>
              <a:solidFill>
                <a:srgbClr val="99CCFF"/>
              </a:solid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‵include</a:t>
                </a: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file2.v</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p:txBody>
          </p:sp>
        </p:grpSp>
        <p:sp>
          <p:nvSpPr>
            <p:cNvPr id="278548" name="Text Box 10"/>
            <p:cNvSpPr txBox="1"/>
            <p:nvPr/>
          </p:nvSpPr>
          <p:spPr>
            <a:xfrm>
              <a:off x="816" y="2736"/>
              <a:ext cx="864" cy="2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file1.v</a:t>
              </a:r>
              <a:endParaRPr lang="en-US" altLang="zh-CN" sz="2400" b="1" dirty="0">
                <a:latin typeface="Times New Roman" panose="02020603050405020304" pitchFamily="18" charset="0"/>
                <a:ea typeface="宋体" panose="02010600030101010101" pitchFamily="2" charset="-122"/>
              </a:endParaRPr>
            </a:p>
          </p:txBody>
        </p:sp>
      </p:grpSp>
      <p:grpSp>
        <p:nvGrpSpPr>
          <p:cNvPr id="4" name="Group 11"/>
          <p:cNvGrpSpPr/>
          <p:nvPr/>
        </p:nvGrpSpPr>
        <p:grpSpPr>
          <a:xfrm>
            <a:off x="3133725" y="4064000"/>
            <a:ext cx="2819400" cy="2133600"/>
            <a:chOff x="240" y="2736"/>
            <a:chExt cx="1776" cy="1344"/>
          </a:xfrm>
        </p:grpSpPr>
        <p:grpSp>
          <p:nvGrpSpPr>
            <p:cNvPr id="278543" name="Group 12"/>
            <p:cNvGrpSpPr/>
            <p:nvPr/>
          </p:nvGrpSpPr>
          <p:grpSpPr>
            <a:xfrm>
              <a:off x="240" y="3024"/>
              <a:ext cx="1776" cy="1056"/>
              <a:chOff x="240" y="3024"/>
              <a:chExt cx="1776" cy="1056"/>
            </a:xfrm>
          </p:grpSpPr>
          <p:sp>
            <p:nvSpPr>
              <p:cNvPr id="278545" name="Rectangle 13"/>
              <p:cNvSpPr/>
              <p:nvPr/>
            </p:nvSpPr>
            <p:spPr>
              <a:xfrm>
                <a:off x="240" y="3024"/>
                <a:ext cx="1776"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278546" name="Text Box 14"/>
              <p:cNvSpPr txBox="1"/>
              <p:nvPr/>
            </p:nvSpPr>
            <p:spPr>
              <a:xfrm>
                <a:off x="288" y="3122"/>
                <a:ext cx="1728" cy="910"/>
              </a:xfrm>
              <a:prstGeom prst="rect">
                <a:avLst/>
              </a:prstGeom>
              <a:solidFill>
                <a:srgbClr val="99CCFF"/>
              </a:solid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‵include</a:t>
                </a:r>
                <a:r>
                  <a:rPr lang="en-US" altLang="zh-CN" b="1" dirty="0">
                    <a:latin typeface="宋体" panose="02010600030101010101" pitchFamily="2" charset="-122"/>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a:t>
                </a:r>
                <a:r>
                  <a:rPr lang="en-US" altLang="zh-CN" b="1" dirty="0">
                    <a:latin typeface="宋体" panose="02010600030101010101" pitchFamily="2" charset="-122"/>
                    <a:ea typeface="宋体" panose="02010600030101010101" pitchFamily="2" charset="-122"/>
                  </a:rPr>
                  <a:t>filev</a:t>
                </a: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p:txBody>
          </p:sp>
        </p:grpSp>
        <p:sp>
          <p:nvSpPr>
            <p:cNvPr id="278544" name="Text Box 15"/>
            <p:cNvSpPr txBox="1"/>
            <p:nvPr/>
          </p:nvSpPr>
          <p:spPr>
            <a:xfrm>
              <a:off x="816" y="2736"/>
              <a:ext cx="864" cy="288"/>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file2.v</a:t>
              </a:r>
              <a:endParaRPr lang="en-US" altLang="zh-CN" sz="2400" b="1" dirty="0">
                <a:latin typeface="Times New Roman" panose="02020603050405020304" pitchFamily="18" charset="0"/>
                <a:ea typeface="宋体" panose="02010600030101010101" pitchFamily="2" charset="-122"/>
              </a:endParaRPr>
            </a:p>
          </p:txBody>
        </p:sp>
      </p:grpSp>
      <p:grpSp>
        <p:nvGrpSpPr>
          <p:cNvPr id="6" name="Group 16"/>
          <p:cNvGrpSpPr/>
          <p:nvPr/>
        </p:nvGrpSpPr>
        <p:grpSpPr>
          <a:xfrm>
            <a:off x="6181725" y="4060825"/>
            <a:ext cx="2819400" cy="2136775"/>
            <a:chOff x="240" y="2734"/>
            <a:chExt cx="1776" cy="1346"/>
          </a:xfrm>
        </p:grpSpPr>
        <p:grpSp>
          <p:nvGrpSpPr>
            <p:cNvPr id="278539" name="Group 17"/>
            <p:cNvGrpSpPr/>
            <p:nvPr/>
          </p:nvGrpSpPr>
          <p:grpSpPr>
            <a:xfrm>
              <a:off x="240" y="3024"/>
              <a:ext cx="1776" cy="1056"/>
              <a:chOff x="240" y="3024"/>
              <a:chExt cx="1776" cy="1056"/>
            </a:xfrm>
          </p:grpSpPr>
          <p:sp>
            <p:nvSpPr>
              <p:cNvPr id="278541" name="Rectangle 18"/>
              <p:cNvSpPr/>
              <p:nvPr/>
            </p:nvSpPr>
            <p:spPr>
              <a:xfrm>
                <a:off x="240" y="3024"/>
                <a:ext cx="1776" cy="1056"/>
              </a:xfrm>
              <a:prstGeom prst="rect">
                <a:avLst/>
              </a:prstGeom>
              <a:solidFill>
                <a:srgbClr val="99CCFF"/>
              </a:solidFill>
              <a:ln w="9525">
                <a:noFill/>
              </a:ln>
              <a:effectLst>
                <a:outerShdw dist="107763" dir="2699999" algn="ctr" rotWithShape="0">
                  <a:srgbClr val="808080"/>
                </a:outerShdw>
              </a:effectLst>
            </p:spPr>
            <p:txBody>
              <a:bodyPr wrap="none" lIns="92075" tIns="46038" rIns="92075" bIns="46038"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endParaRPr lang="en-US" altLang="zh-CN" sz="1600" b="1" dirty="0">
                  <a:solidFill>
                    <a:srgbClr val="FF33CC"/>
                  </a:solidFill>
                  <a:latin typeface="Tahoma" panose="020B0604030504040204" pitchFamily="34" charset="0"/>
                  <a:ea typeface="宋体" panose="02010600030101010101" pitchFamily="2" charset="-122"/>
                </a:endParaRPr>
              </a:p>
            </p:txBody>
          </p:sp>
          <p:sp>
            <p:nvSpPr>
              <p:cNvPr id="278542" name="Text Box 19"/>
              <p:cNvSpPr txBox="1"/>
              <p:nvPr/>
            </p:nvSpPr>
            <p:spPr>
              <a:xfrm>
                <a:off x="288" y="3151"/>
                <a:ext cx="1728" cy="881"/>
              </a:xfrm>
              <a:prstGeom prst="rect">
                <a:avLst/>
              </a:prstGeom>
              <a:solidFill>
                <a:srgbClr val="99CCFF"/>
              </a:solid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sz="1800" b="1" dirty="0">
                    <a:latin typeface="宋体" panose="02010600030101010101" pitchFamily="2" charset="-122"/>
                    <a:ea typeface="宋体" panose="02010600030101010101" pitchFamily="2" charset="-122"/>
                  </a:rPr>
                  <a:t>(</a:t>
                </a:r>
                <a:r>
                  <a:rPr lang="zh-CN" altLang="en-US" sz="1800" b="1" dirty="0">
                    <a:latin typeface="宋体" panose="02010600030101010101" pitchFamily="2" charset="-122"/>
                    <a:ea typeface="宋体" panose="02010600030101010101" pitchFamily="2" charset="-122"/>
                  </a:rPr>
                  <a:t>不包含</a:t>
                </a:r>
                <a:r>
                  <a:rPr lang="en-US" altLang="zh-CN" sz="1800" b="1" dirty="0">
                    <a:latin typeface="宋体" panose="02010600030101010101" pitchFamily="2" charset="-122"/>
                    <a:ea typeface="宋体" panose="02010600030101010101" pitchFamily="2" charset="-122"/>
                  </a:rPr>
                  <a:t>‵include </a:t>
                </a:r>
                <a:r>
                  <a:rPr lang="zh-CN" altLang="en-US" sz="1800" b="1" dirty="0">
                    <a:latin typeface="宋体" panose="02010600030101010101" pitchFamily="2" charset="-122"/>
                    <a:ea typeface="宋体" panose="02010600030101010101" pitchFamily="2" charset="-122"/>
                  </a:rPr>
                  <a:t>命令</a:t>
                </a:r>
                <a:r>
                  <a:rPr lang="en-US" altLang="zh-CN" sz="1800" b="1" dirty="0">
                    <a:latin typeface="宋体" panose="02010600030101010101" pitchFamily="2" charset="-122"/>
                    <a:ea typeface="宋体" panose="02010600030101010101" pitchFamily="2" charset="-122"/>
                  </a:rPr>
                  <a:t>)</a:t>
                </a:r>
                <a:endParaRPr lang="en-US" altLang="zh-CN" sz="1800"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a:p>
                <a:pPr marL="0" lvl="0" indent="0" algn="just">
                  <a:lnSpc>
                    <a:spcPct val="110000"/>
                  </a:lnSpc>
                  <a:spcBef>
                    <a:spcPct val="0"/>
                  </a:spcBef>
                  <a:buNone/>
                </a:pPr>
                <a:r>
                  <a:rPr lang="en-US" altLang="zh-CN" b="1" dirty="0">
                    <a:latin typeface="Times New Roman" panose="02020603050405020304" pitchFamily="18" charset="0"/>
                    <a:ea typeface="宋体" panose="02010600030101010101" pitchFamily="2" charset="-122"/>
                  </a:rPr>
                  <a:t>……</a:t>
                </a:r>
                <a:endParaRPr lang="en-US" altLang="zh-CN" b="1" dirty="0">
                  <a:latin typeface="宋体" panose="02010600030101010101" pitchFamily="2" charset="-122"/>
                  <a:ea typeface="宋体" panose="02010600030101010101" pitchFamily="2" charset="-122"/>
                </a:endParaRPr>
              </a:p>
            </p:txBody>
          </p:sp>
        </p:grpSp>
        <p:sp>
          <p:nvSpPr>
            <p:cNvPr id="278540" name="Text Box 20"/>
            <p:cNvSpPr txBox="1"/>
            <p:nvPr/>
          </p:nvSpPr>
          <p:spPr>
            <a:xfrm>
              <a:off x="816" y="2734"/>
              <a:ext cx="864" cy="29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281305" lvl="0" indent="-281305">
                <a:spcBef>
                  <a:spcPct val="0"/>
                </a:spcBef>
                <a:buNone/>
              </a:pPr>
              <a:r>
                <a:rPr lang="en-US" altLang="zh-CN" sz="2400" b="1" dirty="0">
                  <a:latin typeface="Times New Roman" panose="02020603050405020304" pitchFamily="18" charset="0"/>
                  <a:ea typeface="宋体" panose="02010600030101010101" pitchFamily="2" charset="-122"/>
                </a:rPr>
                <a:t>filev</a:t>
              </a:r>
              <a:endParaRPr lang="en-US" altLang="zh-CN" sz="2400" b="1" dirty="0">
                <a:latin typeface="Times New Roman" panose="02020603050405020304" pitchFamily="18" charset="0"/>
                <a:ea typeface="宋体" panose="02010600030101010101" pitchFamily="2" charset="-122"/>
              </a:endParaRPr>
            </a:p>
          </p:txBody>
        </p:sp>
      </p:gr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10435"/>
                                        </p:tgtEl>
                                        <p:attrNameLst>
                                          <p:attrName>style.visibility</p:attrName>
                                        </p:attrNameLst>
                                      </p:cBhvr>
                                      <p:to>
                                        <p:strVal val="visible"/>
                                      </p:to>
                                    </p:set>
                                    <p:anim calcmode="lin" valueType="num">
                                      <p:cBhvr>
                                        <p:cTn id="7" dur="500" fill="hold"/>
                                        <p:tgtEl>
                                          <p:spTgt spid="1810435"/>
                                        </p:tgtEl>
                                        <p:attrNameLst>
                                          <p:attrName>ppt_w</p:attrName>
                                        </p:attrNameLst>
                                      </p:cBhvr>
                                      <p:tavLst>
                                        <p:tav tm="0">
                                          <p:val>
                                            <p:fltVal val="0.000000"/>
                                          </p:val>
                                        </p:tav>
                                        <p:tav tm="100000">
                                          <p:val>
                                            <p:strVal val="#ppt_w"/>
                                          </p:val>
                                        </p:tav>
                                      </p:tavLst>
                                    </p:anim>
                                    <p:anim calcmode="lin" valueType="num">
                                      <p:cBhvr>
                                        <p:cTn id="8" dur="500" fill="hold"/>
                                        <p:tgtEl>
                                          <p:spTgt spid="1810435"/>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10437">
                                            <p:txEl>
                                              <p:charRg st="0" end="40"/>
                                            </p:txEl>
                                          </p:spTgt>
                                        </p:tgtEl>
                                        <p:attrNameLst>
                                          <p:attrName>style.visibility</p:attrName>
                                        </p:attrNameLst>
                                      </p:cBhvr>
                                      <p:to>
                                        <p:strVal val="visible"/>
                                      </p:to>
                                    </p:set>
                                    <p:animEffect transition="in" filter="wipe(left)">
                                      <p:cBhvr>
                                        <p:cTn id="13" dur="500"/>
                                        <p:tgtEl>
                                          <p:spTgt spid="1810437">
                                            <p:txEl>
                                              <p:charRg st="0" end="4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810436"/>
                                        </p:tgtEl>
                                        <p:attrNameLst>
                                          <p:attrName>style.visibility</p:attrName>
                                        </p:attrNameLst>
                                      </p:cBhvr>
                                      <p:to>
                                        <p:strVal val="visible"/>
                                      </p:to>
                                    </p:set>
                                    <p:anim calcmode="lin" valueType="num">
                                      <p:cBhvr>
                                        <p:cTn id="18" dur="500" fill="hold"/>
                                        <p:tgtEl>
                                          <p:spTgt spid="1810436"/>
                                        </p:tgtEl>
                                        <p:attrNameLst>
                                          <p:attrName>ppt_w</p:attrName>
                                        </p:attrNameLst>
                                      </p:cBhvr>
                                      <p:tavLst>
                                        <p:tav tm="0">
                                          <p:val>
                                            <p:fltVal val="0.000000"/>
                                          </p:val>
                                        </p:tav>
                                        <p:tav tm="100000">
                                          <p:val>
                                            <p:strVal val="#ppt_w"/>
                                          </p:val>
                                        </p:tav>
                                      </p:tavLst>
                                    </p:anim>
                                    <p:anim calcmode="lin" valueType="num">
                                      <p:cBhvr>
                                        <p:cTn id="19" dur="500" fill="hold"/>
                                        <p:tgtEl>
                                          <p:spTgt spid="1810436"/>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additive="base">
                                        <p:cTn id="36" dur="500" fill="hold"/>
                                        <p:tgtEl>
                                          <p:spTgt spid="6"/>
                                        </p:tgtEl>
                                        <p:attrNameLst>
                                          <p:attrName>ppt_x</p:attrName>
                                        </p:attrNameLst>
                                      </p:cBhvr>
                                      <p:tavLst>
                                        <p:tav tm="0">
                                          <p:val>
                                            <p:strVal val="#ppt_x"/>
                                          </p:val>
                                        </p:tav>
                                        <p:tav tm="100000">
                                          <p:val>
                                            <p:strVal val="#ppt_x"/>
                                          </p:val>
                                        </p:tav>
                                      </p:tavLst>
                                    </p:anim>
                                    <p:anim calcmode="lin" valueType="num">
                                      <p:cBhvr additive="base">
                                        <p:cTn id="3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0435" grpId="0" animBg="1"/>
      <p:bldP spid="1810436" grpId="0" animBg="1"/>
      <p:bldP spid="1810437" grpId="0" bldLvl="2" build="p"/>
    </p:bldLst>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05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80579"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12483"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sz="2800" dirty="0">
                <a:latin typeface="Times New Roman" panose="02020603050405020304" pitchFamily="18" charset="0"/>
                <a:ea typeface="华文楷体" panose="02010600040101010101" pitchFamily="2" charset="-122"/>
                <a:cs typeface="+mn-cs"/>
              </a:rPr>
              <a:t>三、</a:t>
            </a:r>
            <a:r>
              <a:rPr lang="en-US" altLang="zh-CN" sz="2800" dirty="0">
                <a:latin typeface="Times New Roman" panose="02020603050405020304" pitchFamily="18" charset="0"/>
                <a:ea typeface="华文楷体" panose="02010600040101010101" pitchFamily="2" charset="-122"/>
                <a:cs typeface="+mn-cs"/>
              </a:rPr>
              <a:t>‵timescale</a:t>
            </a:r>
            <a:r>
              <a:rPr lang="zh-CN" altLang="en-US" sz="2800" dirty="0">
                <a:latin typeface="Times New Roman" panose="02020603050405020304" pitchFamily="18" charset="0"/>
                <a:ea typeface="华文楷体" panose="02010600040101010101" pitchFamily="2" charset="-122"/>
                <a:cs typeface="+mn-cs"/>
              </a:rPr>
              <a:t>语句</a:t>
            </a:r>
            <a:endParaRPr lang="zh-CN" altLang="en-US" sz="28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dirty="0">
                <a:latin typeface="Times New Roman" panose="02020603050405020304" pitchFamily="18" charset="0"/>
                <a:ea typeface="华文楷体" panose="02010600040101010101" pitchFamily="2" charset="-122"/>
                <a:cs typeface="+mn-cs"/>
              </a:rPr>
              <a:t>时间尺度语句</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用于定义跟在该命令后模块的时间单位和时间精度。</a:t>
            </a:r>
            <a:endParaRPr lang="zh-CN" altLang="en-US" dirty="0">
              <a:latin typeface="Times New Roman" panose="02020603050405020304" pitchFamily="18" charset="0"/>
              <a:ea typeface="华文楷体" panose="02010600040101010101" pitchFamily="2" charset="-122"/>
              <a:cs typeface="+mn-cs"/>
            </a:endParaRPr>
          </a:p>
        </p:txBody>
      </p:sp>
      <p:sp>
        <p:nvSpPr>
          <p:cNvPr id="1812484" name="Text Box 4"/>
          <p:cNvSpPr txBox="1"/>
          <p:nvPr/>
        </p:nvSpPr>
        <p:spPr>
          <a:xfrm>
            <a:off x="2044700" y="2397125"/>
            <a:ext cx="4724400" cy="427038"/>
          </a:xfrm>
          <a:prstGeom prst="rect">
            <a:avLst/>
          </a:prstGeom>
          <a:noFill/>
          <a:ln w="9525" cap="flat" cmpd="sng">
            <a:solidFill>
              <a:srgbClr val="FF9900"/>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en-US" altLang="zh-CN" b="1" dirty="0">
                <a:solidFill>
                  <a:srgbClr val="FF0066"/>
                </a:solidFill>
                <a:latin typeface="宋体" panose="02010600030101010101" pitchFamily="2" charset="-122"/>
                <a:ea typeface="宋体" panose="02010600030101010101" pitchFamily="2" charset="-122"/>
              </a:rPr>
              <a:t>‵timescale</a:t>
            </a:r>
            <a:r>
              <a:rPr lang="en-US" altLang="zh-CN" b="1" dirty="0">
                <a:latin typeface="宋体" panose="02010600030101010101" pitchFamily="2" charset="-122"/>
                <a:ea typeface="宋体" panose="02010600030101010101" pitchFamily="2" charset="-122"/>
              </a:rPr>
              <a:t> &lt;</a:t>
            </a:r>
            <a:r>
              <a:rPr lang="zh-CN" altLang="en-US" b="1" dirty="0">
                <a:latin typeface="宋体" panose="02010600030101010101" pitchFamily="2" charset="-122"/>
                <a:ea typeface="宋体" panose="02010600030101010101" pitchFamily="2" charset="-122"/>
              </a:rPr>
              <a:t>时间单位</a:t>
            </a:r>
            <a:r>
              <a:rPr lang="en-US" altLang="zh-CN" b="1" dirty="0">
                <a:latin typeface="宋体" panose="02010600030101010101" pitchFamily="2" charset="-122"/>
                <a:ea typeface="宋体" panose="02010600030101010101" pitchFamily="2" charset="-122"/>
              </a:rPr>
              <a:t>&gt; / &lt;</a:t>
            </a:r>
            <a:r>
              <a:rPr lang="zh-CN" altLang="en-US" b="1" dirty="0">
                <a:latin typeface="宋体" panose="02010600030101010101" pitchFamily="2" charset="-122"/>
                <a:ea typeface="宋体" panose="02010600030101010101" pitchFamily="2" charset="-122"/>
              </a:rPr>
              <a:t>时间精度</a:t>
            </a:r>
            <a:r>
              <a:rPr lang="en-US" altLang="zh-CN" b="1" dirty="0">
                <a:latin typeface="宋体" panose="02010600030101010101" pitchFamily="2" charset="-122"/>
                <a:ea typeface="宋体" panose="02010600030101010101" pitchFamily="2" charset="-122"/>
              </a:rPr>
              <a:t>&gt;</a:t>
            </a:r>
            <a:endParaRPr lang="en-US" altLang="zh-CN" b="1" dirty="0">
              <a:latin typeface="宋体" panose="02010600030101010101" pitchFamily="2" charset="-122"/>
              <a:ea typeface="宋体" panose="02010600030101010101" pitchFamily="2" charset="-122"/>
            </a:endParaRPr>
          </a:p>
        </p:txBody>
      </p:sp>
      <p:sp>
        <p:nvSpPr>
          <p:cNvPr id="1812487" name="Text Box 7"/>
          <p:cNvSpPr txBox="1"/>
          <p:nvPr/>
        </p:nvSpPr>
        <p:spPr>
          <a:xfrm>
            <a:off x="254000" y="3125788"/>
            <a:ext cx="8305800" cy="2508250"/>
          </a:xfrm>
          <a:prstGeom prst="rect">
            <a:avLst/>
          </a:prstGeom>
          <a:noFill/>
          <a:ln w="9525">
            <a:noFill/>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859155" lvl="1" indent="-387350" algn="just" eaLnBrk="1" hangingPunct="1">
              <a:lnSpc>
                <a:spcPct val="110000"/>
              </a:lnSpc>
              <a:buClr>
                <a:srgbClr val="FF0066"/>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时间</a:t>
            </a:r>
            <a:r>
              <a:rPr lang="zh-CN" altLang="en-US" sz="2400" b="1" dirty="0">
                <a:solidFill>
                  <a:srgbClr val="FF0066"/>
                </a:solidFill>
                <a:latin typeface="Times New Roman" panose="02020603050405020304" pitchFamily="18" charset="0"/>
                <a:ea typeface="华文楷体" panose="02010600040101010101" pitchFamily="2" charset="-122"/>
              </a:rPr>
              <a:t>单位</a:t>
            </a:r>
            <a:r>
              <a:rPr lang="en-US" altLang="zh-CN" sz="2200" b="1"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用于定义模块中</a:t>
            </a:r>
            <a:r>
              <a:rPr lang="zh-CN" altLang="en-US" sz="2200" b="1" dirty="0">
                <a:solidFill>
                  <a:srgbClr val="FF3399"/>
                </a:solidFill>
                <a:latin typeface="Times New Roman" panose="02020603050405020304" pitchFamily="18" charset="0"/>
                <a:ea typeface="华文楷体" panose="02010600040101010101" pitchFamily="2" charset="-122"/>
              </a:rPr>
              <a:t>仿真</a:t>
            </a:r>
            <a:r>
              <a:rPr lang="zh-CN" altLang="en-US" sz="2200" b="1" dirty="0">
                <a:latin typeface="Times New Roman" panose="02020603050405020304" pitchFamily="18" charset="0"/>
                <a:ea typeface="华文楷体" panose="02010600040101010101" pitchFamily="2" charset="-122"/>
              </a:rPr>
              <a:t>时间和</a:t>
            </a:r>
            <a:r>
              <a:rPr lang="zh-CN" altLang="en-US" sz="2200" b="1" dirty="0">
                <a:solidFill>
                  <a:srgbClr val="FF3399"/>
                </a:solidFill>
                <a:latin typeface="Times New Roman" panose="02020603050405020304" pitchFamily="18" charset="0"/>
                <a:ea typeface="华文楷体" panose="02010600040101010101" pitchFamily="2" charset="-122"/>
              </a:rPr>
              <a:t>延迟</a:t>
            </a:r>
            <a:r>
              <a:rPr lang="zh-CN" altLang="en-US" sz="2200" b="1" dirty="0">
                <a:latin typeface="Times New Roman" panose="02020603050405020304" pitchFamily="18" charset="0"/>
                <a:ea typeface="华文楷体" panose="02010600040101010101" pitchFamily="2" charset="-122"/>
              </a:rPr>
              <a:t>时间的基准单位；</a:t>
            </a:r>
            <a:endParaRPr lang="zh-CN" altLang="en-US" sz="2200" b="1" dirty="0">
              <a:latin typeface="Times New Roman" panose="02020603050405020304" pitchFamily="18" charset="0"/>
              <a:ea typeface="华文楷体" panose="02010600040101010101" pitchFamily="2" charset="-122"/>
            </a:endParaRPr>
          </a:p>
          <a:p>
            <a:pPr marL="859155" lvl="1" indent="-387350" algn="just" eaLnBrk="1" hangingPunct="1">
              <a:lnSpc>
                <a:spcPct val="110000"/>
              </a:lnSpc>
              <a:buClr>
                <a:srgbClr val="FF0066"/>
              </a:buClr>
              <a:buSzPct val="800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rPr>
              <a:t>时间</a:t>
            </a:r>
            <a:r>
              <a:rPr lang="zh-CN" altLang="en-US" sz="2400" b="1" dirty="0">
                <a:solidFill>
                  <a:srgbClr val="FF0066"/>
                </a:solidFill>
                <a:latin typeface="Times New Roman" panose="02020603050405020304" pitchFamily="18" charset="0"/>
                <a:ea typeface="华文楷体" panose="02010600040101010101" pitchFamily="2" charset="-122"/>
              </a:rPr>
              <a:t>精度</a:t>
            </a:r>
            <a:r>
              <a:rPr lang="en-US" altLang="zh-CN" sz="2200" b="1" dirty="0">
                <a:latin typeface="Times New Roman" panose="02020603050405020304" pitchFamily="18" charset="0"/>
                <a:ea typeface="华文楷体" panose="02010600040101010101" pitchFamily="2" charset="-122"/>
              </a:rPr>
              <a:t>——</a:t>
            </a:r>
            <a:r>
              <a:rPr lang="zh-CN" altLang="en-US" sz="2200" b="1" dirty="0">
                <a:latin typeface="Times New Roman" panose="02020603050405020304" pitchFamily="18" charset="0"/>
                <a:ea typeface="华文楷体" panose="02010600040101010101" pitchFamily="2" charset="-122"/>
              </a:rPr>
              <a:t>用来声明该模块的</a:t>
            </a:r>
            <a:r>
              <a:rPr lang="zh-CN" altLang="en-US" sz="2200" b="1" dirty="0">
                <a:solidFill>
                  <a:srgbClr val="FF3399"/>
                </a:solidFill>
                <a:latin typeface="Times New Roman" panose="02020603050405020304" pitchFamily="18" charset="0"/>
                <a:ea typeface="华文楷体" panose="02010600040101010101" pitchFamily="2" charset="-122"/>
              </a:rPr>
              <a:t>仿真</a:t>
            </a:r>
            <a:r>
              <a:rPr lang="zh-CN" altLang="en-US" sz="2200" b="1" dirty="0">
                <a:latin typeface="Times New Roman" panose="02020603050405020304" pitchFamily="18" charset="0"/>
                <a:ea typeface="华文楷体" panose="02010600040101010101" pitchFamily="2" charset="-122"/>
              </a:rPr>
              <a:t>时间和</a:t>
            </a:r>
            <a:r>
              <a:rPr lang="zh-CN" altLang="en-US" sz="2200" b="1" dirty="0">
                <a:solidFill>
                  <a:srgbClr val="FF3399"/>
                </a:solidFill>
                <a:latin typeface="Times New Roman" panose="02020603050405020304" pitchFamily="18" charset="0"/>
                <a:ea typeface="华文楷体" panose="02010600040101010101" pitchFamily="2" charset="-122"/>
              </a:rPr>
              <a:t>延迟</a:t>
            </a:r>
            <a:r>
              <a:rPr lang="zh-CN" altLang="en-US" sz="2200" b="1" dirty="0">
                <a:latin typeface="Times New Roman" panose="02020603050405020304" pitchFamily="18" charset="0"/>
                <a:ea typeface="华文楷体" panose="02010600040101010101" pitchFamily="2" charset="-122"/>
              </a:rPr>
              <a:t>时间的精确程度。</a:t>
            </a:r>
            <a:endParaRPr lang="zh-CN" altLang="en-US" sz="2200" b="1" dirty="0">
              <a:latin typeface="Times New Roman" panose="02020603050405020304" pitchFamily="18" charset="0"/>
              <a:ea typeface="华文楷体" panose="02010600040101010101" pitchFamily="2" charset="-122"/>
            </a:endParaRPr>
          </a:p>
          <a:p>
            <a:pPr marL="859155" lvl="1" indent="-387350" algn="just" eaLnBrk="1" hangingPunct="1">
              <a:lnSpc>
                <a:spcPct val="110000"/>
              </a:lnSpc>
              <a:buClr>
                <a:srgbClr val="FF0066"/>
              </a:buClr>
              <a:buSzPct val="80000"/>
              <a:buFont typeface="Wingdings" panose="05000000000000000000" pitchFamily="2" charset="2"/>
              <a:buChar char="Ø"/>
            </a:pPr>
            <a:r>
              <a:rPr lang="zh-CN" altLang="en-US" sz="2200" b="1" dirty="0">
                <a:latin typeface="Times New Roman" panose="02020603050405020304" pitchFamily="18" charset="0"/>
                <a:ea typeface="华文楷体" panose="02010600040101010101" pitchFamily="2" charset="-122"/>
              </a:rPr>
              <a:t>在同一程序设计里，可以包含采用不同时间单位的模块。此时</a:t>
            </a:r>
            <a:r>
              <a:rPr lang="zh-CN" altLang="en-US" sz="2200" b="1" dirty="0">
                <a:solidFill>
                  <a:srgbClr val="CC3300"/>
                </a:solidFill>
                <a:latin typeface="Times New Roman" panose="02020603050405020304" pitchFamily="18" charset="0"/>
                <a:ea typeface="华文楷体" panose="02010600040101010101" pitchFamily="2" charset="-122"/>
              </a:rPr>
              <a:t>用最小的时间精度值决定仿真的时间单位</a:t>
            </a:r>
            <a:r>
              <a:rPr lang="zh-CN" altLang="en-US" sz="2200" b="1" dirty="0">
                <a:latin typeface="Times New Roman" panose="02020603050405020304" pitchFamily="18" charset="0"/>
                <a:ea typeface="华文楷体" panose="02010600040101010101" pitchFamily="2" charset="-122"/>
              </a:rPr>
              <a:t>。</a:t>
            </a:r>
            <a:endParaRPr lang="zh-CN" altLang="en-US" sz="22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12483"/>
                                        </p:tgtEl>
                                        <p:attrNameLst>
                                          <p:attrName>style.visibility</p:attrName>
                                        </p:attrNameLst>
                                      </p:cBhvr>
                                      <p:to>
                                        <p:strVal val="visible"/>
                                      </p:to>
                                    </p:set>
                                    <p:anim calcmode="lin" valueType="num">
                                      <p:cBhvr additive="base">
                                        <p:cTn id="7" dur="500" fill="hold"/>
                                        <p:tgtEl>
                                          <p:spTgt spid="1812483"/>
                                        </p:tgtEl>
                                        <p:attrNameLst>
                                          <p:attrName>ppt_x</p:attrName>
                                        </p:attrNameLst>
                                      </p:cBhvr>
                                      <p:tavLst>
                                        <p:tav tm="0">
                                          <p:val>
                                            <p:strVal val="0-#ppt_w/2"/>
                                          </p:val>
                                        </p:tav>
                                        <p:tav tm="100000">
                                          <p:val>
                                            <p:strVal val="#ppt_x"/>
                                          </p:val>
                                        </p:tav>
                                      </p:tavLst>
                                    </p:anim>
                                    <p:anim calcmode="lin" valueType="num">
                                      <p:cBhvr additive="base">
                                        <p:cTn id="8" dur="500" fill="hold"/>
                                        <p:tgtEl>
                                          <p:spTgt spid="181248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812484"/>
                                        </p:tgtEl>
                                        <p:attrNameLst>
                                          <p:attrName>style.visibility</p:attrName>
                                        </p:attrNameLst>
                                      </p:cBhvr>
                                      <p:to>
                                        <p:strVal val="visible"/>
                                      </p:to>
                                    </p:set>
                                    <p:animEffect transition="in" filter="wipe(left)">
                                      <p:cBhvr>
                                        <p:cTn id="12" dur="500"/>
                                        <p:tgtEl>
                                          <p:spTgt spid="181248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12487"/>
                                        </p:tgtEl>
                                        <p:attrNameLst>
                                          <p:attrName>style.visibility</p:attrName>
                                        </p:attrNameLst>
                                      </p:cBhvr>
                                      <p:to>
                                        <p:strVal val="visible"/>
                                      </p:to>
                                    </p:set>
                                    <p:anim calcmode="lin" valueType="num">
                                      <p:cBhvr additive="base">
                                        <p:cTn id="17" dur="500" fill="hold"/>
                                        <p:tgtEl>
                                          <p:spTgt spid="1812487"/>
                                        </p:tgtEl>
                                        <p:attrNameLst>
                                          <p:attrName>ppt_x</p:attrName>
                                        </p:attrNameLst>
                                      </p:cBhvr>
                                      <p:tavLst>
                                        <p:tav tm="0">
                                          <p:val>
                                            <p:strVal val="#ppt_x"/>
                                          </p:val>
                                        </p:tav>
                                        <p:tav tm="100000">
                                          <p:val>
                                            <p:strVal val="#ppt_x"/>
                                          </p:val>
                                        </p:tav>
                                      </p:tavLst>
                                    </p:anim>
                                    <p:anim calcmode="lin" valueType="num">
                                      <p:cBhvr additive="base">
                                        <p:cTn id="18" dur="500" fill="hold"/>
                                        <p:tgtEl>
                                          <p:spTgt spid="18124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483" grpId="0"/>
      <p:bldP spid="1812484" grpId="0" bldLvl="0" animBg="1"/>
      <p:bldP spid="1812487" grpId="0"/>
    </p:bldLst>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26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8262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1814531" name="Rectangle 3"/>
          <p:cNvSpPr>
            <a:spLocks noGrp="1"/>
          </p:cNvSpPr>
          <p:nvPr>
            <p:ph idx="1"/>
          </p:nvPr>
        </p:nvSpPr>
        <p:spPr/>
        <p:txBody>
          <a:bodyPr vert="horz" wrap="square" lIns="91440" tIns="45720" rIns="91440" bIns="45720" anchor="t" anchorCtr="0"/>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‵timescale 1ps / 1ns         // </a:t>
            </a:r>
            <a:r>
              <a:rPr lang="zh-CN" altLang="en-US" dirty="0">
                <a:latin typeface="Times New Roman" panose="02020603050405020304" pitchFamily="18" charset="0"/>
                <a:ea typeface="华文楷体" panose="02010600040101010101" pitchFamily="2" charset="-122"/>
                <a:cs typeface="+mn-cs"/>
              </a:rPr>
              <a:t>非法！</a:t>
            </a:r>
            <a:endParaRPr lang="zh-CN" altLang="en-US" dirty="0">
              <a:latin typeface="Times New Roman" panose="02020603050405020304" pitchFamily="18" charset="0"/>
              <a:ea typeface="华文楷体" panose="02010600040101010101" pitchFamily="2" charset="-122"/>
              <a:cs typeface="+mn-cs"/>
            </a:endParaRPr>
          </a:p>
          <a:p>
            <a:pPr algn="just">
              <a:lnSpc>
                <a:spcPct val="110000"/>
              </a:lnSpc>
              <a:spcBef>
                <a:spcPct val="0"/>
              </a:spcBef>
            </a:pPr>
            <a:r>
              <a:rPr lang="en-US" altLang="zh-CN" dirty="0">
                <a:latin typeface="Times New Roman" panose="02020603050405020304" pitchFamily="18" charset="0"/>
                <a:ea typeface="黑体" panose="02010609060101010101" pitchFamily="49" charset="-122"/>
                <a:cs typeface="+mn-cs"/>
              </a:rPr>
              <a:t>‵timescale 1ns / 1ps         // </a:t>
            </a:r>
            <a:r>
              <a:rPr lang="zh-CN" altLang="en-US" dirty="0">
                <a:latin typeface="Times New Roman" panose="02020603050405020304" pitchFamily="18" charset="0"/>
                <a:ea typeface="华文楷体" panose="02010600040101010101" pitchFamily="2" charset="-122"/>
                <a:cs typeface="+mn-cs"/>
              </a:rPr>
              <a:t>合法！</a:t>
            </a:r>
            <a:endParaRPr lang="zh-CN" altLang="en-US" dirty="0">
              <a:latin typeface="Times New Roman" panose="02020603050405020304" pitchFamily="18" charset="0"/>
              <a:ea typeface="华文楷体" panose="02010600040101010101" pitchFamily="2" charset="-122"/>
              <a:cs typeface="+mn-cs"/>
            </a:endParaRPr>
          </a:p>
        </p:txBody>
      </p:sp>
      <p:sp>
        <p:nvSpPr>
          <p:cNvPr id="282629" name="Line 4"/>
          <p:cNvSpPr/>
          <p:nvPr/>
        </p:nvSpPr>
        <p:spPr>
          <a:xfrm>
            <a:off x="5562600" y="2971800"/>
            <a:ext cx="228600" cy="76200"/>
          </a:xfrm>
          <a:prstGeom prst="line">
            <a:avLst/>
          </a:prstGeom>
          <a:ln w="9525" cap="flat" cmpd="sng">
            <a:solidFill>
              <a:srgbClr val="FFFFFF"/>
            </a:solidFill>
            <a:prstDash val="solid"/>
            <a:headEnd type="none" w="med" len="med"/>
            <a:tailEnd type="none" w="med" len="med"/>
          </a:ln>
        </p:spPr>
      </p:sp>
      <p:sp>
        <p:nvSpPr>
          <p:cNvPr id="282630" name="Line 5"/>
          <p:cNvSpPr/>
          <p:nvPr/>
        </p:nvSpPr>
        <p:spPr>
          <a:xfrm flipH="1">
            <a:off x="5562600" y="3048000"/>
            <a:ext cx="228600" cy="76200"/>
          </a:xfrm>
          <a:prstGeom prst="line">
            <a:avLst/>
          </a:prstGeom>
          <a:ln w="9525" cap="flat" cmpd="sng">
            <a:solidFill>
              <a:srgbClr val="FFFFFF"/>
            </a:solidFill>
            <a:prstDash val="solid"/>
            <a:headEnd type="none" w="med" len="med"/>
            <a:tailEnd type="none" w="med" len="med"/>
          </a:ln>
        </p:spPr>
      </p:sp>
      <p:sp>
        <p:nvSpPr>
          <p:cNvPr id="1814535" name="Rectangle 7"/>
          <p:cNvSpPr/>
          <p:nvPr/>
        </p:nvSpPr>
        <p:spPr>
          <a:xfrm>
            <a:off x="539750" y="2219325"/>
            <a:ext cx="5910263" cy="90487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时间精度至少要和时间单位一样精确，</a:t>
            </a:r>
            <a:r>
              <a:rPr lang="zh-CN" altLang="en-US" sz="2400" b="1" dirty="0">
                <a:solidFill>
                  <a:srgbClr val="FF0066"/>
                </a:solidFill>
                <a:latin typeface="华文楷体" panose="02010600040101010101" pitchFamily="2" charset="-122"/>
                <a:ea typeface="华文楷体" panose="02010600040101010101" pitchFamily="2" charset="-122"/>
              </a:rPr>
              <a:t>时间精度值不能大于时间单位值</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
        <p:nvSpPr>
          <p:cNvPr id="1814536" name="Rectangle 8"/>
          <p:cNvSpPr/>
          <p:nvPr/>
        </p:nvSpPr>
        <p:spPr>
          <a:xfrm>
            <a:off x="533400" y="3689350"/>
            <a:ext cx="7010400" cy="207645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在</a:t>
            </a:r>
            <a:r>
              <a:rPr lang="en-US" altLang="zh-CN" sz="2200" b="1" dirty="0">
                <a:latin typeface="华文楷体" panose="02010600040101010101" pitchFamily="2" charset="-122"/>
                <a:ea typeface="华文楷体" panose="02010600040101010101" pitchFamily="2" charset="-122"/>
              </a:rPr>
              <a:t>‵timescale</a:t>
            </a:r>
            <a:r>
              <a:rPr lang="zh-CN" altLang="en-US" sz="2200" b="1" dirty="0">
                <a:latin typeface="华文楷体" panose="02010600040101010101" pitchFamily="2" charset="-122"/>
                <a:ea typeface="华文楷体" panose="02010600040101010101" pitchFamily="2" charset="-122"/>
              </a:rPr>
              <a:t>语句中，用来说明时间单位和时间精度参量值的数字必须是</a:t>
            </a:r>
            <a:r>
              <a:rPr lang="zh-CN" altLang="en-US" sz="2200" b="1" dirty="0">
                <a:solidFill>
                  <a:srgbClr val="FF3399"/>
                </a:solidFill>
                <a:latin typeface="华文楷体" panose="02010600040101010101" pitchFamily="2" charset="-122"/>
                <a:ea typeface="华文楷体" panose="02010600040101010101" pitchFamily="2" charset="-122"/>
              </a:rPr>
              <a:t>整数</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其有效数字为</a:t>
            </a:r>
            <a:r>
              <a:rPr lang="en-US" altLang="zh-CN" sz="2200" b="1" dirty="0">
                <a:latin typeface="华文楷体" panose="02010600040101010101" pitchFamily="2" charset="-122"/>
                <a:ea typeface="华文楷体" panose="02010600040101010101" pitchFamily="2" charset="-122"/>
              </a:rPr>
              <a:t>1</a:t>
            </a:r>
            <a:r>
              <a:rPr lang="zh-CN" altLang="en-US" sz="2200" b="1" dirty="0">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10</a:t>
            </a:r>
            <a:r>
              <a:rPr lang="zh-CN" altLang="en-US" sz="2200" b="1" dirty="0">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100</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a:p>
            <a:pPr marL="374650" lvl="0" indent="-374650" algn="just" eaLnBrk="1" hangingPunct="1">
              <a:lnSpc>
                <a:spcPct val="110000"/>
              </a:lnSpc>
              <a:buClr>
                <a:srgbClr val="FF0066"/>
              </a:buClr>
              <a:buSzPct val="85000"/>
              <a:buFont typeface="Wingdings" panose="05000000000000000000" pitchFamily="2" charset="2"/>
              <a:buChar char="Ø"/>
            </a:pPr>
            <a:r>
              <a:rPr lang="zh-CN" altLang="en-US" sz="2200" b="1" dirty="0">
                <a:latin typeface="华文楷体" panose="02010600040101010101" pitchFamily="2" charset="-122"/>
                <a:ea typeface="华文楷体" panose="02010600040101010101" pitchFamily="2" charset="-122"/>
              </a:rPr>
              <a:t>单位为秒（</a:t>
            </a:r>
            <a:r>
              <a:rPr lang="en-US" altLang="zh-CN" sz="2200" b="1" dirty="0">
                <a:latin typeface="华文楷体" panose="02010600040101010101" pitchFamily="2" charset="-122"/>
                <a:ea typeface="华文楷体" panose="02010600040101010101" pitchFamily="2" charset="-122"/>
              </a:rPr>
              <a:t>s</a:t>
            </a:r>
            <a:r>
              <a:rPr lang="zh-CN" altLang="en-US" sz="2200" b="1" dirty="0">
                <a:latin typeface="华文楷体" panose="02010600040101010101" pitchFamily="2" charset="-122"/>
                <a:ea typeface="华文楷体" panose="02010600040101010101" pitchFamily="2" charset="-122"/>
              </a:rPr>
              <a:t>）、毫秒（</a:t>
            </a:r>
            <a:r>
              <a:rPr lang="en-US" altLang="zh-CN" sz="2200" b="1" dirty="0">
                <a:latin typeface="华文楷体" panose="02010600040101010101" pitchFamily="2" charset="-122"/>
                <a:ea typeface="华文楷体" panose="02010600040101010101" pitchFamily="2" charset="-122"/>
              </a:rPr>
              <a:t>ms</a:t>
            </a:r>
            <a:r>
              <a:rPr lang="zh-CN" altLang="en-US" sz="2200" b="1" dirty="0">
                <a:latin typeface="华文楷体" panose="02010600040101010101" pitchFamily="2" charset="-122"/>
                <a:ea typeface="华文楷体" panose="02010600040101010101" pitchFamily="2" charset="-122"/>
              </a:rPr>
              <a:t>）、微秒（</a:t>
            </a:r>
            <a:r>
              <a:rPr lang="en-US" altLang="zh-CN" sz="2200" b="1" dirty="0">
                <a:latin typeface="华文楷体" panose="02010600040101010101" pitchFamily="2" charset="-122"/>
                <a:ea typeface="华文楷体" panose="02010600040101010101" pitchFamily="2" charset="-122"/>
              </a:rPr>
              <a:t>us</a:t>
            </a:r>
            <a:r>
              <a:rPr lang="zh-CN" altLang="en-US" sz="2200" b="1" dirty="0">
                <a:latin typeface="华文楷体" panose="02010600040101010101" pitchFamily="2" charset="-122"/>
                <a:ea typeface="华文楷体" panose="02010600040101010101" pitchFamily="2" charset="-122"/>
              </a:rPr>
              <a:t>）、纳秒（</a:t>
            </a:r>
            <a:r>
              <a:rPr lang="en-US" altLang="zh-CN" sz="2200" b="1" dirty="0">
                <a:latin typeface="华文楷体" panose="02010600040101010101" pitchFamily="2" charset="-122"/>
                <a:ea typeface="华文楷体" panose="02010600040101010101" pitchFamily="2" charset="-122"/>
              </a:rPr>
              <a:t>ns</a:t>
            </a:r>
            <a:r>
              <a:rPr lang="zh-CN" altLang="en-US" sz="2200" b="1" dirty="0">
                <a:latin typeface="华文楷体" panose="02010600040101010101" pitchFamily="2" charset="-122"/>
                <a:ea typeface="华文楷体" panose="02010600040101010101" pitchFamily="2" charset="-122"/>
              </a:rPr>
              <a:t>）、皮秒（</a:t>
            </a:r>
            <a:r>
              <a:rPr lang="en-US" altLang="zh-CN" sz="2200" b="1" dirty="0">
                <a:latin typeface="华文楷体" panose="02010600040101010101" pitchFamily="2" charset="-122"/>
                <a:ea typeface="华文楷体" panose="02010600040101010101" pitchFamily="2" charset="-122"/>
              </a:rPr>
              <a:t>ps</a:t>
            </a:r>
            <a:r>
              <a:rPr lang="zh-CN" altLang="en-US" sz="2200" b="1" dirty="0">
                <a:latin typeface="华文楷体" panose="02010600040101010101" pitchFamily="2" charset="-122"/>
                <a:ea typeface="华文楷体" panose="02010600040101010101" pitchFamily="2" charset="-122"/>
              </a:rPr>
              <a:t>）、毫皮秒（</a:t>
            </a:r>
            <a:r>
              <a:rPr lang="en-US" altLang="zh-CN" sz="2200" b="1" dirty="0">
                <a:latin typeface="华文楷体" panose="02010600040101010101" pitchFamily="2" charset="-122"/>
                <a:ea typeface="华文楷体" panose="02010600040101010101" pitchFamily="2" charset="-122"/>
              </a:rPr>
              <a:t>fs</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814535"/>
                                        </p:tgtEl>
                                        <p:attrNameLst>
                                          <p:attrName>style.visibility</p:attrName>
                                        </p:attrNameLst>
                                      </p:cBhvr>
                                      <p:to>
                                        <p:strVal val="visible"/>
                                      </p:to>
                                    </p:set>
                                    <p:anim calcmode="lin" valueType="num">
                                      <p:cBhvr>
                                        <p:cTn id="7" dur="500" fill="hold"/>
                                        <p:tgtEl>
                                          <p:spTgt spid="1814535"/>
                                        </p:tgtEl>
                                        <p:attrNameLst>
                                          <p:attrName>ppt_w</p:attrName>
                                        </p:attrNameLst>
                                      </p:cBhvr>
                                      <p:tavLst>
                                        <p:tav tm="0">
                                          <p:val>
                                            <p:fltVal val="0.000000"/>
                                          </p:val>
                                        </p:tav>
                                        <p:tav tm="100000">
                                          <p:val>
                                            <p:strVal val="#ppt_w"/>
                                          </p:val>
                                        </p:tav>
                                      </p:tavLst>
                                    </p:anim>
                                    <p:anim calcmode="lin" valueType="num">
                                      <p:cBhvr>
                                        <p:cTn id="8" dur="500" fill="hold"/>
                                        <p:tgtEl>
                                          <p:spTgt spid="1814535"/>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4531">
                                            <p:txEl>
                                              <p:charRg st="0" end="36"/>
                                            </p:txEl>
                                          </p:spTgt>
                                        </p:tgtEl>
                                        <p:attrNameLst>
                                          <p:attrName>style.visibility</p:attrName>
                                        </p:attrNameLst>
                                      </p:cBhvr>
                                      <p:to>
                                        <p:strVal val="visible"/>
                                      </p:to>
                                    </p:set>
                                    <p:anim calcmode="lin" valueType="num">
                                      <p:cBhvr additive="base">
                                        <p:cTn id="13" dur="500" fill="hold"/>
                                        <p:tgtEl>
                                          <p:spTgt spid="1814531">
                                            <p:txEl>
                                              <p:charRg st="0" end="3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14531">
                                            <p:txEl>
                                              <p:charRg st="0" end="3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4531">
                                            <p:txEl>
                                              <p:charRg st="36" end="72"/>
                                            </p:txEl>
                                          </p:spTgt>
                                        </p:tgtEl>
                                        <p:attrNameLst>
                                          <p:attrName>style.visibility</p:attrName>
                                        </p:attrNameLst>
                                      </p:cBhvr>
                                      <p:to>
                                        <p:strVal val="visible"/>
                                      </p:to>
                                    </p:set>
                                    <p:anim calcmode="lin" valueType="num">
                                      <p:cBhvr additive="base">
                                        <p:cTn id="19" dur="500" fill="hold"/>
                                        <p:tgtEl>
                                          <p:spTgt spid="1814531">
                                            <p:txEl>
                                              <p:charRg st="36" end="7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14531">
                                            <p:txEl>
                                              <p:charRg st="36" end="7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grpId="0" nodeType="clickEffect">
                                  <p:stCondLst>
                                    <p:cond delay="0"/>
                                  </p:stCondLst>
                                  <p:childTnLst>
                                    <p:set>
                                      <p:cBhvr>
                                        <p:cTn id="24" dur="1" fill="hold">
                                          <p:stCondLst>
                                            <p:cond delay="0"/>
                                          </p:stCondLst>
                                        </p:cTn>
                                        <p:tgtEl>
                                          <p:spTgt spid="1814536"/>
                                        </p:tgtEl>
                                        <p:attrNameLst>
                                          <p:attrName>style.visibility</p:attrName>
                                        </p:attrNameLst>
                                      </p:cBhvr>
                                      <p:to>
                                        <p:strVal val="visible"/>
                                      </p:to>
                                    </p:set>
                                    <p:animEffect transition="in" filter="barn(inHorizontal)">
                                      <p:cBhvr>
                                        <p:cTn id="25" dur="500"/>
                                        <p:tgtEl>
                                          <p:spTgt spid="1814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4531" grpId="0" build="p"/>
      <p:bldP spid="1814535" grpId="0" bldLvl="0" animBg="1"/>
      <p:bldP spid="1814536" grpId="0" animBg="1"/>
    </p:bldLst>
  </p:timing>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467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84675"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84676"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10  </a:t>
            </a:r>
            <a:r>
              <a:rPr lang="zh-CN" altLang="en-US" dirty="0">
                <a:latin typeface="华文楷体" panose="02010600040101010101" pitchFamily="2" charset="-122"/>
                <a:ea typeface="黑体" panose="02010609060101010101" pitchFamily="49" charset="-122"/>
                <a:cs typeface="+mj-cs"/>
              </a:rPr>
              <a:t>编译预处理语句</a:t>
            </a:r>
            <a:endParaRPr lang="zh-CN" altLang="en-US" dirty="0">
              <a:latin typeface="华文楷体" panose="02010600040101010101" pitchFamily="2" charset="-122"/>
              <a:ea typeface="黑体" panose="02010609060101010101" pitchFamily="49" charset="-122"/>
              <a:cs typeface="+mj-cs"/>
            </a:endParaRPr>
          </a:p>
        </p:txBody>
      </p:sp>
      <p:sp>
        <p:nvSpPr>
          <p:cNvPr id="2065411" name="Text Box 3"/>
          <p:cNvSpPr txBox="1"/>
          <p:nvPr/>
        </p:nvSpPr>
        <p:spPr>
          <a:xfrm>
            <a:off x="485775" y="1752600"/>
            <a:ext cx="8142288" cy="397510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例</a:t>
            </a:r>
            <a:r>
              <a:rPr lang="en-US" altLang="zh-CN" sz="2400" b="1" dirty="0">
                <a:latin typeface="Times New Roman" panose="02020603050405020304" pitchFamily="18" charset="0"/>
                <a:ea typeface="华文楷体" panose="02010600040101010101" pitchFamily="2" charset="-122"/>
              </a:rPr>
              <a:t>] ‵timescale</a:t>
            </a:r>
            <a:r>
              <a:rPr lang="zh-CN" altLang="en-US" sz="2400" b="1" dirty="0">
                <a:latin typeface="Times New Roman" panose="02020603050405020304" pitchFamily="18" charset="0"/>
                <a:ea typeface="华文楷体" panose="02010600040101010101" pitchFamily="2" charset="-122"/>
              </a:rPr>
              <a:t>语句应用举例。</a:t>
            </a:r>
            <a:endParaRPr lang="zh-CN" altLang="en-US" sz="2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‵timescale 10ns / 1ns //</a:t>
            </a:r>
            <a:r>
              <a:rPr lang="zh-CN" altLang="en-US" sz="2400" b="1" dirty="0">
                <a:latin typeface="Times New Roman" panose="02020603050405020304" pitchFamily="18" charset="0"/>
                <a:ea typeface="华文楷体" panose="02010600040101010101" pitchFamily="2" charset="-122"/>
              </a:rPr>
              <a:t>时间单位为</a:t>
            </a:r>
            <a:r>
              <a:rPr lang="en-US" altLang="zh-CN" sz="2400" b="1" dirty="0">
                <a:latin typeface="Times New Roman" panose="02020603050405020304" pitchFamily="18" charset="0"/>
                <a:ea typeface="华文楷体" panose="02010600040101010101" pitchFamily="2" charset="-122"/>
              </a:rPr>
              <a:t>10ns</a:t>
            </a:r>
            <a:r>
              <a:rPr lang="zh-CN" altLang="en-US" sz="2400" b="1" dirty="0">
                <a:latin typeface="Times New Roman" panose="02020603050405020304" pitchFamily="18" charset="0"/>
                <a:ea typeface="华文楷体" panose="02010600040101010101" pitchFamily="2" charset="-122"/>
              </a:rPr>
              <a:t>，时间精度为</a:t>
            </a:r>
            <a:r>
              <a:rPr lang="en-US" altLang="zh-CN" sz="2400" b="1" dirty="0">
                <a:latin typeface="Times New Roman" panose="02020603050405020304" pitchFamily="18" charset="0"/>
                <a:ea typeface="华文楷体" panose="02010600040101010101" pitchFamily="2" charset="-122"/>
              </a:rPr>
              <a:t>1ns</a:t>
            </a:r>
            <a:endParaRPr lang="en-US" altLang="zh-CN" sz="2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a:t>
            </a:r>
            <a:endParaRPr lang="en-US" altLang="zh-CN" sz="2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reg  sel;</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solidFill>
                  <a:srgbClr val="FF0066"/>
                </a:solidFill>
                <a:latin typeface="Times New Roman" panose="02020603050405020304" pitchFamily="18" charset="0"/>
                <a:ea typeface="华文楷体" panose="02010600040101010101" pitchFamily="2" charset="-122"/>
              </a:rPr>
              <a:t>   </a:t>
            </a:r>
            <a:r>
              <a:rPr lang="en-US" altLang="zh-CN" sz="2400" b="1" dirty="0">
                <a:latin typeface="Times New Roman" panose="02020603050405020304" pitchFamily="18" charset="0"/>
                <a:ea typeface="华文楷体" panose="02010600040101010101" pitchFamily="2" charset="-122"/>
              </a:rPr>
              <a:t>initial</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latin typeface="Times New Roman" panose="02020603050405020304" pitchFamily="18" charset="0"/>
                <a:ea typeface="华文楷体" panose="02010600040101010101" pitchFamily="2" charset="-122"/>
              </a:rPr>
              <a:t>      begin</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latin typeface="Times New Roman" panose="02020603050405020304" pitchFamily="18" charset="0"/>
                <a:ea typeface="华文楷体" panose="02010600040101010101" pitchFamily="2" charset="-122"/>
              </a:rPr>
              <a:t>          #10 sel = 0;  // </a:t>
            </a:r>
            <a:r>
              <a:rPr lang="zh-CN" altLang="en-US" sz="2400" b="1" dirty="0">
                <a:latin typeface="Times New Roman" panose="02020603050405020304" pitchFamily="18" charset="0"/>
                <a:ea typeface="华文楷体" panose="02010600040101010101" pitchFamily="2" charset="-122"/>
              </a:rPr>
              <a:t>在</a:t>
            </a:r>
            <a:r>
              <a:rPr lang="en-US" altLang="zh-CN" sz="2400" b="1" dirty="0">
                <a:latin typeface="Times New Roman" panose="02020603050405020304" pitchFamily="18" charset="0"/>
                <a:ea typeface="华文楷体" panose="02010600040101010101" pitchFamily="2" charset="-122"/>
              </a:rPr>
              <a:t>10ns</a:t>
            </a:r>
            <a:r>
              <a:rPr lang="en-US" altLang="zh-CN" sz="2400" b="1" dirty="0">
                <a:latin typeface="Times New Roman" panose="02020603050405020304" pitchFamily="18" charset="0"/>
                <a:ea typeface="华文楷体" panose="02010600040101010101" pitchFamily="2" charset="-122"/>
                <a:sym typeface="Symbol" panose="05050102010706020507" pitchFamily="18" charset="2"/>
              </a:rPr>
              <a:t></a:t>
            </a:r>
            <a:r>
              <a:rPr lang="en-US" altLang="zh-CN" sz="2400" b="1" dirty="0">
                <a:latin typeface="Times New Roman" panose="02020603050405020304" pitchFamily="18" charset="0"/>
                <a:ea typeface="华文楷体" panose="02010600040101010101" pitchFamily="2" charset="-122"/>
              </a:rPr>
              <a:t>10</a:t>
            </a:r>
            <a:r>
              <a:rPr lang="zh-CN" altLang="en-US" sz="2400" b="1" dirty="0">
                <a:latin typeface="Times New Roman" panose="02020603050405020304" pitchFamily="18" charset="0"/>
                <a:ea typeface="华文楷体" panose="02010600040101010101" pitchFamily="2" charset="-122"/>
              </a:rPr>
              <a:t>时刻，</a:t>
            </a:r>
            <a:r>
              <a:rPr lang="en-US" altLang="zh-CN" sz="2400" b="1" dirty="0">
                <a:latin typeface="Times New Roman" panose="02020603050405020304" pitchFamily="18" charset="0"/>
                <a:ea typeface="华文楷体" panose="02010600040101010101" pitchFamily="2" charset="-122"/>
              </a:rPr>
              <a:t>sel</a:t>
            </a:r>
            <a:r>
              <a:rPr lang="zh-CN" altLang="en-US" sz="2400" b="1" dirty="0">
                <a:latin typeface="Times New Roman" panose="02020603050405020304" pitchFamily="18" charset="0"/>
                <a:ea typeface="华文楷体" panose="02010600040101010101" pitchFamily="2" charset="-122"/>
              </a:rPr>
              <a:t>变量被赋值为</a:t>
            </a:r>
            <a:r>
              <a:rPr lang="en-US" altLang="zh-CN" sz="2400" b="1" dirty="0">
                <a:latin typeface="Times New Roman" panose="02020603050405020304" pitchFamily="18" charset="0"/>
                <a:ea typeface="华文楷体" panose="02010600040101010101" pitchFamily="2" charset="-122"/>
              </a:rPr>
              <a:t>0</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latin typeface="Times New Roman" panose="02020603050405020304" pitchFamily="18" charset="0"/>
                <a:ea typeface="华文楷体" panose="02010600040101010101" pitchFamily="2" charset="-122"/>
              </a:rPr>
              <a:t>          #10 sel = 1;  // </a:t>
            </a:r>
            <a:r>
              <a:rPr lang="zh-CN" altLang="en-US" sz="2400" b="1" dirty="0">
                <a:latin typeface="Times New Roman" panose="02020603050405020304" pitchFamily="18" charset="0"/>
                <a:ea typeface="华文楷体" panose="02010600040101010101" pitchFamily="2" charset="-122"/>
              </a:rPr>
              <a:t>在</a:t>
            </a:r>
            <a:r>
              <a:rPr lang="en-US" altLang="zh-CN" sz="2400" b="1" dirty="0">
                <a:latin typeface="Times New Roman" panose="02020603050405020304" pitchFamily="18" charset="0"/>
                <a:ea typeface="华文楷体" panose="02010600040101010101" pitchFamily="2" charset="-122"/>
              </a:rPr>
              <a:t>10ns</a:t>
            </a:r>
            <a:r>
              <a:rPr lang="en-US" altLang="zh-CN" sz="2400" b="1" dirty="0">
                <a:latin typeface="Times New Roman" panose="02020603050405020304" pitchFamily="18" charset="0"/>
                <a:ea typeface="华文楷体" panose="02010600040101010101" pitchFamily="2" charset="-122"/>
                <a:sym typeface="Symbol" panose="05050102010706020507" pitchFamily="18" charset="2"/>
              </a:rPr>
              <a:t></a:t>
            </a:r>
            <a:r>
              <a:rPr lang="en-US" altLang="zh-CN" sz="2400" b="1" dirty="0">
                <a:latin typeface="Times New Roman" panose="02020603050405020304" pitchFamily="18" charset="0"/>
                <a:ea typeface="华文楷体" panose="02010600040101010101" pitchFamily="2" charset="-122"/>
              </a:rPr>
              <a:t>20</a:t>
            </a:r>
            <a:r>
              <a:rPr lang="zh-CN" altLang="en-US" sz="2400" b="1" dirty="0">
                <a:latin typeface="Times New Roman" panose="02020603050405020304" pitchFamily="18" charset="0"/>
                <a:ea typeface="华文楷体" panose="02010600040101010101" pitchFamily="2" charset="-122"/>
              </a:rPr>
              <a:t>时刻，</a:t>
            </a:r>
            <a:r>
              <a:rPr lang="en-US" altLang="zh-CN" sz="2400" b="1" dirty="0">
                <a:latin typeface="Times New Roman" panose="02020603050405020304" pitchFamily="18" charset="0"/>
                <a:ea typeface="华文楷体" panose="02010600040101010101" pitchFamily="2" charset="-122"/>
              </a:rPr>
              <a:t>sel</a:t>
            </a:r>
            <a:r>
              <a:rPr lang="zh-CN" altLang="en-US" sz="2400" b="1" dirty="0">
                <a:latin typeface="Times New Roman" panose="02020603050405020304" pitchFamily="18" charset="0"/>
                <a:ea typeface="华文楷体" panose="02010600040101010101" pitchFamily="2" charset="-122"/>
              </a:rPr>
              <a:t>变量被赋值为</a:t>
            </a:r>
            <a:r>
              <a:rPr lang="en-US" altLang="zh-CN" sz="2400" b="1" dirty="0">
                <a:latin typeface="Times New Roman" panose="02020603050405020304" pitchFamily="18" charset="0"/>
                <a:ea typeface="华文楷体" panose="02010600040101010101" pitchFamily="2" charset="-122"/>
              </a:rPr>
              <a:t>1</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latin typeface="Times New Roman" panose="02020603050405020304" pitchFamily="18" charset="0"/>
                <a:ea typeface="华文楷体" panose="02010600040101010101" pitchFamily="2" charset="-122"/>
              </a:rPr>
              <a:t>      end</a:t>
            </a:r>
            <a:endParaRPr lang="en-US" altLang="zh-CN" sz="2400" b="1" dirty="0">
              <a:latin typeface="Times New Roman" panose="02020603050405020304" pitchFamily="18" charset="0"/>
              <a:ea typeface="华文楷体" panose="02010600040101010101" pitchFamily="2" charset="-122"/>
            </a:endParaRPr>
          </a:p>
          <a:p>
            <a:pPr marL="0" lvl="0" indent="0" algn="just">
              <a:spcBef>
                <a:spcPct val="0"/>
              </a:spcBef>
              <a:buNone/>
            </a:pPr>
            <a:r>
              <a:rPr lang="en-US" altLang="zh-CN" sz="2400" b="1" dirty="0">
                <a:latin typeface="Times New Roman" panose="02020603050405020304" pitchFamily="18" charset="0"/>
                <a:ea typeface="华文楷体" panose="02010600040101010101" pitchFamily="2" charset="-122"/>
              </a:rPr>
              <a:t>   ……</a:t>
            </a:r>
            <a:endParaRPr lang="en-US" altLang="zh-CN" sz="24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65411"/>
                                        </p:tgtEl>
                                        <p:attrNameLst>
                                          <p:attrName>style.visibility</p:attrName>
                                        </p:attrNameLst>
                                      </p:cBhvr>
                                      <p:to>
                                        <p:strVal val="visible"/>
                                      </p:to>
                                    </p:set>
                                    <p:anim calcmode="lin" valueType="num">
                                      <p:cBhvr additive="base">
                                        <p:cTn id="7" dur="500" fill="hold"/>
                                        <p:tgtEl>
                                          <p:spTgt spid="2065411"/>
                                        </p:tgtEl>
                                        <p:attrNameLst>
                                          <p:attrName>ppt_x</p:attrName>
                                        </p:attrNameLst>
                                      </p:cBhvr>
                                      <p:tavLst>
                                        <p:tav tm="0">
                                          <p:val>
                                            <p:strVal val="#ppt_x"/>
                                          </p:val>
                                        </p:tav>
                                        <p:tav tm="100000">
                                          <p:val>
                                            <p:strVal val="#ppt_x"/>
                                          </p:val>
                                        </p:tav>
                                      </p:tavLst>
                                    </p:anim>
                                    <p:anim calcmode="lin" valueType="num">
                                      <p:cBhvr additive="base">
                                        <p:cTn id="8" dur="500" fill="hold"/>
                                        <p:tgtEl>
                                          <p:spTgt spid="2065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5411" grpId="0" animBg="1"/>
    </p:bldLst>
  </p:timing>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672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6978"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2046979" name="Rectangle 3"/>
          <p:cNvSpPr>
            <a:spLocks noGrp="1"/>
          </p:cNvSpPr>
          <p:nvPr>
            <p:ph idx="1"/>
          </p:nvPr>
        </p:nvSpPr>
        <p:spPr/>
        <p:txBody>
          <a:bodyPr vert="horz" wrap="square" lIns="91440" tIns="45720" rIns="91440" bIns="45720" anchor="t" anchorCtr="0"/>
          <a:p>
            <a:pPr eaLnBrk="1" hangingPunct="1">
              <a:lnSpc>
                <a:spcPct val="130000"/>
              </a:lnSpc>
            </a:pPr>
            <a:r>
              <a:rPr lang="en-US" altLang="zh-CN" sz="2800" dirty="0">
                <a:solidFill>
                  <a:schemeClr val="tx2"/>
                </a:solidFill>
                <a:latin typeface="华文楷体" panose="02010600040101010101" pitchFamily="2" charset="-122"/>
                <a:ea typeface="华文楷体" panose="02010600040101010101" pitchFamily="2" charset="-122"/>
                <a:cs typeface="+mn-cs"/>
              </a:rPr>
              <a:t>11.1 </a:t>
            </a:r>
            <a:r>
              <a:rPr lang="zh-CN" altLang="en-US" sz="2800" dirty="0">
                <a:solidFill>
                  <a:schemeClr val="tx2"/>
                </a:solidFill>
                <a:latin typeface="华文楷体" panose="02010600040101010101" pitchFamily="2" charset="-122"/>
                <a:ea typeface="华文楷体" panose="02010600040101010101" pitchFamily="2" charset="-122"/>
                <a:cs typeface="+mn-cs"/>
              </a:rPr>
              <a:t>语句的顺序执行</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a:p>
            <a:pPr eaLnBrk="1" hangingPunct="1">
              <a:lnSpc>
                <a:spcPct val="130000"/>
              </a:lnSpc>
            </a:pPr>
            <a:r>
              <a:rPr lang="en-US" altLang="zh-CN" sz="2800" dirty="0">
                <a:solidFill>
                  <a:schemeClr val="tx2"/>
                </a:solidFill>
                <a:latin typeface="华文楷体" panose="02010600040101010101" pitchFamily="2" charset="-122"/>
                <a:ea typeface="华文楷体" panose="02010600040101010101" pitchFamily="2" charset="-122"/>
                <a:cs typeface="+mn-cs"/>
              </a:rPr>
              <a:t>11.2 </a:t>
            </a:r>
            <a:r>
              <a:rPr lang="zh-CN" altLang="en-US" sz="2800" dirty="0">
                <a:solidFill>
                  <a:schemeClr val="tx2"/>
                </a:solidFill>
                <a:latin typeface="华文楷体" panose="02010600040101010101" pitchFamily="2" charset="-122"/>
                <a:ea typeface="华文楷体" panose="02010600040101010101" pitchFamily="2" charset="-122"/>
                <a:cs typeface="+mn-cs"/>
              </a:rPr>
              <a:t>语句的并行执行</a:t>
            </a:r>
            <a:endParaRPr lang="zh-CN" altLang="en-US" sz="2800" dirty="0">
              <a:solidFill>
                <a:schemeClr val="tx2"/>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6978"/>
                                        </p:tgtEl>
                                        <p:attrNameLst>
                                          <p:attrName>style.visibility</p:attrName>
                                        </p:attrNameLst>
                                      </p:cBhvr>
                                      <p:to>
                                        <p:strVal val="visible"/>
                                      </p:to>
                                    </p:set>
                                    <p:anim calcmode="lin" valueType="num">
                                      <p:cBhvr additive="base">
                                        <p:cTn id="7" dur="500" fill="hold"/>
                                        <p:tgtEl>
                                          <p:spTgt spid="2046978"/>
                                        </p:tgtEl>
                                        <p:attrNameLst>
                                          <p:attrName>ppt_x</p:attrName>
                                        </p:attrNameLst>
                                      </p:cBhvr>
                                      <p:tavLst>
                                        <p:tav tm="0">
                                          <p:val>
                                            <p:strVal val="#ppt_x"/>
                                          </p:val>
                                        </p:tav>
                                        <p:tav tm="100000">
                                          <p:val>
                                            <p:strVal val="#ppt_x"/>
                                          </p:val>
                                        </p:tav>
                                      </p:tavLst>
                                    </p:anim>
                                    <p:anim calcmode="lin" valueType="num">
                                      <p:cBhvr additive="base">
                                        <p:cTn id="8" dur="500" fill="hold"/>
                                        <p:tgtEl>
                                          <p:spTgt spid="204697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6979"/>
                                        </p:tgtEl>
                                        <p:attrNameLst>
                                          <p:attrName>style.visibility</p:attrName>
                                        </p:attrNameLst>
                                      </p:cBhvr>
                                      <p:to>
                                        <p:strVal val="visible"/>
                                      </p:to>
                                    </p:set>
                                    <p:anim calcmode="lin" valueType="num">
                                      <p:cBhvr additive="base">
                                        <p:cTn id="12" dur="500" fill="hold"/>
                                        <p:tgtEl>
                                          <p:spTgt spid="2046979"/>
                                        </p:tgtEl>
                                        <p:attrNameLst>
                                          <p:attrName>ppt_x</p:attrName>
                                        </p:attrNameLst>
                                      </p:cBhvr>
                                      <p:tavLst>
                                        <p:tav tm="0">
                                          <p:val>
                                            <p:strVal val="0-#ppt_w/2"/>
                                          </p:val>
                                        </p:tav>
                                        <p:tav tm="100000">
                                          <p:val>
                                            <p:strVal val="#ppt_x"/>
                                          </p:val>
                                        </p:tav>
                                      </p:tavLst>
                                    </p:anim>
                                    <p:anim calcmode="lin" valueType="num">
                                      <p:cBhvr additive="base">
                                        <p:cTn id="13" dur="500" fill="hold"/>
                                        <p:tgtEl>
                                          <p:spTgt spid="204697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6978" grpId="0"/>
      <p:bldP spid="2046979" grpId="0"/>
    </p:bldLst>
  </p:timing>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774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87747"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1817603"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sz="2800" dirty="0">
                <a:solidFill>
                  <a:schemeClr val="tx2"/>
                </a:solidFill>
                <a:latin typeface="Times New Roman" panose="02020603050405020304" pitchFamily="18" charset="0"/>
                <a:ea typeface="华文楷体" panose="02010600040101010101" pitchFamily="2" charset="-122"/>
                <a:cs typeface="+mn-cs"/>
              </a:rPr>
              <a:t>11.1 </a:t>
            </a:r>
            <a:r>
              <a:rPr lang="zh-CN" altLang="en-US" sz="2800" dirty="0">
                <a:solidFill>
                  <a:schemeClr val="tx2"/>
                </a:solidFill>
                <a:latin typeface="Times New Roman" panose="02020603050405020304" pitchFamily="18" charset="0"/>
                <a:ea typeface="华文楷体" panose="02010600040101010101" pitchFamily="2" charset="-122"/>
                <a:cs typeface="+mn-cs"/>
              </a:rPr>
              <a:t>语句的顺序执行</a:t>
            </a:r>
            <a:endParaRPr lang="zh-CN" altLang="en-US" sz="2800" dirty="0">
              <a:solidFill>
                <a:schemeClr val="tx2"/>
              </a:solidFill>
              <a:latin typeface="Times New Roman" panose="02020603050405020304" pitchFamily="18" charset="0"/>
              <a:ea typeface="华文楷体" panose="02010600040101010101" pitchFamily="2" charset="-122"/>
              <a:cs typeface="+mn-cs"/>
            </a:endParaRPr>
          </a:p>
          <a:p>
            <a:pPr algn="just" eaLnBrk="1" hangingPunct="1">
              <a:lnSpc>
                <a:spcPct val="110000"/>
              </a:lnSpc>
            </a:pPr>
            <a:r>
              <a:rPr lang="en-US" altLang="zh-CN" sz="2600" dirty="0">
                <a:latin typeface="Times New Roman" panose="02020603050405020304" pitchFamily="18" charset="0"/>
                <a:ea typeface="华文楷体" panose="02010600040101010101" pitchFamily="2" charset="-122"/>
                <a:cs typeface="+mn-cs"/>
              </a:rPr>
              <a:t>		</a:t>
            </a:r>
            <a:r>
              <a:rPr lang="zh-CN" altLang="en-US" sz="2600" dirty="0">
                <a:latin typeface="Times New Roman" panose="02020603050405020304" pitchFamily="18" charset="0"/>
                <a:ea typeface="华文楷体" panose="02010600040101010101" pitchFamily="2" charset="-122"/>
                <a:cs typeface="+mn-cs"/>
              </a:rPr>
              <a:t>在</a:t>
            </a:r>
            <a:r>
              <a:rPr lang="zh-CN" altLang="en-US" sz="2800" dirty="0">
                <a:solidFill>
                  <a:srgbClr val="0000D8"/>
                </a:solidFill>
                <a:latin typeface="Times New Roman" panose="02020603050405020304" pitchFamily="18" charset="0"/>
                <a:ea typeface="华文楷体" panose="02010600040101010101" pitchFamily="2" charset="-122"/>
                <a:cs typeface="+mn-cs"/>
              </a:rPr>
              <a:t> </a:t>
            </a:r>
            <a:r>
              <a:rPr lang="zh-CN" altLang="en-US" sz="2600" dirty="0">
                <a:latin typeface="Times New Roman" panose="02020603050405020304" pitchFamily="18" charset="0"/>
                <a:ea typeface="华文楷体" panose="02010600040101010101" pitchFamily="2" charset="-122"/>
                <a:cs typeface="+mn-cs"/>
              </a:rPr>
              <a:t>“</a:t>
            </a:r>
            <a:r>
              <a:rPr lang="en-US" altLang="zh-CN" sz="2600" dirty="0">
                <a:latin typeface="Times New Roman" panose="02020603050405020304" pitchFamily="18" charset="0"/>
                <a:ea typeface="华文楷体" panose="02010600040101010101" pitchFamily="2" charset="-122"/>
                <a:cs typeface="+mn-cs"/>
              </a:rPr>
              <a:t>always”</a:t>
            </a:r>
            <a:r>
              <a:rPr lang="zh-CN" altLang="en-US" sz="2600" dirty="0">
                <a:latin typeface="Times New Roman" panose="02020603050405020304" pitchFamily="18" charset="0"/>
                <a:ea typeface="华文楷体" panose="02010600040101010101" pitchFamily="2" charset="-122"/>
                <a:cs typeface="+mn-cs"/>
              </a:rPr>
              <a:t>模块内，逻辑按书写的</a:t>
            </a:r>
            <a:r>
              <a:rPr lang="zh-CN" altLang="en-US" sz="2600" dirty="0">
                <a:solidFill>
                  <a:srgbClr val="FF66CC"/>
                </a:solidFill>
                <a:latin typeface="Times New Roman" panose="02020603050405020304" pitchFamily="18" charset="0"/>
                <a:ea typeface="华文楷体" panose="02010600040101010101" pitchFamily="2" charset="-122"/>
                <a:cs typeface="+mn-cs"/>
              </a:rPr>
              <a:t>顺序</a:t>
            </a:r>
            <a:r>
              <a:rPr lang="zh-CN" altLang="en-US" sz="2600" dirty="0">
                <a:latin typeface="Times New Roman" panose="02020603050405020304" pitchFamily="18" charset="0"/>
                <a:ea typeface="华文楷体" panose="02010600040101010101" pitchFamily="2" charset="-122"/>
                <a:cs typeface="+mn-cs"/>
              </a:rPr>
              <a:t>执行。</a:t>
            </a:r>
            <a:endParaRPr lang="zh-CN" altLang="en-US" sz="26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en-US" altLang="zh-CN" sz="2600" dirty="0">
                <a:solidFill>
                  <a:srgbClr val="FF3399"/>
                </a:solidFill>
                <a:latin typeface="Times New Roman" panose="02020603050405020304" pitchFamily="18" charset="0"/>
                <a:ea typeface="华文楷体" panose="02010600040101010101" pitchFamily="2" charset="-122"/>
                <a:cs typeface="+mn-cs"/>
              </a:rPr>
              <a:t>	</a:t>
            </a:r>
            <a:r>
              <a:rPr lang="zh-CN" altLang="en-US" sz="2600" dirty="0">
                <a:solidFill>
                  <a:srgbClr val="FF3399"/>
                </a:solidFill>
                <a:latin typeface="Times New Roman" panose="02020603050405020304" pitchFamily="18" charset="0"/>
                <a:ea typeface="华文楷体" panose="02010600040101010101" pitchFamily="2" charset="-122"/>
                <a:cs typeface="+mn-cs"/>
              </a:rPr>
              <a:t>顺序语句</a:t>
            </a:r>
            <a:r>
              <a:rPr lang="en-US" altLang="zh-CN" sz="2600" dirty="0">
                <a:latin typeface="Times New Roman" panose="02020603050405020304" pitchFamily="18" charset="0"/>
                <a:ea typeface="华文楷体" panose="02010600040101010101" pitchFamily="2" charset="-122"/>
                <a:cs typeface="+mn-cs"/>
              </a:rPr>
              <a:t>——“always”</a:t>
            </a:r>
            <a:r>
              <a:rPr lang="zh-CN" altLang="en-US" sz="2600" dirty="0">
                <a:latin typeface="Times New Roman" panose="02020603050405020304" pitchFamily="18" charset="0"/>
                <a:ea typeface="华文楷体" panose="02010600040101010101" pitchFamily="2" charset="-122"/>
                <a:cs typeface="+mn-cs"/>
              </a:rPr>
              <a:t>模块内的语句。</a:t>
            </a:r>
            <a:endParaRPr lang="zh-CN" altLang="en-US" sz="26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en-US" altLang="zh-CN" sz="2600" dirty="0">
                <a:solidFill>
                  <a:srgbClr val="990000"/>
                </a:solidFill>
                <a:latin typeface="Times New Roman" panose="02020603050405020304" pitchFamily="18" charset="0"/>
                <a:ea typeface="华文楷体" panose="02010600040101010101" pitchFamily="2" charset="-122"/>
                <a:cs typeface="+mn-cs"/>
              </a:rPr>
              <a:t>		</a:t>
            </a:r>
            <a:r>
              <a:rPr lang="zh-CN" altLang="en-US" sz="2600" dirty="0">
                <a:solidFill>
                  <a:srgbClr val="990000"/>
                </a:solidFill>
                <a:latin typeface="Times New Roman" panose="02020603050405020304" pitchFamily="18" charset="0"/>
                <a:ea typeface="华文楷体" panose="02010600040101010101" pitchFamily="2" charset="-122"/>
                <a:cs typeface="+mn-cs"/>
              </a:rPr>
              <a:t>在</a:t>
            </a:r>
            <a:r>
              <a:rPr lang="zh-CN" altLang="en-US" sz="2800" dirty="0">
                <a:solidFill>
                  <a:srgbClr val="990000"/>
                </a:solidFill>
                <a:latin typeface="Times New Roman" panose="02020603050405020304" pitchFamily="18" charset="0"/>
                <a:ea typeface="华文楷体" panose="02010600040101010101" pitchFamily="2" charset="-122"/>
                <a:cs typeface="+mn-cs"/>
              </a:rPr>
              <a:t> </a:t>
            </a:r>
            <a:r>
              <a:rPr lang="zh-CN" altLang="en-US" sz="2600" dirty="0">
                <a:solidFill>
                  <a:srgbClr val="990000"/>
                </a:solidFill>
                <a:latin typeface="Times New Roman" panose="02020603050405020304" pitchFamily="18" charset="0"/>
                <a:ea typeface="华文楷体" panose="02010600040101010101" pitchFamily="2" charset="-122"/>
                <a:cs typeface="+mn-cs"/>
              </a:rPr>
              <a:t>“</a:t>
            </a:r>
            <a:r>
              <a:rPr lang="en-US" altLang="zh-CN" sz="2600" dirty="0">
                <a:solidFill>
                  <a:srgbClr val="990000"/>
                </a:solidFill>
                <a:latin typeface="Times New Roman" panose="02020603050405020304" pitchFamily="18" charset="0"/>
                <a:ea typeface="华文楷体" panose="02010600040101010101" pitchFamily="2" charset="-122"/>
                <a:cs typeface="+mn-cs"/>
              </a:rPr>
              <a:t>always”</a:t>
            </a:r>
            <a:r>
              <a:rPr lang="zh-CN" altLang="en-US" sz="2600" dirty="0">
                <a:solidFill>
                  <a:srgbClr val="990000"/>
                </a:solidFill>
                <a:latin typeface="Times New Roman" panose="02020603050405020304" pitchFamily="18" charset="0"/>
                <a:ea typeface="华文楷体" panose="02010600040101010101" pitchFamily="2" charset="-122"/>
                <a:cs typeface="+mn-cs"/>
              </a:rPr>
              <a:t>模块内，若随意颠倒赋值语句的书写顺序，可能导致不同的结果！</a:t>
            </a:r>
            <a:r>
              <a:rPr lang="zh-CN" altLang="en-US" sz="2600" dirty="0">
                <a:latin typeface="Times New Roman" panose="02020603050405020304" pitchFamily="18" charset="0"/>
                <a:ea typeface="华文楷体" panose="02010600040101010101" pitchFamily="2" charset="-122"/>
                <a:cs typeface="+mn-cs"/>
              </a:rPr>
              <a:t>（见 </a:t>
            </a:r>
            <a:r>
              <a:rPr lang="en-US" altLang="zh-CN" sz="2600" dirty="0">
                <a:latin typeface="Times New Roman" panose="02020603050405020304" pitchFamily="18" charset="0"/>
                <a:ea typeface="华文楷体" panose="02010600040101010101" pitchFamily="2" charset="-122"/>
                <a:cs typeface="+mn-cs"/>
              </a:rPr>
              <a:t>[</a:t>
            </a:r>
            <a:r>
              <a:rPr lang="zh-CN" altLang="en-US" sz="2600" dirty="0">
                <a:latin typeface="Times New Roman" panose="02020603050405020304" pitchFamily="18" charset="0"/>
                <a:ea typeface="华文楷体" panose="02010600040101010101" pitchFamily="2" charset="-122"/>
                <a:cs typeface="+mn-cs"/>
              </a:rPr>
              <a:t>例</a:t>
            </a:r>
            <a:r>
              <a:rPr lang="en-US" altLang="zh-CN" sz="2600" dirty="0">
                <a:latin typeface="Times New Roman" panose="02020603050405020304" pitchFamily="18" charset="0"/>
                <a:ea typeface="华文楷体" panose="02010600040101010101" pitchFamily="2" charset="-122"/>
                <a:cs typeface="+mn-cs"/>
              </a:rPr>
              <a:t>11.1]</a:t>
            </a:r>
            <a:r>
              <a:rPr lang="zh-CN" altLang="en-US" sz="2600" dirty="0">
                <a:latin typeface="Times New Roman" panose="02020603050405020304" pitchFamily="18" charset="0"/>
                <a:ea typeface="华文楷体" panose="02010600040101010101" pitchFamily="2" charset="-122"/>
                <a:cs typeface="+mn-cs"/>
              </a:rPr>
              <a:t>、 </a:t>
            </a:r>
            <a:r>
              <a:rPr lang="en-US" altLang="zh-CN" sz="2600" dirty="0">
                <a:latin typeface="Times New Roman" panose="02020603050405020304" pitchFamily="18" charset="0"/>
                <a:ea typeface="华文楷体" panose="02010600040101010101" pitchFamily="2" charset="-122"/>
                <a:cs typeface="+mn-cs"/>
              </a:rPr>
              <a:t>[</a:t>
            </a:r>
            <a:r>
              <a:rPr lang="zh-CN" altLang="en-US" sz="2600" dirty="0">
                <a:latin typeface="Times New Roman" panose="02020603050405020304" pitchFamily="18" charset="0"/>
                <a:ea typeface="华文楷体" panose="02010600040101010101" pitchFamily="2" charset="-122"/>
                <a:cs typeface="+mn-cs"/>
              </a:rPr>
              <a:t>例</a:t>
            </a:r>
            <a:r>
              <a:rPr lang="en-US" altLang="zh-CN" sz="2600" dirty="0">
                <a:latin typeface="Times New Roman" panose="02020603050405020304" pitchFamily="18" charset="0"/>
                <a:ea typeface="华文楷体" panose="02010600040101010101" pitchFamily="2" charset="-122"/>
                <a:cs typeface="+mn-cs"/>
              </a:rPr>
              <a:t>11.2]</a:t>
            </a:r>
            <a:r>
              <a:rPr lang="zh-CN" altLang="en-US" sz="2600" dirty="0">
                <a:latin typeface="Times New Roman" panose="02020603050405020304" pitchFamily="18" charset="0"/>
                <a:ea typeface="华文楷体" panose="02010600040101010101" pitchFamily="2" charset="-122"/>
                <a:cs typeface="+mn-cs"/>
              </a:rPr>
              <a:t>） 。</a:t>
            </a:r>
            <a:endParaRPr lang="zh-CN" altLang="en-US" sz="26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en-US" altLang="zh-CN" sz="2600" dirty="0">
                <a:latin typeface="Times New Roman" panose="02020603050405020304" pitchFamily="18" charset="0"/>
                <a:ea typeface="华文楷体" panose="02010600040101010101" pitchFamily="2" charset="-122"/>
                <a:cs typeface="+mn-cs"/>
              </a:rPr>
              <a:t>	  </a:t>
            </a:r>
            <a:r>
              <a:rPr lang="zh-CN" altLang="en-US" sz="2600" dirty="0">
                <a:latin typeface="Times New Roman" panose="02020603050405020304" pitchFamily="18" charset="0"/>
                <a:ea typeface="华文楷体" panose="02010600040101010101" pitchFamily="2" charset="-122"/>
                <a:cs typeface="+mn-cs"/>
              </a:rPr>
              <a:t>注意阻塞赋值语句当本语句结束时即完成赋值操作！</a:t>
            </a:r>
            <a:endParaRPr lang="zh-CN" altLang="en-US" sz="2600" dirty="0">
              <a:latin typeface="Times New Roman" panose="02020603050405020304" pitchFamily="18" charset="0"/>
              <a:ea typeface="华文楷体" panose="02010600040101010101" pitchFamily="2" charset="-122"/>
              <a:cs typeface="+mn-cs"/>
            </a:endParaRPr>
          </a:p>
          <a:p>
            <a:pPr algn="just" eaLnBrk="1" hangingPunct="1">
              <a:lnSpc>
                <a:spcPct val="110000"/>
              </a:lnSpc>
            </a:pPr>
            <a:endParaRPr lang="en-US" altLang="zh-CN" sz="2600" dirty="0">
              <a:latin typeface="宋体" panose="02010600030101010101" pitchFamily="2" charset="-122"/>
              <a:ea typeface="Times New Roman" panose="02020603050405020304" pitchFamily="18" charset="0"/>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17603"/>
                                        </p:tgtEl>
                                        <p:attrNameLst>
                                          <p:attrName>style.visibility</p:attrName>
                                        </p:attrNameLst>
                                      </p:cBhvr>
                                      <p:to>
                                        <p:strVal val="visible"/>
                                      </p:to>
                                    </p:set>
                                    <p:anim calcmode="lin" valueType="num">
                                      <p:cBhvr additive="base">
                                        <p:cTn id="7" dur="500" fill="hold"/>
                                        <p:tgtEl>
                                          <p:spTgt spid="1817603"/>
                                        </p:tgtEl>
                                        <p:attrNameLst>
                                          <p:attrName>ppt_x</p:attrName>
                                        </p:attrNameLst>
                                      </p:cBhvr>
                                      <p:tavLst>
                                        <p:tav tm="0">
                                          <p:val>
                                            <p:strVal val="0-#ppt_w/2"/>
                                          </p:val>
                                        </p:tav>
                                        <p:tav tm="100000">
                                          <p:val>
                                            <p:strVal val="#ppt_x"/>
                                          </p:val>
                                        </p:tav>
                                      </p:tavLst>
                                    </p:anim>
                                    <p:anim calcmode="lin" valueType="num">
                                      <p:cBhvr additive="base">
                                        <p:cTn id="8" dur="500" fill="hold"/>
                                        <p:tgtEl>
                                          <p:spTgt spid="18176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7603" grpId="0"/>
    </p:bldLst>
  </p:timing>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8979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89795"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89796"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2067459" name="Text Box 3"/>
          <p:cNvSpPr txBox="1"/>
          <p:nvPr/>
        </p:nvSpPr>
        <p:spPr>
          <a:xfrm>
            <a:off x="436563" y="1419225"/>
            <a:ext cx="3986212" cy="43370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a:t>
            </a:r>
            <a:r>
              <a:rPr lang="zh-CN" altLang="en-US" sz="2400" b="1" dirty="0">
                <a:solidFill>
                  <a:srgbClr val="FF0066"/>
                </a:solidFill>
                <a:latin typeface="华文楷体" panose="02010600040101010101" pitchFamily="2" charset="-122"/>
                <a:ea typeface="华文楷体" panose="02010600040101010101" pitchFamily="2" charset="-122"/>
              </a:rPr>
              <a:t>例</a:t>
            </a:r>
            <a:r>
              <a:rPr lang="en-US" altLang="zh-CN" sz="2400" b="1" dirty="0">
                <a:solidFill>
                  <a:srgbClr val="FF0066"/>
                </a:solidFill>
                <a:latin typeface="华文楷体" panose="02010600040101010101" pitchFamily="2" charset="-122"/>
                <a:ea typeface="华文楷体" panose="02010600040101010101" pitchFamily="2" charset="-122"/>
              </a:rPr>
              <a:t>11.1</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顺序执行模块</a:t>
            </a:r>
            <a:r>
              <a:rPr lang="en-US" altLang="zh-CN" sz="2400" b="1" dirty="0">
                <a:latin typeface="华文楷体" panose="02010600040101010101" pitchFamily="2" charset="-122"/>
                <a:ea typeface="华文楷体" panose="02010600040101010101" pitchFamily="2" charset="-122"/>
              </a:rPr>
              <a:t>1</a:t>
            </a:r>
            <a:r>
              <a:rPr lang="zh-CN" altLang="en-US" sz="2200" b="1" dirty="0">
                <a:latin typeface="华文楷体" panose="02010600040101010101" pitchFamily="2" charset="-122"/>
                <a:ea typeface="华文楷体" panose="02010600040101010101" pitchFamily="2" charset="-122"/>
              </a:rPr>
              <a:t>。</a:t>
            </a:r>
            <a:endParaRPr lang="zh-CN" altLang="en-US" sz="22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module serial1(q,a,clk,rst);</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output q,a;</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input clk,rst;</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reg q,a;     </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always @(posedge clk)</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begin</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if(rst == 0)</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q=0;</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else</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begin</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q=~q; //阻塞赋值语句</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a=~q;</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end</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        end</a:t>
            </a:r>
            <a:endParaRPr lang="en-US" altLang="zh-CN" sz="1400" b="1" dirty="0">
              <a:latin typeface="华文楷体" panose="02010600040101010101" pitchFamily="2" charset="-122"/>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华文楷体" panose="02010600040101010101" pitchFamily="2" charset="-122"/>
                <a:ea typeface="华文楷体" panose="02010600040101010101" pitchFamily="2" charset="-122"/>
              </a:rPr>
              <a:t>endmodule</a:t>
            </a:r>
            <a:endParaRPr lang="en-US" altLang="zh-CN" sz="1400" b="1" dirty="0">
              <a:latin typeface="华文楷体" panose="02010600040101010101" pitchFamily="2" charset="-122"/>
              <a:ea typeface="华文楷体" panose="02010600040101010101" pitchFamily="2" charset="-122"/>
            </a:endParaRPr>
          </a:p>
        </p:txBody>
      </p:sp>
      <p:sp>
        <p:nvSpPr>
          <p:cNvPr id="2067460" name="Text Box 4"/>
          <p:cNvSpPr txBox="1"/>
          <p:nvPr/>
        </p:nvSpPr>
        <p:spPr>
          <a:xfrm>
            <a:off x="4787900" y="1436688"/>
            <a:ext cx="3835400" cy="43370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66"/>
                </a:solidFill>
                <a:latin typeface="Times New Roman" panose="02020603050405020304" pitchFamily="18" charset="0"/>
                <a:ea typeface="华文楷体" panose="02010600040101010101" pitchFamily="2" charset="-122"/>
              </a:rPr>
              <a:t>例</a:t>
            </a:r>
            <a:r>
              <a:rPr lang="en-US" altLang="zh-CN" sz="2400" b="1" dirty="0">
                <a:solidFill>
                  <a:srgbClr val="FF0066"/>
                </a:solidFill>
                <a:latin typeface="Times New Roman" panose="02020603050405020304" pitchFamily="18" charset="0"/>
                <a:ea typeface="华文楷体" panose="02010600040101010101" pitchFamily="2" charset="-122"/>
              </a:rPr>
              <a:t>11.2</a:t>
            </a:r>
            <a:r>
              <a:rPr lang="en-US" altLang="zh-CN" sz="2400" b="1" dirty="0">
                <a:latin typeface="Times New Roman" panose="02020603050405020304" pitchFamily="18" charset="0"/>
                <a:ea typeface="华文楷体" panose="02010600040101010101" pitchFamily="2" charset="-122"/>
              </a:rPr>
              <a:t>]</a:t>
            </a:r>
            <a:r>
              <a:rPr lang="zh-CN" altLang="en-US" sz="2400" b="1" dirty="0">
                <a:latin typeface="Times New Roman" panose="02020603050405020304" pitchFamily="18" charset="0"/>
                <a:ea typeface="华文楷体" panose="02010600040101010101" pitchFamily="2" charset="-122"/>
              </a:rPr>
              <a:t>顺序执行模块</a:t>
            </a:r>
            <a:r>
              <a:rPr lang="en-US" altLang="zh-CN" sz="2400" b="1" dirty="0">
                <a:latin typeface="Times New Roman" panose="02020603050405020304" pitchFamily="18" charset="0"/>
                <a:ea typeface="华文楷体" panose="02010600040101010101" pitchFamily="2" charset="-122"/>
              </a:rPr>
              <a:t>2</a:t>
            </a:r>
            <a:r>
              <a:rPr lang="zh-CN" altLang="en-US" sz="2200" b="1" dirty="0">
                <a:latin typeface="Times New Roman" panose="02020603050405020304" pitchFamily="18" charset="0"/>
                <a:ea typeface="华文楷体" panose="02010600040101010101" pitchFamily="2" charset="-122"/>
              </a:rPr>
              <a:t>。</a:t>
            </a:r>
            <a:endParaRPr lang="zh-CN" altLang="en-US"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module serial2(q,a,clk,rst);</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output q,a;</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input clk,rst;</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reg q,a;     </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always @(posedge clk)</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begin</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if(rst == 0)</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q=0;</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else</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begin</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a=~q;</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q=~q;</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end</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        end</a:t>
            </a:r>
            <a:endParaRPr lang="en-US" altLang="zh-CN" sz="14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1400" b="1" dirty="0">
                <a:latin typeface="Times New Roman" panose="02020603050405020304" pitchFamily="18" charset="0"/>
                <a:ea typeface="华文楷体" panose="02010600040101010101" pitchFamily="2" charset="-122"/>
              </a:rPr>
              <a:t>endmodule</a:t>
            </a:r>
            <a:endParaRPr lang="en-US" altLang="zh-CN" sz="1400" b="1" dirty="0">
              <a:latin typeface="Times New Roman" panose="02020603050405020304" pitchFamily="18" charset="0"/>
              <a:ea typeface="华文楷体" panose="02010600040101010101" pitchFamily="2" charset="-122"/>
            </a:endParaRPr>
          </a:p>
        </p:txBody>
      </p:sp>
      <p:sp>
        <p:nvSpPr>
          <p:cNvPr id="2067462" name="AutoShape 6"/>
          <p:cNvSpPr/>
          <p:nvPr/>
        </p:nvSpPr>
        <p:spPr>
          <a:xfrm>
            <a:off x="2317750" y="3894138"/>
            <a:ext cx="2655888" cy="411162"/>
          </a:xfrm>
          <a:prstGeom prst="wedgeRoundRectCallout">
            <a:avLst>
              <a:gd name="adj1" fmla="val -62421"/>
              <a:gd name="adj2" fmla="val 89736"/>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对前一时刻的</a:t>
            </a:r>
            <a:r>
              <a:rPr lang="en-US" altLang="zh-CN" sz="1800" b="1" dirty="0">
                <a:latin typeface="华文楷体" panose="02010600040101010101" pitchFamily="2" charset="-122"/>
                <a:ea typeface="华文楷体" panose="02010600040101010101" pitchFamily="2" charset="-122"/>
              </a:rPr>
              <a:t>q</a:t>
            </a:r>
            <a:r>
              <a:rPr lang="zh-CN" altLang="en-US" sz="1800" b="1" dirty="0">
                <a:latin typeface="华文楷体" panose="02010600040101010101" pitchFamily="2" charset="-122"/>
                <a:ea typeface="华文楷体" panose="02010600040101010101" pitchFamily="2" charset="-122"/>
              </a:rPr>
              <a:t>值取反</a:t>
            </a:r>
            <a:endParaRPr lang="zh-CN" altLang="en-US" sz="1800" b="1" dirty="0">
              <a:latin typeface="华文楷体" panose="02010600040101010101" pitchFamily="2" charset="-122"/>
              <a:ea typeface="华文楷体" panose="02010600040101010101" pitchFamily="2" charset="-122"/>
            </a:endParaRPr>
          </a:p>
        </p:txBody>
      </p:sp>
      <p:sp>
        <p:nvSpPr>
          <p:cNvPr id="2067463" name="AutoShape 7"/>
          <p:cNvSpPr/>
          <p:nvPr/>
        </p:nvSpPr>
        <p:spPr>
          <a:xfrm>
            <a:off x="2317750" y="5124450"/>
            <a:ext cx="2571750" cy="431800"/>
          </a:xfrm>
          <a:prstGeom prst="wedgeRoundRectCallout">
            <a:avLst>
              <a:gd name="adj1" fmla="val -63519"/>
              <a:gd name="adj2" fmla="val -118630"/>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对当前时刻的</a:t>
            </a:r>
            <a:r>
              <a:rPr lang="en-US" altLang="zh-CN" sz="1800" b="1" dirty="0">
                <a:latin typeface="华文楷体" panose="02010600040101010101" pitchFamily="2" charset="-122"/>
                <a:ea typeface="华文楷体" panose="02010600040101010101" pitchFamily="2" charset="-122"/>
              </a:rPr>
              <a:t>q</a:t>
            </a:r>
            <a:r>
              <a:rPr lang="zh-CN" altLang="en-US" sz="1800" b="1" dirty="0">
                <a:latin typeface="华文楷体" panose="02010600040101010101" pitchFamily="2" charset="-122"/>
                <a:ea typeface="华文楷体" panose="02010600040101010101" pitchFamily="2" charset="-122"/>
              </a:rPr>
              <a:t>值取反</a:t>
            </a:r>
            <a:endParaRPr lang="zh-CN" altLang="en-US" sz="1800" b="1" dirty="0">
              <a:latin typeface="华文楷体" panose="02010600040101010101" pitchFamily="2" charset="-122"/>
              <a:ea typeface="华文楷体" panose="02010600040101010101" pitchFamily="2" charset="-122"/>
            </a:endParaRPr>
          </a:p>
        </p:txBody>
      </p:sp>
      <p:sp>
        <p:nvSpPr>
          <p:cNvPr id="2067464" name="AutoShape 8"/>
          <p:cNvSpPr/>
          <p:nvPr/>
        </p:nvSpPr>
        <p:spPr>
          <a:xfrm>
            <a:off x="6480175" y="4008438"/>
            <a:ext cx="2655888" cy="368300"/>
          </a:xfrm>
          <a:prstGeom prst="wedgeRoundRectCallout">
            <a:avLst>
              <a:gd name="adj1" fmla="val -55977"/>
              <a:gd name="adj2" fmla="val 124019"/>
              <a:gd name="adj3" fmla="val 16667"/>
            </a:avLst>
          </a:prstGeom>
          <a:noFill/>
          <a:ln w="9525" cap="flat" cmpd="sng">
            <a:solidFill>
              <a:schemeClr val="tx1"/>
            </a:solidFill>
            <a:prstDash val="solid"/>
            <a:miter/>
            <a:headEnd type="none" w="med" len="med"/>
            <a:tailEnd type="none" w="med" len="med"/>
          </a:ln>
          <a:effectLst>
            <a:prstShdw prst="shdw17" dist="17961" dir="2699999">
              <a:srgbClr val="999985"/>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对前一时刻的</a:t>
            </a:r>
            <a:r>
              <a:rPr lang="en-US" altLang="zh-CN" sz="1800" b="1" dirty="0">
                <a:latin typeface="华文楷体" panose="02010600040101010101" pitchFamily="2" charset="-122"/>
                <a:ea typeface="华文楷体" panose="02010600040101010101" pitchFamily="2" charset="-122"/>
              </a:rPr>
              <a:t>q</a:t>
            </a:r>
            <a:r>
              <a:rPr lang="zh-CN" altLang="en-US" sz="1800" b="1" dirty="0">
                <a:latin typeface="华文楷体" panose="02010600040101010101" pitchFamily="2" charset="-122"/>
                <a:ea typeface="华文楷体" panose="02010600040101010101" pitchFamily="2" charset="-122"/>
              </a:rPr>
              <a:t>值取反</a:t>
            </a:r>
            <a:endParaRPr lang="zh-CN" altLang="en-US" sz="1800" b="1" dirty="0">
              <a:latin typeface="华文楷体" panose="02010600040101010101" pitchFamily="2" charset="-122"/>
              <a:ea typeface="华文楷体" panose="02010600040101010101" pitchFamily="2" charset="-122"/>
            </a:endParaRPr>
          </a:p>
        </p:txBody>
      </p:sp>
      <p:sp>
        <p:nvSpPr>
          <p:cNvPr id="2067465" name="AutoShape 9"/>
          <p:cNvSpPr/>
          <p:nvPr/>
        </p:nvSpPr>
        <p:spPr>
          <a:xfrm>
            <a:off x="6227763" y="5146675"/>
            <a:ext cx="2557462" cy="385763"/>
          </a:xfrm>
          <a:prstGeom prst="wedgeRoundRectCallout">
            <a:avLst>
              <a:gd name="adj1" fmla="val -45097"/>
              <a:gd name="adj2" fmla="val -107352"/>
              <a:gd name="adj3" fmla="val 16667"/>
            </a:avLst>
          </a:prstGeom>
          <a:noFill/>
          <a:ln w="9525" cap="flat" cmpd="sng">
            <a:solidFill>
              <a:schemeClr val="tx1"/>
            </a:solidFill>
            <a:prstDash val="solid"/>
            <a:miter/>
            <a:headEnd type="none" w="med" len="med"/>
            <a:tailEnd type="none" w="med" len="med"/>
          </a:ln>
          <a:effectLst>
            <a:prstShdw prst="shdw17" dist="17961" dir="2699999">
              <a:srgbClr val="999985"/>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对前一时刻的</a:t>
            </a:r>
            <a:r>
              <a:rPr lang="en-US" altLang="zh-CN" sz="1800" b="1" dirty="0">
                <a:latin typeface="华文楷体" panose="02010600040101010101" pitchFamily="2" charset="-122"/>
                <a:ea typeface="华文楷体" panose="02010600040101010101" pitchFamily="2" charset="-122"/>
              </a:rPr>
              <a:t>q</a:t>
            </a:r>
            <a:r>
              <a:rPr lang="zh-CN" altLang="en-US" sz="1800" b="1" dirty="0">
                <a:latin typeface="华文楷体" panose="02010600040101010101" pitchFamily="2" charset="-122"/>
                <a:ea typeface="华文楷体" panose="02010600040101010101" pitchFamily="2" charset="-122"/>
              </a:rPr>
              <a:t>值取反</a:t>
            </a:r>
            <a:endParaRPr lang="zh-CN" altLang="en-US" sz="1800" b="1" dirty="0">
              <a:latin typeface="华文楷体" panose="02010600040101010101" pitchFamily="2" charset="-122"/>
              <a:ea typeface="华文楷体" panose="02010600040101010101" pitchFamily="2" charset="-122"/>
            </a:endParaRPr>
          </a:p>
        </p:txBody>
      </p:sp>
      <p:sp>
        <p:nvSpPr>
          <p:cNvPr id="2067466" name="Rectangle 10"/>
          <p:cNvSpPr/>
          <p:nvPr/>
        </p:nvSpPr>
        <p:spPr>
          <a:xfrm>
            <a:off x="1200150" y="5870575"/>
            <a:ext cx="2543175" cy="4302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Char char="•"/>
            </a:pPr>
            <a:r>
              <a:rPr lang="en-US" altLang="zh-CN" b="1" dirty="0">
                <a:latin typeface="华文楷体" panose="02010600040101010101" pitchFamily="2" charset="-122"/>
                <a:ea typeface="华文楷体" panose="02010600040101010101" pitchFamily="2" charset="-122"/>
              </a:rPr>
              <a:t>a</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q</a:t>
            </a:r>
            <a:r>
              <a:rPr lang="zh-CN" altLang="en-US" b="1" dirty="0">
                <a:latin typeface="华文楷体" panose="02010600040101010101" pitchFamily="2" charset="-122"/>
                <a:ea typeface="华文楷体" panose="02010600040101010101" pitchFamily="2" charset="-122"/>
              </a:rPr>
              <a:t>的波形反相！</a:t>
            </a:r>
            <a:endParaRPr lang="zh-CN" altLang="en-US" b="1" dirty="0">
              <a:latin typeface="华文楷体" panose="02010600040101010101" pitchFamily="2" charset="-122"/>
              <a:ea typeface="华文楷体" panose="02010600040101010101" pitchFamily="2" charset="-122"/>
            </a:endParaRPr>
          </a:p>
        </p:txBody>
      </p:sp>
      <p:sp>
        <p:nvSpPr>
          <p:cNvPr id="2067467" name="Rectangle 11"/>
          <p:cNvSpPr/>
          <p:nvPr/>
        </p:nvSpPr>
        <p:spPr>
          <a:xfrm>
            <a:off x="5295900" y="5894388"/>
            <a:ext cx="3059113" cy="430212"/>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Char char="•"/>
            </a:pPr>
            <a:r>
              <a:rPr lang="en-US" altLang="zh-CN" b="1" dirty="0">
                <a:latin typeface="华文楷体" panose="02010600040101010101" pitchFamily="2" charset="-122"/>
                <a:ea typeface="华文楷体" panose="02010600040101010101" pitchFamily="2" charset="-122"/>
              </a:rPr>
              <a:t>a</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q</a:t>
            </a:r>
            <a:r>
              <a:rPr lang="zh-CN" altLang="en-US" b="1" dirty="0">
                <a:latin typeface="华文楷体" panose="02010600040101010101" pitchFamily="2" charset="-122"/>
                <a:ea typeface="华文楷体" panose="02010600040101010101" pitchFamily="2" charset="-122"/>
              </a:rPr>
              <a:t>的波形完全相同！</a:t>
            </a:r>
            <a:endParaRPr lang="zh-CN" altLang="en-US"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67459"/>
                                        </p:tgtEl>
                                        <p:attrNameLst>
                                          <p:attrName>style.visibility</p:attrName>
                                        </p:attrNameLst>
                                      </p:cBhvr>
                                      <p:to>
                                        <p:strVal val="visible"/>
                                      </p:to>
                                    </p:set>
                                    <p:anim calcmode="lin" valueType="num">
                                      <p:cBhvr additive="base">
                                        <p:cTn id="7" dur="500" fill="hold"/>
                                        <p:tgtEl>
                                          <p:spTgt spid="2067459"/>
                                        </p:tgtEl>
                                        <p:attrNameLst>
                                          <p:attrName>ppt_x</p:attrName>
                                        </p:attrNameLst>
                                      </p:cBhvr>
                                      <p:tavLst>
                                        <p:tav tm="0">
                                          <p:val>
                                            <p:strVal val="#ppt_x"/>
                                          </p:val>
                                        </p:tav>
                                        <p:tav tm="100000">
                                          <p:val>
                                            <p:strVal val="#ppt_x"/>
                                          </p:val>
                                        </p:tav>
                                      </p:tavLst>
                                    </p:anim>
                                    <p:anim calcmode="lin" valueType="num">
                                      <p:cBhvr additive="base">
                                        <p:cTn id="8" dur="500" fill="hold"/>
                                        <p:tgtEl>
                                          <p:spTgt spid="20674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067462"/>
                                        </p:tgtEl>
                                        <p:attrNameLst>
                                          <p:attrName>style.visibility</p:attrName>
                                        </p:attrNameLst>
                                      </p:cBhvr>
                                      <p:to>
                                        <p:strVal val="visible"/>
                                      </p:to>
                                    </p:set>
                                    <p:animEffect transition="in" filter="dissolve">
                                      <p:cBhvr>
                                        <p:cTn id="13" dur="500"/>
                                        <p:tgtEl>
                                          <p:spTgt spid="206746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067463"/>
                                        </p:tgtEl>
                                        <p:attrNameLst>
                                          <p:attrName>style.visibility</p:attrName>
                                        </p:attrNameLst>
                                      </p:cBhvr>
                                      <p:to>
                                        <p:strVal val="visible"/>
                                      </p:to>
                                    </p:set>
                                    <p:animEffect transition="in" filter="dissolve">
                                      <p:cBhvr>
                                        <p:cTn id="18" dur="500"/>
                                        <p:tgtEl>
                                          <p:spTgt spid="206746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067466"/>
                                        </p:tgtEl>
                                        <p:attrNameLst>
                                          <p:attrName>style.visibility</p:attrName>
                                        </p:attrNameLst>
                                      </p:cBhvr>
                                      <p:to>
                                        <p:strVal val="visible"/>
                                      </p:to>
                                    </p:set>
                                    <p:anim calcmode="lin" valueType="num">
                                      <p:cBhvr additive="base">
                                        <p:cTn id="23" dur="500" fill="hold"/>
                                        <p:tgtEl>
                                          <p:spTgt spid="2067466"/>
                                        </p:tgtEl>
                                        <p:attrNameLst>
                                          <p:attrName>ppt_x</p:attrName>
                                        </p:attrNameLst>
                                      </p:cBhvr>
                                      <p:tavLst>
                                        <p:tav tm="0">
                                          <p:val>
                                            <p:strVal val="#ppt_x"/>
                                          </p:val>
                                        </p:tav>
                                        <p:tav tm="100000">
                                          <p:val>
                                            <p:strVal val="#ppt_x"/>
                                          </p:val>
                                        </p:tav>
                                      </p:tavLst>
                                    </p:anim>
                                    <p:anim calcmode="lin" valueType="num">
                                      <p:cBhvr additive="base">
                                        <p:cTn id="24" dur="500" fill="hold"/>
                                        <p:tgtEl>
                                          <p:spTgt spid="206746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067460"/>
                                        </p:tgtEl>
                                        <p:attrNameLst>
                                          <p:attrName>style.visibility</p:attrName>
                                        </p:attrNameLst>
                                      </p:cBhvr>
                                      <p:to>
                                        <p:strVal val="visible"/>
                                      </p:to>
                                    </p:set>
                                    <p:anim calcmode="lin" valueType="num">
                                      <p:cBhvr additive="base">
                                        <p:cTn id="29" dur="500" fill="hold"/>
                                        <p:tgtEl>
                                          <p:spTgt spid="2067460"/>
                                        </p:tgtEl>
                                        <p:attrNameLst>
                                          <p:attrName>ppt_x</p:attrName>
                                        </p:attrNameLst>
                                      </p:cBhvr>
                                      <p:tavLst>
                                        <p:tav tm="0">
                                          <p:val>
                                            <p:strVal val="#ppt_x"/>
                                          </p:val>
                                        </p:tav>
                                        <p:tav tm="100000">
                                          <p:val>
                                            <p:strVal val="#ppt_x"/>
                                          </p:val>
                                        </p:tav>
                                      </p:tavLst>
                                    </p:anim>
                                    <p:anim calcmode="lin" valueType="num">
                                      <p:cBhvr additive="base">
                                        <p:cTn id="30" dur="500" fill="hold"/>
                                        <p:tgtEl>
                                          <p:spTgt spid="206746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067464"/>
                                        </p:tgtEl>
                                        <p:attrNameLst>
                                          <p:attrName>style.visibility</p:attrName>
                                        </p:attrNameLst>
                                      </p:cBhvr>
                                      <p:to>
                                        <p:strVal val="visible"/>
                                      </p:to>
                                    </p:set>
                                    <p:animEffect transition="in" filter="dissolve">
                                      <p:cBhvr>
                                        <p:cTn id="35" dur="500"/>
                                        <p:tgtEl>
                                          <p:spTgt spid="206746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067465"/>
                                        </p:tgtEl>
                                        <p:attrNameLst>
                                          <p:attrName>style.visibility</p:attrName>
                                        </p:attrNameLst>
                                      </p:cBhvr>
                                      <p:to>
                                        <p:strVal val="visible"/>
                                      </p:to>
                                    </p:set>
                                    <p:animEffect transition="in" filter="dissolve">
                                      <p:cBhvr>
                                        <p:cTn id="40" dur="500"/>
                                        <p:tgtEl>
                                          <p:spTgt spid="2067465"/>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067467"/>
                                        </p:tgtEl>
                                        <p:attrNameLst>
                                          <p:attrName>style.visibility</p:attrName>
                                        </p:attrNameLst>
                                      </p:cBhvr>
                                      <p:to>
                                        <p:strVal val="visible"/>
                                      </p:to>
                                    </p:set>
                                    <p:anim calcmode="lin" valueType="num">
                                      <p:cBhvr additive="base">
                                        <p:cTn id="45" dur="500" fill="hold"/>
                                        <p:tgtEl>
                                          <p:spTgt spid="2067467"/>
                                        </p:tgtEl>
                                        <p:attrNameLst>
                                          <p:attrName>ppt_x</p:attrName>
                                        </p:attrNameLst>
                                      </p:cBhvr>
                                      <p:tavLst>
                                        <p:tav tm="0">
                                          <p:val>
                                            <p:strVal val="#ppt_x"/>
                                          </p:val>
                                        </p:tav>
                                        <p:tav tm="100000">
                                          <p:val>
                                            <p:strVal val="#ppt_x"/>
                                          </p:val>
                                        </p:tav>
                                      </p:tavLst>
                                    </p:anim>
                                    <p:anim calcmode="lin" valueType="num">
                                      <p:cBhvr additive="base">
                                        <p:cTn id="46" dur="500" fill="hold"/>
                                        <p:tgtEl>
                                          <p:spTgt spid="20674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7459" grpId="0" bldLvl="0" animBg="1"/>
      <p:bldP spid="2067460" grpId="0" bldLvl="0" animBg="1"/>
      <p:bldP spid="2067462" grpId="0" bldLvl="0" animBg="1"/>
      <p:bldP spid="2067463" grpId="0" bldLvl="0" animBg="1"/>
      <p:bldP spid="2067464" grpId="0" bldLvl="0" animBg="1"/>
      <p:bldP spid="2067465" grpId="0" bldLvl="0" animBg="1"/>
      <p:bldP spid="2067466" grpId="0" bldLvl="0" animBg="1"/>
      <p:bldP spid="2067467"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91842" name="图片 2"/>
          <p:cNvPicPr>
            <a:picLocks noChangeAspect="1"/>
          </p:cNvPicPr>
          <p:nvPr/>
        </p:nvPicPr>
        <p:blipFill>
          <a:blip r:embed="rId1"/>
          <a:stretch>
            <a:fillRect/>
          </a:stretch>
        </p:blipFill>
        <p:spPr>
          <a:xfrm>
            <a:off x="36513" y="3781425"/>
            <a:ext cx="9074150" cy="1574800"/>
          </a:xfrm>
          <a:prstGeom prst="rect">
            <a:avLst/>
          </a:prstGeom>
          <a:noFill/>
          <a:ln w="9525">
            <a:noFill/>
          </a:ln>
        </p:spPr>
      </p:pic>
      <p:pic>
        <p:nvPicPr>
          <p:cNvPr id="291843" name="内容占位符 1"/>
          <p:cNvPicPr>
            <a:picLocks noGrp="1" noChangeAspect="1"/>
          </p:cNvPicPr>
          <p:nvPr>
            <p:ph idx="1"/>
          </p:nvPr>
        </p:nvPicPr>
        <p:blipFill>
          <a:blip r:embed="rId2"/>
          <a:srcRect/>
          <a:stretch>
            <a:fillRect/>
          </a:stretch>
        </p:blipFill>
        <p:spPr>
          <a:xfrm>
            <a:off x="36513" y="1265238"/>
            <a:ext cx="8964612" cy="1493837"/>
          </a:xfrm>
        </p:spPr>
      </p:pic>
      <p:sp>
        <p:nvSpPr>
          <p:cNvPr id="29184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91845"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291846" name="Rectangle 6"/>
          <p:cNvSpPr/>
          <p:nvPr/>
        </p:nvSpPr>
        <p:spPr>
          <a:xfrm>
            <a:off x="3509963" y="2771775"/>
            <a:ext cx="1809750" cy="45720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serial1.vwf</a:t>
            </a:r>
            <a:endParaRPr lang="en-US" altLang="zh-CN" sz="2200" b="1" dirty="0">
              <a:latin typeface="Times New Roman" panose="02020603050405020304" pitchFamily="18" charset="0"/>
              <a:ea typeface="宋体" panose="02010600030101010101" pitchFamily="2" charset="-122"/>
            </a:endParaRPr>
          </a:p>
        </p:txBody>
      </p:sp>
      <p:sp>
        <p:nvSpPr>
          <p:cNvPr id="291847" name="Rectangle 11"/>
          <p:cNvSpPr/>
          <p:nvPr/>
        </p:nvSpPr>
        <p:spPr>
          <a:xfrm>
            <a:off x="3468688" y="5353050"/>
            <a:ext cx="1809750" cy="457200"/>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serial2.vwf</a:t>
            </a:r>
            <a:endParaRPr lang="en-US" altLang="zh-CN" sz="2200" b="1" dirty="0">
              <a:latin typeface="Times New Roman" panose="02020603050405020304" pitchFamily="18" charset="0"/>
              <a:ea typeface="宋体" panose="02010600030101010101" pitchFamily="2" charset="-122"/>
            </a:endParaRPr>
          </a:p>
        </p:txBody>
      </p:sp>
      <p:sp>
        <p:nvSpPr>
          <p:cNvPr id="2077708" name="AutoShape 12"/>
          <p:cNvSpPr/>
          <p:nvPr/>
        </p:nvSpPr>
        <p:spPr>
          <a:xfrm>
            <a:off x="6354763" y="2752725"/>
            <a:ext cx="1412875" cy="738188"/>
          </a:xfrm>
          <a:prstGeom prst="wedgeRoundRectCallout">
            <a:avLst>
              <a:gd name="adj1" fmla="val -72921"/>
              <a:gd name="adj2" fmla="val -74806"/>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b="1" dirty="0">
                <a:latin typeface="华文楷体" panose="02010600040101010101" pitchFamily="2" charset="-122"/>
                <a:ea typeface="华文楷体" panose="02010600040101010101" pitchFamily="2" charset="-122"/>
              </a:rPr>
              <a:t>a</a:t>
            </a:r>
            <a:r>
              <a:rPr lang="zh-CN" altLang="en-US" b="1" dirty="0">
                <a:latin typeface="华文楷体" panose="02010600040101010101" pitchFamily="2" charset="-122"/>
                <a:ea typeface="华文楷体" panose="02010600040101010101" pitchFamily="2" charset="-122"/>
              </a:rPr>
              <a:t>和</a:t>
            </a:r>
            <a:r>
              <a:rPr lang="en-US" altLang="zh-CN" b="1" dirty="0">
                <a:latin typeface="华文楷体" panose="02010600040101010101" pitchFamily="2" charset="-122"/>
                <a:ea typeface="华文楷体" panose="02010600040101010101" pitchFamily="2" charset="-122"/>
              </a:rPr>
              <a:t>q</a:t>
            </a:r>
            <a:r>
              <a:rPr lang="zh-CN" altLang="en-US" b="1" dirty="0">
                <a:latin typeface="华文楷体" panose="02010600040101010101" pitchFamily="2" charset="-122"/>
                <a:ea typeface="华文楷体" panose="02010600040101010101" pitchFamily="2" charset="-122"/>
              </a:rPr>
              <a:t>的波形反相！</a:t>
            </a:r>
            <a:endParaRPr lang="zh-CN" altLang="en-US" b="1" dirty="0">
              <a:latin typeface="华文楷体" panose="02010600040101010101" pitchFamily="2" charset="-122"/>
              <a:ea typeface="华文楷体" panose="02010600040101010101" pitchFamily="2" charset="-122"/>
            </a:endParaRPr>
          </a:p>
        </p:txBody>
      </p:sp>
      <p:sp>
        <p:nvSpPr>
          <p:cNvPr id="2077709" name="AutoShape 13"/>
          <p:cNvSpPr/>
          <p:nvPr/>
        </p:nvSpPr>
        <p:spPr>
          <a:xfrm>
            <a:off x="6281738" y="5356225"/>
            <a:ext cx="1652587" cy="657225"/>
          </a:xfrm>
          <a:prstGeom prst="wedgeRoundRectCallout">
            <a:avLst>
              <a:gd name="adj1" fmla="val -50384"/>
              <a:gd name="adj2" fmla="val -79227"/>
              <a:gd name="adj3" fmla="val 16667"/>
            </a:avLst>
          </a:prstGeom>
          <a:noFill/>
          <a:ln w="9525" cap="flat" cmpd="sng">
            <a:solidFill>
              <a:schemeClr val="tx1"/>
            </a:solidFill>
            <a:prstDash val="solid"/>
            <a:miter/>
            <a:headEnd type="none" w="med" len="med"/>
            <a:tailEnd type="none" w="med" len="med"/>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q</a:t>
            </a:r>
            <a:r>
              <a:rPr lang="zh-CN" altLang="en-US" b="1" dirty="0">
                <a:latin typeface="宋体" panose="02010600030101010101" pitchFamily="2" charset="-122"/>
                <a:ea typeface="宋体" panose="02010600030101010101" pitchFamily="2" charset="-122"/>
              </a:rPr>
              <a:t>的波形完全一样！</a:t>
            </a:r>
            <a:endParaRPr lang="zh-CN" altLang="en-US" b="1" dirty="0">
              <a:latin typeface="宋体" panose="02010600030101010101" pitchFamily="2" charset="-122"/>
              <a:ea typeface="宋体" panose="02010600030101010101" pitchFamily="2" charset="-122"/>
            </a:endParaRPr>
          </a:p>
        </p:txBody>
      </p:sp>
      <p:sp>
        <p:nvSpPr>
          <p:cNvPr id="2077710" name="AutoShape 14"/>
          <p:cNvSpPr/>
          <p:nvPr/>
        </p:nvSpPr>
        <p:spPr>
          <a:xfrm>
            <a:off x="1981200" y="2946400"/>
            <a:ext cx="1095375" cy="619125"/>
          </a:xfrm>
          <a:prstGeom prst="wedgeRoundRectCallout">
            <a:avLst>
              <a:gd name="adj1" fmla="val 59708"/>
              <a:gd name="adj2" fmla="val -106153"/>
              <a:gd name="adj3" fmla="val 16667"/>
            </a:avLst>
          </a:prstGeom>
          <a:noFill/>
          <a:ln w="9525" cap="flat" cmpd="sng">
            <a:solidFill>
              <a:schemeClr val="tx1"/>
            </a:solidFill>
            <a:prstDash val="solid"/>
            <a:miter/>
            <a:headEnd type="none" w="med" len="med"/>
            <a:tailEnd type="none" w="med" len="med"/>
          </a:ln>
          <a:effectLst>
            <a:prstShdw prst="shdw17" dist="17961" dir="2699999">
              <a:srgbClr val="997A5C"/>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宋体" panose="02010600030101010101" pitchFamily="2" charset="-122"/>
              </a:rPr>
              <a:t>q=~q;             a=~q;</a:t>
            </a:r>
            <a:endParaRPr lang="en-US" altLang="zh-CN" sz="2000" b="1" dirty="0">
              <a:latin typeface="Times New Roman" panose="02020603050405020304" pitchFamily="18" charset="0"/>
              <a:ea typeface="宋体" panose="02010600030101010101" pitchFamily="2" charset="-122"/>
            </a:endParaRPr>
          </a:p>
        </p:txBody>
      </p:sp>
      <p:sp>
        <p:nvSpPr>
          <p:cNvPr id="2077711" name="AutoShape 15"/>
          <p:cNvSpPr/>
          <p:nvPr/>
        </p:nvSpPr>
        <p:spPr>
          <a:xfrm>
            <a:off x="1963738" y="5348288"/>
            <a:ext cx="1095375" cy="619125"/>
          </a:xfrm>
          <a:prstGeom prst="wedgeRoundRectCallout">
            <a:avLst>
              <a:gd name="adj1" fmla="val 59708"/>
              <a:gd name="adj2" fmla="val -106153"/>
              <a:gd name="adj3" fmla="val 16667"/>
            </a:avLst>
          </a:prstGeom>
          <a:noFill/>
          <a:ln w="9525" cap="flat" cmpd="sng">
            <a:solidFill>
              <a:schemeClr val="tx1"/>
            </a:solidFill>
            <a:prstDash val="solid"/>
            <a:miter/>
            <a:headEnd type="none" w="med" len="med"/>
            <a:tailEnd type="none" w="med" len="med"/>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宋体" panose="02010600030101010101" pitchFamily="2" charset="-122"/>
              </a:rPr>
              <a:t>a=~q;             q=~q;</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77710"/>
                                        </p:tgtEl>
                                        <p:attrNameLst>
                                          <p:attrName>style.visibility</p:attrName>
                                        </p:attrNameLst>
                                      </p:cBhvr>
                                      <p:to>
                                        <p:strVal val="visible"/>
                                      </p:to>
                                    </p:set>
                                    <p:animEffect transition="in" filter="dissolve">
                                      <p:cBhvr>
                                        <p:cTn id="7" dur="500"/>
                                        <p:tgtEl>
                                          <p:spTgt spid="207771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077708"/>
                                        </p:tgtEl>
                                        <p:attrNameLst>
                                          <p:attrName>style.visibility</p:attrName>
                                        </p:attrNameLst>
                                      </p:cBhvr>
                                      <p:to>
                                        <p:strVal val="visible"/>
                                      </p:to>
                                    </p:set>
                                    <p:anim calcmode="lin" valueType="num">
                                      <p:cBhvr>
                                        <p:cTn id="12" dur="500" fill="hold"/>
                                        <p:tgtEl>
                                          <p:spTgt spid="2077708"/>
                                        </p:tgtEl>
                                        <p:attrNameLst>
                                          <p:attrName>ppt_w</p:attrName>
                                        </p:attrNameLst>
                                      </p:cBhvr>
                                      <p:tavLst>
                                        <p:tav tm="0">
                                          <p:val>
                                            <p:fltVal val="0.000000"/>
                                          </p:val>
                                        </p:tav>
                                        <p:tav tm="100000">
                                          <p:val>
                                            <p:strVal val="#ppt_w"/>
                                          </p:val>
                                        </p:tav>
                                      </p:tavLst>
                                    </p:anim>
                                    <p:anim calcmode="lin" valueType="num">
                                      <p:cBhvr>
                                        <p:cTn id="13" dur="500" fill="hold"/>
                                        <p:tgtEl>
                                          <p:spTgt spid="2077708"/>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077711"/>
                                        </p:tgtEl>
                                        <p:attrNameLst>
                                          <p:attrName>style.visibility</p:attrName>
                                        </p:attrNameLst>
                                      </p:cBhvr>
                                      <p:to>
                                        <p:strVal val="visible"/>
                                      </p:to>
                                    </p:set>
                                    <p:animEffect transition="in" filter="dissolve">
                                      <p:cBhvr>
                                        <p:cTn id="18" dur="500"/>
                                        <p:tgtEl>
                                          <p:spTgt spid="2077711"/>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2077709"/>
                                        </p:tgtEl>
                                        <p:attrNameLst>
                                          <p:attrName>style.visibility</p:attrName>
                                        </p:attrNameLst>
                                      </p:cBhvr>
                                      <p:to>
                                        <p:strVal val="visible"/>
                                      </p:to>
                                    </p:set>
                                    <p:anim calcmode="lin" valueType="num">
                                      <p:cBhvr>
                                        <p:cTn id="23" dur="500" fill="hold"/>
                                        <p:tgtEl>
                                          <p:spTgt spid="2077709"/>
                                        </p:tgtEl>
                                        <p:attrNameLst>
                                          <p:attrName>ppt_w</p:attrName>
                                        </p:attrNameLst>
                                      </p:cBhvr>
                                      <p:tavLst>
                                        <p:tav tm="0">
                                          <p:val>
                                            <p:fltVal val="0.000000"/>
                                          </p:val>
                                        </p:tav>
                                        <p:tav tm="100000">
                                          <p:val>
                                            <p:strVal val="#ppt_w"/>
                                          </p:val>
                                        </p:tav>
                                      </p:tavLst>
                                    </p:anim>
                                    <p:anim calcmode="lin" valueType="num">
                                      <p:cBhvr>
                                        <p:cTn id="24" dur="500" fill="hold"/>
                                        <p:tgtEl>
                                          <p:spTgt spid="207770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7708" grpId="0" animBg="1"/>
      <p:bldP spid="2077709" grpId="0" animBg="1"/>
      <p:bldP spid="2077710" grpId="0" animBg="1"/>
      <p:bldP spid="2077711" grpId="0" animBg="1"/>
    </p:bldLst>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93890" name="图片 2"/>
          <p:cNvPicPr>
            <a:picLocks noChangeAspect="1"/>
          </p:cNvPicPr>
          <p:nvPr/>
        </p:nvPicPr>
        <p:blipFill>
          <a:blip r:embed="rId1"/>
          <a:stretch>
            <a:fillRect/>
          </a:stretch>
        </p:blipFill>
        <p:spPr>
          <a:xfrm>
            <a:off x="34925" y="4676775"/>
            <a:ext cx="9074150" cy="1574800"/>
          </a:xfrm>
          <a:prstGeom prst="rect">
            <a:avLst/>
          </a:prstGeom>
          <a:noFill/>
          <a:ln w="9525">
            <a:noFill/>
          </a:ln>
        </p:spPr>
      </p:pic>
      <p:sp>
        <p:nvSpPr>
          <p:cNvPr id="293891"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93892"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2069507" name="Rectangle 3"/>
          <p:cNvSpPr>
            <a:spLocks noGrp="1"/>
          </p:cNvSpPr>
          <p:nvPr>
            <p:ph idx="1"/>
          </p:nvPr>
        </p:nvSpPr>
        <p:spPr/>
        <p:txBody>
          <a:bodyPr vert="horz" wrap="square" lIns="91440" tIns="45720" rIns="91440" bIns="45720" anchor="t" anchorCtr="0"/>
          <a:p>
            <a:pPr algn="just" eaLnBrk="1" hangingPunct="1">
              <a:lnSpc>
                <a:spcPct val="110000"/>
              </a:lnSpc>
            </a:pPr>
            <a:r>
              <a:rPr lang="zh-CN" altLang="en-US" sz="2800" dirty="0">
                <a:latin typeface="Times New Roman" panose="02020603050405020304" pitchFamily="18" charset="0"/>
                <a:ea typeface="华文楷体" panose="02010600040101010101" pitchFamily="2" charset="-122"/>
                <a:cs typeface="+mn-cs"/>
              </a:rPr>
              <a:t>二、语句的并行执行</a:t>
            </a:r>
            <a:endParaRPr lang="zh-CN" altLang="en-US" sz="28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latin typeface="Times New Roman" panose="02020603050405020304" pitchFamily="18" charset="0"/>
                <a:ea typeface="华文楷体" panose="02010600040101010101" pitchFamily="2" charset="-122"/>
                <a:cs typeface="+mn-cs"/>
              </a:rPr>
              <a:t>“</a:t>
            </a:r>
            <a:r>
              <a:rPr lang="en-US" altLang="zh-CN" sz="2200" dirty="0">
                <a:latin typeface="Times New Roman" panose="02020603050405020304" pitchFamily="18" charset="0"/>
                <a:ea typeface="华文楷体" panose="02010600040101010101" pitchFamily="2" charset="-122"/>
                <a:cs typeface="+mn-cs"/>
              </a:rPr>
              <a:t>always”</a:t>
            </a:r>
            <a:r>
              <a:rPr lang="zh-CN" altLang="en-US" sz="2200" dirty="0">
                <a:latin typeface="Times New Roman" panose="02020603050405020304" pitchFamily="18" charset="0"/>
                <a:ea typeface="华文楷体" panose="02010600040101010101" pitchFamily="2" charset="-122"/>
                <a:cs typeface="+mn-cs"/>
              </a:rPr>
              <a:t>模块、“</a:t>
            </a:r>
            <a:r>
              <a:rPr lang="en-US" altLang="zh-CN" sz="2200" dirty="0">
                <a:latin typeface="Times New Roman" panose="02020603050405020304" pitchFamily="18" charset="0"/>
                <a:ea typeface="华文楷体" panose="02010600040101010101" pitchFamily="2" charset="-122"/>
                <a:cs typeface="+mn-cs"/>
              </a:rPr>
              <a:t>assign”</a:t>
            </a:r>
            <a:r>
              <a:rPr lang="zh-CN" altLang="en-US" sz="2200" dirty="0">
                <a:latin typeface="Times New Roman" panose="02020603050405020304" pitchFamily="18" charset="0"/>
                <a:ea typeface="华文楷体" panose="02010600040101010101" pitchFamily="2" charset="-122"/>
                <a:cs typeface="+mn-cs"/>
              </a:rPr>
              <a:t>语句、实例元件都是同时（即并行）执行的！</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latin typeface="Times New Roman" panose="02020603050405020304" pitchFamily="18" charset="0"/>
                <a:ea typeface="华文楷体" panose="02010600040101010101" pitchFamily="2" charset="-122"/>
                <a:cs typeface="+mn-cs"/>
              </a:rPr>
              <a:t>它们在程序中的先后顺序对结果并没有影响。</a:t>
            </a:r>
            <a:endParaRPr lang="zh-CN" altLang="en-US" sz="2200" dirty="0">
              <a:latin typeface="Times New Roman" panose="02020603050405020304" pitchFamily="18" charset="0"/>
              <a:ea typeface="华文楷体" panose="02010600040101010101" pitchFamily="2" charset="-122"/>
              <a:cs typeface="+mn-cs"/>
            </a:endParaRPr>
          </a:p>
          <a:p>
            <a:pPr algn="just" eaLnBrk="1" hangingPunct="1">
              <a:lnSpc>
                <a:spcPct val="110000"/>
              </a:lnSpc>
            </a:pPr>
            <a:r>
              <a:rPr lang="zh-CN" altLang="en-US" sz="2200" dirty="0">
                <a:latin typeface="Times New Roman" panose="02020603050405020304" pitchFamily="18" charset="0"/>
                <a:ea typeface="华文楷体" panose="02010600040101010101" pitchFamily="2" charset="-122"/>
                <a:cs typeface="+mn-cs"/>
              </a:rPr>
              <a:t>下面 </a:t>
            </a:r>
            <a:r>
              <a:rPr lang="en-US" altLang="zh-CN" sz="2200" dirty="0">
                <a:latin typeface="Times New Roman" panose="02020603050405020304" pitchFamily="18" charset="0"/>
                <a:ea typeface="华文楷体" panose="02010600040101010101" pitchFamily="2" charset="-122"/>
                <a:cs typeface="+mn-cs"/>
              </a:rPr>
              <a:t>[</a:t>
            </a:r>
            <a:r>
              <a:rPr lang="zh-CN" altLang="en-US" sz="2200" dirty="0">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华文楷体" panose="02010600040101010101" pitchFamily="2" charset="-122"/>
                <a:cs typeface="+mn-cs"/>
              </a:rPr>
              <a:t>11.3]</a:t>
            </a:r>
            <a:r>
              <a:rPr lang="zh-CN" altLang="en-US" sz="2200" dirty="0">
                <a:latin typeface="Times New Roman" panose="02020603050405020304" pitchFamily="18" charset="0"/>
                <a:ea typeface="华文楷体" panose="02010600040101010101" pitchFamily="2" charset="-122"/>
                <a:cs typeface="+mn-cs"/>
              </a:rPr>
              <a:t>、 </a:t>
            </a:r>
            <a:r>
              <a:rPr lang="en-US" altLang="zh-CN" sz="2200" dirty="0">
                <a:latin typeface="Times New Roman" panose="02020603050405020304" pitchFamily="18" charset="0"/>
                <a:ea typeface="华文楷体" panose="02010600040101010101" pitchFamily="2" charset="-122"/>
                <a:cs typeface="+mn-cs"/>
              </a:rPr>
              <a:t>[</a:t>
            </a:r>
            <a:r>
              <a:rPr lang="zh-CN" altLang="en-US" sz="2200" dirty="0">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华文楷体" panose="02010600040101010101" pitchFamily="2" charset="-122"/>
                <a:cs typeface="+mn-cs"/>
              </a:rPr>
              <a:t>11.4]</a:t>
            </a:r>
            <a:r>
              <a:rPr lang="zh-CN" altLang="en-US" sz="2200" dirty="0">
                <a:latin typeface="Times New Roman" panose="02020603050405020304" pitchFamily="18" charset="0"/>
                <a:ea typeface="华文楷体" panose="02010600040101010101" pitchFamily="2" charset="-122"/>
                <a:cs typeface="+mn-cs"/>
              </a:rPr>
              <a:t>将两条赋值语句分别放在两个“</a:t>
            </a:r>
            <a:r>
              <a:rPr lang="en-US" altLang="zh-CN" sz="2200" dirty="0">
                <a:latin typeface="Times New Roman" panose="02020603050405020304" pitchFamily="18" charset="0"/>
                <a:ea typeface="华文楷体" panose="02010600040101010101" pitchFamily="2" charset="-122"/>
                <a:cs typeface="+mn-cs"/>
              </a:rPr>
              <a:t>always”</a:t>
            </a:r>
            <a:r>
              <a:rPr lang="zh-CN" altLang="en-US" sz="2200" dirty="0">
                <a:latin typeface="Times New Roman" panose="02020603050405020304" pitchFamily="18" charset="0"/>
                <a:ea typeface="华文楷体" panose="02010600040101010101" pitchFamily="2" charset="-122"/>
                <a:cs typeface="+mn-cs"/>
              </a:rPr>
              <a:t>模块中，尽管两个“</a:t>
            </a:r>
            <a:r>
              <a:rPr lang="en-US" altLang="zh-CN" sz="2200" dirty="0">
                <a:latin typeface="Times New Roman" panose="02020603050405020304" pitchFamily="18" charset="0"/>
                <a:ea typeface="华文楷体" panose="02010600040101010101" pitchFamily="2" charset="-122"/>
                <a:cs typeface="+mn-cs"/>
              </a:rPr>
              <a:t>always”</a:t>
            </a:r>
            <a:r>
              <a:rPr lang="zh-CN" altLang="en-US" sz="2200" dirty="0">
                <a:latin typeface="Times New Roman" panose="02020603050405020304" pitchFamily="18" charset="0"/>
                <a:ea typeface="华文楷体" panose="02010600040101010101" pitchFamily="2" charset="-122"/>
                <a:cs typeface="+mn-cs"/>
              </a:rPr>
              <a:t>模块顺序相反，但仿真波形完全相同，同</a:t>
            </a:r>
            <a:r>
              <a:rPr lang="en-US" altLang="zh-CN" sz="2200" dirty="0">
                <a:latin typeface="Times New Roman" panose="02020603050405020304" pitchFamily="18" charset="0"/>
                <a:ea typeface="华文楷体" panose="02010600040101010101" pitchFamily="2" charset="-122"/>
                <a:cs typeface="+mn-cs"/>
              </a:rPr>
              <a:t>[</a:t>
            </a:r>
            <a:r>
              <a:rPr lang="zh-CN" altLang="en-US" sz="2200" dirty="0">
                <a:latin typeface="Times New Roman" panose="02020603050405020304" pitchFamily="18" charset="0"/>
                <a:ea typeface="华文楷体" panose="02010600040101010101" pitchFamily="2" charset="-122"/>
                <a:cs typeface="+mn-cs"/>
              </a:rPr>
              <a:t>例</a:t>
            </a:r>
            <a:r>
              <a:rPr lang="en-US" altLang="zh-CN" sz="2200" dirty="0">
                <a:latin typeface="Times New Roman" panose="02020603050405020304" pitchFamily="18" charset="0"/>
                <a:ea typeface="华文楷体" panose="02010600040101010101" pitchFamily="2" charset="-122"/>
                <a:cs typeface="+mn-cs"/>
              </a:rPr>
              <a:t>11.2] ——q</a:t>
            </a:r>
            <a:r>
              <a:rPr lang="zh-CN" altLang="en-US" sz="2200" dirty="0">
                <a:latin typeface="Times New Roman" panose="02020603050405020304" pitchFamily="18" charset="0"/>
                <a:ea typeface="华文楷体" panose="02010600040101010101" pitchFamily="2" charset="-122"/>
                <a:cs typeface="+mn-cs"/>
              </a:rPr>
              <a:t>和</a:t>
            </a:r>
            <a:r>
              <a:rPr lang="en-US" altLang="zh-CN" sz="2200" dirty="0">
                <a:latin typeface="Times New Roman" panose="02020603050405020304" pitchFamily="18" charset="0"/>
                <a:ea typeface="华文楷体" panose="02010600040101010101" pitchFamily="2" charset="-122"/>
                <a:cs typeface="+mn-cs"/>
              </a:rPr>
              <a:t>a</a:t>
            </a:r>
            <a:r>
              <a:rPr lang="zh-CN" altLang="en-US" sz="2200" dirty="0">
                <a:latin typeface="Times New Roman" panose="02020603050405020304" pitchFamily="18" charset="0"/>
                <a:ea typeface="华文楷体" panose="02010600040101010101" pitchFamily="2" charset="-122"/>
                <a:cs typeface="+mn-cs"/>
              </a:rPr>
              <a:t>的波形完全一样。</a:t>
            </a:r>
            <a:endParaRPr lang="zh-CN" altLang="en-US" sz="2200" dirty="0">
              <a:latin typeface="Times New Roman" panose="02020603050405020304" pitchFamily="18" charset="0"/>
              <a:ea typeface="华文楷体" panose="02010600040101010101" pitchFamily="2" charset="-122"/>
              <a:cs typeface="+mn-cs"/>
            </a:endParaRPr>
          </a:p>
        </p:txBody>
      </p:sp>
      <p:sp>
        <p:nvSpPr>
          <p:cNvPr id="2069509" name="Rectangle 5"/>
          <p:cNvSpPr>
            <a:spLocks noChangeArrowheads="1"/>
          </p:cNvSpPr>
          <p:nvPr/>
        </p:nvSpPr>
        <p:spPr bwMode="auto">
          <a:xfrm>
            <a:off x="3554412" y="6276973"/>
            <a:ext cx="1809750" cy="457200"/>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p:spPr>
        <p:txBody>
          <a:bodyPr/>
          <a:lstStyle>
            <a:lvl1pPr marL="342900" indent="-342900">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1pPr>
            <a:lvl2pPr marL="484505" indent="-294005">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600" b="1">
                <a:solidFill>
                  <a:srgbClr val="FF33CC"/>
                </a:solidFill>
                <a:latin typeface="Tahoma" panose="020B0604030504040204" pitchFamily="34" charset="0"/>
                <a:ea typeface="宋体" panose="02010600030101010101" pitchFamily="2" charset="-122"/>
              </a:defRPr>
            </a:lvl9pPr>
          </a:lstStyle>
          <a:p>
            <a:pPr marL="484505" marR="0" lvl="1" indent="-294005" algn="l" defTabSz="914400" rtl="0" eaLnBrk="1" fontAlgn="base" latinLnBrk="0" hangingPunct="1">
              <a:lnSpc>
                <a:spcPct val="100000"/>
              </a:lnSpc>
              <a:spcBef>
                <a:spcPct val="20000"/>
              </a:spcBef>
              <a:spcAft>
                <a:spcPct val="0"/>
              </a:spcAft>
              <a:buClr>
                <a:srgbClr val="FF0000"/>
              </a:buClr>
              <a:buSzPct val="80000"/>
              <a:buFont typeface="Wingdings" panose="05000000000000000000" pitchFamily="2" charset="2"/>
              <a:buNone/>
              <a:defRPr/>
            </a:pPr>
            <a:r>
              <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rPr>
              <a:t>parall1.vwf</a:t>
            </a:r>
            <a:endParaRPr kumimoji="0" lang="en-US" altLang="zh-CN" sz="2200" b="1"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sym typeface="+mn-ea"/>
            </a:endParaRPr>
          </a:p>
        </p:txBody>
      </p:sp>
      <p:sp>
        <p:nvSpPr>
          <p:cNvPr id="2069510" name="AutoShape 6"/>
          <p:cNvSpPr/>
          <p:nvPr/>
        </p:nvSpPr>
        <p:spPr>
          <a:xfrm>
            <a:off x="6051550" y="4135438"/>
            <a:ext cx="2655888" cy="463550"/>
          </a:xfrm>
          <a:prstGeom prst="wedgeRoundRectCallout">
            <a:avLst>
              <a:gd name="adj1" fmla="val -57051"/>
              <a:gd name="adj2" fmla="val 270343"/>
              <a:gd name="adj3" fmla="val 16667"/>
            </a:avLst>
          </a:prstGeom>
          <a:noFill/>
          <a:ln w="9525" cap="flat" cmpd="sng">
            <a:solidFill>
              <a:schemeClr val="tx1"/>
            </a:solidFill>
            <a:prstDash val="solid"/>
            <a:miter/>
            <a:headEnd type="none" w="med" len="med"/>
            <a:tailEnd type="none" w="med" len="med"/>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华文楷体" panose="02010600040101010101" pitchFamily="2" charset="-122"/>
                <a:ea typeface="华文楷体" panose="02010600040101010101" pitchFamily="2" charset="-122"/>
              </a:rPr>
              <a:t>对前一时刻的</a:t>
            </a:r>
            <a:r>
              <a:rPr lang="en-US" altLang="zh-CN" sz="1800" b="1" dirty="0">
                <a:latin typeface="华文楷体" panose="02010600040101010101" pitchFamily="2" charset="-122"/>
                <a:ea typeface="华文楷体" panose="02010600040101010101" pitchFamily="2" charset="-122"/>
              </a:rPr>
              <a:t>q</a:t>
            </a:r>
            <a:r>
              <a:rPr lang="zh-CN" altLang="en-US" sz="1800" b="1" dirty="0">
                <a:latin typeface="华文楷体" panose="02010600040101010101" pitchFamily="2" charset="-122"/>
                <a:ea typeface="华文楷体" panose="02010600040101010101" pitchFamily="2" charset="-122"/>
              </a:rPr>
              <a:t>值取反</a:t>
            </a:r>
            <a:endParaRPr lang="zh-CN" altLang="en-US" sz="1800" b="1" dirty="0">
              <a:latin typeface="华文楷体" panose="02010600040101010101" pitchFamily="2" charset="-122"/>
              <a:ea typeface="华文楷体" panose="02010600040101010101" pitchFamily="2" charset="-122"/>
            </a:endParaRPr>
          </a:p>
        </p:txBody>
      </p:sp>
      <p:sp>
        <p:nvSpPr>
          <p:cNvPr id="2069511" name="AutoShape 7"/>
          <p:cNvSpPr/>
          <p:nvPr/>
        </p:nvSpPr>
        <p:spPr>
          <a:xfrm>
            <a:off x="5611813" y="6343650"/>
            <a:ext cx="2557462" cy="323850"/>
          </a:xfrm>
          <a:prstGeom prst="wedgeRoundRectCallout">
            <a:avLst>
              <a:gd name="adj1" fmla="val -41806"/>
              <a:gd name="adj2" fmla="val -154903"/>
              <a:gd name="adj3" fmla="val 16667"/>
            </a:avLst>
          </a:prstGeom>
          <a:noFill/>
          <a:ln w="9525" cap="flat" cmpd="sng">
            <a:solidFill>
              <a:schemeClr val="tx1"/>
            </a:solidFill>
            <a:prstDash val="solid"/>
            <a:miter/>
            <a:headEnd type="none" w="med" len="med"/>
            <a:tailEnd type="none" w="med" len="med"/>
          </a:ln>
          <a:effectLst>
            <a:prstShdw prst="shdw17" dist="17961" dir="2699999">
              <a:srgbClr val="99997A"/>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sz="1800" b="1" dirty="0">
                <a:latin typeface="方正姚体" panose="02010601030101010101" pitchFamily="2" charset="-122"/>
                <a:ea typeface="方正姚体" panose="02010601030101010101" pitchFamily="2" charset="-122"/>
              </a:rPr>
              <a:t>对前一时刻的</a:t>
            </a:r>
            <a:r>
              <a:rPr lang="en-US" altLang="zh-CN" sz="1800" b="1" dirty="0">
                <a:latin typeface="方正姚体" panose="02010601030101010101" pitchFamily="2" charset="-122"/>
                <a:ea typeface="方正姚体" panose="02010601030101010101" pitchFamily="2" charset="-122"/>
              </a:rPr>
              <a:t>q</a:t>
            </a:r>
            <a:r>
              <a:rPr lang="zh-CN" altLang="en-US" sz="1800" b="1" dirty="0">
                <a:latin typeface="方正姚体" panose="02010601030101010101" pitchFamily="2" charset="-122"/>
                <a:ea typeface="方正姚体" panose="02010601030101010101" pitchFamily="2" charset="-122"/>
              </a:rPr>
              <a:t>值取反</a:t>
            </a:r>
            <a:endParaRPr lang="zh-CN" altLang="en-US" sz="1800" b="1" dirty="0">
              <a:latin typeface="方正姚体" panose="02010601030101010101" pitchFamily="2" charset="-122"/>
              <a:ea typeface="方正姚体" panose="02010601030101010101" pitchFamily="2" charset="-122"/>
            </a:endParaRPr>
          </a:p>
        </p:txBody>
      </p:sp>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69507"/>
                                        </p:tgtEl>
                                        <p:attrNameLst>
                                          <p:attrName>style.visibility</p:attrName>
                                        </p:attrNameLst>
                                      </p:cBhvr>
                                      <p:to>
                                        <p:strVal val="visible"/>
                                      </p:to>
                                    </p:set>
                                    <p:anim calcmode="lin" valueType="num">
                                      <p:cBhvr additive="base">
                                        <p:cTn id="7" dur="500" fill="hold"/>
                                        <p:tgtEl>
                                          <p:spTgt spid="2069507"/>
                                        </p:tgtEl>
                                        <p:attrNameLst>
                                          <p:attrName>ppt_x</p:attrName>
                                        </p:attrNameLst>
                                      </p:cBhvr>
                                      <p:tavLst>
                                        <p:tav tm="0">
                                          <p:val>
                                            <p:strVal val="0-#ppt_w/2"/>
                                          </p:val>
                                        </p:tav>
                                        <p:tav tm="100000">
                                          <p:val>
                                            <p:strVal val="#ppt_x"/>
                                          </p:val>
                                        </p:tav>
                                      </p:tavLst>
                                    </p:anim>
                                    <p:anim calcmode="lin" valueType="num">
                                      <p:cBhvr additive="base">
                                        <p:cTn id="8" dur="500" fill="hold"/>
                                        <p:tgtEl>
                                          <p:spTgt spid="206950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2069509"/>
                                        </p:tgtEl>
                                        <p:attrNameLst>
                                          <p:attrName>style.visibility</p:attrName>
                                        </p:attrNameLst>
                                      </p:cBhvr>
                                      <p:to>
                                        <p:strVal val="visible"/>
                                      </p:to>
                                    </p:set>
                                    <p:anim calcmode="lin" valueType="num">
                                      <p:cBhvr>
                                        <p:cTn id="12" dur="500" fill="hold"/>
                                        <p:tgtEl>
                                          <p:spTgt spid="2069509"/>
                                        </p:tgtEl>
                                        <p:attrNameLst>
                                          <p:attrName>ppt_w</p:attrName>
                                        </p:attrNameLst>
                                      </p:cBhvr>
                                      <p:tavLst>
                                        <p:tav tm="0">
                                          <p:val>
                                            <p:fltVal val="0.000000"/>
                                          </p:val>
                                        </p:tav>
                                        <p:tav tm="100000">
                                          <p:val>
                                            <p:strVal val="#ppt_w"/>
                                          </p:val>
                                        </p:tav>
                                      </p:tavLst>
                                    </p:anim>
                                    <p:anim calcmode="lin" valueType="num">
                                      <p:cBhvr>
                                        <p:cTn id="13" dur="500" fill="hold"/>
                                        <p:tgtEl>
                                          <p:spTgt spid="2069509"/>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069510"/>
                                        </p:tgtEl>
                                        <p:attrNameLst>
                                          <p:attrName>style.visibility</p:attrName>
                                        </p:attrNameLst>
                                      </p:cBhvr>
                                      <p:to>
                                        <p:strVal val="visible"/>
                                      </p:to>
                                    </p:set>
                                    <p:animEffect transition="in" filter="dissolve">
                                      <p:cBhvr>
                                        <p:cTn id="18" dur="500"/>
                                        <p:tgtEl>
                                          <p:spTgt spid="206951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69511"/>
                                        </p:tgtEl>
                                        <p:attrNameLst>
                                          <p:attrName>style.visibility</p:attrName>
                                        </p:attrNameLst>
                                      </p:cBhvr>
                                      <p:to>
                                        <p:strVal val="visible"/>
                                      </p:to>
                                    </p:set>
                                    <p:animEffect transition="in" filter="dissolve">
                                      <p:cBhvr>
                                        <p:cTn id="23" dur="500"/>
                                        <p:tgtEl>
                                          <p:spTgt spid="2069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507" grpId="0"/>
      <p:bldP spid="2069510" grpId="0" bldLvl="0" animBg="1"/>
      <p:bldP spid="2069511" grpId="0" bldLvl="0" animBg="1"/>
    </p:bld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593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95939"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295940" name="Rectangle 2"/>
          <p:cNvSpPr>
            <a:spLocks noGrp="1"/>
          </p:cNvSpPr>
          <p:nvPr>
            <p:ph type="title"/>
          </p:nvPr>
        </p:nvSpPr>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11  </a:t>
            </a:r>
            <a:r>
              <a:rPr lang="zh-CN" altLang="en-US" dirty="0">
                <a:latin typeface="华文楷体" panose="02010600040101010101" pitchFamily="2" charset="-122"/>
                <a:ea typeface="黑体" panose="02010609060101010101" pitchFamily="49" charset="-122"/>
                <a:cs typeface="+mj-cs"/>
              </a:rPr>
              <a:t>语句的顺序执行与并行执行</a:t>
            </a:r>
            <a:endParaRPr lang="zh-CN" altLang="en-US" dirty="0">
              <a:latin typeface="华文楷体" panose="02010600040101010101" pitchFamily="2" charset="-122"/>
              <a:ea typeface="黑体" panose="02010609060101010101" pitchFamily="49" charset="-122"/>
              <a:cs typeface="+mj-cs"/>
            </a:endParaRPr>
          </a:p>
        </p:txBody>
      </p:sp>
      <p:sp>
        <p:nvSpPr>
          <p:cNvPr id="2071555" name="Text Box 3"/>
          <p:cNvSpPr txBox="1"/>
          <p:nvPr/>
        </p:nvSpPr>
        <p:spPr>
          <a:xfrm>
            <a:off x="439738" y="1154113"/>
            <a:ext cx="3835400" cy="514350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a:t>
            </a:r>
            <a:r>
              <a:rPr lang="zh-CN" altLang="en-US" sz="2400" b="1" dirty="0">
                <a:solidFill>
                  <a:srgbClr val="FF0066"/>
                </a:solidFill>
                <a:latin typeface="Times New Roman" panose="02020603050405020304" pitchFamily="18" charset="0"/>
                <a:ea typeface="宋体" panose="02010600030101010101" pitchFamily="2" charset="-122"/>
              </a:rPr>
              <a:t>例</a:t>
            </a:r>
            <a:r>
              <a:rPr lang="en-US" altLang="zh-CN" sz="2400" b="1" dirty="0">
                <a:solidFill>
                  <a:srgbClr val="FF0066"/>
                </a:solidFill>
                <a:latin typeface="Times New Roman" panose="02020603050405020304" pitchFamily="18" charset="0"/>
                <a:ea typeface="宋体" panose="02010600030101010101" pitchFamily="2" charset="-122"/>
              </a:rPr>
              <a:t>11.3</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并行执行模块</a:t>
            </a:r>
            <a:r>
              <a:rPr lang="en-US" altLang="zh-CN" sz="2400" b="1" dirty="0">
                <a:latin typeface="Times New Roman" panose="02020603050405020304" pitchFamily="18" charset="0"/>
                <a:ea typeface="宋体" panose="02010600030101010101" pitchFamily="2" charset="-122"/>
              </a:rPr>
              <a:t>1</a:t>
            </a:r>
            <a:r>
              <a:rPr lang="zh-CN" altLang="en-US" sz="2200" b="1" dirty="0">
                <a:latin typeface="Times New Roman" panose="02020603050405020304" pitchFamily="18" charset="0"/>
                <a:ea typeface="宋体" panose="02010600030101010101" pitchFamily="2" charset="-122"/>
              </a:rPr>
              <a:t>。</a:t>
            </a:r>
            <a:endParaRPr lang="zh-CN" altLang="en-US"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module parall1(q,a,clk);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output q,a;</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input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reg q,a;</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always @(posedge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begin</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t>
            </a:r>
            <a:r>
              <a:rPr lang="en-US" altLang="zh-CN" sz="2400" b="1" dirty="0">
                <a:solidFill>
                  <a:srgbClr val="FF0066"/>
                </a:solidFill>
                <a:latin typeface="Times New Roman" panose="02020603050405020304" pitchFamily="18" charset="0"/>
                <a:ea typeface="宋体" panose="02010600030101010101" pitchFamily="2" charset="-122"/>
              </a:rPr>
              <a:t>q=~q;</a:t>
            </a:r>
            <a:r>
              <a:rPr lang="en-US" altLang="zh-CN" sz="2200" b="1" dirty="0">
                <a:latin typeface="Times New Roman" panose="02020603050405020304" pitchFamily="18" charset="0"/>
                <a:ea typeface="宋体" panose="02010600030101010101" pitchFamily="2" charset="-122"/>
              </a:rPr>
              <a:t>           </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end</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always @(posedge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begin</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t>
            </a:r>
            <a:r>
              <a:rPr lang="en-US" altLang="zh-CN" sz="2400" b="1" dirty="0">
                <a:solidFill>
                  <a:srgbClr val="FF0066"/>
                </a:solidFill>
                <a:latin typeface="Times New Roman" panose="02020603050405020304" pitchFamily="18" charset="0"/>
                <a:ea typeface="宋体" panose="02010600030101010101" pitchFamily="2" charset="-122"/>
              </a:rPr>
              <a:t>a=~q;</a:t>
            </a:r>
            <a:r>
              <a:rPr lang="en-US" altLang="zh-CN" sz="2200" b="1" dirty="0">
                <a:latin typeface="Times New Roman" panose="02020603050405020304" pitchFamily="18" charset="0"/>
                <a:ea typeface="宋体" panose="02010600030101010101" pitchFamily="2" charset="-122"/>
              </a:rPr>
              <a:t>           </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end</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endmodule</a:t>
            </a:r>
            <a:endParaRPr lang="en-US" altLang="zh-CN" sz="2200" b="1" dirty="0">
              <a:latin typeface="Times New Roman" panose="02020603050405020304" pitchFamily="18" charset="0"/>
              <a:ea typeface="宋体" panose="02010600030101010101" pitchFamily="2" charset="-122"/>
            </a:endParaRPr>
          </a:p>
        </p:txBody>
      </p:sp>
      <p:sp>
        <p:nvSpPr>
          <p:cNvPr id="2071556" name="Text Box 4"/>
          <p:cNvSpPr txBox="1"/>
          <p:nvPr/>
        </p:nvSpPr>
        <p:spPr>
          <a:xfrm>
            <a:off x="4737100" y="1165225"/>
            <a:ext cx="3835400" cy="514350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a:t>
            </a:r>
            <a:r>
              <a:rPr lang="zh-CN" altLang="en-US" sz="2400" b="1" dirty="0">
                <a:solidFill>
                  <a:srgbClr val="FF0066"/>
                </a:solidFill>
                <a:latin typeface="Times New Roman" panose="02020603050405020304" pitchFamily="18" charset="0"/>
                <a:ea typeface="宋体" panose="02010600030101010101" pitchFamily="2" charset="-122"/>
              </a:rPr>
              <a:t>例</a:t>
            </a:r>
            <a:r>
              <a:rPr lang="en-US" altLang="zh-CN" sz="2400" b="1" dirty="0">
                <a:solidFill>
                  <a:srgbClr val="FF0066"/>
                </a:solidFill>
                <a:latin typeface="Times New Roman" panose="02020603050405020304" pitchFamily="18" charset="0"/>
                <a:ea typeface="宋体" panose="02010600030101010101" pitchFamily="2" charset="-122"/>
              </a:rPr>
              <a:t>11.4</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并行执行模块</a:t>
            </a:r>
            <a:r>
              <a:rPr lang="en-US" altLang="zh-CN" sz="2400" b="1" dirty="0">
                <a:latin typeface="Times New Roman" panose="02020603050405020304" pitchFamily="18" charset="0"/>
                <a:ea typeface="宋体" panose="02010600030101010101" pitchFamily="2" charset="-122"/>
              </a:rPr>
              <a:t>2</a:t>
            </a:r>
            <a:r>
              <a:rPr lang="zh-CN" altLang="en-US" sz="2200" b="1" dirty="0">
                <a:latin typeface="Times New Roman" panose="02020603050405020304" pitchFamily="18" charset="0"/>
                <a:ea typeface="宋体" panose="02010600030101010101" pitchFamily="2" charset="-122"/>
              </a:rPr>
              <a:t>。</a:t>
            </a:r>
            <a:endParaRPr lang="zh-CN" altLang="en-US"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module parall2(q,a,clk);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output q,a;</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input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reg q,a;</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always @(posedge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begin</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t>
            </a:r>
            <a:r>
              <a:rPr lang="en-US" altLang="zh-CN" sz="2400" b="1" dirty="0">
                <a:solidFill>
                  <a:srgbClr val="FF0066"/>
                </a:solidFill>
                <a:latin typeface="Times New Roman" panose="02020603050405020304" pitchFamily="18" charset="0"/>
                <a:ea typeface="宋体" panose="02010600030101010101" pitchFamily="2" charset="-122"/>
              </a:rPr>
              <a:t>a=~q;</a:t>
            </a:r>
            <a:endParaRPr lang="en-US" altLang="zh-CN" sz="2400" b="1" dirty="0">
              <a:solidFill>
                <a:srgbClr val="FF0066"/>
              </a:solidFill>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end</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always @(posedge clk)</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begin</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a:t>
            </a:r>
            <a:r>
              <a:rPr lang="en-US" altLang="zh-CN" sz="2400" b="1" dirty="0">
                <a:solidFill>
                  <a:srgbClr val="FF0066"/>
                </a:solidFill>
                <a:latin typeface="Times New Roman" panose="02020603050405020304" pitchFamily="18" charset="0"/>
                <a:ea typeface="宋体" panose="02010600030101010101" pitchFamily="2" charset="-122"/>
              </a:rPr>
              <a:t>q=~q;</a:t>
            </a:r>
            <a:r>
              <a:rPr lang="en-US" altLang="zh-CN" sz="2200" b="1" dirty="0">
                <a:latin typeface="Times New Roman" panose="02020603050405020304" pitchFamily="18" charset="0"/>
                <a:ea typeface="宋体" panose="02010600030101010101" pitchFamily="2" charset="-122"/>
              </a:rPr>
              <a:t>           </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        end</a:t>
            </a:r>
            <a:endParaRPr lang="en-US" altLang="zh-CN" sz="2200" b="1" dirty="0">
              <a:latin typeface="Times New Roman" panose="02020603050405020304" pitchFamily="18" charset="0"/>
              <a:ea typeface="宋体" panose="02010600030101010101" pitchFamily="2" charset="-122"/>
            </a:endParaRPr>
          </a:p>
          <a:p>
            <a:pPr marL="190500" lvl="1" indent="0" eaLnBrk="1" hangingPunct="1">
              <a:lnSpc>
                <a:spcPct val="105000"/>
              </a:lnSpc>
              <a:spcBef>
                <a:spcPct val="0"/>
              </a:spcBef>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宋体" panose="02010600030101010101" pitchFamily="2" charset="-122"/>
              </a:rPr>
              <a:t>endmodule</a:t>
            </a:r>
            <a:endParaRPr lang="en-US" altLang="zh-CN" sz="2200"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071555"/>
                                        </p:tgtEl>
                                        <p:attrNameLst>
                                          <p:attrName>style.visibility</p:attrName>
                                        </p:attrNameLst>
                                      </p:cBhvr>
                                      <p:to>
                                        <p:strVal val="visible"/>
                                      </p:to>
                                    </p:set>
                                    <p:anim calcmode="lin" valueType="num">
                                      <p:cBhvr additive="base">
                                        <p:cTn id="7" dur="500" fill="hold"/>
                                        <p:tgtEl>
                                          <p:spTgt spid="2071555"/>
                                        </p:tgtEl>
                                        <p:attrNameLst>
                                          <p:attrName>ppt_x</p:attrName>
                                        </p:attrNameLst>
                                      </p:cBhvr>
                                      <p:tavLst>
                                        <p:tav tm="0">
                                          <p:val>
                                            <p:strVal val="#ppt_x"/>
                                          </p:val>
                                        </p:tav>
                                        <p:tav tm="100000">
                                          <p:val>
                                            <p:strVal val="#ppt_x"/>
                                          </p:val>
                                        </p:tav>
                                      </p:tavLst>
                                    </p:anim>
                                    <p:anim calcmode="lin" valueType="num">
                                      <p:cBhvr additive="base">
                                        <p:cTn id="8" dur="500" fill="hold"/>
                                        <p:tgtEl>
                                          <p:spTgt spid="20715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71556"/>
                                        </p:tgtEl>
                                        <p:attrNameLst>
                                          <p:attrName>style.visibility</p:attrName>
                                        </p:attrNameLst>
                                      </p:cBhvr>
                                      <p:to>
                                        <p:strVal val="visible"/>
                                      </p:to>
                                    </p:set>
                                    <p:anim calcmode="lin" valueType="num">
                                      <p:cBhvr additive="base">
                                        <p:cTn id="13" dur="500" fill="hold"/>
                                        <p:tgtEl>
                                          <p:spTgt spid="2071556"/>
                                        </p:tgtEl>
                                        <p:attrNameLst>
                                          <p:attrName>ppt_x</p:attrName>
                                        </p:attrNameLst>
                                      </p:cBhvr>
                                      <p:tavLst>
                                        <p:tav tm="0">
                                          <p:val>
                                            <p:strVal val="#ppt_x"/>
                                          </p:val>
                                        </p:tav>
                                        <p:tav tm="100000">
                                          <p:val>
                                            <p:strVal val="#ppt_x"/>
                                          </p:val>
                                        </p:tav>
                                      </p:tavLst>
                                    </p:anim>
                                    <p:anim calcmode="lin" valueType="num">
                                      <p:cBhvr additive="base">
                                        <p:cTn id="14" dur="500" fill="hold"/>
                                        <p:tgtEl>
                                          <p:spTgt spid="2071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1555" grpId="0" bldLvl="0" animBg="1"/>
      <p:bldP spid="2071556" grpId="0" bldLvl="0" animBg="1"/>
    </p:bldLst>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798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2048002" name="Rectangle 2"/>
          <p:cNvSpPr>
            <a:spLocks noGrp="1"/>
          </p:cNvSpPr>
          <p:nvPr>
            <p:ph type="title"/>
          </p:nvPr>
        </p:nvSpPr>
        <p:spPr>
          <a:xfrm>
            <a:off x="539750" y="188913"/>
            <a:ext cx="6811963"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048003" name="Rectangle 3"/>
          <p:cNvSpPr>
            <a:spLocks noGrp="1"/>
          </p:cNvSpPr>
          <p:nvPr>
            <p:ph idx="1"/>
          </p:nvPr>
        </p:nvSpPr>
        <p:spPr/>
        <p:txBody>
          <a:bodyPr vert="horz" wrap="square" lIns="91440" tIns="45720" rIns="91440" bIns="45720" anchor="t" anchorCtr="0"/>
          <a:p>
            <a:pPr eaLnBrk="1" hangingPunct="1">
              <a:lnSpc>
                <a:spcPct val="130000"/>
              </a:lnSpc>
            </a:pPr>
            <a:r>
              <a:rPr lang="en-US" altLang="zh-CN" sz="2800" dirty="0">
                <a:latin typeface="华文楷体" panose="02010600040101010101" pitchFamily="2" charset="-122"/>
                <a:ea typeface="华文楷体" panose="02010600040101010101" pitchFamily="2" charset="-122"/>
                <a:cs typeface="+mn-cs"/>
              </a:rPr>
              <a:t>12.1 Verilog HDL</a:t>
            </a:r>
            <a:r>
              <a:rPr lang="zh-CN" altLang="en-US" sz="2800" dirty="0">
                <a:latin typeface="华文楷体" panose="02010600040101010101" pitchFamily="2" charset="-122"/>
                <a:ea typeface="华文楷体" panose="02010600040101010101" pitchFamily="2" charset="-122"/>
                <a:cs typeface="+mn-cs"/>
              </a:rPr>
              <a:t>的门级描述</a:t>
            </a: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130000"/>
              </a:lnSpc>
            </a:pPr>
            <a:endParaRPr lang="zh-CN" altLang="en-US" sz="2800" dirty="0">
              <a:latin typeface="华文楷体" panose="02010600040101010101" pitchFamily="2" charset="-122"/>
              <a:ea typeface="华文楷体" panose="02010600040101010101" pitchFamily="2" charset="-122"/>
              <a:cs typeface="+mn-cs"/>
            </a:endParaRPr>
          </a:p>
          <a:p>
            <a:pPr eaLnBrk="1" hangingPunct="1">
              <a:lnSpc>
                <a:spcPct val="90000"/>
              </a:lnSpc>
            </a:pPr>
            <a:r>
              <a:rPr lang="en-US" altLang="zh-CN" sz="2800" dirty="0">
                <a:latin typeface="华文楷体" panose="02010600040101010101" pitchFamily="2" charset="-122"/>
                <a:ea typeface="华文楷体" panose="02010600040101010101" pitchFamily="2" charset="-122"/>
                <a:cs typeface="+mn-cs"/>
              </a:rPr>
              <a:t>12.2 Verilog HDL</a:t>
            </a:r>
            <a:r>
              <a:rPr lang="zh-CN" altLang="en-US" sz="2800" dirty="0">
                <a:latin typeface="华文楷体" panose="02010600040101010101" pitchFamily="2" charset="-122"/>
                <a:ea typeface="华文楷体" panose="02010600040101010101" pitchFamily="2" charset="-122"/>
                <a:cs typeface="+mn-cs"/>
              </a:rPr>
              <a:t>的行为级描述</a:t>
            </a:r>
            <a:endParaRPr lang="zh-CN" altLang="en-US" sz="2800" dirty="0">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48002"/>
                                        </p:tgtEl>
                                        <p:attrNameLst>
                                          <p:attrName>style.visibility</p:attrName>
                                        </p:attrNameLst>
                                      </p:cBhvr>
                                      <p:to>
                                        <p:strVal val="visible"/>
                                      </p:to>
                                    </p:set>
                                    <p:anim calcmode="lin" valueType="num">
                                      <p:cBhvr additive="base">
                                        <p:cTn id="7" dur="500" fill="hold"/>
                                        <p:tgtEl>
                                          <p:spTgt spid="2048002"/>
                                        </p:tgtEl>
                                        <p:attrNameLst>
                                          <p:attrName>ppt_x</p:attrName>
                                        </p:attrNameLst>
                                      </p:cBhvr>
                                      <p:tavLst>
                                        <p:tav tm="0">
                                          <p:val>
                                            <p:strVal val="#ppt_x"/>
                                          </p:val>
                                        </p:tav>
                                        <p:tav tm="100000">
                                          <p:val>
                                            <p:strVal val="#ppt_x"/>
                                          </p:val>
                                        </p:tav>
                                      </p:tavLst>
                                    </p:anim>
                                    <p:anim calcmode="lin" valueType="num">
                                      <p:cBhvr additive="base">
                                        <p:cTn id="8" dur="500" fill="hold"/>
                                        <p:tgtEl>
                                          <p:spTgt spid="204800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2048003"/>
                                        </p:tgtEl>
                                        <p:attrNameLst>
                                          <p:attrName>style.visibility</p:attrName>
                                        </p:attrNameLst>
                                      </p:cBhvr>
                                      <p:to>
                                        <p:strVal val="visible"/>
                                      </p:to>
                                    </p:set>
                                    <p:anim calcmode="lin" valueType="num">
                                      <p:cBhvr additive="base">
                                        <p:cTn id="12" dur="500" fill="hold"/>
                                        <p:tgtEl>
                                          <p:spTgt spid="2048003"/>
                                        </p:tgtEl>
                                        <p:attrNameLst>
                                          <p:attrName>ppt_x</p:attrName>
                                        </p:attrNameLst>
                                      </p:cBhvr>
                                      <p:tavLst>
                                        <p:tav tm="0">
                                          <p:val>
                                            <p:strVal val="0-#ppt_w/2"/>
                                          </p:val>
                                        </p:tav>
                                        <p:tav tm="100000">
                                          <p:val>
                                            <p:strVal val="#ppt_x"/>
                                          </p:val>
                                        </p:tav>
                                      </p:tavLst>
                                    </p:anim>
                                    <p:anim calcmode="lin" valueType="num">
                                      <p:cBhvr additive="base">
                                        <p:cTn id="13" dur="500" fill="hold"/>
                                        <p:tgtEl>
                                          <p:spTgt spid="204800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02" grpId="0"/>
      <p:bldP spid="2048003" grpId="0"/>
    </p:bldLst>
  </p:timing>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003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0035" name="Rectangle 2"/>
          <p:cNvSpPr>
            <a:spLocks noGrp="1"/>
          </p:cNvSpPr>
          <p:nvPr>
            <p:ph type="title"/>
          </p:nvPr>
        </p:nvSpPr>
        <p:spPr>
          <a:xfrm>
            <a:off x="539750" y="188913"/>
            <a:ext cx="6848475"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1820684" name="Rectangle 12"/>
          <p:cNvSpPr>
            <a:spLocks noGrp="1"/>
          </p:cNvSpPr>
          <p:nvPr>
            <p:ph idx="1"/>
          </p:nvPr>
        </p:nvSpPr>
        <p:spPr/>
        <p:txBody>
          <a:bodyPr vert="horz" wrap="square" lIns="91440" tIns="45720" rIns="91440" bIns="45720" anchor="t" anchorCtr="0"/>
          <a:p>
            <a:pPr algn="just" eaLnBrk="1" hangingPunct="1">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一个复杂电路的完整</a:t>
            </a:r>
            <a:r>
              <a:rPr lang="en-US" altLang="zh-CN" dirty="0">
                <a:latin typeface="Times New Roman" panose="02020603050405020304" pitchFamily="18" charset="0"/>
                <a:ea typeface="华文楷体" panose="02010600040101010101" pitchFamily="2" charset="-122"/>
                <a:cs typeface="+mn-cs"/>
              </a:rPr>
              <a:t>Verilog HDL</a:t>
            </a:r>
            <a:r>
              <a:rPr lang="zh-CN" altLang="en-US" dirty="0">
                <a:latin typeface="Times New Roman" panose="02020603050405020304" pitchFamily="18" charset="0"/>
                <a:ea typeface="华文楷体" panose="02010600040101010101" pitchFamily="2" charset="-122"/>
                <a:cs typeface="+mn-cs"/>
              </a:rPr>
              <a:t>模型由若干个</a:t>
            </a:r>
            <a:r>
              <a:rPr lang="en-US" altLang="zh-CN" dirty="0">
                <a:latin typeface="Times New Roman" panose="02020603050405020304" pitchFamily="18" charset="0"/>
                <a:ea typeface="华文楷体" panose="02010600040101010101" pitchFamily="2" charset="-122"/>
                <a:cs typeface="+mn-cs"/>
              </a:rPr>
              <a:t>Verilog HDL</a:t>
            </a:r>
            <a:r>
              <a:rPr lang="zh-CN" altLang="en-US" dirty="0">
                <a:latin typeface="Times New Roman" panose="02020603050405020304" pitchFamily="18" charset="0"/>
                <a:ea typeface="华文楷体" panose="02010600040101010101" pitchFamily="2" charset="-122"/>
                <a:cs typeface="+mn-cs"/>
              </a:rPr>
              <a:t>模块构成，每个模块由若干的子模块构成</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可分别用不同抽象级别的</a:t>
            </a:r>
            <a:r>
              <a:rPr lang="en-US" altLang="zh-CN" dirty="0">
                <a:latin typeface="Times New Roman" panose="02020603050405020304" pitchFamily="18" charset="0"/>
                <a:ea typeface="华文楷体" panose="02010600040101010101" pitchFamily="2" charset="-122"/>
                <a:cs typeface="+mn-cs"/>
              </a:rPr>
              <a:t>Verilog HDL</a:t>
            </a:r>
            <a:r>
              <a:rPr lang="zh-CN" altLang="en-US" dirty="0">
                <a:latin typeface="Times New Roman" panose="02020603050405020304" pitchFamily="18" charset="0"/>
                <a:ea typeface="华文楷体" panose="02010600040101010101" pitchFamily="2" charset="-122"/>
                <a:cs typeface="+mn-cs"/>
              </a:rPr>
              <a:t>描述。</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10000"/>
              </a:lnSpc>
              <a:spcBef>
                <a:spcPct val="0"/>
              </a:spcBef>
            </a:pPr>
            <a:r>
              <a:rPr lang="zh-CN" altLang="en-US" dirty="0">
                <a:latin typeface="Times New Roman" panose="02020603050405020304" pitchFamily="18" charset="0"/>
                <a:ea typeface="华文楷体" panose="02010600040101010101" pitchFamily="2" charset="-122"/>
                <a:cs typeface="+mn-cs"/>
              </a:rPr>
              <a:t>在同一个</a:t>
            </a:r>
            <a:r>
              <a:rPr lang="en-US" altLang="zh-CN" dirty="0">
                <a:latin typeface="Times New Roman" panose="02020603050405020304" pitchFamily="18" charset="0"/>
                <a:ea typeface="华文楷体" panose="02010600040101010101" pitchFamily="2" charset="-122"/>
                <a:cs typeface="+mn-cs"/>
              </a:rPr>
              <a:t>Verilog HDL</a:t>
            </a:r>
            <a:r>
              <a:rPr lang="zh-CN" altLang="en-US" dirty="0">
                <a:latin typeface="Times New Roman" panose="02020603050405020304" pitchFamily="18" charset="0"/>
                <a:ea typeface="华文楷体" panose="02010600040101010101" pitchFamily="2" charset="-122"/>
                <a:cs typeface="+mn-cs"/>
              </a:rPr>
              <a:t>模块中可有多种级别的描述。</a:t>
            </a:r>
            <a:endParaRPr lang="zh-CN" altLang="en-US" dirty="0">
              <a:latin typeface="Times New Roman" panose="02020603050405020304" pitchFamily="18" charset="0"/>
              <a:ea typeface="华文楷体" panose="02010600040101010101" pitchFamily="2" charset="-122"/>
              <a:cs typeface="+mn-cs"/>
            </a:endParaRPr>
          </a:p>
          <a:p>
            <a:pPr lvl="1" eaLnBrk="1" hangingPunct="1">
              <a:lnSpc>
                <a:spcPct val="105000"/>
              </a:lnSpc>
              <a:spcBef>
                <a:spcPct val="0"/>
              </a:spcBef>
            </a:pPr>
            <a:r>
              <a:rPr lang="zh-CN" altLang="en-US" dirty="0">
                <a:solidFill>
                  <a:srgbClr val="CC0066"/>
                </a:solidFill>
                <a:latin typeface="Times New Roman" panose="02020603050405020304" pitchFamily="18" charset="0"/>
                <a:ea typeface="华文楷体" panose="02010600040101010101" pitchFamily="2" charset="-122"/>
              </a:rPr>
              <a:t>系统级</a:t>
            </a:r>
            <a:r>
              <a:rPr lang="en-US" altLang="zh-CN" dirty="0">
                <a:latin typeface="Times New Roman" panose="02020603050405020304" pitchFamily="18" charset="0"/>
                <a:ea typeface="华文楷体" panose="02010600040101010101" pitchFamily="2" charset="-122"/>
              </a:rPr>
              <a:t>(system level): </a:t>
            </a:r>
            <a:r>
              <a:rPr lang="zh-CN" altLang="en-US" dirty="0">
                <a:latin typeface="Times New Roman" panose="02020603050405020304" pitchFamily="18" charset="0"/>
                <a:ea typeface="华文楷体" panose="02010600040101010101" pitchFamily="2" charset="-122"/>
              </a:rPr>
              <a:t>用高级语言结构（如</a:t>
            </a:r>
            <a:r>
              <a:rPr lang="en-US" altLang="zh-CN" dirty="0">
                <a:latin typeface="Times New Roman" panose="02020603050405020304" pitchFamily="18" charset="0"/>
                <a:ea typeface="华文楷体" panose="02010600040101010101" pitchFamily="2" charset="-122"/>
              </a:rPr>
              <a:t>case</a:t>
            </a:r>
            <a:r>
              <a:rPr lang="zh-CN" altLang="en-US" dirty="0">
                <a:latin typeface="Times New Roman" panose="02020603050405020304" pitchFamily="18" charset="0"/>
                <a:ea typeface="华文楷体" panose="02010600040101010101" pitchFamily="2" charset="-122"/>
              </a:rPr>
              <a:t>语句）实现的设计模块外部性能的模型；</a:t>
            </a:r>
            <a:endParaRPr lang="zh-CN" altLang="en-US" dirty="0">
              <a:latin typeface="Times New Roman" panose="02020603050405020304" pitchFamily="18" charset="0"/>
              <a:ea typeface="华文楷体" panose="02010600040101010101" pitchFamily="2" charset="-122"/>
            </a:endParaRPr>
          </a:p>
          <a:p>
            <a:pPr lvl="1" eaLnBrk="1" hangingPunct="1">
              <a:lnSpc>
                <a:spcPct val="105000"/>
              </a:lnSpc>
              <a:spcBef>
                <a:spcPct val="0"/>
              </a:spcBef>
            </a:pPr>
            <a:r>
              <a:rPr lang="zh-CN" altLang="zh-CN" dirty="0">
                <a:solidFill>
                  <a:srgbClr val="CC0066"/>
                </a:solidFill>
                <a:latin typeface="Times New Roman" panose="02020603050405020304" pitchFamily="18" charset="0"/>
                <a:ea typeface="华文楷体" panose="02010600040101010101" pitchFamily="2" charset="-122"/>
              </a:rPr>
              <a:t>算</a:t>
            </a:r>
            <a:r>
              <a:rPr lang="zh-CN" altLang="en-US" dirty="0">
                <a:solidFill>
                  <a:srgbClr val="CC0066"/>
                </a:solidFill>
                <a:latin typeface="Times New Roman" panose="02020603050405020304" pitchFamily="18" charset="0"/>
                <a:ea typeface="华文楷体" panose="02010600040101010101" pitchFamily="2" charset="-122"/>
              </a:rPr>
              <a:t>法级</a:t>
            </a:r>
            <a:r>
              <a:rPr lang="en-US" altLang="zh-CN" dirty="0">
                <a:latin typeface="Times New Roman" panose="02020603050405020304" pitchFamily="18" charset="0"/>
                <a:ea typeface="华文楷体" panose="02010600040101010101" pitchFamily="2" charset="-122"/>
              </a:rPr>
              <a:t>(algorithmic level): </a:t>
            </a:r>
            <a:r>
              <a:rPr lang="zh-CN" altLang="en-US" dirty="0">
                <a:latin typeface="Times New Roman" panose="02020603050405020304" pitchFamily="18" charset="0"/>
                <a:ea typeface="华文楷体" panose="02010600040101010101" pitchFamily="2" charset="-122"/>
              </a:rPr>
              <a:t>用高级语言结构实现的设计算法模型（写出逻辑表达式）；</a:t>
            </a:r>
            <a:endParaRPr lang="zh-CN" altLang="en-US" dirty="0">
              <a:latin typeface="Times New Roman" panose="02020603050405020304" pitchFamily="18" charset="0"/>
              <a:ea typeface="华文楷体" panose="02010600040101010101" pitchFamily="2" charset="-122"/>
            </a:endParaRPr>
          </a:p>
          <a:p>
            <a:pPr lvl="1" eaLnBrk="1" hangingPunct="1">
              <a:lnSpc>
                <a:spcPct val="105000"/>
              </a:lnSpc>
              <a:spcBef>
                <a:spcPct val="0"/>
              </a:spcBef>
            </a:pPr>
            <a:r>
              <a:rPr lang="en-US" altLang="zh-CN" dirty="0">
                <a:solidFill>
                  <a:srgbClr val="CC0066"/>
                </a:solidFill>
                <a:latin typeface="Times New Roman" panose="02020603050405020304" pitchFamily="18" charset="0"/>
                <a:ea typeface="华文楷体" panose="02010600040101010101" pitchFamily="2" charset="-122"/>
              </a:rPr>
              <a:t>RTL</a:t>
            </a:r>
            <a:r>
              <a:rPr lang="zh-CN" altLang="en-US" dirty="0">
                <a:solidFill>
                  <a:srgbClr val="CC0066"/>
                </a:solidFill>
                <a:latin typeface="Times New Roman" panose="02020603050405020304" pitchFamily="18" charset="0"/>
                <a:ea typeface="华文楷体" panose="02010600040101010101" pitchFamily="2" charset="-122"/>
              </a:rPr>
              <a:t>级</a:t>
            </a:r>
            <a:r>
              <a:rPr lang="en-US" altLang="zh-CN" dirty="0">
                <a:latin typeface="Times New Roman" panose="02020603050405020304" pitchFamily="18" charset="0"/>
                <a:ea typeface="华文楷体" panose="02010600040101010101" pitchFamily="2" charset="-122"/>
              </a:rPr>
              <a:t>(register transfer level): </a:t>
            </a:r>
            <a:r>
              <a:rPr lang="zh-CN" altLang="en-US" dirty="0">
                <a:latin typeface="Times New Roman" panose="02020603050405020304" pitchFamily="18" charset="0"/>
                <a:ea typeface="华文楷体" panose="02010600040101010101" pitchFamily="2" charset="-122"/>
              </a:rPr>
              <a:t>描述数据在寄存器之间流动和如何处理这些数据的模型；</a:t>
            </a:r>
            <a:endParaRPr lang="zh-CN" altLang="en-US" dirty="0">
              <a:latin typeface="Times New Roman" panose="02020603050405020304" pitchFamily="18" charset="0"/>
              <a:ea typeface="华文楷体" panose="02010600040101010101" pitchFamily="2" charset="-122"/>
            </a:endParaRPr>
          </a:p>
          <a:p>
            <a:pPr lvl="1" eaLnBrk="1" hangingPunct="1">
              <a:lnSpc>
                <a:spcPct val="105000"/>
              </a:lnSpc>
              <a:spcBef>
                <a:spcPct val="0"/>
              </a:spcBef>
            </a:pPr>
            <a:r>
              <a:rPr lang="zh-CN" altLang="en-US" dirty="0">
                <a:solidFill>
                  <a:srgbClr val="CC0066"/>
                </a:solidFill>
                <a:latin typeface="Times New Roman" panose="02020603050405020304" pitchFamily="18" charset="0"/>
                <a:ea typeface="华文楷体" panose="02010600040101010101" pitchFamily="2" charset="-122"/>
              </a:rPr>
              <a:t>门级</a:t>
            </a:r>
            <a:r>
              <a:rPr lang="en-US" altLang="zh-CN" dirty="0">
                <a:latin typeface="Times New Roman" panose="02020603050405020304" pitchFamily="18" charset="0"/>
                <a:ea typeface="华文楷体" panose="02010600040101010101" pitchFamily="2" charset="-122"/>
              </a:rPr>
              <a:t>(gate level): </a:t>
            </a:r>
            <a:r>
              <a:rPr lang="zh-CN" altLang="en-US" dirty="0">
                <a:latin typeface="Times New Roman" panose="02020603050405020304" pitchFamily="18" charset="0"/>
                <a:ea typeface="华文楷体" panose="02010600040101010101" pitchFamily="2" charset="-122"/>
              </a:rPr>
              <a:t>描述逻辑门（如与门、非门、或门、与非门、三态门等）以及逻辑门之间连接的模型；</a:t>
            </a:r>
            <a:endParaRPr lang="zh-CN" altLang="en-US" dirty="0">
              <a:latin typeface="Times New Roman" panose="02020603050405020304" pitchFamily="18" charset="0"/>
              <a:ea typeface="华文楷体" panose="02010600040101010101" pitchFamily="2" charset="-122"/>
            </a:endParaRPr>
          </a:p>
          <a:p>
            <a:pPr lvl="1" eaLnBrk="1" hangingPunct="1">
              <a:lnSpc>
                <a:spcPct val="105000"/>
              </a:lnSpc>
              <a:spcBef>
                <a:spcPct val="0"/>
              </a:spcBef>
            </a:pPr>
            <a:r>
              <a:rPr lang="zh-CN" altLang="en-US" dirty="0">
                <a:solidFill>
                  <a:srgbClr val="CC0066"/>
                </a:solidFill>
                <a:latin typeface="Times New Roman" panose="02020603050405020304" pitchFamily="18" charset="0"/>
                <a:ea typeface="华文楷体" panose="02010600040101010101" pitchFamily="2" charset="-122"/>
              </a:rPr>
              <a:t>开关级</a:t>
            </a:r>
            <a:r>
              <a:rPr lang="en-US" altLang="zh-CN" dirty="0">
                <a:latin typeface="Times New Roman" panose="02020603050405020304" pitchFamily="18" charset="0"/>
                <a:ea typeface="华文楷体" panose="02010600040101010101" pitchFamily="2" charset="-122"/>
              </a:rPr>
              <a:t>(switch level): </a:t>
            </a:r>
            <a:r>
              <a:rPr lang="zh-CN" altLang="en-US" dirty="0">
                <a:latin typeface="Times New Roman" panose="02020603050405020304" pitchFamily="18" charset="0"/>
                <a:ea typeface="华文楷体" panose="02010600040101010101" pitchFamily="2" charset="-122"/>
              </a:rPr>
              <a:t>描述器件中三极管和储存节点及其之间连接的模型。</a:t>
            </a:r>
            <a:endParaRPr lang="zh-CN" altLang="en-US" dirty="0">
              <a:latin typeface="Times New Roman" panose="02020603050405020304" pitchFamily="18" charset="0"/>
              <a:ea typeface="华文楷体" panose="02010600040101010101" pitchFamily="2" charset="-122"/>
            </a:endParaRPr>
          </a:p>
          <a:p>
            <a:pPr eaLnBrk="1" hangingPunct="1">
              <a:lnSpc>
                <a:spcPct val="130000"/>
              </a:lnSpc>
            </a:pPr>
            <a:endParaRPr lang="en-US" altLang="zh-CN" dirty="0">
              <a:solidFill>
                <a:srgbClr val="FF0000"/>
              </a:solidFill>
              <a:latin typeface="华文楷体" panose="02010600040101010101" pitchFamily="2" charset="-122"/>
              <a:ea typeface="华文楷体" panose="02010600040101010101" pitchFamily="2" charset="-122"/>
              <a:cs typeface="+mn-cs"/>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1820684"/>
                                        </p:tgtEl>
                                        <p:attrNameLst>
                                          <p:attrName>style.visibility</p:attrName>
                                        </p:attrNameLst>
                                      </p:cBhvr>
                                      <p:to>
                                        <p:strVal val="visible"/>
                                      </p:to>
                                    </p:set>
                                    <p:anim calcmode="lin" valueType="num">
                                      <p:cBhvr additive="base">
                                        <p:cTn id="7" dur="500" fill="hold"/>
                                        <p:tgtEl>
                                          <p:spTgt spid="1820684"/>
                                        </p:tgtEl>
                                        <p:attrNameLst>
                                          <p:attrName>ppt_x</p:attrName>
                                        </p:attrNameLst>
                                      </p:cBhvr>
                                      <p:tavLst>
                                        <p:tav tm="0">
                                          <p:val>
                                            <p:strVal val="0-#ppt_w/2"/>
                                          </p:val>
                                        </p:tav>
                                        <p:tav tm="100000">
                                          <p:val>
                                            <p:strVal val="#ppt_x"/>
                                          </p:val>
                                        </p:tav>
                                      </p:tavLst>
                                    </p:anim>
                                    <p:anim calcmode="lin" valueType="num">
                                      <p:cBhvr additive="base">
                                        <p:cTn id="8" dur="500" fill="hold"/>
                                        <p:tgtEl>
                                          <p:spTgt spid="182068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0684" grpId="0"/>
    </p:bld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208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2083" name="Rectangle 2"/>
          <p:cNvSpPr>
            <a:spLocks noGrp="1"/>
          </p:cNvSpPr>
          <p:nvPr>
            <p:ph type="title"/>
          </p:nvPr>
        </p:nvSpPr>
        <p:spPr>
          <a:xfrm>
            <a:off x="539750" y="188913"/>
            <a:ext cx="6781800"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14221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华文楷体" panose="02010600040101010101" pitchFamily="2" charset="-122"/>
                <a:ea typeface="华文楷体" panose="02010600040101010101" pitchFamily="2" charset="-122"/>
                <a:cs typeface="+mn-cs"/>
              </a:rPr>
              <a:t>12.1 Verilog HDL</a:t>
            </a:r>
            <a:r>
              <a:rPr lang="zh-CN" altLang="en-US" dirty="0">
                <a:solidFill>
                  <a:schemeClr val="tx2"/>
                </a:solidFill>
                <a:latin typeface="华文楷体" panose="02010600040101010101" pitchFamily="2" charset="-122"/>
                <a:ea typeface="华文楷体" panose="02010600040101010101" pitchFamily="2" charset="-122"/>
                <a:cs typeface="+mn-cs"/>
              </a:rPr>
              <a:t>的门级描述</a:t>
            </a:r>
            <a:endParaRPr lang="zh-CN" altLang="en-US" dirty="0">
              <a:solidFill>
                <a:schemeClr val="tx2"/>
              </a:solidFill>
              <a:latin typeface="华文楷体" panose="02010600040101010101" pitchFamily="2" charset="-122"/>
              <a:ea typeface="华文楷体" panose="02010600040101010101" pitchFamily="2" charset="-122"/>
              <a:cs typeface="+mn-cs"/>
            </a:endParaRPr>
          </a:p>
        </p:txBody>
      </p:sp>
      <p:sp>
        <p:nvSpPr>
          <p:cNvPr id="2142212" name="Text Box 4"/>
          <p:cNvSpPr txBox="1"/>
          <p:nvPr/>
        </p:nvSpPr>
        <p:spPr>
          <a:xfrm>
            <a:off x="1957388" y="5208588"/>
            <a:ext cx="5791200" cy="427037"/>
          </a:xfrm>
          <a:prstGeom prst="rect">
            <a:avLst/>
          </a:prstGeom>
          <a:noFill/>
          <a:ln w="9525"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None/>
            </a:pPr>
            <a:r>
              <a:rPr lang="zh-CN" altLang="en-US" b="1" dirty="0">
                <a:solidFill>
                  <a:srgbClr val="FF0066"/>
                </a:solidFill>
                <a:latin typeface="宋体" panose="02010600030101010101" pitchFamily="2" charset="-122"/>
                <a:ea typeface="宋体" panose="02010600030101010101" pitchFamily="2" charset="-122"/>
              </a:rPr>
              <a:t>门类型关键字</a:t>
            </a: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&lt;</a:t>
            </a:r>
            <a:r>
              <a:rPr lang="zh-CN" altLang="en-US" b="1" dirty="0">
                <a:latin typeface="宋体" panose="02010600030101010101" pitchFamily="2" charset="-122"/>
                <a:ea typeface="宋体" panose="02010600030101010101" pitchFamily="2" charset="-122"/>
              </a:rPr>
              <a:t>例化的门名称</a:t>
            </a:r>
            <a:r>
              <a:rPr lang="en-US" altLang="zh-CN" b="1" dirty="0">
                <a:latin typeface="宋体" panose="02010600030101010101" pitchFamily="2" charset="-122"/>
                <a:ea typeface="宋体" panose="02010600030101010101" pitchFamily="2" charset="-122"/>
              </a:rPr>
              <a:t>&gt; ( &lt;</a:t>
            </a:r>
            <a:r>
              <a:rPr lang="zh-CN" altLang="en-US" b="1" dirty="0">
                <a:latin typeface="宋体" panose="02010600030101010101" pitchFamily="2" charset="-122"/>
                <a:ea typeface="宋体" panose="02010600030101010101" pitchFamily="2" charset="-122"/>
              </a:rPr>
              <a:t>端口列表</a:t>
            </a:r>
            <a:r>
              <a:rPr lang="en-US" altLang="zh-CN" b="1" dirty="0">
                <a:latin typeface="宋体" panose="02010600030101010101" pitchFamily="2" charset="-122"/>
                <a:ea typeface="宋体" panose="02010600030101010101" pitchFamily="2" charset="-122"/>
              </a:rPr>
              <a:t>&gt;)</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2142213" name="Text Box 5"/>
          <p:cNvSpPr txBox="1"/>
          <p:nvPr/>
        </p:nvSpPr>
        <p:spPr>
          <a:xfrm>
            <a:off x="1035050" y="1574800"/>
            <a:ext cx="7419975" cy="3438525"/>
          </a:xfrm>
          <a:prstGeom prst="rect">
            <a:avLst/>
          </a:prstGeom>
          <a:noFill/>
          <a:ln w="9525">
            <a:noFill/>
          </a:ln>
        </p:spPr>
        <p:txBody>
          <a:bodyPr anchor="b">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marR="0" lvl="0" indent="0" algn="l" defTabSz="914400" rtl="0" eaLnBrk="1" fontAlgn="base" latinLnBrk="0" hangingPunct="1">
              <a:lnSpc>
                <a:spcPct val="110000"/>
              </a:lnSpc>
              <a:spcBef>
                <a:spcPct val="0"/>
              </a:spcBef>
              <a:spcAft>
                <a:spcPct val="0"/>
              </a:spcAft>
              <a:buClr>
                <a:schemeClr val="folHlink"/>
              </a:buClr>
              <a:buSzTx/>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门级描述即直接调用门原语进行逻辑的结构描述。 </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663575" marR="0" lvl="1" indent="-191770" algn="l" defTabSz="914400" rtl="0" eaLnBrk="1" fontAlgn="base" latinLnBrk="0" hangingPunct="1">
              <a:lnSpc>
                <a:spcPct val="110000"/>
              </a:lnSpc>
              <a:spcBef>
                <a:spcPct val="0"/>
              </a:spcBef>
              <a:spcAft>
                <a:spcPct val="0"/>
              </a:spcAft>
              <a:buClr>
                <a:srgbClr val="FF0000"/>
              </a:buClr>
              <a:buSzPct val="80000"/>
              <a:buFont typeface="Wingdings" panose="05000000000000000000" pitchFamily="2" charset="2"/>
              <a:buChar char="Ø"/>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以门级为基础的结构描述所建立的硬件模型不仅是可仿真的，也是</a:t>
            </a:r>
            <a:r>
              <a:rPr kumimoji="0" lang="zh-CN" altLang="en-US" sz="2200" b="1" i="0" u="none" strike="noStrike" kern="120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sym typeface="+mn-ea"/>
              </a:rPr>
              <a:t>可综合</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的；</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663575" marR="0" lvl="1" indent="-191770" algn="l" defTabSz="914400" rtl="0" eaLnBrk="1" fontAlgn="base" latinLnBrk="0" hangingPunct="1">
              <a:lnSpc>
                <a:spcPct val="110000"/>
              </a:lnSpc>
              <a:spcBef>
                <a:spcPct val="0"/>
              </a:spcBef>
              <a:spcAft>
                <a:spcPct val="0"/>
              </a:spcAft>
              <a:buClr>
                <a:srgbClr val="FF0000"/>
              </a:buClr>
              <a:buSzPct val="80000"/>
              <a:buFont typeface="Wingdings" panose="05000000000000000000" pitchFamily="2" charset="2"/>
              <a:buChar char="Ø"/>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一个逻辑网络由许多逻辑门和开关组成，用逻辑门的模型来描述逻辑网络</a:t>
            </a:r>
            <a:r>
              <a:rPr kumimoji="0" lang="zh-CN" altLang="en-US" sz="2200" b="1" i="0" u="none" strike="noStrike" kern="120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sym typeface="+mn-ea"/>
              </a:rPr>
              <a:t>最直观</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281305" marR="0" lvl="0" indent="-281305" algn="just" defTabSz="914400" rtl="0" eaLnBrk="1" fontAlgn="base" latinLnBrk="0" hangingPunct="1">
              <a:lnSpc>
                <a:spcPct val="110000"/>
              </a:lnSpc>
              <a:spcBef>
                <a:spcPct val="0"/>
              </a:spcBef>
              <a:spcAft>
                <a:spcPct val="0"/>
              </a:spcAft>
              <a:buClr>
                <a:srgbClr val="3333FF"/>
              </a:buClr>
              <a:buSzTx/>
              <a:buFont typeface="Wingdings" panose="05000000000000000000" pitchFamily="2" charset="2"/>
              <a:buChar char="§"/>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门类型的关键字有</a:t>
            </a:r>
            <a:r>
              <a:rPr kumimoji="0" lang="en-US" altLang="zh-CN" sz="2200" b="1" i="0" u="none" strike="noStrike" kern="120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sym typeface="+mn-ea"/>
              </a:rPr>
              <a:t>26</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个，常用的有</a:t>
            </a:r>
            <a:r>
              <a:rPr kumimoji="0" lang="en-US" altLang="zh-CN"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9</a:t>
            </a: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个：</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1" fontAlgn="base" latinLnBrk="0" hangingPunct="1">
              <a:lnSpc>
                <a:spcPct val="110000"/>
              </a:lnSpc>
              <a:spcBef>
                <a:spcPct val="0"/>
              </a:spcBef>
              <a:spcAft>
                <a:spcPct val="0"/>
              </a:spcAft>
              <a:buClr>
                <a:srgbClr val="3333FF"/>
              </a:buClr>
              <a:buSzTx/>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not</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and</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nand</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or</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nor</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xor</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xnor</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buf</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0" marR="0" lvl="0" indent="0" algn="just" defTabSz="914400" rtl="0" eaLnBrk="1" fontAlgn="base" latinLnBrk="0" hangingPunct="1">
              <a:lnSpc>
                <a:spcPct val="110000"/>
              </a:lnSpc>
              <a:spcBef>
                <a:spcPct val="0"/>
              </a:spcBef>
              <a:spcAft>
                <a:spcPct val="0"/>
              </a:spcAft>
              <a:buClr>
                <a:srgbClr val="3333FF"/>
              </a:buClr>
              <a:buSzTx/>
              <a:buFont typeface="Wingdings" panose="05000000000000000000" pitchFamily="2" charset="2"/>
              <a:buNone/>
              <a:defRPr/>
            </a:pP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       </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bufif1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bufif0</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notif1</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a:t>
            </a:r>
            <a:r>
              <a:rPr kumimoji="0" lang="en-US" altLang="zh-CN"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notif0</a:t>
            </a:r>
            <a:r>
              <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（各种三态门）</a:t>
            </a:r>
            <a:endParaRPr kumimoji="0" lang="zh-CN" altLang="en-US" sz="2200" b="0"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a:p>
            <a:pPr marL="281305" marR="0" lvl="0" indent="-281305" algn="just" defTabSz="914400" rtl="0" eaLnBrk="1" fontAlgn="base" latinLnBrk="0" hangingPunct="1">
              <a:lnSpc>
                <a:spcPct val="110000"/>
              </a:lnSpc>
              <a:spcBef>
                <a:spcPct val="0"/>
              </a:spcBef>
              <a:spcAft>
                <a:spcPct val="0"/>
              </a:spcAft>
              <a:buClr>
                <a:srgbClr val="3333FF"/>
              </a:buClr>
              <a:buSzTx/>
              <a:buFont typeface="Wingdings" panose="05000000000000000000" pitchFamily="2" charset="2"/>
              <a:buChar char="§"/>
              <a:defRPr/>
            </a:pPr>
            <a:r>
              <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rPr>
              <a:t>调用门原语的句法：</a:t>
            </a:r>
            <a:endParaRPr kumimoji="0" lang="zh-CN" altLang="en-US" sz="2200" b="1" i="0" u="none" strike="noStrike" kern="120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sym typeface="+mn-ea"/>
            </a:endParaRPr>
          </a:p>
        </p:txBody>
      </p:sp>
      <p:sp>
        <p:nvSpPr>
          <p:cNvPr id="2142214" name="Rectangle 6"/>
          <p:cNvSpPr/>
          <p:nvPr/>
        </p:nvSpPr>
        <p:spPr>
          <a:xfrm>
            <a:off x="2081213" y="5721350"/>
            <a:ext cx="5543550" cy="768350"/>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nSpc>
                <a:spcPct val="110000"/>
              </a:lnSpc>
              <a:spcBef>
                <a:spcPct val="0"/>
              </a:spcBef>
              <a:buClr>
                <a:schemeClr val="hlink"/>
              </a:buClr>
              <a:buFont typeface="Wingdings" panose="05000000000000000000" pitchFamily="2" charset="2"/>
              <a:buNone/>
            </a:pPr>
            <a:r>
              <a:rPr lang="zh-CN" altLang="zh-CN" b="1" dirty="0">
                <a:latin typeface="华文楷体" panose="02010600040101010101" pitchFamily="2" charset="-122"/>
                <a:ea typeface="华文楷体" panose="02010600040101010101" pitchFamily="2" charset="-122"/>
              </a:rPr>
              <a:t>注</a:t>
            </a:r>
            <a:r>
              <a:rPr lang="en-US" altLang="zh-CN" b="1" dirty="0">
                <a:latin typeface="华文楷体" panose="02010600040101010101" pitchFamily="2" charset="-122"/>
                <a:ea typeface="华文楷体" panose="02010600040101010101" pitchFamily="2" charset="-122"/>
              </a:rPr>
              <a:t>1</a:t>
            </a:r>
            <a:r>
              <a:rPr lang="zh-CN" altLang="zh-CN" b="1" dirty="0">
                <a:latin typeface="华文楷体" panose="02010600040101010101" pitchFamily="2" charset="-122"/>
                <a:ea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rPr>
              <a:t>在</a:t>
            </a:r>
            <a:r>
              <a:rPr lang="zh-CN" altLang="en-US" b="1" dirty="0">
                <a:solidFill>
                  <a:srgbClr val="0000D8"/>
                </a:solidFill>
                <a:latin typeface="华文楷体" panose="02010600040101010101" pitchFamily="2" charset="-122"/>
                <a:ea typeface="华文楷体" panose="02010600040101010101" pitchFamily="2" charset="-122"/>
              </a:rPr>
              <a:t> </a:t>
            </a:r>
            <a:r>
              <a:rPr lang="zh-CN" altLang="en-US" b="1" dirty="0">
                <a:latin typeface="华文楷体" panose="02010600040101010101" pitchFamily="2" charset="-122"/>
                <a:ea typeface="华文楷体" panose="02010600040101010101" pitchFamily="2" charset="-122"/>
              </a:rPr>
              <a:t>端口列表中</a:t>
            </a:r>
            <a:r>
              <a:rPr lang="zh-CN" altLang="en-US" b="1" dirty="0">
                <a:solidFill>
                  <a:srgbClr val="FF0066"/>
                </a:solidFill>
                <a:latin typeface="华文楷体" panose="02010600040101010101" pitchFamily="2" charset="-122"/>
                <a:ea typeface="华文楷体" panose="02010600040101010101" pitchFamily="2" charset="-122"/>
              </a:rPr>
              <a:t>输出</a:t>
            </a:r>
            <a:r>
              <a:rPr lang="zh-CN" altLang="en-US" b="1" dirty="0">
                <a:latin typeface="华文楷体" panose="02010600040101010101" pitchFamily="2" charset="-122"/>
                <a:ea typeface="华文楷体" panose="02010600040101010101" pitchFamily="2" charset="-122"/>
              </a:rPr>
              <a:t>信号列在最前面；</a:t>
            </a:r>
            <a:endParaRPr lang="zh-CN" altLang="en-US" b="1" dirty="0">
              <a:latin typeface="华文楷体" panose="02010600040101010101" pitchFamily="2" charset="-122"/>
              <a:ea typeface="华文楷体" panose="02010600040101010101" pitchFamily="2" charset="-122"/>
            </a:endParaRPr>
          </a:p>
          <a:p>
            <a:pPr marL="0" lvl="0" indent="0">
              <a:lnSpc>
                <a:spcPct val="110000"/>
              </a:lnSpc>
              <a:spcBef>
                <a:spcPct val="0"/>
              </a:spcBef>
              <a:buClr>
                <a:schemeClr val="hlink"/>
              </a:buClr>
              <a:buFont typeface="Wingdings" panose="05000000000000000000" pitchFamily="2" charset="2"/>
              <a:buNone/>
            </a:pPr>
            <a:r>
              <a:rPr lang="zh-CN" altLang="en-US" b="1" dirty="0">
                <a:latin typeface="华文楷体" panose="02010600040101010101" pitchFamily="2" charset="-122"/>
                <a:ea typeface="华文楷体" panose="02010600040101010101" pitchFamily="2" charset="-122"/>
              </a:rPr>
              <a:t>注</a:t>
            </a:r>
            <a:r>
              <a:rPr lang="en-US" altLang="zh-CN" b="1" dirty="0">
                <a:latin typeface="华文楷体" panose="02010600040101010101" pitchFamily="2" charset="-122"/>
                <a:ea typeface="华文楷体" panose="02010600040101010101" pitchFamily="2" charset="-122"/>
              </a:rPr>
              <a:t>2</a:t>
            </a:r>
            <a:r>
              <a:rPr lang="zh-CN" altLang="en-US" b="1" dirty="0">
                <a:latin typeface="华文楷体" panose="02010600040101010101" pitchFamily="2" charset="-122"/>
                <a:ea typeface="华文楷体" panose="02010600040101010101" pitchFamily="2" charset="-122"/>
              </a:rPr>
              <a:t>：门级描述不适于描述复杂的系统！</a:t>
            </a:r>
            <a:endParaRPr lang="zh-CN" altLang="en-US" b="1" dirty="0">
              <a:latin typeface="华文楷体" panose="02010600040101010101" pitchFamily="2" charset="-122"/>
              <a:ea typeface="华文楷体" panose="02010600040101010101" pitchFamily="2" charset="-122"/>
            </a:endParaRPr>
          </a:p>
        </p:txBody>
      </p:sp>
      <p:sp>
        <p:nvSpPr>
          <p:cNvPr id="2142215" name="AutoShape 7"/>
          <p:cNvSpPr/>
          <p:nvPr/>
        </p:nvSpPr>
        <p:spPr>
          <a:xfrm>
            <a:off x="4806950" y="927100"/>
            <a:ext cx="2514600" cy="381000"/>
          </a:xfrm>
          <a:prstGeom prst="wedgeRectCallout">
            <a:avLst>
              <a:gd name="adj1" fmla="val -58773"/>
              <a:gd name="adj2" fmla="val 85833"/>
            </a:avLst>
          </a:prstGeom>
          <a:noFill/>
          <a:ln w="9525" cap="flat" cmpd="sng">
            <a:solidFill>
              <a:schemeClr val="tx1"/>
            </a:solidFill>
            <a:prstDash val="solid"/>
            <a:miter/>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solidFill>
                  <a:srgbClr val="FF0000"/>
                </a:solidFill>
                <a:latin typeface="华文楷体" panose="02010600040101010101" pitchFamily="2" charset="-122"/>
                <a:ea typeface="华文楷体" panose="02010600040101010101" pitchFamily="2" charset="-122"/>
              </a:rPr>
              <a:t>结构</a:t>
            </a:r>
            <a:r>
              <a:rPr lang="zh-CN" altLang="en-US" dirty="0">
                <a:latin typeface="华文楷体" panose="02010600040101010101" pitchFamily="2" charset="-122"/>
                <a:ea typeface="华文楷体" panose="02010600040101010101" pitchFamily="2" charset="-122"/>
              </a:rPr>
              <a:t>描述，最</a:t>
            </a:r>
            <a:r>
              <a:rPr lang="zh-CN" altLang="en-US" b="1" dirty="0">
                <a:solidFill>
                  <a:srgbClr val="FF0000"/>
                </a:solidFill>
                <a:latin typeface="华文楷体" panose="02010600040101010101" pitchFamily="2" charset="-122"/>
                <a:ea typeface="华文楷体" panose="02010600040101010101" pitchFamily="2" charset="-122"/>
              </a:rPr>
              <a:t>直</a:t>
            </a:r>
            <a:r>
              <a:rPr lang="zh-CN" altLang="en-US" b="1" dirty="0">
                <a:solidFill>
                  <a:srgbClr val="FF0066"/>
                </a:solidFill>
                <a:latin typeface="华文楷体" panose="02010600040101010101" pitchFamily="2" charset="-122"/>
                <a:ea typeface="华文楷体" panose="02010600040101010101" pitchFamily="2" charset="-122"/>
              </a:rPr>
              <a:t>观</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
        <p:nvSpPr>
          <p:cNvPr id="2142216" name="AutoShape 8"/>
          <p:cNvSpPr/>
          <p:nvPr/>
        </p:nvSpPr>
        <p:spPr>
          <a:xfrm>
            <a:off x="4937125" y="4632325"/>
            <a:ext cx="1219200" cy="381000"/>
          </a:xfrm>
          <a:prstGeom prst="wedgeRectCallout">
            <a:avLst>
              <a:gd name="adj1" fmla="val -99741"/>
              <a:gd name="adj2" fmla="val 85833"/>
            </a:avLst>
          </a:prstGeom>
          <a:noFill/>
          <a:ln w="9525" cap="flat" cmpd="sng">
            <a:solidFill>
              <a:schemeClr val="tx1"/>
            </a:solidFill>
            <a:prstDash val="solid"/>
            <a:miter/>
            <a:headEnd type="none" w="med" len="med"/>
            <a:tailEnd type="none" w="med" len="med"/>
          </a:ln>
          <a:effectLst>
            <a:prstShdw prst="shdw17" dist="17961" dir="2699999">
              <a:srgbClr val="997A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dirty="0">
                <a:latin typeface="华文楷体" panose="02010600040101010101" pitchFamily="2" charset="-122"/>
                <a:ea typeface="华文楷体" panose="02010600040101010101" pitchFamily="2" charset="-122"/>
              </a:rPr>
              <a:t>可省略！</a:t>
            </a:r>
            <a:r>
              <a:rPr lang="zh-CN" altLang="en-US" b="1" dirty="0">
                <a:solidFill>
                  <a:srgbClr val="FF0066"/>
                </a:solidFill>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42211"/>
                                        </p:tgtEl>
                                        <p:attrNameLst>
                                          <p:attrName>style.visibility</p:attrName>
                                        </p:attrNameLst>
                                      </p:cBhvr>
                                      <p:to>
                                        <p:strVal val="visible"/>
                                      </p:to>
                                    </p:set>
                                    <p:anim calcmode="lin" valueType="num">
                                      <p:cBhvr additive="base">
                                        <p:cTn id="7" dur="500" fill="hold"/>
                                        <p:tgtEl>
                                          <p:spTgt spid="2142211"/>
                                        </p:tgtEl>
                                        <p:attrNameLst>
                                          <p:attrName>ppt_x</p:attrName>
                                        </p:attrNameLst>
                                      </p:cBhvr>
                                      <p:tavLst>
                                        <p:tav tm="0">
                                          <p:val>
                                            <p:strVal val="0-#ppt_w/2"/>
                                          </p:val>
                                        </p:tav>
                                        <p:tav tm="100000">
                                          <p:val>
                                            <p:strVal val="#ppt_x"/>
                                          </p:val>
                                        </p:tav>
                                      </p:tavLst>
                                    </p:anim>
                                    <p:anim calcmode="lin" valueType="num">
                                      <p:cBhvr additive="base">
                                        <p:cTn id="8" dur="500" fill="hold"/>
                                        <p:tgtEl>
                                          <p:spTgt spid="21422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142215"/>
                                        </p:tgtEl>
                                        <p:attrNameLst>
                                          <p:attrName>style.visibility</p:attrName>
                                        </p:attrNameLst>
                                      </p:cBhvr>
                                      <p:to>
                                        <p:strVal val="visible"/>
                                      </p:to>
                                    </p:set>
                                    <p:animEffect transition="in" filter="dissolve">
                                      <p:cBhvr>
                                        <p:cTn id="13" dur="500"/>
                                        <p:tgtEl>
                                          <p:spTgt spid="214221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142213"/>
                                        </p:tgtEl>
                                        <p:attrNameLst>
                                          <p:attrName>style.visibility</p:attrName>
                                        </p:attrNameLst>
                                      </p:cBhvr>
                                      <p:to>
                                        <p:strVal val="visible"/>
                                      </p:to>
                                    </p:set>
                                    <p:anim calcmode="lin" valueType="num">
                                      <p:cBhvr additive="base">
                                        <p:cTn id="18" dur="500" fill="hold"/>
                                        <p:tgtEl>
                                          <p:spTgt spid="2142213"/>
                                        </p:tgtEl>
                                        <p:attrNameLst>
                                          <p:attrName>ppt_x</p:attrName>
                                        </p:attrNameLst>
                                      </p:cBhvr>
                                      <p:tavLst>
                                        <p:tav tm="0">
                                          <p:val>
                                            <p:strVal val="0-#ppt_w/2"/>
                                          </p:val>
                                        </p:tav>
                                        <p:tav tm="100000">
                                          <p:val>
                                            <p:strVal val="#ppt_x"/>
                                          </p:val>
                                        </p:tav>
                                      </p:tavLst>
                                    </p:anim>
                                    <p:anim calcmode="lin" valueType="num">
                                      <p:cBhvr additive="base">
                                        <p:cTn id="19" dur="500" fill="hold"/>
                                        <p:tgtEl>
                                          <p:spTgt spid="214221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42212"/>
                                        </p:tgtEl>
                                        <p:attrNameLst>
                                          <p:attrName>style.visibility</p:attrName>
                                        </p:attrNameLst>
                                      </p:cBhvr>
                                      <p:to>
                                        <p:strVal val="visible"/>
                                      </p:to>
                                    </p:set>
                                    <p:animEffect transition="in" filter="wipe(left)">
                                      <p:cBhvr>
                                        <p:cTn id="24" dur="500"/>
                                        <p:tgtEl>
                                          <p:spTgt spid="214221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142216"/>
                                        </p:tgtEl>
                                        <p:attrNameLst>
                                          <p:attrName>style.visibility</p:attrName>
                                        </p:attrNameLst>
                                      </p:cBhvr>
                                      <p:to>
                                        <p:strVal val="visible"/>
                                      </p:to>
                                    </p:set>
                                    <p:animEffect transition="in" filter="dissolve">
                                      <p:cBhvr>
                                        <p:cTn id="29" dur="500"/>
                                        <p:tgtEl>
                                          <p:spTgt spid="2142216"/>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2142214"/>
                                        </p:tgtEl>
                                        <p:attrNameLst>
                                          <p:attrName>style.visibility</p:attrName>
                                        </p:attrNameLst>
                                      </p:cBhvr>
                                      <p:to>
                                        <p:strVal val="visible"/>
                                      </p:to>
                                    </p:set>
                                    <p:anim calcmode="lin" valueType="num">
                                      <p:cBhvr>
                                        <p:cTn id="34" dur="500" fill="hold"/>
                                        <p:tgtEl>
                                          <p:spTgt spid="2142214"/>
                                        </p:tgtEl>
                                        <p:attrNameLst>
                                          <p:attrName>ppt_w</p:attrName>
                                        </p:attrNameLst>
                                      </p:cBhvr>
                                      <p:tavLst>
                                        <p:tav tm="0">
                                          <p:val>
                                            <p:fltVal val="0.000000"/>
                                          </p:val>
                                        </p:tav>
                                        <p:tav tm="100000">
                                          <p:val>
                                            <p:strVal val="#ppt_w"/>
                                          </p:val>
                                        </p:tav>
                                      </p:tavLst>
                                    </p:anim>
                                    <p:anim calcmode="lin" valueType="num">
                                      <p:cBhvr>
                                        <p:cTn id="35" dur="500" fill="hold"/>
                                        <p:tgtEl>
                                          <p:spTgt spid="214221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2211" grpId="0"/>
      <p:bldP spid="2142212" grpId="0" bldLvl="0" animBg="1"/>
      <p:bldP spid="2142213" grpId="0"/>
      <p:bldP spid="2142214" grpId="0" bldLvl="0" animBg="1"/>
      <p:bldP spid="2142215" grpId="0" animBg="1"/>
      <p:bldP spid="2142216" grpId="0" bldLvl="0" animBg="1"/>
    </p:bld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413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4131" name="Rectangle 2"/>
          <p:cNvSpPr>
            <a:spLocks noGrp="1"/>
          </p:cNvSpPr>
          <p:nvPr>
            <p:ph type="title"/>
          </p:nvPr>
        </p:nvSpPr>
        <p:spPr>
          <a:xfrm>
            <a:off x="539750" y="188913"/>
            <a:ext cx="7113588"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1822723" name="Rectangle 3"/>
          <p:cNvSpPr>
            <a:spLocks noGrp="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10000"/>
              </a:lnSpc>
              <a:spcBef>
                <a:spcPct val="0"/>
              </a:spcBef>
              <a:spcAft>
                <a:spcPct val="0"/>
              </a:spcAft>
              <a:buClrTx/>
              <a:buSzTx/>
              <a:buFontTx/>
              <a:buNone/>
              <a:defRPr/>
            </a:pP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例</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12.1] </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调用门原语实现</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4</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选</a:t>
            </a:r>
            <a:r>
              <a:rPr kumimoji="0" lang="en-US" altLang="zh-CN"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1</a:t>
            </a:r>
            <a:r>
              <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rPr>
              <a:t>数据选择器</a:t>
            </a:r>
            <a:endParaRPr kumimoji="0" lang="zh-CN" altLang="en-US" sz="2000" b="0" i="0" u="none" strike="noStrike" kern="0" cap="none" spc="0" normalizeH="0" baseline="0" noProof="1">
              <a:ln>
                <a:noFill/>
              </a:ln>
              <a:solidFill>
                <a:schemeClr val="tx1"/>
              </a:solidFill>
              <a:effectLst/>
              <a:uLnTx/>
              <a:uFillTx/>
              <a:latin typeface="Times New Roman" panose="02020603050405020304" pitchFamily="18" charset="0"/>
              <a:ea typeface="华文楷体" panose="02010600040101010101" pitchFamily="2" charset="-122"/>
              <a:cs typeface="+mn-cs"/>
            </a:endParaRPr>
          </a:p>
          <a:p>
            <a:pPr marL="0" marR="0" lvl="0" indent="0" algn="just" defTabSz="914400" rtl="0" eaLnBrk="1" fontAlgn="base" latinLnBrk="0" hangingPunct="1">
              <a:lnSpc>
                <a:spcPct val="110000"/>
              </a:lnSpc>
              <a:spcBef>
                <a:spcPct val="0"/>
              </a:spcBef>
              <a:spcAft>
                <a:spcPct val="0"/>
              </a:spcAft>
              <a:buClr>
                <a:schemeClr val="hlink"/>
              </a:buClr>
              <a:buSzTx/>
              <a:buFont typeface="Wingdings" panose="05000000000000000000" pitchFamily="2" charset="2"/>
              <a:buNone/>
              <a:defRPr/>
            </a:pPr>
            <a:r>
              <a:rPr kumimoji="0" lang="zh-CN" altLang="en-US" sz="2000" b="0" i="0" u="none" strike="noStrike" kern="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rPr>
              <a:t>注：首先必须根据逻辑功能画出逻辑电路图</a:t>
            </a:r>
            <a:r>
              <a:rPr kumimoji="0" lang="en-US" altLang="zh-CN" sz="2000" b="0" i="0" u="none" strike="noStrike" kern="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rPr>
              <a:t>!</a:t>
            </a:r>
            <a:endParaRPr kumimoji="0" lang="en-US" altLang="zh-CN" sz="2000" b="0" i="0" u="none" strike="noStrike" kern="0" cap="none" spc="0" normalizeH="0" baseline="0" noProof="1">
              <a:ln>
                <a:noFill/>
              </a:ln>
              <a:solidFill>
                <a:srgbClr val="FF0000"/>
              </a:solidFill>
              <a:effectLst/>
              <a:uLnTx/>
              <a:uFillTx/>
              <a:latin typeface="Times New Roman" panose="02020603050405020304" pitchFamily="18" charset="0"/>
              <a:ea typeface="华文楷体" panose="02010600040101010101" pitchFamily="2" charset="-122"/>
              <a:cs typeface="+mn-cs"/>
            </a:endParaRPr>
          </a:p>
        </p:txBody>
      </p:sp>
      <p:graphicFrame>
        <p:nvGraphicFramePr>
          <p:cNvPr id="1822726" name="Object 6"/>
          <p:cNvGraphicFramePr/>
          <p:nvPr/>
        </p:nvGraphicFramePr>
        <p:xfrm>
          <a:off x="3106738" y="1957388"/>
          <a:ext cx="5678487" cy="4375150"/>
        </p:xfrm>
        <a:graphic>
          <a:graphicData uri="http://schemas.openxmlformats.org/presentationml/2006/ole">
            <mc:AlternateContent xmlns:mc="http://schemas.openxmlformats.org/markup-compatibility/2006">
              <mc:Choice xmlns:v="urn:schemas-microsoft-com:vml" Requires="v">
                <p:oleObj spid="_x0000_s3076" name="" r:id="rId1" imgW="4648200" imgH="3581400" progId="Paint.Picture">
                  <p:embed/>
                </p:oleObj>
              </mc:Choice>
              <mc:Fallback>
                <p:oleObj name="" r:id="rId1" imgW="4648200" imgH="3581400" progId="Paint.Picture">
                  <p:embed/>
                  <p:pic>
                    <p:nvPicPr>
                      <p:cNvPr id="0" name="图片 3075"/>
                      <p:cNvPicPr/>
                      <p:nvPr/>
                    </p:nvPicPr>
                    <p:blipFill>
                      <a:blip r:embed="rId2"/>
                      <a:stretch>
                        <a:fillRect/>
                      </a:stretch>
                    </p:blipFill>
                    <p:spPr>
                      <a:xfrm>
                        <a:off x="3106738" y="1957388"/>
                        <a:ext cx="5678487" cy="4375150"/>
                      </a:xfrm>
                      <a:prstGeom prst="rect">
                        <a:avLst/>
                      </a:prstGeom>
                      <a:noFill/>
                      <a:ln w="38100">
                        <a:noFill/>
                        <a:miter/>
                      </a:ln>
                    </p:spPr>
                  </p:pic>
                </p:oleObj>
              </mc:Fallback>
            </mc:AlternateContent>
          </a:graphicData>
        </a:graphic>
      </p:graphicFrame>
      <p:graphicFrame>
        <p:nvGraphicFramePr>
          <p:cNvPr id="20486" name="表格 20485"/>
          <p:cNvGraphicFramePr/>
          <p:nvPr/>
        </p:nvGraphicFramePr>
        <p:xfrm>
          <a:off x="295275" y="2968625"/>
          <a:ext cx="2700338" cy="2195513"/>
        </p:xfrm>
        <a:graphic>
          <a:graphicData uri="http://schemas.openxmlformats.org/drawingml/2006/table">
            <a:tbl>
              <a:tblPr/>
              <a:tblGrid>
                <a:gridCol w="1724025"/>
                <a:gridCol w="976313"/>
              </a:tblGrid>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输  入</a:t>
                      </a:r>
                      <a:endParaRPr lang="zh-CN" altLang="en-US"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zh-CN" altLang="en-US" sz="2000" dirty="0">
                          <a:solidFill>
                            <a:schemeClr val="tx1"/>
                          </a:solidFill>
                          <a:latin typeface="Tahoma" panose="020B0604030504040204" pitchFamily="34" charset="0"/>
                        </a:rPr>
                        <a:t>输出</a:t>
                      </a:r>
                      <a:endParaRPr lang="zh-CN" altLang="en-US"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1000">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ahoma" panose="020B0604030504040204" pitchFamily="34" charset="0"/>
                        </a:rPr>
                        <a:t>cntrl1  cntrl2</a:t>
                      </a:r>
                      <a:endParaRPr lang="en-US" altLang="zh-CN" sz="200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dirty="0">
                          <a:solidFill>
                            <a:schemeClr val="tx1"/>
                          </a:solidFill>
                          <a:latin typeface="Tahoma" panose="020B0604030504040204" pitchFamily="34" charset="0"/>
                        </a:rPr>
                        <a:t>out</a:t>
                      </a:r>
                      <a:endParaRPr lang="en-US" altLang="zh-CN" sz="200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433513">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0         0 </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0         1</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1         0</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1         1</a:t>
                      </a:r>
                      <a:endParaRPr lang="en-US" altLang="zh-CN" sz="2000" b="0" dirty="0">
                        <a:solidFill>
                          <a:schemeClr val="tx1"/>
                        </a:solidFill>
                        <a:latin typeface="Tahoma" panose="020B0604030504040204" pitchFamily="34" charset="0"/>
                      </a:endParaRPr>
                    </a:p>
                  </a:txBody>
                  <a:tcPr marL="30724" marR="30724" marT="15362" marB="1536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rgbClr val="FF33CC"/>
                          </a:solidFill>
                          <a:latin typeface="Tahoma" panose="020B0604030504040204" pitchFamily="34" charset="0"/>
                          <a:ea typeface="宋体" panose="02010600030101010101" pitchFamily="2" charset="-122"/>
                          <a:cs typeface="+mn-cs"/>
                        </a:defRPr>
                      </a:lvl5pPr>
                    </a:lstStyle>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in1</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in2</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in3</a:t>
                      </a:r>
                      <a:endParaRPr lang="en-US" altLang="zh-CN" sz="2000" b="0" dirty="0">
                        <a:solidFill>
                          <a:schemeClr val="tx1"/>
                        </a:solidFill>
                        <a:latin typeface="Tahoma" panose="020B0604030504040204" pitchFamily="34" charset="0"/>
                      </a:endParaRPr>
                    </a:p>
                    <a:p>
                      <a:pPr lvl="0" algn="ctr" defTabSz="2716530" eaLnBrk="1" hangingPunct="1">
                        <a:spcBef>
                          <a:spcPct val="20000"/>
                        </a:spcBef>
                        <a:buClr>
                          <a:srgbClr val="3333FF"/>
                        </a:buClr>
                        <a:buFont typeface="Wingdings" panose="05000000000000000000" pitchFamily="2" charset="2"/>
                        <a:buNone/>
                      </a:pPr>
                      <a:r>
                        <a:rPr lang="en-US" altLang="zh-CN" sz="2000" b="0" dirty="0">
                          <a:solidFill>
                            <a:schemeClr val="tx1"/>
                          </a:solidFill>
                          <a:latin typeface="Tahoma" panose="020B0604030504040204" pitchFamily="34" charset="0"/>
                        </a:rPr>
                        <a:t>in4</a:t>
                      </a:r>
                      <a:endParaRPr lang="en-US" altLang="zh-CN" sz="2000" b="0" dirty="0">
                        <a:solidFill>
                          <a:schemeClr val="tx1"/>
                        </a:solidFill>
                        <a:latin typeface="Tahoma" panose="020B0604030504040204" pitchFamily="34" charset="0"/>
                      </a:endParaRPr>
                    </a:p>
                  </a:txBody>
                  <a:tcPr marL="30724" marR="30724" marT="15362" marB="1536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822751" name="Rectangle 31"/>
          <p:cNvSpPr/>
          <p:nvPr/>
        </p:nvSpPr>
        <p:spPr>
          <a:xfrm>
            <a:off x="1009650" y="2354263"/>
            <a:ext cx="1450975" cy="417512"/>
          </a:xfrm>
          <a:prstGeom prst="rect">
            <a:avLst/>
          </a:prstGeom>
          <a:no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484505" lvl="1" indent="-294005" eaLnBrk="1" hangingPunct="1">
              <a:buClr>
                <a:srgbClr val="FF0000"/>
              </a:buClr>
              <a:buSzPct val="80000"/>
              <a:buFont typeface="Wingdings" panose="05000000000000000000" pitchFamily="2" charset="2"/>
              <a:buNone/>
            </a:pPr>
            <a:r>
              <a:rPr lang="zh-CN" altLang="en-US" sz="2200" b="1" dirty="0">
                <a:latin typeface="Times New Roman" panose="02020603050405020304" pitchFamily="18" charset="0"/>
                <a:ea typeface="宋体" panose="02010600030101010101" pitchFamily="2" charset="-122"/>
              </a:rPr>
              <a:t>真值表</a:t>
            </a:r>
            <a:endParaRPr lang="zh-CN" altLang="en-US" sz="2200" b="1" dirty="0">
              <a:latin typeface="Times New Roman" panose="02020603050405020304" pitchFamily="18" charset="0"/>
              <a:ea typeface="宋体" panose="02010600030101010101" pitchFamily="2" charset="-122"/>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22723"/>
                                        </p:tgtEl>
                                        <p:attrNameLst>
                                          <p:attrName>style.visibility</p:attrName>
                                        </p:attrNameLst>
                                      </p:cBhvr>
                                      <p:to>
                                        <p:strVal val="visible"/>
                                      </p:to>
                                    </p:set>
                                    <p:animEffect transition="in" filter="wipe(left)">
                                      <p:cBhvr>
                                        <p:cTn id="7" dur="500"/>
                                        <p:tgtEl>
                                          <p:spTgt spid="182272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822751"/>
                                        </p:tgtEl>
                                        <p:attrNameLst>
                                          <p:attrName>style.visibility</p:attrName>
                                        </p:attrNameLst>
                                      </p:cBhvr>
                                      <p:to>
                                        <p:strVal val="visible"/>
                                      </p:to>
                                    </p:set>
                                    <p:anim calcmode="lin" valueType="num">
                                      <p:cBhvr>
                                        <p:cTn id="12" dur="500" fill="hold"/>
                                        <p:tgtEl>
                                          <p:spTgt spid="1822751"/>
                                        </p:tgtEl>
                                        <p:attrNameLst>
                                          <p:attrName>ppt_w</p:attrName>
                                        </p:attrNameLst>
                                      </p:cBhvr>
                                      <p:tavLst>
                                        <p:tav tm="0">
                                          <p:val>
                                            <p:fltVal val="0.000000"/>
                                          </p:val>
                                        </p:tav>
                                        <p:tav tm="100000">
                                          <p:val>
                                            <p:strVal val="#ppt_w"/>
                                          </p:val>
                                        </p:tav>
                                      </p:tavLst>
                                    </p:anim>
                                    <p:anim calcmode="lin" valueType="num">
                                      <p:cBhvr>
                                        <p:cTn id="13" dur="500" fill="hold"/>
                                        <p:tgtEl>
                                          <p:spTgt spid="1822751"/>
                                        </p:tgtEl>
                                        <p:attrNameLst>
                                          <p:attrName>ppt_h</p:attrName>
                                        </p:attrNameLst>
                                      </p:cBhvr>
                                      <p:tavLst>
                                        <p:tav tm="0">
                                          <p:val>
                                            <p:fltVal val="0.000000"/>
                                          </p:val>
                                        </p:tav>
                                        <p:tav tm="100000">
                                          <p:val>
                                            <p:strVal val="#ppt_h"/>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20486"/>
                                        </p:tgtEl>
                                        <p:attrNameLst>
                                          <p:attrName>style.visibility</p:attrName>
                                        </p:attrNameLst>
                                      </p:cBhvr>
                                      <p:to>
                                        <p:strVal val="visible"/>
                                      </p:to>
                                    </p:set>
                                    <p:anim calcmode="lin" valueType="num">
                                      <p:cBhvr additive="base">
                                        <p:cTn id="17" dur="500" fill="hold"/>
                                        <p:tgtEl>
                                          <p:spTgt spid="20486"/>
                                        </p:tgtEl>
                                        <p:attrNameLst>
                                          <p:attrName>ppt_x</p:attrName>
                                        </p:attrNameLst>
                                      </p:cBhvr>
                                      <p:tavLst>
                                        <p:tav tm="0">
                                          <p:val>
                                            <p:strVal val="#ppt_x"/>
                                          </p:val>
                                        </p:tav>
                                        <p:tav tm="100000">
                                          <p:val>
                                            <p:strVal val="#ppt_x"/>
                                          </p:val>
                                        </p:tav>
                                      </p:tavLst>
                                    </p:anim>
                                    <p:anim calcmode="lin" valueType="num">
                                      <p:cBhvr additive="base">
                                        <p:cTn id="18"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22726"/>
                                        </p:tgtEl>
                                        <p:attrNameLst>
                                          <p:attrName>style.visibility</p:attrName>
                                        </p:attrNameLst>
                                      </p:cBhvr>
                                      <p:to>
                                        <p:strVal val="visible"/>
                                      </p:to>
                                    </p:set>
                                    <p:anim calcmode="lin" valueType="num">
                                      <p:cBhvr additive="base">
                                        <p:cTn id="23" dur="500" fill="hold"/>
                                        <p:tgtEl>
                                          <p:spTgt spid="1822726"/>
                                        </p:tgtEl>
                                        <p:attrNameLst>
                                          <p:attrName>ppt_x</p:attrName>
                                        </p:attrNameLst>
                                      </p:cBhvr>
                                      <p:tavLst>
                                        <p:tav tm="0">
                                          <p:val>
                                            <p:strVal val="#ppt_x"/>
                                          </p:val>
                                        </p:tav>
                                        <p:tav tm="100000">
                                          <p:val>
                                            <p:strVal val="#ppt_x"/>
                                          </p:val>
                                        </p:tav>
                                      </p:tavLst>
                                    </p:anim>
                                    <p:anim calcmode="lin" valueType="num">
                                      <p:cBhvr additive="base">
                                        <p:cTn id="24" dur="500" fill="hold"/>
                                        <p:tgtEl>
                                          <p:spTgt spid="1822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3" grpId="0"/>
      <p:bldP spid="1822751" grpId="0" animBg="1"/>
    </p:bldLst>
  </p:timing>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617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6179" name="Rectangle 2"/>
          <p:cNvSpPr>
            <a:spLocks noGrp="1"/>
          </p:cNvSpPr>
          <p:nvPr>
            <p:ph type="title"/>
          </p:nvPr>
        </p:nvSpPr>
        <p:spPr>
          <a:xfrm>
            <a:off x="539750" y="188913"/>
            <a:ext cx="7126288"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079749" name="Rectangle 5"/>
          <p:cNvSpPr/>
          <p:nvPr/>
        </p:nvSpPr>
        <p:spPr>
          <a:xfrm>
            <a:off x="1381125" y="5495925"/>
            <a:ext cx="6381750" cy="496888"/>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zh-CN" sz="2400" b="1" dirty="0">
                <a:solidFill>
                  <a:srgbClr val="FF3399"/>
                </a:solidFill>
                <a:latin typeface="仿宋_GB2312" pitchFamily="49" charset="-122"/>
                <a:ea typeface="仿宋_GB2312" pitchFamily="49" charset="-122"/>
              </a:rPr>
              <a:t>注</a:t>
            </a:r>
            <a:r>
              <a:rPr lang="zh-CN" altLang="zh-CN" sz="2400" b="1" dirty="0">
                <a:latin typeface="仿宋_GB2312" pitchFamily="49" charset="-122"/>
                <a:ea typeface="仿宋_GB2312" pitchFamily="49" charset="-122"/>
              </a:rPr>
              <a:t>：</a:t>
            </a:r>
            <a:r>
              <a:rPr lang="zh-CN" altLang="en-US" sz="2400" b="1" dirty="0">
                <a:latin typeface="仿宋_GB2312" pitchFamily="49" charset="-122"/>
                <a:ea typeface="仿宋_GB2312" pitchFamily="49" charset="-122"/>
              </a:rPr>
              <a:t>这里省略了所有的例化门元件名称！</a:t>
            </a:r>
            <a:endParaRPr lang="zh-CN" altLang="en-US" sz="2400" b="1" dirty="0">
              <a:latin typeface="仿宋_GB2312" pitchFamily="49" charset="-122"/>
              <a:ea typeface="仿宋_GB2312" pitchFamily="49" charset="-122"/>
            </a:endParaRPr>
          </a:p>
        </p:txBody>
      </p:sp>
      <p:pic>
        <p:nvPicPr>
          <p:cNvPr id="306181" name="内容占位符 1"/>
          <p:cNvPicPr>
            <a:picLocks noGrp="1" noChangeAspect="1"/>
          </p:cNvPicPr>
          <p:nvPr>
            <p:ph idx="1"/>
          </p:nvPr>
        </p:nvPicPr>
        <p:blipFill>
          <a:blip r:embed="rId1"/>
          <a:srcRect/>
          <a:stretch>
            <a:fillRect/>
          </a:stretch>
        </p:blipFill>
        <p:spPr>
          <a:xfrm>
            <a:off x="1414463" y="842963"/>
            <a:ext cx="6315075" cy="4652962"/>
          </a:xfrm>
        </p:spPr>
      </p:pic>
    </p:spTree>
  </p:cSld>
  <p:clrMapOvr>
    <a:masterClrMapping/>
  </p:clrMapOvr>
  <p:transition spd="med">
    <p:blinds dir="vert"/>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79749"/>
                                        </p:tgtEl>
                                        <p:attrNameLst>
                                          <p:attrName>style.visibility</p:attrName>
                                        </p:attrNameLst>
                                      </p:cBhvr>
                                      <p:to>
                                        <p:strVal val="visible"/>
                                      </p:to>
                                    </p:set>
                                    <p:anim calcmode="lin" valueType="num">
                                      <p:cBhvr>
                                        <p:cTn id="7" dur="500" fill="hold"/>
                                        <p:tgtEl>
                                          <p:spTgt spid="2079749"/>
                                        </p:tgtEl>
                                        <p:attrNameLst>
                                          <p:attrName>ppt_w</p:attrName>
                                        </p:attrNameLst>
                                      </p:cBhvr>
                                      <p:tavLst>
                                        <p:tav tm="0">
                                          <p:val>
                                            <p:fltVal val="0.000000"/>
                                          </p:val>
                                        </p:tav>
                                        <p:tav tm="100000">
                                          <p:val>
                                            <p:strVal val="#ppt_w"/>
                                          </p:val>
                                        </p:tav>
                                      </p:tavLst>
                                    </p:anim>
                                    <p:anim calcmode="lin" valueType="num">
                                      <p:cBhvr>
                                        <p:cTn id="8" dur="500" fill="hold"/>
                                        <p:tgtEl>
                                          <p:spTgt spid="207974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749" grpId="0" bldLvl="0" animBg="1"/>
    </p:bldLst>
  </p:timing>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8226"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08227" name="Rectangle 2"/>
          <p:cNvSpPr>
            <a:spLocks noGrp="1"/>
          </p:cNvSpPr>
          <p:nvPr>
            <p:ph type="title"/>
          </p:nvPr>
        </p:nvSpPr>
        <p:spPr>
          <a:xfrm>
            <a:off x="539750" y="188913"/>
            <a:ext cx="6691313"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1824771" name="Rectangle 3"/>
          <p:cNvSpPr>
            <a:spLocks noGrp="1"/>
          </p:cNvSpPr>
          <p:nvPr>
            <p:ph idx="1"/>
          </p:nvPr>
        </p:nvSpPr>
        <p:spPr/>
        <p:txBody>
          <a:bodyPr vert="horz" wrap="square" lIns="91440" tIns="45720" rIns="91440" bIns="45720" anchor="t" anchorCtr="0"/>
          <a:p>
            <a:pPr algn="just" eaLnBrk="1" hangingPunct="1">
              <a:lnSpc>
                <a:spcPct val="110000"/>
              </a:lnSpc>
            </a:pPr>
            <a:r>
              <a:rPr lang="en-US" altLang="zh-CN" dirty="0">
                <a:solidFill>
                  <a:schemeClr val="tx2"/>
                </a:solidFill>
                <a:latin typeface="华文楷体" panose="02010600040101010101" pitchFamily="2" charset="-122"/>
                <a:ea typeface="华文楷体" panose="02010600040101010101" pitchFamily="2" charset="-122"/>
                <a:cs typeface="+mn-cs"/>
              </a:rPr>
              <a:t>12.2 Verilog HDL</a:t>
            </a:r>
            <a:r>
              <a:rPr lang="zh-CN" altLang="en-US" dirty="0">
                <a:solidFill>
                  <a:schemeClr val="tx2"/>
                </a:solidFill>
                <a:latin typeface="华文楷体" panose="02010600040101010101" pitchFamily="2" charset="-122"/>
                <a:ea typeface="华文楷体" panose="02010600040101010101" pitchFamily="2" charset="-122"/>
                <a:cs typeface="+mn-cs"/>
              </a:rPr>
              <a:t>的行为级描述</a:t>
            </a:r>
            <a:endParaRPr lang="zh-CN" altLang="en-US" dirty="0">
              <a:solidFill>
                <a:schemeClr val="tx2"/>
              </a:solidFill>
              <a:latin typeface="华文楷体" panose="02010600040101010101" pitchFamily="2" charset="-122"/>
              <a:ea typeface="华文楷体" panose="02010600040101010101" pitchFamily="2" charset="-122"/>
              <a:cs typeface="+mn-cs"/>
            </a:endParaRPr>
          </a:p>
        </p:txBody>
      </p:sp>
      <p:sp>
        <p:nvSpPr>
          <p:cNvPr id="1824772" name="AutoShape 4"/>
          <p:cNvSpPr/>
          <p:nvPr/>
        </p:nvSpPr>
        <p:spPr>
          <a:xfrm>
            <a:off x="5056188" y="998538"/>
            <a:ext cx="3475037" cy="428625"/>
          </a:xfrm>
          <a:prstGeom prst="wedgeRectCallout">
            <a:avLst>
              <a:gd name="adj1" fmla="val -66583"/>
              <a:gd name="adj2" fmla="val 43704"/>
            </a:avLst>
          </a:prstGeom>
          <a:noFill/>
          <a:ln w="9525" cap="flat" cmpd="sng">
            <a:solidFill>
              <a:schemeClr val="tx1"/>
            </a:solidFill>
            <a:prstDash val="solid"/>
            <a:miter/>
            <a:headEnd type="none" w="med" len="med"/>
            <a:tailEnd type="none" w="med" len="med"/>
          </a:ln>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b="1" dirty="0">
                <a:latin typeface="宋体" panose="02010600030101010101" pitchFamily="2" charset="-122"/>
                <a:ea typeface="宋体" panose="02010600030101010101" pitchFamily="2" charset="-122"/>
              </a:rPr>
              <a:t>包括系统级</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算法级</a:t>
            </a:r>
            <a:r>
              <a:rPr lang="en-US" altLang="zh-CN" b="1" dirty="0">
                <a:latin typeface="宋体" panose="02010600030101010101" pitchFamily="2" charset="-122"/>
                <a:ea typeface="宋体" panose="02010600030101010101" pitchFamily="2" charset="-122"/>
              </a:rPr>
              <a:t>,RTL</a:t>
            </a:r>
            <a:r>
              <a:rPr lang="zh-CN" altLang="en-US" b="1" dirty="0">
                <a:latin typeface="宋体" panose="02010600030101010101" pitchFamily="2" charset="-122"/>
                <a:ea typeface="宋体" panose="02010600030101010101" pitchFamily="2" charset="-122"/>
              </a:rPr>
              <a:t>级</a:t>
            </a:r>
            <a:endParaRPr lang="zh-CN" altLang="en-US" b="1" dirty="0">
              <a:latin typeface="宋体" panose="02010600030101010101" pitchFamily="2" charset="-122"/>
              <a:ea typeface="宋体" panose="02010600030101010101" pitchFamily="2" charset="-122"/>
            </a:endParaRPr>
          </a:p>
        </p:txBody>
      </p:sp>
      <p:sp>
        <p:nvSpPr>
          <p:cNvPr id="1824773" name="Rectangle 5"/>
          <p:cNvSpPr/>
          <p:nvPr/>
        </p:nvSpPr>
        <p:spPr>
          <a:xfrm>
            <a:off x="604838" y="1697038"/>
            <a:ext cx="8732837" cy="492125"/>
          </a:xfrm>
          <a:prstGeom prst="rect">
            <a:avLst/>
          </a:prstGeom>
          <a:noFill/>
          <a:ln w="9525">
            <a:noFill/>
          </a:ln>
        </p:spPr>
        <p:txBody>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rgbClr val="3333FF"/>
              </a:buClr>
              <a:buFont typeface="Wingdings" panose="05000000000000000000" pitchFamily="2" charset="2"/>
              <a:buNone/>
            </a:pPr>
            <a:r>
              <a:rPr lang="en-US" altLang="zh-CN" sz="2400" b="1" dirty="0">
                <a:latin typeface="华文楷体" panose="02010600040101010101" pitchFamily="2" charset="-122"/>
                <a:ea typeface="华文楷体" panose="02010600040101010101" pitchFamily="2" charset="-122"/>
              </a:rPr>
              <a:t>1. </a:t>
            </a:r>
            <a:r>
              <a:rPr lang="zh-CN" altLang="en-US" sz="2400" b="1" dirty="0">
                <a:latin typeface="华文楷体" panose="02010600040101010101" pitchFamily="2" charset="-122"/>
                <a:ea typeface="华文楷体" panose="02010600040101010101" pitchFamily="2" charset="-122"/>
              </a:rPr>
              <a:t>逻辑功能描述</a:t>
            </a:r>
            <a:r>
              <a:rPr lang="en-US" altLang="zh-CN" sz="2400" b="1" dirty="0">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算法级</a:t>
            </a:r>
            <a:endParaRPr lang="zh-CN" altLang="en-US" sz="2400" dirty="0">
              <a:latin typeface="华文楷体" panose="02010600040101010101" pitchFamily="2" charset="-122"/>
              <a:ea typeface="华文楷体" panose="02010600040101010101" pitchFamily="2" charset="-122"/>
            </a:endParaRPr>
          </a:p>
        </p:txBody>
      </p:sp>
      <p:sp>
        <p:nvSpPr>
          <p:cNvPr id="1824774" name="Rectangle 6"/>
          <p:cNvSpPr/>
          <p:nvPr/>
        </p:nvSpPr>
        <p:spPr>
          <a:xfrm>
            <a:off x="1412875" y="5999163"/>
            <a:ext cx="6848475" cy="49688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10000"/>
              </a:lnSpc>
              <a:spcBef>
                <a:spcPct val="0"/>
              </a:spcBef>
              <a:buClr>
                <a:schemeClr val="hlink"/>
              </a:buClr>
              <a:buFont typeface="Wingdings" panose="05000000000000000000" pitchFamily="2" charset="2"/>
              <a:buNone/>
            </a:pPr>
            <a:r>
              <a:rPr lang="zh-CN" altLang="en-US" sz="2400" b="1" dirty="0">
                <a:solidFill>
                  <a:srgbClr val="FF0000"/>
                </a:solidFill>
                <a:latin typeface="华文楷体" panose="02010600040101010101" pitchFamily="2" charset="-122"/>
                <a:ea typeface="华文楷体" panose="02010600040101010101" pitchFamily="2" charset="-122"/>
              </a:rPr>
              <a:t>注</a:t>
            </a:r>
            <a:r>
              <a:rPr lang="zh-CN" altLang="en-US" sz="2400" dirty="0">
                <a:latin typeface="华文楷体" panose="02010600040101010101" pitchFamily="2" charset="-122"/>
                <a:ea typeface="华文楷体" panose="02010600040101010101" pitchFamily="2" charset="-122"/>
              </a:rPr>
              <a:t>：首先必须根据逻辑功能写出</a:t>
            </a:r>
            <a:r>
              <a:rPr lang="zh-CN" altLang="en-US" sz="2400" dirty="0">
                <a:solidFill>
                  <a:srgbClr val="FF0000"/>
                </a:solidFill>
                <a:latin typeface="华文楷体" panose="02010600040101010101" pitchFamily="2" charset="-122"/>
                <a:ea typeface="华文楷体" panose="02010600040101010101" pitchFamily="2" charset="-122"/>
              </a:rPr>
              <a:t>逻辑表达式</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1824777" name="Text Box 9"/>
          <p:cNvSpPr txBox="1"/>
          <p:nvPr/>
        </p:nvSpPr>
        <p:spPr>
          <a:xfrm>
            <a:off x="1412875" y="2239963"/>
            <a:ext cx="6534150" cy="370840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190500" lvl="1" indent="0" eaLnBrk="1" hangingPunct="1">
              <a:buClr>
                <a:srgbClr val="FF0000"/>
              </a:buClr>
              <a:buSzPct val="80000"/>
              <a:buFont typeface="Wingdings" panose="05000000000000000000" pitchFamily="2" charset="2"/>
              <a:buNone/>
            </a:pPr>
            <a:r>
              <a:rPr lang="en-US" altLang="zh-CN" sz="2400" b="1" dirty="0">
                <a:latin typeface="Times New Roman" panose="02020603050405020304" pitchFamily="18" charset="0"/>
                <a:ea typeface="华文楷体" panose="02010600040101010101" pitchFamily="2" charset="-122"/>
              </a:rPr>
              <a:t>[</a:t>
            </a:r>
            <a:r>
              <a:rPr lang="zh-CN" altLang="en-US" sz="2400" b="1" dirty="0">
                <a:solidFill>
                  <a:srgbClr val="FF0000"/>
                </a:solidFill>
                <a:latin typeface="Times New Roman" panose="02020603050405020304" pitchFamily="18" charset="0"/>
                <a:ea typeface="华文楷体" panose="02010600040101010101" pitchFamily="2" charset="-122"/>
              </a:rPr>
              <a:t>例</a:t>
            </a:r>
            <a:r>
              <a:rPr lang="en-US" altLang="zh-CN" sz="2400" b="1" dirty="0">
                <a:solidFill>
                  <a:srgbClr val="FF0000"/>
                </a:solidFill>
                <a:latin typeface="Times New Roman" panose="02020603050405020304" pitchFamily="18" charset="0"/>
                <a:ea typeface="华文楷体" panose="02010600040101010101" pitchFamily="2" charset="-122"/>
              </a:rPr>
              <a:t>12.2</a:t>
            </a:r>
            <a:r>
              <a:rPr lang="en-US" altLang="zh-CN" sz="2400" b="1" dirty="0">
                <a:latin typeface="Times New Roman" panose="02020603050405020304" pitchFamily="18" charset="0"/>
                <a:ea typeface="华文楷体" panose="02010600040101010101" pitchFamily="2" charset="-122"/>
              </a:rPr>
              <a:t>] </a:t>
            </a:r>
            <a:r>
              <a:rPr lang="zh-CN" altLang="en-US" sz="2400" b="1" dirty="0">
                <a:latin typeface="Times New Roman" panose="02020603050405020304" pitchFamily="18" charset="0"/>
                <a:ea typeface="华文楷体" panose="02010600040101010101" pitchFamily="2" charset="-122"/>
              </a:rPr>
              <a:t>用逻辑表达式实现</a:t>
            </a:r>
            <a:r>
              <a:rPr lang="en-US" altLang="zh-CN" sz="2400" b="1" dirty="0">
                <a:latin typeface="Times New Roman" panose="02020603050405020304" pitchFamily="18" charset="0"/>
                <a:ea typeface="华文楷体" panose="02010600040101010101" pitchFamily="2" charset="-122"/>
              </a:rPr>
              <a:t>4</a:t>
            </a:r>
            <a:r>
              <a:rPr lang="zh-CN" altLang="en-US" sz="2400" b="1" dirty="0">
                <a:latin typeface="Times New Roman" panose="02020603050405020304" pitchFamily="18" charset="0"/>
                <a:ea typeface="华文楷体" panose="02010600040101010101" pitchFamily="2" charset="-122"/>
              </a:rPr>
              <a:t>选</a:t>
            </a:r>
            <a:r>
              <a:rPr lang="en-US" altLang="zh-CN" sz="2400" b="1" dirty="0">
                <a:latin typeface="Times New Roman" panose="02020603050405020304" pitchFamily="18" charset="0"/>
                <a:ea typeface="华文楷体" panose="02010600040101010101" pitchFamily="2" charset="-122"/>
              </a:rPr>
              <a:t>1</a:t>
            </a:r>
            <a:r>
              <a:rPr lang="zh-CN" altLang="en-US" sz="2400" b="1" dirty="0">
                <a:latin typeface="Times New Roman" panose="02020603050405020304" pitchFamily="18" charset="0"/>
                <a:ea typeface="华文楷体" panose="02010600040101010101" pitchFamily="2" charset="-122"/>
              </a:rPr>
              <a:t>数据选择器</a:t>
            </a:r>
            <a:endParaRPr lang="zh-CN" altLang="en-US"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module mux4_1(out,in1,in2,in3,in4,cntrl1,cntrl2);</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output out;</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input in1,in2,in3,in4,cntrl1,cntrl2;</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assign out=(in1 &amp; ~cntrl1 &amp; ~cntrl2) |</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(in2 &amp; ~cntrl1 &amp; cntrl2) |</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(in3 &amp; cntrl1 &amp; ~cntrl2) |</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                        (in4 &amp; cntrl1 &amp; cntrl2) ;</a:t>
            </a:r>
            <a:endParaRPr lang="en-US" altLang="zh-CN" sz="2200" b="1" dirty="0">
              <a:latin typeface="Times New Roman" panose="02020603050405020304" pitchFamily="18" charset="0"/>
              <a:ea typeface="华文楷体" panose="02010600040101010101" pitchFamily="2" charset="-122"/>
            </a:endParaRPr>
          </a:p>
          <a:p>
            <a:pPr marL="190500" lvl="1" indent="0" eaLnBrk="1" hangingPunct="1">
              <a:buClr>
                <a:srgbClr val="FF0000"/>
              </a:buClr>
              <a:buSzPct val="80000"/>
              <a:buFont typeface="Wingdings" panose="05000000000000000000" pitchFamily="2" charset="2"/>
              <a:buNone/>
            </a:pPr>
            <a:r>
              <a:rPr lang="en-US" altLang="zh-CN" sz="2200" b="1" dirty="0">
                <a:latin typeface="Times New Roman" panose="02020603050405020304" pitchFamily="18" charset="0"/>
                <a:ea typeface="华文楷体" panose="02010600040101010101" pitchFamily="2" charset="-122"/>
              </a:rPr>
              <a:t>endmodule</a:t>
            </a:r>
            <a:endParaRPr lang="en-US" altLang="zh-CN" sz="22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24771"/>
                                        </p:tgtEl>
                                        <p:attrNameLst>
                                          <p:attrName>style.visibility</p:attrName>
                                        </p:attrNameLst>
                                      </p:cBhvr>
                                      <p:to>
                                        <p:strVal val="visible"/>
                                      </p:to>
                                    </p:set>
                                    <p:anim calcmode="lin" valueType="num">
                                      <p:cBhvr additive="base">
                                        <p:cTn id="7" dur="500" fill="hold"/>
                                        <p:tgtEl>
                                          <p:spTgt spid="1824771"/>
                                        </p:tgtEl>
                                        <p:attrNameLst>
                                          <p:attrName>ppt_x</p:attrName>
                                        </p:attrNameLst>
                                      </p:cBhvr>
                                      <p:tavLst>
                                        <p:tav tm="0">
                                          <p:val>
                                            <p:strVal val="0-#ppt_w/2"/>
                                          </p:val>
                                        </p:tav>
                                        <p:tav tm="100000">
                                          <p:val>
                                            <p:strVal val="#ppt_x"/>
                                          </p:val>
                                        </p:tav>
                                      </p:tavLst>
                                    </p:anim>
                                    <p:anim calcmode="lin" valueType="num">
                                      <p:cBhvr additive="base">
                                        <p:cTn id="8" dur="500" fill="hold"/>
                                        <p:tgtEl>
                                          <p:spTgt spid="18247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24772"/>
                                        </p:tgtEl>
                                        <p:attrNameLst>
                                          <p:attrName>style.visibility</p:attrName>
                                        </p:attrNameLst>
                                      </p:cBhvr>
                                      <p:to>
                                        <p:strVal val="visible"/>
                                      </p:to>
                                    </p:set>
                                    <p:animEffect transition="in" filter="dissolve">
                                      <p:cBhvr>
                                        <p:cTn id="13" dur="500"/>
                                        <p:tgtEl>
                                          <p:spTgt spid="182477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824773">
                                            <p:txEl>
                                              <p:charRg st="0" end="15"/>
                                            </p:txEl>
                                          </p:spTgt>
                                        </p:tgtEl>
                                        <p:attrNameLst>
                                          <p:attrName>style.visibility</p:attrName>
                                        </p:attrNameLst>
                                      </p:cBhvr>
                                      <p:to>
                                        <p:strVal val="visible"/>
                                      </p:to>
                                    </p:set>
                                    <p:anim calcmode="lin" valueType="num">
                                      <p:cBhvr additive="base">
                                        <p:cTn id="18" dur="500" fill="hold"/>
                                        <p:tgtEl>
                                          <p:spTgt spid="1824773">
                                            <p:txEl>
                                              <p:charRg st="0" end="15"/>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824773">
                                            <p:txEl>
                                              <p:charRg st="0" end="15"/>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824777"/>
                                        </p:tgtEl>
                                        <p:attrNameLst>
                                          <p:attrName>style.visibility</p:attrName>
                                        </p:attrNameLst>
                                      </p:cBhvr>
                                      <p:to>
                                        <p:strVal val="visible"/>
                                      </p:to>
                                    </p:set>
                                    <p:anim calcmode="lin" valueType="num">
                                      <p:cBhvr additive="base">
                                        <p:cTn id="24" dur="500" fill="hold"/>
                                        <p:tgtEl>
                                          <p:spTgt spid="1824777"/>
                                        </p:tgtEl>
                                        <p:attrNameLst>
                                          <p:attrName>ppt_x</p:attrName>
                                        </p:attrNameLst>
                                      </p:cBhvr>
                                      <p:tavLst>
                                        <p:tav tm="0">
                                          <p:val>
                                            <p:strVal val="#ppt_x"/>
                                          </p:val>
                                        </p:tav>
                                        <p:tav tm="100000">
                                          <p:val>
                                            <p:strVal val="#ppt_x"/>
                                          </p:val>
                                        </p:tav>
                                      </p:tavLst>
                                    </p:anim>
                                    <p:anim calcmode="lin" valueType="num">
                                      <p:cBhvr additive="base">
                                        <p:cTn id="25" dur="500" fill="hold"/>
                                        <p:tgtEl>
                                          <p:spTgt spid="182477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824774"/>
                                        </p:tgtEl>
                                        <p:attrNameLst>
                                          <p:attrName>style.visibility</p:attrName>
                                        </p:attrNameLst>
                                      </p:cBhvr>
                                      <p:to>
                                        <p:strVal val="visible"/>
                                      </p:to>
                                    </p:set>
                                    <p:anim calcmode="lin" valueType="num">
                                      <p:cBhvr>
                                        <p:cTn id="30" dur="500" fill="hold"/>
                                        <p:tgtEl>
                                          <p:spTgt spid="1824774"/>
                                        </p:tgtEl>
                                        <p:attrNameLst>
                                          <p:attrName>ppt_w</p:attrName>
                                        </p:attrNameLst>
                                      </p:cBhvr>
                                      <p:tavLst>
                                        <p:tav tm="0">
                                          <p:val>
                                            <p:fltVal val="0.000000"/>
                                          </p:val>
                                        </p:tav>
                                        <p:tav tm="100000">
                                          <p:val>
                                            <p:strVal val="#ppt_w"/>
                                          </p:val>
                                        </p:tav>
                                      </p:tavLst>
                                    </p:anim>
                                    <p:anim calcmode="lin" valueType="num">
                                      <p:cBhvr>
                                        <p:cTn id="31" dur="500" fill="hold"/>
                                        <p:tgtEl>
                                          <p:spTgt spid="1824774"/>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4771" grpId="0"/>
      <p:bldP spid="1824772" grpId="0" animBg="1"/>
      <p:bldP spid="1824773" grpId="0" build="p"/>
      <p:bldP spid="1824774" grpId="0" bldLvl="0" animBg="1"/>
      <p:bldP spid="1824777" grpId="0" bldLvl="0" animBg="1"/>
    </p:bldLst>
  </p:timing>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0274"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10275" name="Rectangle 2"/>
          <p:cNvSpPr>
            <a:spLocks noGrp="1"/>
          </p:cNvSpPr>
          <p:nvPr>
            <p:ph type="title"/>
          </p:nvPr>
        </p:nvSpPr>
        <p:spPr>
          <a:xfrm>
            <a:off x="539750" y="188913"/>
            <a:ext cx="6896100"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073603" name="Rectangle 3"/>
          <p:cNvSpPr>
            <a:spLocks noGrp="1"/>
          </p:cNvSpPr>
          <p:nvPr>
            <p:ph idx="1"/>
          </p:nvPr>
        </p:nvSpPr>
        <p:spPr/>
        <p:txBody>
          <a:bodyPr vert="horz" wrap="square" lIns="91440" tIns="45720" rIns="91440" bIns="45720" anchor="t" anchorCtr="0"/>
          <a:p>
            <a:pPr algn="just" eaLnBrk="1" hangingPunct="1">
              <a:lnSpc>
                <a:spcPct val="105000"/>
              </a:lnSpc>
              <a:spcBef>
                <a:spcPct val="0"/>
              </a:spcBef>
            </a:pPr>
            <a:r>
              <a:rPr lang="en-US" altLang="zh-CN" dirty="0">
                <a:latin typeface="Times New Roman" panose="02020603050405020304" pitchFamily="18" charset="0"/>
                <a:ea typeface="华文楷体" panose="02010600040101010101" pitchFamily="2" charset="-122"/>
                <a:cs typeface="+mn-cs"/>
              </a:rPr>
              <a:t>2. case</a:t>
            </a:r>
            <a:r>
              <a:rPr lang="zh-CN" altLang="en-US" dirty="0">
                <a:latin typeface="Times New Roman" panose="02020603050405020304" pitchFamily="18" charset="0"/>
                <a:ea typeface="华文楷体" panose="02010600040101010101" pitchFamily="2" charset="-122"/>
                <a:cs typeface="+mn-cs"/>
              </a:rPr>
              <a:t>语句描述</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系统级</a:t>
            </a:r>
            <a:endParaRPr lang="zh-CN" altLang="en-US" dirty="0">
              <a:latin typeface="Times New Roman" panose="02020603050405020304" pitchFamily="18" charset="0"/>
              <a:ea typeface="华文楷体" panose="02010600040101010101" pitchFamily="2" charset="-122"/>
              <a:cs typeface="+mn-cs"/>
            </a:endParaRPr>
          </a:p>
          <a:p>
            <a:pPr algn="just" eaLnBrk="1" hangingPunct="1">
              <a:lnSpc>
                <a:spcPct val="105000"/>
              </a:lnSpc>
              <a:spcBef>
                <a:spcPct val="0"/>
              </a:spcBef>
            </a:pPr>
            <a:r>
              <a:rPr lang="zh-CN" altLang="en-US" dirty="0">
                <a:latin typeface="Times New Roman" panose="02020603050405020304" pitchFamily="18" charset="0"/>
                <a:ea typeface="华文楷体" panose="02010600040101010101" pitchFamily="2" charset="-122"/>
                <a:cs typeface="+mn-cs"/>
              </a:rPr>
              <a:t> </a:t>
            </a:r>
            <a:r>
              <a:rPr lang="en-US" altLang="zh-CN" dirty="0">
                <a:latin typeface="Times New Roman" panose="02020603050405020304" pitchFamily="18" charset="0"/>
                <a:ea typeface="华文楷体" panose="02010600040101010101" pitchFamily="2" charset="-122"/>
                <a:cs typeface="+mn-cs"/>
              </a:rPr>
              <a:t>——</a:t>
            </a:r>
            <a:r>
              <a:rPr lang="zh-CN" altLang="en-US" dirty="0">
                <a:latin typeface="Times New Roman" panose="02020603050405020304" pitchFamily="18" charset="0"/>
                <a:ea typeface="华文楷体" panose="02010600040101010101" pitchFamily="2" charset="-122"/>
                <a:cs typeface="+mn-cs"/>
              </a:rPr>
              <a:t>只需知道输入与输出间的</a:t>
            </a:r>
            <a:r>
              <a:rPr lang="zh-CN" altLang="en-US" dirty="0">
                <a:solidFill>
                  <a:srgbClr val="FF0000"/>
                </a:solidFill>
                <a:latin typeface="Times New Roman" panose="02020603050405020304" pitchFamily="18" charset="0"/>
                <a:ea typeface="华文楷体" panose="02010600040101010101" pitchFamily="2" charset="-122"/>
                <a:cs typeface="+mn-cs"/>
              </a:rPr>
              <a:t>真值表</a:t>
            </a:r>
            <a:r>
              <a:rPr lang="zh-CN" altLang="en-US" dirty="0">
                <a:latin typeface="Times New Roman" panose="02020603050405020304" pitchFamily="18" charset="0"/>
                <a:ea typeface="华文楷体" panose="02010600040101010101" pitchFamily="2" charset="-122"/>
                <a:cs typeface="+mn-cs"/>
              </a:rPr>
              <a:t>！比调用门原语和采用逻辑功能描述都简洁！</a:t>
            </a:r>
            <a:endParaRPr lang="zh-CN" altLang="en-US" dirty="0">
              <a:latin typeface="Times New Roman" panose="02020603050405020304" pitchFamily="18" charset="0"/>
              <a:ea typeface="华文楷体" panose="02010600040101010101" pitchFamily="2" charset="-122"/>
              <a:cs typeface="+mn-cs"/>
            </a:endParaRPr>
          </a:p>
        </p:txBody>
      </p:sp>
      <p:sp>
        <p:nvSpPr>
          <p:cNvPr id="2073609" name="Text Box 9"/>
          <p:cNvSpPr txBox="1"/>
          <p:nvPr/>
        </p:nvSpPr>
        <p:spPr>
          <a:xfrm>
            <a:off x="1092200" y="2219325"/>
            <a:ext cx="7069138" cy="440055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spcBef>
                <a:spcPct val="0"/>
              </a:spcBef>
              <a:buClr>
                <a:schemeClr val="hlink"/>
              </a:buClr>
              <a:buFont typeface="Wingdings" panose="05000000000000000000" pitchFamily="2" charset="2"/>
              <a:buNone/>
            </a:pPr>
            <a:r>
              <a:rPr lang="en-US" altLang="zh-CN" dirty="0">
                <a:latin typeface="Times New Roman" panose="02020603050405020304" pitchFamily="18" charset="0"/>
                <a:ea typeface="华文楷体" panose="02010600040101010101" pitchFamily="2" charset="-122"/>
              </a:rPr>
              <a:t>[</a:t>
            </a:r>
            <a:r>
              <a:rPr lang="zh-CN" altLang="en-US" b="1" dirty="0">
                <a:solidFill>
                  <a:srgbClr val="FF0000"/>
                </a:solidFill>
                <a:latin typeface="Times New Roman" panose="02020603050405020304" pitchFamily="18" charset="0"/>
                <a:ea typeface="华文楷体" panose="02010600040101010101" pitchFamily="2" charset="-122"/>
              </a:rPr>
              <a:t>例</a:t>
            </a:r>
            <a:r>
              <a:rPr lang="en-US" altLang="zh-CN" b="1" dirty="0">
                <a:solidFill>
                  <a:srgbClr val="FF0000"/>
                </a:solidFill>
                <a:latin typeface="Times New Roman" panose="02020603050405020304" pitchFamily="18" charset="0"/>
                <a:ea typeface="华文楷体" panose="02010600040101010101" pitchFamily="2" charset="-122"/>
              </a:rPr>
              <a:t>12.3</a:t>
            </a:r>
            <a:r>
              <a:rPr lang="en-US" altLang="zh-CN" dirty="0">
                <a:latin typeface="Times New Roman" panose="02020603050405020304" pitchFamily="18" charset="0"/>
                <a:ea typeface="华文楷体" panose="02010600040101010101" pitchFamily="2" charset="-122"/>
              </a:rPr>
              <a:t>] </a:t>
            </a:r>
            <a:r>
              <a:rPr lang="zh-CN" altLang="en-US" dirty="0">
                <a:latin typeface="Times New Roman" panose="02020603050405020304" pitchFamily="18" charset="0"/>
                <a:ea typeface="华文楷体" panose="02010600040101010101" pitchFamily="2" charset="-122"/>
              </a:rPr>
              <a:t>用</a:t>
            </a:r>
            <a:r>
              <a:rPr lang="en-US" altLang="zh-CN" dirty="0">
                <a:latin typeface="Times New Roman" panose="02020603050405020304" pitchFamily="18" charset="0"/>
                <a:ea typeface="华文楷体" panose="02010600040101010101" pitchFamily="2" charset="-122"/>
              </a:rPr>
              <a:t>case</a:t>
            </a:r>
            <a:r>
              <a:rPr lang="zh-CN" altLang="en-US" dirty="0">
                <a:latin typeface="Times New Roman" panose="02020603050405020304" pitchFamily="18" charset="0"/>
                <a:ea typeface="华文楷体" panose="02010600040101010101" pitchFamily="2" charset="-122"/>
              </a:rPr>
              <a:t>语句描述</a:t>
            </a:r>
            <a:r>
              <a:rPr lang="en-US" altLang="zh-CN" dirty="0">
                <a:latin typeface="Times New Roman" panose="02020603050405020304" pitchFamily="18" charset="0"/>
                <a:ea typeface="华文楷体" panose="02010600040101010101" pitchFamily="2" charset="-122"/>
              </a:rPr>
              <a:t>4</a:t>
            </a:r>
            <a:r>
              <a:rPr lang="zh-CN" altLang="en-US" dirty="0">
                <a:latin typeface="Times New Roman" panose="02020603050405020304" pitchFamily="18" charset="0"/>
                <a:ea typeface="华文楷体" panose="02010600040101010101" pitchFamily="2" charset="-122"/>
              </a:rPr>
              <a:t>选</a:t>
            </a:r>
            <a:r>
              <a:rPr lang="en-US" altLang="zh-CN" dirty="0">
                <a:latin typeface="Times New Roman" panose="02020603050405020304" pitchFamily="18" charset="0"/>
                <a:ea typeface="华文楷体" panose="02010600040101010101" pitchFamily="2" charset="-122"/>
              </a:rPr>
              <a:t>1</a:t>
            </a:r>
            <a:r>
              <a:rPr lang="zh-CN" altLang="en-US" dirty="0">
                <a:latin typeface="Times New Roman" panose="02020603050405020304" pitchFamily="18" charset="0"/>
                <a:ea typeface="华文楷体" panose="02010600040101010101" pitchFamily="2" charset="-122"/>
              </a:rPr>
              <a:t>数据选择器</a:t>
            </a:r>
            <a:endParaRPr lang="zh-CN" altLang="en-US"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module mux4_1(out,in1,in2,in3,in4,cntrl1,cntrl2);</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output out;</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input in1,in2,in3,in4,cntrl1,cntrl2;</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reg out;</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always @(in1 or in2 or in3 or in4 or cntrl1 or cntrl2)</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a:solidFill>
                  <a:srgbClr val="FF0000"/>
                </a:solidFill>
                <a:latin typeface="Times New Roman" panose="02020603050405020304" pitchFamily="18" charset="0"/>
                <a:ea typeface="华文楷体" panose="02010600040101010101" pitchFamily="2" charset="-122"/>
              </a:rPr>
              <a:t>case</a:t>
            </a:r>
            <a:r>
              <a:rPr lang="en-US" altLang="zh-CN" sz="2000" b="1" dirty="0">
                <a:latin typeface="Times New Roman" panose="02020603050405020304" pitchFamily="18" charset="0"/>
                <a:ea typeface="华文楷体" panose="02010600040101010101" pitchFamily="2" charset="-122"/>
              </a:rPr>
              <a:t> ({cntrl1,cntrl2})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2’b00:out=in1;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2’b01:out=in2;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2’b10:out=in3;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2’b11:out=in4;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default :out=1’bx;</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000" b="1" dirty="0">
                <a:solidFill>
                  <a:srgbClr val="FF0000"/>
                </a:solidFill>
                <a:latin typeface="Times New Roman" panose="02020603050405020304" pitchFamily="18" charset="0"/>
                <a:ea typeface="华文楷体" panose="02010600040101010101" pitchFamily="2" charset="-122"/>
              </a:rPr>
              <a:t>endcase</a:t>
            </a:r>
            <a:endParaRPr lang="en-US" altLang="zh-CN" sz="2000" b="1" dirty="0">
              <a:solidFill>
                <a:srgbClr val="FF0000"/>
              </a:solidFill>
              <a:latin typeface="Times New Roman" panose="02020603050405020304" pitchFamily="18" charset="0"/>
              <a:ea typeface="华文楷体" panose="02010600040101010101" pitchFamily="2" charset="-122"/>
            </a:endParaRPr>
          </a:p>
          <a:p>
            <a:pPr marL="190500" lvl="1" indent="0" eaLnBrk="1" hangingPunct="1">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endmodule</a:t>
            </a:r>
            <a:endParaRPr lang="en-US" altLang="zh-CN" sz="2000" b="1" dirty="0">
              <a:latin typeface="Times New Roman" panose="02020603050405020304" pitchFamily="18" charset="0"/>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73603"/>
                                        </p:tgtEl>
                                        <p:attrNameLst>
                                          <p:attrName>style.visibility</p:attrName>
                                        </p:attrNameLst>
                                      </p:cBhvr>
                                      <p:to>
                                        <p:strVal val="visible"/>
                                      </p:to>
                                    </p:set>
                                    <p:anim calcmode="lin" valueType="num">
                                      <p:cBhvr additive="base">
                                        <p:cTn id="7" dur="500" fill="hold"/>
                                        <p:tgtEl>
                                          <p:spTgt spid="2073603"/>
                                        </p:tgtEl>
                                        <p:attrNameLst>
                                          <p:attrName>ppt_x</p:attrName>
                                        </p:attrNameLst>
                                      </p:cBhvr>
                                      <p:tavLst>
                                        <p:tav tm="0">
                                          <p:val>
                                            <p:strVal val="0-#ppt_w/2"/>
                                          </p:val>
                                        </p:tav>
                                        <p:tav tm="100000">
                                          <p:val>
                                            <p:strVal val="#ppt_x"/>
                                          </p:val>
                                        </p:tav>
                                      </p:tavLst>
                                    </p:anim>
                                    <p:anim calcmode="lin" valueType="num">
                                      <p:cBhvr additive="base">
                                        <p:cTn id="8" dur="500" fill="hold"/>
                                        <p:tgtEl>
                                          <p:spTgt spid="20736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73609"/>
                                        </p:tgtEl>
                                        <p:attrNameLst>
                                          <p:attrName>style.visibility</p:attrName>
                                        </p:attrNameLst>
                                      </p:cBhvr>
                                      <p:to>
                                        <p:strVal val="visible"/>
                                      </p:to>
                                    </p:set>
                                    <p:anim calcmode="lin" valueType="num">
                                      <p:cBhvr additive="base">
                                        <p:cTn id="13" dur="500" fill="hold"/>
                                        <p:tgtEl>
                                          <p:spTgt spid="2073609"/>
                                        </p:tgtEl>
                                        <p:attrNameLst>
                                          <p:attrName>ppt_x</p:attrName>
                                        </p:attrNameLst>
                                      </p:cBhvr>
                                      <p:tavLst>
                                        <p:tav tm="0">
                                          <p:val>
                                            <p:strVal val="#ppt_x"/>
                                          </p:val>
                                        </p:tav>
                                        <p:tav tm="100000">
                                          <p:val>
                                            <p:strVal val="#ppt_x"/>
                                          </p:val>
                                        </p:tav>
                                      </p:tavLst>
                                    </p:anim>
                                    <p:anim calcmode="lin" valueType="num">
                                      <p:cBhvr additive="base">
                                        <p:cTn id="14" dur="500" fill="hold"/>
                                        <p:tgtEl>
                                          <p:spTgt spid="20736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3603" grpId="0"/>
      <p:bldP spid="2073609" grpId="0" bldLvl="0" animBg="1"/>
    </p:bld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2322"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12323" name="Rectangle 2"/>
          <p:cNvSpPr>
            <a:spLocks noGrp="1"/>
          </p:cNvSpPr>
          <p:nvPr>
            <p:ph type="title"/>
          </p:nvPr>
        </p:nvSpPr>
        <p:spPr>
          <a:xfrm>
            <a:off x="539750" y="188913"/>
            <a:ext cx="6883400"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1826819" name="Rectangle 3"/>
          <p:cNvSpPr>
            <a:spLocks noGrp="1"/>
          </p:cNvSpPr>
          <p:nvPr>
            <p:ph idx="1"/>
          </p:nvPr>
        </p:nvSpPr>
        <p:spPr/>
        <p:txBody>
          <a:bodyPr vert="horz" wrap="square" lIns="91440" tIns="45720" rIns="91440" bIns="45720" anchor="t" anchorCtr="0"/>
          <a:p>
            <a:endParaRPr lang="zh-CN" altLang="zh-CN" dirty="0">
              <a:latin typeface="+mn-lt"/>
              <a:ea typeface="黑体" panose="02010609060101010101" pitchFamily="49" charset="-122"/>
              <a:cs typeface="+mn-cs"/>
            </a:endParaRPr>
          </a:p>
        </p:txBody>
      </p:sp>
      <p:sp>
        <p:nvSpPr>
          <p:cNvPr id="1826822" name="Rectangle 6"/>
          <p:cNvSpPr/>
          <p:nvPr/>
        </p:nvSpPr>
        <p:spPr>
          <a:xfrm>
            <a:off x="2347913" y="5030788"/>
            <a:ext cx="5162550" cy="12525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a:lnSpc>
                <a:spcPct val="105000"/>
              </a:lnSpc>
              <a:spcBef>
                <a:spcPct val="0"/>
              </a:spcBef>
              <a:buClr>
                <a:schemeClr val="hlink"/>
              </a:buClr>
              <a:buFont typeface="Wingdings" panose="05000000000000000000" pitchFamily="2" charset="2"/>
              <a:buNone/>
            </a:pPr>
            <a:r>
              <a:rPr lang="zh-CN" altLang="en-US" sz="2400" b="1" dirty="0">
                <a:solidFill>
                  <a:srgbClr val="FF0000"/>
                </a:solidFill>
                <a:latin typeface="华文楷体" panose="02010600040101010101" pitchFamily="2" charset="-122"/>
                <a:ea typeface="华文楷体" panose="02010600040101010101" pitchFamily="2" charset="-122"/>
              </a:rPr>
              <a:t>注</a:t>
            </a:r>
            <a:r>
              <a:rPr lang="zh-CN" altLang="en-US" sz="2400" b="1" dirty="0">
                <a:latin typeface="华文楷体" panose="02010600040101010101" pitchFamily="2" charset="-122"/>
                <a:ea typeface="华文楷体" panose="02010600040101010101" pitchFamily="2" charset="-122"/>
              </a:rPr>
              <a:t>：比调用门原语，采用逻辑表达式或 </a:t>
            </a:r>
            <a:r>
              <a:rPr lang="en-US" altLang="zh-CN" sz="2400" b="1" dirty="0">
                <a:latin typeface="华文楷体" panose="02010600040101010101" pitchFamily="2" charset="-122"/>
                <a:ea typeface="华文楷体" panose="02010600040101010101" pitchFamily="2" charset="-122"/>
              </a:rPr>
              <a:t>case</a:t>
            </a:r>
            <a:r>
              <a:rPr lang="zh-CN" altLang="en-US" sz="2400" b="1" dirty="0">
                <a:latin typeface="华文楷体" panose="02010600040101010101" pitchFamily="2" charset="-122"/>
                <a:ea typeface="华文楷体" panose="02010600040101010101" pitchFamily="2" charset="-122"/>
              </a:rPr>
              <a:t>语句描述代码更简单！但也更抽象！且耗用器件资源更多！</a:t>
            </a:r>
            <a:endParaRPr lang="zh-CN" altLang="en-US" sz="2400" b="1" dirty="0">
              <a:latin typeface="华文楷体" panose="02010600040101010101" pitchFamily="2" charset="-122"/>
              <a:ea typeface="华文楷体" panose="02010600040101010101" pitchFamily="2" charset="-122"/>
            </a:endParaRPr>
          </a:p>
        </p:txBody>
      </p:sp>
      <p:sp>
        <p:nvSpPr>
          <p:cNvPr id="1826825" name="Text Box 9"/>
          <p:cNvSpPr txBox="1"/>
          <p:nvPr/>
        </p:nvSpPr>
        <p:spPr>
          <a:xfrm>
            <a:off x="701675" y="1260475"/>
            <a:ext cx="7597775" cy="2222500"/>
          </a:xfrm>
          <a:prstGeom prst="rect">
            <a:avLst/>
          </a:prstGeom>
          <a:noFill/>
          <a:ln w="12700" cap="flat" cmpd="sng">
            <a:solidFill>
              <a:schemeClr val="tx1"/>
            </a:solidFill>
            <a:prstDash val="solid"/>
            <a:miter/>
            <a:headEnd type="none" w="med" len="med"/>
            <a:tailEnd type="none" w="med" len="med"/>
          </a:ln>
        </p:spPr>
        <p:txBody>
          <a:bodyPr anchor="b"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just" eaLnBrk="1" hangingPunct="1">
              <a:lnSpc>
                <a:spcPct val="110000"/>
              </a:lnSpc>
              <a:buClr>
                <a:schemeClr val="hlink"/>
              </a:buClr>
              <a:buFont typeface="Wingdings" panose="05000000000000000000" pitchFamily="2" charset="2"/>
              <a:buNone/>
            </a:pPr>
            <a:r>
              <a:rPr lang="en-US" altLang="zh-CN" sz="2200" dirty="0">
                <a:latin typeface="Times New Roman" panose="02020603050405020304" pitchFamily="18" charset="0"/>
                <a:ea typeface="华文楷体" panose="02010600040101010101" pitchFamily="2" charset="-122"/>
              </a:rPr>
              <a:t>[</a:t>
            </a:r>
            <a:r>
              <a:rPr lang="zh-CN" altLang="en-US" sz="2400" b="1" dirty="0">
                <a:solidFill>
                  <a:srgbClr val="FF0000"/>
                </a:solidFill>
                <a:latin typeface="Times New Roman" panose="02020603050405020304" pitchFamily="18" charset="0"/>
                <a:ea typeface="华文楷体" panose="02010600040101010101" pitchFamily="2" charset="-122"/>
              </a:rPr>
              <a:t>例</a:t>
            </a:r>
            <a:r>
              <a:rPr lang="en-US" altLang="zh-CN" sz="2400" b="1" dirty="0">
                <a:solidFill>
                  <a:srgbClr val="FF0000"/>
                </a:solidFill>
                <a:latin typeface="Times New Roman" panose="02020603050405020304" pitchFamily="18" charset="0"/>
                <a:ea typeface="华文楷体" panose="02010600040101010101" pitchFamily="2" charset="-122"/>
              </a:rPr>
              <a:t>12.4</a:t>
            </a:r>
            <a:r>
              <a:rPr lang="en-US" altLang="zh-CN" sz="2200" dirty="0">
                <a:latin typeface="Times New Roman" panose="02020603050405020304" pitchFamily="18" charset="0"/>
                <a:ea typeface="华文楷体" panose="02010600040101010101" pitchFamily="2" charset="-122"/>
              </a:rPr>
              <a:t>] </a:t>
            </a:r>
            <a:r>
              <a:rPr lang="zh-CN" altLang="en-US" sz="2200" dirty="0">
                <a:latin typeface="Times New Roman" panose="02020603050405020304" pitchFamily="18" charset="0"/>
                <a:ea typeface="华文楷体" panose="02010600040101010101" pitchFamily="2" charset="-122"/>
              </a:rPr>
              <a:t>用条件运算符描述</a:t>
            </a:r>
            <a:r>
              <a:rPr lang="en-US" altLang="zh-CN" sz="2200" dirty="0">
                <a:latin typeface="Times New Roman" panose="02020603050405020304" pitchFamily="18" charset="0"/>
                <a:ea typeface="华文楷体" panose="02010600040101010101" pitchFamily="2" charset="-122"/>
              </a:rPr>
              <a:t>4</a:t>
            </a:r>
            <a:r>
              <a:rPr lang="zh-CN" altLang="en-US" sz="2200" dirty="0">
                <a:latin typeface="Times New Roman" panose="02020603050405020304" pitchFamily="18" charset="0"/>
                <a:ea typeface="华文楷体" panose="02010600040101010101" pitchFamily="2" charset="-122"/>
              </a:rPr>
              <a:t>选</a:t>
            </a:r>
            <a:r>
              <a:rPr lang="en-US" altLang="zh-CN" sz="2200" dirty="0">
                <a:latin typeface="Times New Roman" panose="02020603050405020304" pitchFamily="18" charset="0"/>
                <a:ea typeface="华文楷体" panose="02010600040101010101" pitchFamily="2" charset="-122"/>
              </a:rPr>
              <a:t>1</a:t>
            </a:r>
            <a:r>
              <a:rPr lang="zh-CN" altLang="en-US" sz="2200" dirty="0">
                <a:latin typeface="Times New Roman" panose="02020603050405020304" pitchFamily="18" charset="0"/>
                <a:ea typeface="华文楷体" panose="02010600040101010101" pitchFamily="2" charset="-122"/>
              </a:rPr>
              <a:t>数据选择器</a:t>
            </a:r>
            <a:endParaRPr lang="zh-CN" altLang="en-US" dirty="0">
              <a:latin typeface="Times New Roman" panose="02020603050405020304" pitchFamily="18" charset="0"/>
              <a:ea typeface="华文楷体" panose="02010600040101010101" pitchFamily="2" charset="-122"/>
            </a:endParaRPr>
          </a:p>
          <a:p>
            <a:pPr marL="190500" lvl="1" indent="0" eaLnBrk="1" hangingPunct="1">
              <a:lnSpc>
                <a:spcPct val="110000"/>
              </a:lnSpc>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module mux4_1(out,in1,in2,in3,in4,cntrl1,cntrl2);</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lnSpc>
                <a:spcPct val="110000"/>
              </a:lnSpc>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output out;</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lnSpc>
                <a:spcPct val="110000"/>
              </a:lnSpc>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input in1,in2,in3,in4,cntrl1,cntrl2;</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lnSpc>
                <a:spcPct val="110000"/>
              </a:lnSpc>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     </a:t>
            </a:r>
            <a:r>
              <a:rPr lang="en-US" altLang="zh-CN" sz="2200" b="1" dirty="0">
                <a:solidFill>
                  <a:srgbClr val="FF0000"/>
                </a:solidFill>
                <a:latin typeface="Times New Roman" panose="02020603050405020304" pitchFamily="18" charset="0"/>
                <a:ea typeface="华文楷体" panose="02010600040101010101" pitchFamily="2" charset="-122"/>
              </a:rPr>
              <a:t>assign </a:t>
            </a:r>
            <a:r>
              <a:rPr lang="en-US" altLang="zh-CN" sz="2200" b="1" dirty="0">
                <a:latin typeface="Times New Roman" panose="02020603050405020304" pitchFamily="18" charset="0"/>
                <a:ea typeface="华文楷体" panose="02010600040101010101" pitchFamily="2" charset="-122"/>
              </a:rPr>
              <a:t>out= cntrl1? (cntrl2? in4 :in3) : (cntrl2? in2 :in1) ;</a:t>
            </a:r>
            <a:endParaRPr lang="en-US" altLang="zh-CN" sz="2000" b="1" dirty="0">
              <a:latin typeface="Times New Roman" panose="02020603050405020304" pitchFamily="18" charset="0"/>
              <a:ea typeface="华文楷体" panose="02010600040101010101" pitchFamily="2" charset="-122"/>
            </a:endParaRPr>
          </a:p>
          <a:p>
            <a:pPr marL="190500" lvl="1" indent="0" eaLnBrk="1" hangingPunct="1">
              <a:lnSpc>
                <a:spcPct val="110000"/>
              </a:lnSpc>
              <a:spcBef>
                <a:spcPct val="0"/>
              </a:spcBef>
              <a:buClr>
                <a:srgbClr val="FF0000"/>
              </a:buClr>
              <a:buSzPct val="80000"/>
              <a:buFont typeface="Wingdings" panose="05000000000000000000" pitchFamily="2" charset="2"/>
              <a:buNone/>
            </a:pPr>
            <a:r>
              <a:rPr lang="en-US" altLang="zh-CN" sz="2000" b="1" dirty="0">
                <a:latin typeface="Times New Roman" panose="02020603050405020304" pitchFamily="18" charset="0"/>
                <a:ea typeface="华文楷体" panose="02010600040101010101" pitchFamily="2" charset="-122"/>
              </a:rPr>
              <a:t>endmodule</a:t>
            </a:r>
            <a:endParaRPr lang="en-US" altLang="zh-CN" sz="2000" b="1" dirty="0">
              <a:latin typeface="Times New Roman" panose="02020603050405020304" pitchFamily="18" charset="0"/>
              <a:ea typeface="华文楷体" panose="02010600040101010101" pitchFamily="2" charset="-122"/>
            </a:endParaRPr>
          </a:p>
        </p:txBody>
      </p:sp>
      <p:sp>
        <p:nvSpPr>
          <p:cNvPr id="1826826" name="AutoShape 10"/>
          <p:cNvSpPr/>
          <p:nvPr/>
        </p:nvSpPr>
        <p:spPr>
          <a:xfrm>
            <a:off x="3521075" y="3524250"/>
            <a:ext cx="1847850" cy="793750"/>
          </a:xfrm>
          <a:prstGeom prst="wedgeRoundRectCallout">
            <a:avLst>
              <a:gd name="adj1" fmla="val 8245"/>
              <a:gd name="adj2" fmla="val -58602"/>
              <a:gd name="adj3" fmla="val 16667"/>
            </a:avLst>
          </a:prstGeom>
          <a:noFill/>
          <a:ln w="9525" cap="flat" cmpd="sng">
            <a:solidFill>
              <a:schemeClr val="tx1"/>
            </a:solidFill>
            <a:prstDash val="solid"/>
            <a:miter/>
            <a:headEnd type="none" w="med" len="med"/>
            <a:tailEnd type="none" w="med" len="med"/>
          </a:ln>
          <a:effectLst>
            <a:prstShdw prst="shdw17" dist="17961" dir="2699999">
              <a:srgbClr val="995C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Times New Roman" panose="02020603050405020304" pitchFamily="18" charset="0"/>
                <a:ea typeface="华文楷体" panose="02010600040101010101" pitchFamily="2" charset="-122"/>
              </a:rPr>
              <a:t>当</a:t>
            </a:r>
            <a:r>
              <a:rPr lang="en-US" altLang="zh-CN" b="1" dirty="0">
                <a:latin typeface="Times New Roman" panose="02020603050405020304" pitchFamily="18" charset="0"/>
                <a:ea typeface="华文楷体" panose="02010600040101010101" pitchFamily="2" charset="-122"/>
              </a:rPr>
              <a:t>cntrl1=1</a:t>
            </a:r>
            <a:r>
              <a:rPr lang="zh-CN" altLang="en-US" b="1" dirty="0">
                <a:latin typeface="Times New Roman" panose="02020603050405020304" pitchFamily="18" charset="0"/>
                <a:ea typeface="华文楷体" panose="02010600040101010101" pitchFamily="2" charset="-122"/>
              </a:rPr>
              <a:t>时执行</a:t>
            </a:r>
            <a:endParaRPr lang="zh-CN" altLang="en-US" b="1" dirty="0">
              <a:latin typeface="Times New Roman" panose="02020603050405020304" pitchFamily="18" charset="0"/>
              <a:ea typeface="华文楷体" panose="02010600040101010101" pitchFamily="2" charset="-122"/>
            </a:endParaRPr>
          </a:p>
        </p:txBody>
      </p:sp>
      <p:sp>
        <p:nvSpPr>
          <p:cNvPr id="1826827" name="AutoShape 11"/>
          <p:cNvSpPr/>
          <p:nvPr/>
        </p:nvSpPr>
        <p:spPr>
          <a:xfrm rot="5348905">
            <a:off x="4379913" y="3487738"/>
            <a:ext cx="239712" cy="1943100"/>
          </a:xfrm>
          <a:prstGeom prst="rightBrace">
            <a:avLst>
              <a:gd name="adj1" fmla="val 67174"/>
              <a:gd name="adj2" fmla="val 50000"/>
            </a:avLst>
          </a:prstGeom>
          <a:noFill/>
          <a:ln w="317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
        <p:nvSpPr>
          <p:cNvPr id="1826829" name="AutoShape 13"/>
          <p:cNvSpPr/>
          <p:nvPr/>
        </p:nvSpPr>
        <p:spPr>
          <a:xfrm>
            <a:off x="6043613" y="3530600"/>
            <a:ext cx="1847850" cy="793750"/>
          </a:xfrm>
          <a:prstGeom prst="wedgeRoundRectCallout">
            <a:avLst>
              <a:gd name="adj1" fmla="val -2407"/>
              <a:gd name="adj2" fmla="val -58602"/>
              <a:gd name="adj3" fmla="val 16667"/>
            </a:avLst>
          </a:prstGeom>
          <a:noFill/>
          <a:ln w="9525" cap="flat" cmpd="sng">
            <a:solidFill>
              <a:schemeClr val="tx1"/>
            </a:solidFill>
            <a:prstDash val="solid"/>
            <a:miter/>
            <a:headEnd type="none" w="med" len="med"/>
            <a:tailEnd type="none" w="med" len="med"/>
          </a:ln>
          <a:effectLst>
            <a:prstShdw prst="shdw17" dist="17961" dir="2699999">
              <a:srgbClr val="995C99"/>
            </a:prstShdw>
          </a:effectLst>
        </p:spPr>
        <p:txBody>
          <a:bodyPr anchor="b"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r>
              <a:rPr lang="zh-CN" altLang="en-US" b="1" dirty="0">
                <a:latin typeface="华文楷体" panose="02010600040101010101" pitchFamily="2" charset="-122"/>
                <a:ea typeface="华文楷体" panose="02010600040101010101" pitchFamily="2" charset="-122"/>
              </a:rPr>
              <a:t>当</a:t>
            </a:r>
            <a:r>
              <a:rPr lang="en-US" altLang="zh-CN" b="1" dirty="0">
                <a:latin typeface="华文楷体" panose="02010600040101010101" pitchFamily="2" charset="-122"/>
                <a:ea typeface="华文楷体" panose="02010600040101010101" pitchFamily="2" charset="-122"/>
              </a:rPr>
              <a:t>cntrl1=0</a:t>
            </a:r>
            <a:r>
              <a:rPr lang="zh-CN" altLang="en-US" b="1" dirty="0">
                <a:latin typeface="华文楷体" panose="02010600040101010101" pitchFamily="2" charset="-122"/>
                <a:ea typeface="华文楷体" panose="02010600040101010101" pitchFamily="2" charset="-122"/>
              </a:rPr>
              <a:t>时执行</a:t>
            </a:r>
            <a:endParaRPr lang="zh-CN" altLang="en-US" b="1" dirty="0">
              <a:latin typeface="华文楷体" panose="02010600040101010101" pitchFamily="2" charset="-122"/>
              <a:ea typeface="华文楷体" panose="02010600040101010101" pitchFamily="2" charset="-122"/>
            </a:endParaRPr>
          </a:p>
        </p:txBody>
      </p:sp>
      <p:sp>
        <p:nvSpPr>
          <p:cNvPr id="1826830" name="AutoShape 14"/>
          <p:cNvSpPr/>
          <p:nvPr/>
        </p:nvSpPr>
        <p:spPr>
          <a:xfrm rot="5348905">
            <a:off x="6894513" y="3481388"/>
            <a:ext cx="241300" cy="1943100"/>
          </a:xfrm>
          <a:prstGeom prst="rightBrace">
            <a:avLst>
              <a:gd name="adj1" fmla="val 66732"/>
              <a:gd name="adj2" fmla="val 50000"/>
            </a:avLst>
          </a:prstGeom>
          <a:noFill/>
          <a:ln w="317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eaLnBrk="1" hangingPunct="1">
              <a:spcBef>
                <a:spcPct val="0"/>
              </a:spcBef>
              <a:buNone/>
            </a:pPr>
            <a:endParaRPr lang="zh-CN" altLang="en-US" sz="1600" b="1" dirty="0">
              <a:solidFill>
                <a:srgbClr val="FF33CC"/>
              </a:solidFill>
              <a:latin typeface="Tahoma" panose="020B0604030504040204" pitchFamily="34" charset="0"/>
              <a:ea typeface="宋体" panose="0201060003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26819"/>
                                        </p:tgtEl>
                                        <p:attrNameLst>
                                          <p:attrName>style.visibility</p:attrName>
                                        </p:attrNameLst>
                                      </p:cBhvr>
                                      <p:to>
                                        <p:strVal val="visible"/>
                                      </p:to>
                                    </p:set>
                                    <p:anim calcmode="lin" valueType="num">
                                      <p:cBhvr additive="base">
                                        <p:cTn id="7" dur="500" fill="hold"/>
                                        <p:tgtEl>
                                          <p:spTgt spid="1826819"/>
                                        </p:tgtEl>
                                        <p:attrNameLst>
                                          <p:attrName>ppt_x</p:attrName>
                                        </p:attrNameLst>
                                      </p:cBhvr>
                                      <p:tavLst>
                                        <p:tav tm="0">
                                          <p:val>
                                            <p:strVal val="0-#ppt_w/2"/>
                                          </p:val>
                                        </p:tav>
                                        <p:tav tm="100000">
                                          <p:val>
                                            <p:strVal val="#ppt_x"/>
                                          </p:val>
                                        </p:tav>
                                      </p:tavLst>
                                    </p:anim>
                                    <p:anim calcmode="lin" valueType="num">
                                      <p:cBhvr additive="base">
                                        <p:cTn id="8" dur="500" fill="hold"/>
                                        <p:tgtEl>
                                          <p:spTgt spid="18268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26825"/>
                                        </p:tgtEl>
                                        <p:attrNameLst>
                                          <p:attrName>style.visibility</p:attrName>
                                        </p:attrNameLst>
                                      </p:cBhvr>
                                      <p:to>
                                        <p:strVal val="visible"/>
                                      </p:to>
                                    </p:set>
                                    <p:anim calcmode="lin" valueType="num">
                                      <p:cBhvr additive="base">
                                        <p:cTn id="13" dur="500" fill="hold"/>
                                        <p:tgtEl>
                                          <p:spTgt spid="1826825"/>
                                        </p:tgtEl>
                                        <p:attrNameLst>
                                          <p:attrName>ppt_x</p:attrName>
                                        </p:attrNameLst>
                                      </p:cBhvr>
                                      <p:tavLst>
                                        <p:tav tm="0">
                                          <p:val>
                                            <p:strVal val="#ppt_x"/>
                                          </p:val>
                                        </p:tav>
                                        <p:tav tm="100000">
                                          <p:val>
                                            <p:strVal val="#ppt_x"/>
                                          </p:val>
                                        </p:tav>
                                      </p:tavLst>
                                    </p:anim>
                                    <p:anim calcmode="lin" valueType="num">
                                      <p:cBhvr additive="base">
                                        <p:cTn id="14" dur="500" fill="hold"/>
                                        <p:tgtEl>
                                          <p:spTgt spid="182682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1826827"/>
                                        </p:tgtEl>
                                        <p:attrNameLst>
                                          <p:attrName>style.visibility</p:attrName>
                                        </p:attrNameLst>
                                      </p:cBhvr>
                                      <p:to>
                                        <p:strVal val="visible"/>
                                      </p:to>
                                    </p:set>
                                    <p:animEffect transition="in" filter="barn(outVertical)">
                                      <p:cBhvr>
                                        <p:cTn id="19" dur="500"/>
                                        <p:tgtEl>
                                          <p:spTgt spid="1826827"/>
                                        </p:tgtEl>
                                      </p:cBhvr>
                                    </p:animEffect>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1826826"/>
                                        </p:tgtEl>
                                        <p:attrNameLst>
                                          <p:attrName>style.visibility</p:attrName>
                                        </p:attrNameLst>
                                      </p:cBhvr>
                                      <p:to>
                                        <p:strVal val="visible"/>
                                      </p:to>
                                    </p:set>
                                    <p:animEffect transition="in" filter="dissolve">
                                      <p:cBhvr>
                                        <p:cTn id="23" dur="500"/>
                                        <p:tgtEl>
                                          <p:spTgt spid="1826826"/>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1826830"/>
                                        </p:tgtEl>
                                        <p:attrNameLst>
                                          <p:attrName>style.visibility</p:attrName>
                                        </p:attrNameLst>
                                      </p:cBhvr>
                                      <p:to>
                                        <p:strVal val="visible"/>
                                      </p:to>
                                    </p:set>
                                    <p:animEffect transition="in" filter="barn(outVertical)">
                                      <p:cBhvr>
                                        <p:cTn id="28" dur="500"/>
                                        <p:tgtEl>
                                          <p:spTgt spid="1826830"/>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1826829"/>
                                        </p:tgtEl>
                                        <p:attrNameLst>
                                          <p:attrName>style.visibility</p:attrName>
                                        </p:attrNameLst>
                                      </p:cBhvr>
                                      <p:to>
                                        <p:strVal val="visible"/>
                                      </p:to>
                                    </p:set>
                                    <p:animEffect transition="in" filter="dissolve">
                                      <p:cBhvr>
                                        <p:cTn id="32" dur="500"/>
                                        <p:tgtEl>
                                          <p:spTgt spid="1826829"/>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826822"/>
                                        </p:tgtEl>
                                        <p:attrNameLst>
                                          <p:attrName>style.visibility</p:attrName>
                                        </p:attrNameLst>
                                      </p:cBhvr>
                                      <p:to>
                                        <p:strVal val="visible"/>
                                      </p:to>
                                    </p:set>
                                    <p:anim calcmode="lin" valueType="num">
                                      <p:cBhvr>
                                        <p:cTn id="37" dur="500" fill="hold"/>
                                        <p:tgtEl>
                                          <p:spTgt spid="1826822"/>
                                        </p:tgtEl>
                                        <p:attrNameLst>
                                          <p:attrName>ppt_w</p:attrName>
                                        </p:attrNameLst>
                                      </p:cBhvr>
                                      <p:tavLst>
                                        <p:tav tm="0">
                                          <p:val>
                                            <p:fltVal val="0.000000"/>
                                          </p:val>
                                        </p:tav>
                                        <p:tav tm="100000">
                                          <p:val>
                                            <p:strVal val="#ppt_w"/>
                                          </p:val>
                                        </p:tav>
                                      </p:tavLst>
                                    </p:anim>
                                    <p:anim calcmode="lin" valueType="num">
                                      <p:cBhvr>
                                        <p:cTn id="38" dur="500" fill="hold"/>
                                        <p:tgtEl>
                                          <p:spTgt spid="182682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6819" grpId="0"/>
      <p:bldP spid="1826822" grpId="0" bldLvl="0" animBg="1"/>
      <p:bldP spid="1826825" grpId="0" bldLvl="0" animBg="1"/>
      <p:bldP spid="1826826" grpId="0" bldLvl="0" animBg="1"/>
      <p:bldP spid="1826827" grpId="0" bldLvl="0" animBg="1"/>
      <p:bldP spid="1826829" grpId="0" bldLvl="0" animBg="1"/>
      <p:bldP spid="1826830" grpId="0" bldLvl="0" animBg="1"/>
    </p:bldLst>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4370"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14371"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314372" name="Rectangle 2"/>
          <p:cNvSpPr>
            <a:spLocks noGrp="1"/>
          </p:cNvSpPr>
          <p:nvPr>
            <p:ph type="title"/>
          </p:nvPr>
        </p:nvSpPr>
        <p:spPr>
          <a:xfrm>
            <a:off x="539750" y="188913"/>
            <a:ext cx="6653213"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075654" name="AutoShape 6"/>
          <p:cNvSpPr/>
          <p:nvPr/>
        </p:nvSpPr>
        <p:spPr>
          <a:xfrm>
            <a:off x="0" y="404813"/>
            <a:ext cx="9004300" cy="6432550"/>
          </a:xfrm>
          <a:prstGeom prst="horizontalScroll">
            <a:avLst>
              <a:gd name="adj" fmla="val 12500"/>
            </a:avLst>
          </a:prstGeom>
          <a:no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377825" lvl="1" indent="-187325" algn="just" eaLnBrk="1" hangingPunct="1">
              <a:lnSpc>
                <a:spcPct val="110000"/>
              </a:lnSpc>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采用的描述</a:t>
            </a:r>
            <a:r>
              <a:rPr lang="zh-CN" altLang="en-US" sz="2400" b="1" dirty="0">
                <a:solidFill>
                  <a:srgbClr val="CC3300"/>
                </a:solidFill>
                <a:latin typeface="华文楷体" panose="02010600040101010101" pitchFamily="2" charset="-122"/>
                <a:ea typeface="华文楷体" panose="02010600040101010101" pitchFamily="2" charset="-122"/>
              </a:rPr>
              <a:t>级别</a:t>
            </a:r>
            <a:r>
              <a:rPr lang="zh-CN" altLang="en-US" sz="2400" b="1" dirty="0">
                <a:latin typeface="华文楷体" panose="02010600040101010101" pitchFamily="2" charset="-122"/>
                <a:ea typeface="华文楷体" panose="02010600040101010101" pitchFamily="2" charset="-122"/>
              </a:rPr>
              <a:t>越</a:t>
            </a:r>
            <a:r>
              <a:rPr lang="zh-CN" altLang="en-US" sz="2400" b="1" dirty="0">
                <a:solidFill>
                  <a:srgbClr val="CC3300"/>
                </a:solidFill>
                <a:latin typeface="华文楷体" panose="02010600040101010101" pitchFamily="2" charset="-122"/>
                <a:ea typeface="华文楷体" panose="02010600040101010101" pitchFamily="2" charset="-122"/>
              </a:rPr>
              <a:t>高</a:t>
            </a:r>
            <a:r>
              <a:rPr lang="zh-CN" altLang="en-US" sz="2400" b="1" dirty="0">
                <a:latin typeface="华文楷体" panose="02010600040101010101" pitchFamily="2" charset="-122"/>
                <a:ea typeface="华文楷体" panose="02010600040101010101" pitchFamily="2" charset="-122"/>
              </a:rPr>
              <a:t>，</a:t>
            </a:r>
            <a:r>
              <a:rPr lang="zh-CN" altLang="en-US" sz="2400" b="1" dirty="0">
                <a:solidFill>
                  <a:srgbClr val="CC3300"/>
                </a:solidFill>
                <a:latin typeface="华文楷体" panose="02010600040101010101" pitchFamily="2" charset="-122"/>
                <a:ea typeface="华文楷体" panose="02010600040101010101" pitchFamily="2" charset="-122"/>
              </a:rPr>
              <a:t>设计</a:t>
            </a:r>
            <a:r>
              <a:rPr lang="zh-CN" altLang="en-US" sz="2400" b="1" dirty="0">
                <a:latin typeface="华文楷体" panose="02010600040101010101" pitchFamily="2" charset="-122"/>
                <a:ea typeface="华文楷体" panose="02010600040101010101" pitchFamily="2" charset="-122"/>
              </a:rPr>
              <a:t>越</a:t>
            </a:r>
            <a:r>
              <a:rPr lang="zh-CN" altLang="en-US" sz="2400" b="1" dirty="0">
                <a:solidFill>
                  <a:srgbClr val="CC3300"/>
                </a:solidFill>
                <a:latin typeface="华文楷体" panose="02010600040101010101" pitchFamily="2" charset="-122"/>
                <a:ea typeface="华文楷体" panose="02010600040101010101" pitchFamily="2" charset="-122"/>
              </a:rPr>
              <a:t>容易</a:t>
            </a:r>
            <a:r>
              <a:rPr lang="zh-CN" altLang="en-US" sz="2400" b="1" dirty="0">
                <a:latin typeface="华文楷体" panose="02010600040101010101" pitchFamily="2" charset="-122"/>
                <a:ea typeface="华文楷体" panose="02010600040101010101" pitchFamily="2" charset="-122"/>
              </a:rPr>
              <a:t>，程序</a:t>
            </a:r>
            <a:r>
              <a:rPr lang="zh-CN" altLang="en-US" sz="2400" b="1" dirty="0">
                <a:solidFill>
                  <a:srgbClr val="CC3300"/>
                </a:solidFill>
                <a:latin typeface="华文楷体" panose="02010600040101010101" pitchFamily="2" charset="-122"/>
                <a:ea typeface="华文楷体" panose="02010600040101010101" pitchFamily="2" charset="-122"/>
              </a:rPr>
              <a:t>代码</a:t>
            </a:r>
            <a:r>
              <a:rPr lang="zh-CN" altLang="en-US" sz="2400" b="1" dirty="0">
                <a:latin typeface="华文楷体" panose="02010600040101010101" pitchFamily="2" charset="-122"/>
                <a:ea typeface="华文楷体" panose="02010600040101010101" pitchFamily="2" charset="-122"/>
              </a:rPr>
              <a:t>越</a:t>
            </a:r>
            <a:r>
              <a:rPr lang="zh-CN" altLang="en-US" sz="2400" b="1" dirty="0">
                <a:solidFill>
                  <a:srgbClr val="CC3300"/>
                </a:solidFill>
                <a:latin typeface="华文楷体" panose="02010600040101010101" pitchFamily="2" charset="-122"/>
                <a:ea typeface="华文楷体" panose="02010600040101010101" pitchFamily="2" charset="-122"/>
              </a:rPr>
              <a:t>简单</a:t>
            </a:r>
            <a:r>
              <a:rPr lang="zh-CN" altLang="en-US" sz="2400" b="1" dirty="0">
                <a:latin typeface="华文楷体" panose="02010600040101010101" pitchFamily="2" charset="-122"/>
                <a:ea typeface="华文楷体" panose="02010600040101010101" pitchFamily="2" charset="-122"/>
              </a:rPr>
              <a:t>；但耗用器件资源更多。对特定综合器，可能无法将某些抽象级别高的描述转化为电路！</a:t>
            </a:r>
            <a:endParaRPr lang="zh-CN" altLang="en-US" sz="2400" b="1" dirty="0">
              <a:latin typeface="华文楷体" panose="02010600040101010101" pitchFamily="2" charset="-122"/>
              <a:ea typeface="华文楷体" panose="02010600040101010101" pitchFamily="2" charset="-122"/>
            </a:endParaRPr>
          </a:p>
          <a:p>
            <a:pPr marL="377825" lvl="1" indent="-187325" algn="just" eaLnBrk="1" hangingPunct="1">
              <a:lnSpc>
                <a:spcPct val="110000"/>
              </a:lnSpc>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基于门级描述的硬件模型不仅可以仿真，而且可综合，且系统</a:t>
            </a:r>
            <a:r>
              <a:rPr lang="zh-CN" altLang="en-US" sz="2400" b="1" dirty="0">
                <a:solidFill>
                  <a:srgbClr val="CC3300"/>
                </a:solidFill>
                <a:latin typeface="华文楷体" panose="02010600040101010101" pitchFamily="2" charset="-122"/>
                <a:ea typeface="华文楷体" panose="02010600040101010101" pitchFamily="2" charset="-122"/>
              </a:rPr>
              <a:t>速度快</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marL="377825" lvl="1" indent="-187325" algn="just" eaLnBrk="1" hangingPunct="1">
              <a:lnSpc>
                <a:spcPct val="110000"/>
              </a:lnSpc>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所有</a:t>
            </a:r>
            <a:r>
              <a:rPr lang="en-US" altLang="zh-CN" sz="2400" b="1" dirty="0">
                <a:latin typeface="华文楷体" panose="02010600040101010101" pitchFamily="2" charset="-122"/>
                <a:ea typeface="华文楷体" panose="02010600040101010101" pitchFamily="2" charset="-122"/>
              </a:rPr>
              <a:t>Verilog HDL</a:t>
            </a:r>
            <a:r>
              <a:rPr lang="zh-CN" altLang="en-US" sz="2400" b="1" dirty="0">
                <a:latin typeface="华文楷体" panose="02010600040101010101" pitchFamily="2" charset="-122"/>
                <a:ea typeface="华文楷体" panose="02010600040101010101" pitchFamily="2" charset="-122"/>
              </a:rPr>
              <a:t>编译软件只是支持该语言的一个</a:t>
            </a:r>
            <a:r>
              <a:rPr lang="zh-CN" altLang="en-US" sz="2400" b="1" dirty="0">
                <a:solidFill>
                  <a:srgbClr val="CC3300"/>
                </a:solidFill>
                <a:latin typeface="华文楷体" panose="02010600040101010101" pitchFamily="2" charset="-122"/>
                <a:ea typeface="华文楷体" panose="02010600040101010101" pitchFamily="2" charset="-122"/>
              </a:rPr>
              <a:t>子集</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a:p>
            <a:pPr marL="377825" lvl="1" indent="-187325" algn="just" eaLnBrk="1" hangingPunct="1">
              <a:lnSpc>
                <a:spcPct val="110000"/>
              </a:lnSpc>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尽量采用编译软件支持的语句来描述设计；或多个软件配合使用。</a:t>
            </a:r>
            <a:endParaRPr lang="zh-CN" altLang="en-US" sz="2400" b="1" dirty="0">
              <a:latin typeface="华文楷体" panose="02010600040101010101" pitchFamily="2" charset="-122"/>
              <a:ea typeface="华文楷体" panose="02010600040101010101" pitchFamily="2" charset="-122"/>
            </a:endParaRPr>
          </a:p>
          <a:p>
            <a:pPr marL="377825" lvl="1" indent="-187325" algn="just" eaLnBrk="1" hangingPunct="1">
              <a:lnSpc>
                <a:spcPct val="110000"/>
              </a:lnSpc>
              <a:buClr>
                <a:srgbClr val="FF0000"/>
              </a:buClr>
              <a:buSzPct val="80000"/>
              <a:buFont typeface="Wingdings" panose="05000000000000000000" pitchFamily="2" charset="2"/>
              <a:buChar char="Ø"/>
            </a:pPr>
            <a:r>
              <a:rPr lang="zh-CN" altLang="en-US" sz="2400" b="1" dirty="0">
                <a:latin typeface="华文楷体" panose="02010600040101010101" pitchFamily="2" charset="-122"/>
                <a:ea typeface="华文楷体" panose="02010600040101010101" pitchFamily="2" charset="-122"/>
              </a:rPr>
              <a:t>一般用</a:t>
            </a:r>
            <a:r>
              <a:rPr lang="zh-CN" altLang="en-US" sz="2400" b="1" dirty="0">
                <a:solidFill>
                  <a:srgbClr val="CC3300"/>
                </a:solidFill>
                <a:latin typeface="华文楷体" panose="02010600040101010101" pitchFamily="2" charset="-122"/>
                <a:ea typeface="华文楷体" panose="02010600040101010101" pitchFamily="2" charset="-122"/>
              </a:rPr>
              <a:t>算法级</a:t>
            </a:r>
            <a:r>
              <a:rPr lang="zh-CN" altLang="en-US" sz="2400" b="1" dirty="0">
                <a:latin typeface="华文楷体" panose="02010600040101010101" pitchFamily="2" charset="-122"/>
                <a:ea typeface="华文楷体" panose="02010600040101010101" pitchFamily="2" charset="-122"/>
              </a:rPr>
              <a:t>（写出逻辑表达式）或</a:t>
            </a:r>
            <a:r>
              <a:rPr lang="en-US" altLang="zh-CN" sz="2400" b="1" dirty="0">
                <a:solidFill>
                  <a:srgbClr val="CC3300"/>
                </a:solidFill>
                <a:latin typeface="华文楷体" panose="02010600040101010101" pitchFamily="2" charset="-122"/>
                <a:ea typeface="华文楷体" panose="02010600040101010101" pitchFamily="2" charset="-122"/>
              </a:rPr>
              <a:t>RTL</a:t>
            </a:r>
            <a:r>
              <a:rPr lang="zh-CN" altLang="en-US" sz="2400" b="1" dirty="0">
                <a:solidFill>
                  <a:srgbClr val="CC3300"/>
                </a:solidFill>
                <a:latin typeface="华文楷体" panose="02010600040101010101" pitchFamily="2" charset="-122"/>
                <a:ea typeface="华文楷体" panose="02010600040101010101" pitchFamily="2" charset="-122"/>
              </a:rPr>
              <a:t>级</a:t>
            </a:r>
            <a:r>
              <a:rPr lang="zh-CN" altLang="en-US" sz="2400" b="1" dirty="0">
                <a:latin typeface="华文楷体" panose="02010600040101010101" pitchFamily="2" charset="-122"/>
                <a:ea typeface="华文楷体" panose="02010600040101010101" pitchFamily="2" charset="-122"/>
              </a:rPr>
              <a:t>来描述逻辑功能，尽量避免用门级描述，除非对系统速度要求比较高的场合才采用门级描述。 </a:t>
            </a:r>
            <a:endParaRPr lang="zh-CN" altLang="en-US" sz="2400" b="1" dirty="0">
              <a:latin typeface="华文楷体" panose="02010600040101010101" pitchFamily="2" charset="-122"/>
              <a:ea typeface="华文楷体" panose="02010600040101010101" pitchFamily="2" charset="-122"/>
            </a:endParaRPr>
          </a:p>
        </p:txBody>
      </p:sp>
      <p:sp>
        <p:nvSpPr>
          <p:cNvPr id="2075655" name="AutoShape 7"/>
          <p:cNvSpPr/>
          <p:nvPr/>
        </p:nvSpPr>
        <p:spPr>
          <a:xfrm rot="-765681">
            <a:off x="284163" y="762000"/>
            <a:ext cx="1357312" cy="687388"/>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en-US" altLang="en-US" sz="2800" b="1" dirty="0">
                <a:latin typeface="Times New Roman" panose="02020603050405020304" pitchFamily="18" charset="0"/>
                <a:ea typeface="华文新魏" panose="02010800040101010101" pitchFamily="2" charset="-122"/>
              </a:rPr>
              <a:t>小结</a:t>
            </a:r>
            <a:endParaRPr lang="en-US" altLang="en-US" sz="2800" b="1" dirty="0">
              <a:latin typeface="Times New Roman" panose="02020603050405020304" pitchFamily="18" charset="0"/>
              <a:ea typeface="华文新魏" panose="020108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075655"/>
                                        </p:tgtEl>
                                        <p:attrNameLst>
                                          <p:attrName>style.visibility</p:attrName>
                                        </p:attrNameLst>
                                      </p:cBhvr>
                                      <p:to>
                                        <p:strVal val="visible"/>
                                      </p:to>
                                    </p:set>
                                    <p:anim calcmode="lin" valueType="num">
                                      <p:cBhvr>
                                        <p:cTn id="7" dur="500" fill="hold"/>
                                        <p:tgtEl>
                                          <p:spTgt spid="2075655"/>
                                        </p:tgtEl>
                                        <p:attrNameLst>
                                          <p:attrName>ppt_w</p:attrName>
                                        </p:attrNameLst>
                                      </p:cBhvr>
                                      <p:tavLst>
                                        <p:tav tm="0">
                                          <p:val>
                                            <p:strVal val="4/3*#ppt_w"/>
                                          </p:val>
                                        </p:tav>
                                        <p:tav tm="100000">
                                          <p:val>
                                            <p:strVal val="#ppt_w"/>
                                          </p:val>
                                        </p:tav>
                                      </p:tavLst>
                                    </p:anim>
                                    <p:anim calcmode="lin" valueType="num">
                                      <p:cBhvr>
                                        <p:cTn id="8" dur="500" fill="hold"/>
                                        <p:tgtEl>
                                          <p:spTgt spid="2075655"/>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2075654"/>
                                        </p:tgtEl>
                                        <p:attrNameLst>
                                          <p:attrName>style.visibility</p:attrName>
                                        </p:attrNameLst>
                                      </p:cBhvr>
                                      <p:to>
                                        <p:strVal val="visible"/>
                                      </p:to>
                                    </p:set>
                                    <p:anim calcmode="lin" valueType="num">
                                      <p:cBhvr>
                                        <p:cTn id="12" dur="500" fill="hold"/>
                                        <p:tgtEl>
                                          <p:spTgt spid="2075654"/>
                                        </p:tgtEl>
                                        <p:attrNameLst>
                                          <p:attrName>ppt_w</p:attrName>
                                        </p:attrNameLst>
                                      </p:cBhvr>
                                      <p:tavLst>
                                        <p:tav tm="0">
                                          <p:val>
                                            <p:fltVal val="0.000000"/>
                                          </p:val>
                                        </p:tav>
                                        <p:tav tm="100000">
                                          <p:val>
                                            <p:strVal val="#ppt_w"/>
                                          </p:val>
                                        </p:tav>
                                      </p:tavLst>
                                    </p:anim>
                                    <p:anim calcmode="lin" valueType="num">
                                      <p:cBhvr>
                                        <p:cTn id="13" dur="500" fill="hold"/>
                                        <p:tgtEl>
                                          <p:spTgt spid="20756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5654" grpId="0" animBg="1"/>
      <p:bldP spid="2075655" grpId="0" bldLvl="0"/>
    </p:bldLst>
  </p:timing>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6418" name="灯片编号占位符 5"/>
          <p:cNvSpPr txBox="1">
            <a:spLocks noGrp="1"/>
          </p:cNvSpPr>
          <p:nvPr>
            <p:ph type="sldNum" sz="quarter" idx="4"/>
          </p:nvPr>
        </p:nvSpPr>
        <p:spPr/>
        <p:txBody>
          <a:bodyPr anchor="b" anchorCtr="0"/>
          <a:p>
            <a:pPr marL="0" indent="0" algn="r" eaLnBrk="1" hangingPunct="1">
              <a:spcBef>
                <a:spcPct val="0"/>
              </a:spcBef>
              <a:buFont typeface="Arial" panose="020B0604020202020204" pitchFamily="34" charset="0"/>
              <a:buChar char="•"/>
            </a:pPr>
            <a:fld id="{9A0DB2DC-4C9A-4742-B13C-FB6460FD3503}" type="slidenum">
              <a:rPr lang="en-US" altLang="zh-CN" sz="1600" b="1" i="1" dirty="0">
                <a:solidFill>
                  <a:srgbClr val="FF0066"/>
                </a:solidFill>
                <a:latin typeface="Tahoma" panose="020B0604030504040204" pitchFamily="34" charset="0"/>
                <a:ea typeface="宋体" panose="02010600030101010101" pitchFamily="2" charset="-122"/>
                <a:cs typeface="+mn-cs"/>
              </a:rPr>
            </a:fld>
            <a:endParaRPr lang="en-US" altLang="zh-CN" sz="1600" b="1" i="1" dirty="0">
              <a:solidFill>
                <a:srgbClr val="FF0066"/>
              </a:solidFill>
              <a:latin typeface="Tahoma" panose="020B0604030504040204" pitchFamily="34" charset="0"/>
              <a:ea typeface="宋体" panose="02010600030101010101" pitchFamily="2" charset="-122"/>
              <a:cs typeface="+mn-cs"/>
            </a:endParaRPr>
          </a:p>
        </p:txBody>
      </p:sp>
      <p:sp>
        <p:nvSpPr>
          <p:cNvPr id="316419" name="内容占位符 1"/>
          <p:cNvSpPr>
            <a:spLocks noGrp="1"/>
          </p:cNvSpPr>
          <p:nvPr>
            <p:ph idx="1"/>
          </p:nvPr>
        </p:nvSpPr>
        <p:spPr/>
        <p:txBody>
          <a:bodyPr vert="horz" wrap="square" lIns="91440" tIns="45720" rIns="91440" bIns="45720" anchor="t" anchorCtr="0"/>
          <a:p>
            <a:endParaRPr lang="zh-CN" altLang="en-US" dirty="0">
              <a:latin typeface="华文楷体" panose="02010600040101010101" pitchFamily="2" charset="-122"/>
              <a:ea typeface="华文楷体" panose="02010600040101010101" pitchFamily="2" charset="-122"/>
              <a:cs typeface="+mn-cs"/>
            </a:endParaRPr>
          </a:p>
        </p:txBody>
      </p:sp>
      <p:sp>
        <p:nvSpPr>
          <p:cNvPr id="316420" name="Rectangle 2"/>
          <p:cNvSpPr>
            <a:spLocks noGrp="1"/>
          </p:cNvSpPr>
          <p:nvPr>
            <p:ph type="title"/>
          </p:nvPr>
        </p:nvSpPr>
        <p:spPr>
          <a:xfrm>
            <a:off x="539750" y="188913"/>
            <a:ext cx="7234238" cy="431800"/>
          </a:xfrm>
        </p:spPr>
        <p:txBody>
          <a:bodyPr vert="horz" wrap="square" lIns="91440" tIns="45720" rIns="91440" bIns="45720" anchor="b" anchorCtr="0"/>
          <a:p>
            <a:pPr eaLnBrk="1" hangingPunct="1"/>
            <a:r>
              <a:rPr lang="en-US" altLang="zh-CN" dirty="0">
                <a:latin typeface="华文楷体" panose="02010600040101010101" pitchFamily="2" charset="-122"/>
                <a:ea typeface="黑体" panose="02010609060101010101" pitchFamily="49" charset="-122"/>
                <a:cs typeface="+mj-cs"/>
              </a:rPr>
              <a:t> 12  </a:t>
            </a:r>
            <a:r>
              <a:rPr lang="zh-CN" altLang="en-US" dirty="0">
                <a:latin typeface="华文楷体" panose="02010600040101010101" pitchFamily="2" charset="-122"/>
                <a:ea typeface="黑体" panose="02010609060101010101" pitchFamily="49" charset="-122"/>
                <a:cs typeface="+mj-cs"/>
              </a:rPr>
              <a:t>不同抽象级别的</a:t>
            </a:r>
            <a:r>
              <a:rPr lang="en-US" altLang="zh-CN" dirty="0">
                <a:latin typeface="华文楷体" panose="02010600040101010101" pitchFamily="2" charset="-122"/>
                <a:ea typeface="黑体" panose="02010609060101010101" pitchFamily="49" charset="-122"/>
                <a:cs typeface="+mj-cs"/>
              </a:rPr>
              <a:t>Verilog HDL</a:t>
            </a:r>
            <a:r>
              <a:rPr lang="zh-CN" altLang="en-US" dirty="0">
                <a:latin typeface="华文楷体" panose="02010600040101010101" pitchFamily="2" charset="-122"/>
                <a:ea typeface="黑体" panose="02010609060101010101" pitchFamily="49" charset="-122"/>
                <a:cs typeface="+mj-cs"/>
              </a:rPr>
              <a:t>模型</a:t>
            </a:r>
            <a:endParaRPr lang="zh-CN" altLang="en-US" dirty="0">
              <a:latin typeface="华文楷体" panose="02010600040101010101" pitchFamily="2" charset="-122"/>
              <a:ea typeface="黑体" panose="02010609060101010101" pitchFamily="49" charset="-122"/>
              <a:cs typeface="+mj-cs"/>
            </a:endParaRPr>
          </a:p>
        </p:txBody>
      </p:sp>
      <p:sp>
        <p:nvSpPr>
          <p:cNvPr id="2144260" name="AutoShape 4"/>
          <p:cNvSpPr/>
          <p:nvPr/>
        </p:nvSpPr>
        <p:spPr>
          <a:xfrm>
            <a:off x="388938" y="265113"/>
            <a:ext cx="8221662" cy="6605587"/>
          </a:xfrm>
          <a:prstGeom prst="horizontalScroll">
            <a:avLst>
              <a:gd name="adj" fmla="val 12500"/>
            </a:avLst>
          </a:prstGeom>
          <a:no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561975" lvl="1" indent="-184150" eaLnBrk="1" hangingPunct="1">
              <a:lnSpc>
                <a:spcPct val="110000"/>
              </a:lnSpc>
              <a:spcBef>
                <a:spcPct val="0"/>
              </a:spcBef>
              <a:buClr>
                <a:srgbClr val="FF0000"/>
              </a:buClr>
              <a:buSzPct val="80000"/>
              <a:buFont typeface="Wingdings" panose="05000000000000000000" pitchFamily="2" charset="2"/>
              <a:buNone/>
            </a:pPr>
            <a:r>
              <a:rPr lang="en-US" altLang="en-US" sz="2400" b="1" dirty="0">
                <a:solidFill>
                  <a:srgbClr val="CC3300"/>
                </a:solidFill>
                <a:latin typeface="华文楷体" panose="02010600040101010101" pitchFamily="2" charset="-122"/>
                <a:ea typeface="华文楷体" panose="02010600040101010101" pitchFamily="2" charset="-122"/>
                <a:sym typeface="+mn-ea"/>
              </a:rPr>
              <a:t>（</a:t>
            </a:r>
            <a:r>
              <a:rPr lang="en-US" altLang="zh-CN" sz="2400" b="1" dirty="0">
                <a:solidFill>
                  <a:srgbClr val="CC3300"/>
                </a:solidFill>
                <a:latin typeface="华文楷体" panose="02010600040101010101" pitchFamily="2" charset="-122"/>
                <a:ea typeface="华文楷体" panose="02010600040101010101" pitchFamily="2" charset="-122"/>
                <a:sym typeface="+mn-ea"/>
              </a:rPr>
              <a:t>1</a:t>
            </a:r>
            <a:r>
              <a:rPr lang="en-US" altLang="en-US" sz="2400" b="1" dirty="0">
                <a:solidFill>
                  <a:srgbClr val="CC3300"/>
                </a:solidFill>
                <a:latin typeface="华文楷体" panose="02010600040101010101" pitchFamily="2" charset="-122"/>
                <a:ea typeface="华文楷体" panose="02010600040101010101" pitchFamily="2" charset="-122"/>
                <a:sym typeface="+mn-ea"/>
              </a:rPr>
              <a:t>）采用什么描述级别更合适？</a:t>
            </a:r>
            <a:endParaRPr lang="en-US" altLang="en-US" sz="2400" b="1" dirty="0">
              <a:solidFill>
                <a:srgbClr val="CC3300"/>
              </a:solidFill>
              <a:latin typeface="华文楷体" panose="02010600040101010101" pitchFamily="2" charset="-122"/>
              <a:ea typeface="华文楷体" panose="02010600040101010101" pitchFamily="2" charset="-122"/>
              <a:sym typeface="+mn-ea"/>
            </a:endParaRPr>
          </a:p>
          <a:p>
            <a:pPr marL="187325" lvl="0" indent="-187325" eaLnBrk="1" hangingPunct="1">
              <a:lnSpc>
                <a:spcPct val="110000"/>
              </a:lnSpc>
              <a:spcBef>
                <a:spcPct val="0"/>
              </a:spcBef>
              <a:buClr>
                <a:srgbClr val="FF0000"/>
              </a:buClr>
              <a:buSzPct val="80000"/>
              <a:buFont typeface="Wingdings" panose="05000000000000000000" pitchFamily="2" charset="2"/>
              <a:buChar char="Ø"/>
            </a:pPr>
            <a:r>
              <a:rPr lang="en-US" altLang="en-US" sz="2400" b="1" dirty="0">
                <a:latin typeface="华文楷体" panose="02010600040101010101" pitchFamily="2" charset="-122"/>
                <a:ea typeface="华文楷体" panose="02010600040101010101" pitchFamily="2" charset="-122"/>
                <a:sym typeface="+mn-ea"/>
              </a:rPr>
              <a:t>系统级描述太抽象，有时无法综合成具体的物理电路；门级描述要求根据逻辑功能画出逻辑电路图，对于复杂的数字系统很难做到；</a:t>
            </a:r>
            <a:endParaRPr lang="en-US" altLang="en-US" sz="2400" b="1" dirty="0">
              <a:latin typeface="华文楷体" panose="02010600040101010101" pitchFamily="2" charset="-122"/>
              <a:ea typeface="华文楷体" panose="02010600040101010101" pitchFamily="2" charset="-122"/>
              <a:sym typeface="+mn-ea"/>
            </a:endParaRPr>
          </a:p>
          <a:p>
            <a:pPr marL="187325" lvl="0" indent="-187325" eaLnBrk="1" hangingPunct="1">
              <a:lnSpc>
                <a:spcPct val="110000"/>
              </a:lnSpc>
              <a:spcBef>
                <a:spcPct val="0"/>
              </a:spcBef>
              <a:buClr>
                <a:srgbClr val="FF0000"/>
              </a:buClr>
              <a:buSzPct val="80000"/>
              <a:buFont typeface="Wingdings" panose="05000000000000000000" pitchFamily="2" charset="2"/>
              <a:buChar char="Ø"/>
            </a:pPr>
            <a:r>
              <a:rPr lang="en-US" altLang="en-US" sz="2400" b="1" dirty="0">
                <a:latin typeface="华文楷体" panose="02010600040101010101" pitchFamily="2" charset="-122"/>
                <a:ea typeface="华文楷体" panose="02010600040101010101" pitchFamily="2" charset="-122"/>
                <a:sym typeface="+mn-ea"/>
              </a:rPr>
              <a:t>而算法级和</a:t>
            </a:r>
            <a:r>
              <a:rPr lang="en-US" altLang="zh-CN" sz="2400" b="1" dirty="0">
                <a:latin typeface="华文楷体" panose="02010600040101010101" pitchFamily="2" charset="-122"/>
                <a:ea typeface="华文楷体" panose="02010600040101010101" pitchFamily="2" charset="-122"/>
                <a:sym typeface="+mn-ea"/>
              </a:rPr>
              <a:t>RTL</a:t>
            </a:r>
            <a:r>
              <a:rPr lang="en-US" altLang="en-US" sz="2400" b="1" dirty="0">
                <a:latin typeface="华文楷体" panose="02010600040101010101" pitchFamily="2" charset="-122"/>
                <a:ea typeface="华文楷体" panose="02010600040101010101" pitchFamily="2" charset="-122"/>
                <a:sym typeface="+mn-ea"/>
              </a:rPr>
              <a:t>级描述级别适中，代码不是很复杂，且一般容易综合成具体的物理电路，故建议</a:t>
            </a:r>
            <a:r>
              <a:rPr lang="en-US" altLang="en-US" sz="2400" b="1" dirty="0">
                <a:solidFill>
                  <a:srgbClr val="FF0000"/>
                </a:solidFill>
                <a:latin typeface="华文楷体" panose="02010600040101010101" pitchFamily="2" charset="-122"/>
                <a:ea typeface="华文楷体" panose="02010600040101010101" pitchFamily="2" charset="-122"/>
                <a:sym typeface="+mn-ea"/>
              </a:rPr>
              <a:t>尽量采用算法级和</a:t>
            </a:r>
            <a:r>
              <a:rPr lang="en-US" altLang="zh-CN" sz="2400" b="1" dirty="0">
                <a:solidFill>
                  <a:srgbClr val="FF0000"/>
                </a:solidFill>
                <a:latin typeface="华文楷体" panose="02010600040101010101" pitchFamily="2" charset="-122"/>
                <a:ea typeface="华文楷体" panose="02010600040101010101" pitchFamily="2" charset="-122"/>
                <a:sym typeface="+mn-ea"/>
              </a:rPr>
              <a:t>RTL</a:t>
            </a:r>
            <a:r>
              <a:rPr lang="en-US" altLang="en-US" sz="2400" b="1" dirty="0">
                <a:solidFill>
                  <a:srgbClr val="FF0000"/>
                </a:solidFill>
                <a:latin typeface="华文楷体" panose="02010600040101010101" pitchFamily="2" charset="-122"/>
                <a:ea typeface="华文楷体" panose="02010600040101010101" pitchFamily="2" charset="-122"/>
                <a:sym typeface="+mn-ea"/>
              </a:rPr>
              <a:t>级</a:t>
            </a:r>
            <a:r>
              <a:rPr lang="en-US" altLang="en-US" sz="2400" b="1" dirty="0">
                <a:latin typeface="华文楷体" panose="02010600040101010101" pitchFamily="2" charset="-122"/>
                <a:ea typeface="华文楷体" panose="02010600040101010101" pitchFamily="2" charset="-122"/>
                <a:sym typeface="+mn-ea"/>
              </a:rPr>
              <a:t>来描述。</a:t>
            </a:r>
            <a:endParaRPr lang="en-US" altLang="en-US" sz="2400" b="1" dirty="0">
              <a:latin typeface="华文楷体" panose="02010600040101010101" pitchFamily="2" charset="-122"/>
              <a:ea typeface="华文楷体" panose="02010600040101010101" pitchFamily="2" charset="-122"/>
              <a:sym typeface="+mn-ea"/>
            </a:endParaRPr>
          </a:p>
          <a:p>
            <a:pPr marL="187325" lvl="0" indent="-187325" eaLnBrk="1" hangingPunct="1">
              <a:lnSpc>
                <a:spcPct val="110000"/>
              </a:lnSpc>
              <a:spcBef>
                <a:spcPct val="0"/>
              </a:spcBef>
              <a:buNone/>
            </a:pPr>
            <a:r>
              <a:rPr lang="en-US" altLang="en-US" sz="2400" b="1" dirty="0">
                <a:solidFill>
                  <a:srgbClr val="CC3300"/>
                </a:solidFill>
                <a:latin typeface="华文楷体" panose="02010600040101010101" pitchFamily="2" charset="-122"/>
                <a:ea typeface="华文楷体" panose="02010600040101010101" pitchFamily="2" charset="-122"/>
                <a:sym typeface="+mn-ea"/>
              </a:rPr>
              <a:t>（</a:t>
            </a:r>
            <a:r>
              <a:rPr lang="en-US" altLang="zh-CN" sz="2400" b="1" dirty="0">
                <a:solidFill>
                  <a:srgbClr val="CC3300"/>
                </a:solidFill>
                <a:latin typeface="华文楷体" panose="02010600040101010101" pitchFamily="2" charset="-122"/>
                <a:ea typeface="华文楷体" panose="02010600040101010101" pitchFamily="2" charset="-122"/>
                <a:sym typeface="+mn-ea"/>
              </a:rPr>
              <a:t>2</a:t>
            </a:r>
            <a:r>
              <a:rPr lang="en-US" altLang="en-US" sz="2400" b="1" dirty="0">
                <a:solidFill>
                  <a:srgbClr val="CC3300"/>
                </a:solidFill>
                <a:latin typeface="华文楷体" panose="02010600040101010101" pitchFamily="2" charset="-122"/>
                <a:ea typeface="华文楷体" panose="02010600040101010101" pitchFamily="2" charset="-122"/>
                <a:sym typeface="+mn-ea"/>
              </a:rPr>
              <a:t>）怎样减少器件逻辑资源的耗用？</a:t>
            </a:r>
            <a:endParaRPr lang="en-US" altLang="en-US" sz="2400" b="1" dirty="0">
              <a:solidFill>
                <a:srgbClr val="CC3300"/>
              </a:solidFill>
              <a:latin typeface="华文楷体" panose="02010600040101010101" pitchFamily="2" charset="-122"/>
              <a:ea typeface="华文楷体" panose="02010600040101010101" pitchFamily="2" charset="-122"/>
              <a:sym typeface="+mn-ea"/>
            </a:endParaRPr>
          </a:p>
          <a:p>
            <a:pPr marL="187325" lvl="0" indent="-187325" eaLnBrk="1" hangingPunct="1">
              <a:lnSpc>
                <a:spcPct val="110000"/>
              </a:lnSpc>
              <a:spcBef>
                <a:spcPct val="0"/>
              </a:spcBef>
              <a:buClr>
                <a:srgbClr val="FF0000"/>
              </a:buClr>
              <a:buSzPct val="80000"/>
              <a:buFont typeface="Wingdings" panose="05000000000000000000" pitchFamily="2" charset="2"/>
              <a:buChar char="Ø"/>
            </a:pPr>
            <a:r>
              <a:rPr lang="en-US" altLang="en-US" sz="2400" b="1" dirty="0">
                <a:latin typeface="华文楷体" panose="02010600040101010101" pitchFamily="2" charset="-122"/>
                <a:ea typeface="华文楷体" panose="02010600040101010101" pitchFamily="2" charset="-122"/>
                <a:sym typeface="+mn-ea"/>
              </a:rPr>
              <a:t>当器件容量有限时，为减少器件逻辑资源的耗用，建议少用</a:t>
            </a:r>
            <a:r>
              <a:rPr lang="en-US" altLang="zh-CN" sz="2400" b="1" dirty="0">
                <a:latin typeface="华文楷体" panose="02010600040101010101" pitchFamily="2" charset="-122"/>
                <a:ea typeface="华文楷体" panose="02010600040101010101" pitchFamily="2" charset="-122"/>
                <a:sym typeface="+mn-ea"/>
              </a:rPr>
              <a:t>if-else</a:t>
            </a:r>
            <a:r>
              <a:rPr lang="en-US" altLang="en-US" sz="2400" b="1" dirty="0">
                <a:latin typeface="华文楷体" panose="02010600040101010101" pitchFamily="2" charset="-122"/>
                <a:ea typeface="华文楷体" panose="02010600040101010101" pitchFamily="2" charset="-122"/>
                <a:sym typeface="+mn-ea"/>
              </a:rPr>
              <a:t>语句和</a:t>
            </a:r>
            <a:r>
              <a:rPr lang="en-US" altLang="zh-CN" sz="2400" b="1" dirty="0">
                <a:latin typeface="华文楷体" panose="02010600040101010101" pitchFamily="2" charset="-122"/>
                <a:ea typeface="华文楷体" panose="02010600040101010101" pitchFamily="2" charset="-122"/>
                <a:sym typeface="+mn-ea"/>
              </a:rPr>
              <a:t>case</a:t>
            </a:r>
            <a:r>
              <a:rPr lang="en-US" altLang="en-US" sz="2400" b="1" dirty="0">
                <a:latin typeface="华文楷体" panose="02010600040101010101" pitchFamily="2" charset="-122"/>
                <a:ea typeface="华文楷体" panose="02010600040101010101" pitchFamily="2" charset="-122"/>
                <a:sym typeface="+mn-ea"/>
              </a:rPr>
              <a:t>语句，尽量直接使用逻辑表达式来描述系统的逻辑功能；</a:t>
            </a:r>
            <a:endParaRPr lang="en-US" altLang="en-US" sz="2400" b="1" dirty="0">
              <a:latin typeface="华文楷体" panose="02010600040101010101" pitchFamily="2" charset="-122"/>
              <a:ea typeface="华文楷体" panose="02010600040101010101" pitchFamily="2" charset="-122"/>
              <a:sym typeface="+mn-ea"/>
            </a:endParaRPr>
          </a:p>
          <a:p>
            <a:pPr marL="187325" lvl="0" indent="-187325" eaLnBrk="1" hangingPunct="1">
              <a:lnSpc>
                <a:spcPct val="110000"/>
              </a:lnSpc>
              <a:spcBef>
                <a:spcPct val="0"/>
              </a:spcBef>
              <a:buClr>
                <a:srgbClr val="FF0000"/>
              </a:buClr>
              <a:buSzPct val="80000"/>
              <a:buFont typeface="Wingdings" panose="05000000000000000000" pitchFamily="2" charset="2"/>
              <a:buChar char="Ø"/>
            </a:pPr>
            <a:r>
              <a:rPr lang="en-US" altLang="en-US" sz="2400" b="1" dirty="0">
                <a:latin typeface="华文楷体" panose="02010600040101010101" pitchFamily="2" charset="-122"/>
                <a:ea typeface="华文楷体" panose="02010600040101010101" pitchFamily="2" charset="-122"/>
                <a:sym typeface="+mn-ea"/>
              </a:rPr>
              <a:t>或者用</a:t>
            </a:r>
            <a:r>
              <a:rPr lang="en-US" altLang="zh-CN" sz="2400" b="1" dirty="0">
                <a:latin typeface="华文楷体" panose="02010600040101010101" pitchFamily="2" charset="-122"/>
                <a:ea typeface="华文楷体" panose="02010600040101010101" pitchFamily="2" charset="-122"/>
                <a:sym typeface="+mn-ea"/>
              </a:rPr>
              <a:t>case</a:t>
            </a:r>
            <a:r>
              <a:rPr lang="en-US" altLang="en-US" sz="2400" b="1" dirty="0">
                <a:latin typeface="华文楷体" panose="02010600040101010101" pitchFamily="2" charset="-122"/>
                <a:ea typeface="华文楷体" panose="02010600040101010101" pitchFamily="2" charset="-122"/>
                <a:sym typeface="+mn-ea"/>
              </a:rPr>
              <a:t>语句取代</a:t>
            </a:r>
            <a:r>
              <a:rPr lang="en-US" altLang="zh-CN" sz="2400" b="1" dirty="0">
                <a:latin typeface="华文楷体" panose="02010600040101010101" pitchFamily="2" charset="-122"/>
                <a:ea typeface="华文楷体" panose="02010600040101010101" pitchFamily="2" charset="-122"/>
                <a:sym typeface="+mn-ea"/>
              </a:rPr>
              <a:t>if-else</a:t>
            </a:r>
            <a:r>
              <a:rPr lang="en-US" altLang="en-US" sz="2400" b="1" dirty="0">
                <a:latin typeface="华文楷体" panose="02010600040101010101" pitchFamily="2" charset="-122"/>
                <a:ea typeface="华文楷体" panose="02010600040101010101" pitchFamily="2" charset="-122"/>
                <a:sym typeface="+mn-ea"/>
              </a:rPr>
              <a:t>语句。</a:t>
            </a:r>
            <a:endParaRPr lang="en-US" altLang="en-US" sz="2400" b="1" dirty="0">
              <a:latin typeface="华文楷体" panose="02010600040101010101" pitchFamily="2" charset="-122"/>
              <a:ea typeface="华文楷体" panose="02010600040101010101" pitchFamily="2" charset="-122"/>
              <a:sym typeface="+mn-ea"/>
            </a:endParaRPr>
          </a:p>
        </p:txBody>
      </p:sp>
      <p:sp>
        <p:nvSpPr>
          <p:cNvPr id="2144261" name="AutoShape 5"/>
          <p:cNvSpPr/>
          <p:nvPr/>
        </p:nvSpPr>
        <p:spPr>
          <a:xfrm rot="-765681">
            <a:off x="133350" y="623888"/>
            <a:ext cx="1357313" cy="687387"/>
          </a:xfrm>
          <a:prstGeom prst="star32">
            <a:avLst>
              <a:gd name="adj" fmla="val 37500"/>
            </a:avLst>
          </a:prstGeom>
          <a:noFill/>
          <a:ln w="9525">
            <a:noFill/>
          </a:ln>
        </p:spPr>
        <p:txBody>
          <a:bodyPr wrap="none" anchor="ctr" anchorCtr="0"/>
          <a:lstStyle>
            <a:lvl1pPr marL="342900" indent="-342900" algn="l" rtl="0" eaLnBrk="0" fontAlgn="base" hangingPunct="0">
              <a:spcBef>
                <a:spcPct val="20000"/>
              </a:spcBef>
              <a:spcAft>
                <a:spcPct val="0"/>
              </a:spcAft>
              <a:defRPr sz="2000" b="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黑体" panose="02010609060101010101"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pitchFamily="49" charset="-122"/>
              </a:defRPr>
            </a:lvl5pPr>
          </a:lstStyle>
          <a:p>
            <a:pPr marL="0" lvl="0" indent="0" algn="ctr" eaLnBrk="1" hangingPunct="1">
              <a:spcBef>
                <a:spcPct val="0"/>
              </a:spcBef>
              <a:buNone/>
            </a:pPr>
            <a:r>
              <a:rPr lang="zh-CN" altLang="en-US" sz="2800" b="1" dirty="0">
                <a:latin typeface="华文楷体" panose="02010600040101010101" pitchFamily="2" charset="-122"/>
                <a:ea typeface="华文楷体" panose="02010600040101010101" pitchFamily="2" charset="-122"/>
              </a:rPr>
              <a:t>思考</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ransition spd="med">
    <p:blinds dir="vert"/>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afterEffect">
                                  <p:stCondLst>
                                    <p:cond delay="0"/>
                                  </p:stCondLst>
                                  <p:childTnLst>
                                    <p:set>
                                      <p:cBhvr>
                                        <p:cTn id="6" dur="1" fill="hold">
                                          <p:stCondLst>
                                            <p:cond delay="0"/>
                                          </p:stCondLst>
                                        </p:cTn>
                                        <p:tgtEl>
                                          <p:spTgt spid="2144261"/>
                                        </p:tgtEl>
                                        <p:attrNameLst>
                                          <p:attrName>style.visibility</p:attrName>
                                        </p:attrNameLst>
                                      </p:cBhvr>
                                      <p:to>
                                        <p:strVal val="visible"/>
                                      </p:to>
                                    </p:set>
                                    <p:anim calcmode="lin" valueType="num">
                                      <p:cBhvr>
                                        <p:cTn id="7" dur="500" fill="hold"/>
                                        <p:tgtEl>
                                          <p:spTgt spid="2144261"/>
                                        </p:tgtEl>
                                        <p:attrNameLst>
                                          <p:attrName>ppt_w</p:attrName>
                                        </p:attrNameLst>
                                      </p:cBhvr>
                                      <p:tavLst>
                                        <p:tav tm="0">
                                          <p:val>
                                            <p:strVal val="4/3*#ppt_w"/>
                                          </p:val>
                                        </p:tav>
                                        <p:tav tm="100000">
                                          <p:val>
                                            <p:strVal val="#ppt_w"/>
                                          </p:val>
                                        </p:tav>
                                      </p:tavLst>
                                    </p:anim>
                                    <p:anim calcmode="lin" valueType="num">
                                      <p:cBhvr>
                                        <p:cTn id="8" dur="500" fill="hold"/>
                                        <p:tgtEl>
                                          <p:spTgt spid="2144261"/>
                                        </p:tgtEl>
                                        <p:attrNameLst>
                                          <p:attrName>ppt_h</p:attrName>
                                        </p:attrNameLst>
                                      </p:cBhvr>
                                      <p:tavLst>
                                        <p:tav tm="0">
                                          <p:val>
                                            <p:strVal val="4/3*#ppt_h"/>
                                          </p:val>
                                        </p:tav>
                                        <p:tav tm="100000">
                                          <p:val>
                                            <p:strVal val="#ppt_h"/>
                                          </p:val>
                                        </p:tav>
                                      </p:tavLst>
                                    </p:anim>
                                  </p:childTnLst>
                                </p:cTn>
                              </p:par>
                            </p:childTnLst>
                          </p:cTn>
                        </p:par>
                        <p:par>
                          <p:cTn id="9" fill="hold">
                            <p:stCondLst>
                              <p:cond delay="500"/>
                            </p:stCondLst>
                            <p:childTnLst>
                              <p:par>
                                <p:cTn id="10" presetID="17" presetClass="entr" presetSubtype="10" fill="hold" grpId="0" nodeType="afterEffect">
                                  <p:stCondLst>
                                    <p:cond delay="0"/>
                                  </p:stCondLst>
                                  <p:childTnLst>
                                    <p:set>
                                      <p:cBhvr>
                                        <p:cTn id="11" dur="1" fill="hold">
                                          <p:stCondLst>
                                            <p:cond delay="0"/>
                                          </p:stCondLst>
                                        </p:cTn>
                                        <p:tgtEl>
                                          <p:spTgt spid="2144260"/>
                                        </p:tgtEl>
                                        <p:attrNameLst>
                                          <p:attrName>style.visibility</p:attrName>
                                        </p:attrNameLst>
                                      </p:cBhvr>
                                      <p:to>
                                        <p:strVal val="visible"/>
                                      </p:to>
                                    </p:set>
                                    <p:anim calcmode="lin" valueType="num">
                                      <p:cBhvr>
                                        <p:cTn id="12" dur="500" fill="hold"/>
                                        <p:tgtEl>
                                          <p:spTgt spid="2144260"/>
                                        </p:tgtEl>
                                        <p:attrNameLst>
                                          <p:attrName>ppt_w</p:attrName>
                                        </p:attrNameLst>
                                      </p:cBhvr>
                                      <p:tavLst>
                                        <p:tav tm="0">
                                          <p:val>
                                            <p:fltVal val="0.000000"/>
                                          </p:val>
                                        </p:tav>
                                        <p:tav tm="100000">
                                          <p:val>
                                            <p:strVal val="#ppt_w"/>
                                          </p:val>
                                        </p:tav>
                                      </p:tavLst>
                                    </p:anim>
                                    <p:anim calcmode="lin" valueType="num">
                                      <p:cBhvr>
                                        <p:cTn id="13" dur="500" fill="hold"/>
                                        <p:tgtEl>
                                          <p:spTgt spid="21442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4260" grpId="0" bldLvl="0" animBg="1"/>
      <p:bldP spid="2144261" grpId="0" bldLvl="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35294</Words>
  <Application>WPS 演示</Application>
  <PresentationFormat>全屏显示(4:3)</PresentationFormat>
  <Paragraphs>3320</Paragraphs>
  <Slides>153</Slides>
  <Notes>143</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vt:i4>
      </vt:variant>
      <vt:variant>
        <vt:lpstr>幻灯片标题</vt:lpstr>
      </vt:variant>
      <vt:variant>
        <vt:i4>153</vt:i4>
      </vt:variant>
    </vt:vector>
  </HeadingPairs>
  <TitlesOfParts>
    <vt:vector size="176" baseType="lpstr">
      <vt:lpstr>Arial</vt:lpstr>
      <vt:lpstr>宋体</vt:lpstr>
      <vt:lpstr>Wingdings</vt:lpstr>
      <vt:lpstr>Tahoma</vt:lpstr>
      <vt:lpstr>黑体</vt:lpstr>
      <vt:lpstr>汉仪中黑简</vt:lpstr>
      <vt:lpstr>Myriad Pro</vt:lpstr>
      <vt:lpstr>Segoe Print</vt:lpstr>
      <vt:lpstr>华文楷体</vt:lpstr>
      <vt:lpstr>Times New Roman</vt:lpstr>
      <vt:lpstr>方正姚体</vt:lpstr>
      <vt:lpstr>华文新魏</vt:lpstr>
      <vt:lpstr>微软雅黑</vt:lpstr>
      <vt:lpstr>Arial Unicode MS</vt:lpstr>
      <vt:lpstr>华文彩云</vt:lpstr>
      <vt:lpstr>华文行楷</vt:lpstr>
      <vt:lpstr>Symbol</vt:lpstr>
      <vt:lpstr>仿宋_GB2312</vt:lpstr>
      <vt:lpstr>仿宋</vt:lpstr>
      <vt:lpstr>楷体</vt:lpstr>
      <vt:lpstr>华文仿宋</vt:lpstr>
      <vt:lpstr>默认设计模板</vt:lpstr>
      <vt:lpstr>Paint.Picture</vt:lpstr>
      <vt:lpstr>Verilog HDL基础</vt:lpstr>
      <vt:lpstr>硬件描述语言Verilog HDL</vt:lpstr>
      <vt:lpstr>1  引言</vt:lpstr>
      <vt:lpstr>1  引言</vt:lpstr>
      <vt:lpstr>1  引言</vt:lpstr>
      <vt:lpstr>1  引言</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2  Verilog HDL基本结构</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3  数据类型及常量、变量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4  运算符及表达式</vt:lpstr>
      <vt:lpstr>5  语句</vt:lpstr>
      <vt:lpstr>5  语句</vt:lpstr>
      <vt:lpstr>6  赋值语句和块语句</vt:lpstr>
      <vt:lpstr>6  赋值语句和块语句</vt:lpstr>
      <vt:lpstr>6  赋值语句和块语句</vt:lpstr>
      <vt:lpstr>6  赋值语句和块语句</vt:lpstr>
      <vt:lpstr>6  赋值语句和块语句</vt:lpstr>
      <vt:lpstr>6  赋值语句和块语句</vt:lpstr>
      <vt:lpstr>6  赋值语句和块语句</vt:lpstr>
      <vt:lpstr>6  赋值语句和块语句</vt:lpstr>
      <vt:lpstr>6  赋值语句和块语句</vt:lpstr>
      <vt:lpstr>3.6  赋值语句和块语句</vt:lpstr>
      <vt:lpstr>3.6  赋值语句和块语句</vt:lpstr>
      <vt:lpstr>3.6  赋值语句和块语句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7  条件语句</vt:lpstr>
      <vt:lpstr>8  循环语句</vt:lpstr>
      <vt:lpstr>8  循环语句</vt:lpstr>
      <vt:lpstr>8  循环语句</vt:lpstr>
      <vt:lpstr>8  循环语句</vt:lpstr>
      <vt:lpstr>8  循环语句</vt:lpstr>
      <vt:lpstr>8  循环语句</vt:lpstr>
      <vt:lpstr>8  循环语句</vt:lpstr>
      <vt:lpstr>8  循环语句</vt:lpstr>
      <vt:lpstr>8  循环语句</vt:lpstr>
      <vt:lpstr>8  循环语句</vt:lpstr>
      <vt:lpstr>8  循环语句</vt:lpstr>
      <vt:lpstr>8  循环语句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9  结构说明语句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10  编译预处理语句</vt:lpstr>
      <vt:lpstr>11  语句的顺序执行与并行执行</vt:lpstr>
      <vt:lpstr>11  语句的顺序执行与并行执行</vt:lpstr>
      <vt:lpstr>11  语句的顺序执行与并行执行</vt:lpstr>
      <vt:lpstr>11  语句的顺序执行与并行执行</vt:lpstr>
      <vt:lpstr>11  语句的顺序执行与并行执行</vt:lpstr>
      <vt:lpstr>11  语句的顺序执行与并行执行</vt:lpstr>
      <vt:lpstr>12  不同抽象级别的Verilog HDL模型</vt:lpstr>
      <vt:lpstr>12  不同抽象级别的Verilog HDL模型</vt:lpstr>
      <vt:lpstr>12  不同抽象级别的Verilog HDL模型</vt:lpstr>
      <vt:lpstr> 12  不同抽象级别的Verilog HDL模型</vt:lpstr>
      <vt:lpstr> 12  不同抽象级别的Verilog HDL模型</vt:lpstr>
      <vt:lpstr> 12  不同抽象级别的Verilog HDL模型</vt:lpstr>
      <vt:lpstr> 12  不同抽象级别的Verilog HDL模型</vt:lpstr>
      <vt:lpstr> 12  不同抽象级别的Verilog HDL模型</vt:lpstr>
      <vt:lpstr> 12  不同抽象级别的Verilog HDL模型</vt:lpstr>
      <vt:lpstr> 12  不同抽象级别的Verilog HDL模型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Verilog HDL基础</dc:title>
  <dc:creator/>
  <cp:lastModifiedBy>京局的5033</cp:lastModifiedBy>
  <cp:revision>59</cp:revision>
  <dcterms:created xsi:type="dcterms:W3CDTF">2001-06-11T07:30:00Z</dcterms:created>
  <dcterms:modified xsi:type="dcterms:W3CDTF">2025-03-18T01:12:54Z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A0B1344C2DD145C4B207E3C36095E242_12</vt:lpwstr>
  </property>
</Properties>
</file>